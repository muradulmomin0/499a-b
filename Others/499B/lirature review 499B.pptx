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" y="484632"/>
            <a:ext cx="73152" cy="539496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29768"/>
            <a:ext cx="9144000" cy="2743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4DAC2"/>
                </a:solidFill>
                <a:latin typeface="Aptos"/>
              </a:defRPr>
            </a:pPr>
            <a:r>
              <a:t>PRIVATE SHIELD  /  RESEARCH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13816"/>
            <a:ext cx="1097280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B"/>
                </a:solidFill>
                <a:latin typeface="Aptos"/>
              </a:defRPr>
            </a:pPr>
            <a:r>
              <a:t>Four methods. One unresolved challenge.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6300216"/>
            <a:ext cx="10744200" cy="10972"/>
          </a:xfrm>
          <a:prstGeom prst="rect">
            <a:avLst/>
          </a:prstGeom>
          <a:solidFill>
            <a:srgbClr val="3E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9144000" cy="21031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EC3D1"/>
                </a:solidFill>
                <a:latin typeface="Aptos"/>
              </a:defRPr>
            </a:pPr>
            <a:r>
              <a:t>PRIVATE SHIELD  •  CSE499B  •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64224"/>
            <a:ext cx="457200" cy="24688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44DAC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9875520" cy="109728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F4F8FB"/>
                </a:solidFill>
                <a:latin typeface="Aptos"/>
              </a:defRPr>
            </a:pPr>
            <a:r>
              <a:t>Trust-Aware and Class-Aware Federated Intrusion Detection for Heterogeneous IoT Networks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" y="3090672"/>
            <a:ext cx="10698480" cy="114300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355848"/>
            <a:ext cx="10058400" cy="64008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44DAC2"/>
                </a:solidFill>
                <a:latin typeface="Aptos"/>
              </a:defRPr>
            </a:pPr>
            <a:r>
              <a:t>SecureDyn-FL     •     FedMADE     •     WEF-Defense     •     FedMSE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727448"/>
            <a:ext cx="1046988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Literature synthesis  |  strengths, limitations, research gap, and CSE499B direction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5696712"/>
            <a:ext cx="10424160" cy="265176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AEC3D1"/>
                </a:solidFill>
                <a:latin typeface="Aptos"/>
              </a:defRPr>
            </a:pPr>
            <a:r>
              <a:t>North South University  •  Department of Electrical and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" y="484632"/>
            <a:ext cx="73152" cy="539496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29768"/>
            <a:ext cx="9144000" cy="2743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4DAC2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13816"/>
            <a:ext cx="1097280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B"/>
                </a:solidFill>
                <a:latin typeface="Aptos"/>
              </a:defRPr>
            </a:pPr>
            <a:r>
              <a:t>Why federated IoT intrusion detection is difficult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6300216"/>
            <a:ext cx="10744200" cy="10972"/>
          </a:xfrm>
          <a:prstGeom prst="rect">
            <a:avLst/>
          </a:prstGeom>
          <a:solidFill>
            <a:srgbClr val="3E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9144000" cy="21031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EC3D1"/>
                </a:solidFill>
                <a:latin typeface="Aptos"/>
              </a:defRPr>
            </a:pPr>
            <a:r>
              <a:t>PRIVATE SHIELD  •  CSE499B  •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64224"/>
            <a:ext cx="457200" cy="24688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44DAC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3474720" cy="31546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984248"/>
            <a:ext cx="59436" cy="393192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947672"/>
            <a:ext cx="2880360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42615"/>
            <a:ext cx="2980944" cy="213055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EC3D1"/>
                </a:solidFill>
                <a:latin typeface="Aptos"/>
              </a:defRPr>
            </a:pPr>
            <a:r>
              <a:t>Raw IoT traffic remains on devices; model updates are shared instead.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55648"/>
            <a:ext cx="3474720" cy="31546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62855" y="1984248"/>
            <a:ext cx="59436" cy="393192"/>
          </a:xfrm>
          <a:prstGeom prst="rect">
            <a:avLst/>
          </a:prstGeom>
          <a:solidFill>
            <a:srgbClr val="FF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947672"/>
            <a:ext cx="2880360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Client heterogeneity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5" y="2642615"/>
            <a:ext cx="2980944" cy="213055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EC3D1"/>
                </a:solidFill>
                <a:latin typeface="Aptos"/>
              </a:defRPr>
            </a:pPr>
            <a:r>
              <a:t>Non-IID device and attack distributions make legitimate updates look unusual.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755648"/>
            <a:ext cx="3474720" cy="31546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984248"/>
            <a:ext cx="59436" cy="393192"/>
          </a:xfrm>
          <a:prstGeom prst="rect">
            <a:avLst/>
          </a:prstGeom>
          <a:solidFill>
            <a:srgbClr val="F9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47672"/>
            <a:ext cx="2880360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Server-side threats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642615"/>
            <a:ext cx="2980944" cy="213055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EC3D1"/>
                </a:solidFill>
                <a:latin typeface="Aptos"/>
              </a:defRPr>
            </a:pPr>
            <a:r>
              <a:t>Poisoning, free riding, update leakage and weak rare-class detection remain.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84648"/>
            <a:ext cx="10652760" cy="676656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5330952"/>
            <a:ext cx="10287000" cy="41148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Key question: Which client updates are trustworthy AND useful?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" y="484632"/>
            <a:ext cx="73152" cy="539496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29768"/>
            <a:ext cx="9144000" cy="2743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4DAC2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13816"/>
            <a:ext cx="1097280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B"/>
                </a:solidFill>
                <a:latin typeface="Aptos"/>
              </a:defRPr>
            </a:pPr>
            <a:r>
              <a:t>SecureDyn-FL  |  Temporal trust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6300216"/>
            <a:ext cx="10744200" cy="10972"/>
          </a:xfrm>
          <a:prstGeom prst="rect">
            <a:avLst/>
          </a:prstGeom>
          <a:solidFill>
            <a:srgbClr val="3E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9144000" cy="21031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EC3D1"/>
                </a:solidFill>
                <a:latin typeface="Aptos"/>
              </a:defRPr>
            </a:pPr>
            <a:r>
              <a:t>PRIVATE SHIELD  •  CSE499B  •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64224"/>
            <a:ext cx="457200" cy="24688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44DAC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46504"/>
            <a:ext cx="5193792" cy="3319272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975104"/>
            <a:ext cx="59436" cy="393192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938528"/>
            <a:ext cx="4599431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What the method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33472"/>
            <a:ext cx="4700016" cy="2295144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EC3D1"/>
                </a:solidFill>
                <a:latin typeface="Aptos"/>
              </a:defRPr>
            </a:pPr>
            <a:r>
              <a:t>Client update trajectories across communication rounds; suspicious changes can be audited using geometric / statistical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46504"/>
            <a:ext cx="5321808" cy="3319272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975104"/>
            <a:ext cx="59436" cy="393192"/>
          </a:xfrm>
          <a:prstGeom prst="rect">
            <a:avLst/>
          </a:prstGeom>
          <a:solidFill>
            <a:srgbClr val="FF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38528"/>
            <a:ext cx="4727448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Strength and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33472"/>
            <a:ext cx="4828032" cy="2295144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Strength: identifies suspicious temporal update patterns.</a:t>
            </a: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Limitation: benign non-IID distribution shift may also appear abnormal.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5285232"/>
            <a:ext cx="10698480" cy="612648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413248"/>
            <a:ext cx="10149840" cy="36576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CSE499A status: reference pipeline built; full auditing / poisoning evaluation not yet reproduced.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" y="484632"/>
            <a:ext cx="73152" cy="539496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29768"/>
            <a:ext cx="9144000" cy="2743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4DAC2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13816"/>
            <a:ext cx="1097280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B"/>
                </a:solidFill>
                <a:latin typeface="Aptos"/>
              </a:defRPr>
            </a:pPr>
            <a:r>
              <a:t>FedMADE  |  Class-aware contribution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6300216"/>
            <a:ext cx="10744200" cy="10972"/>
          </a:xfrm>
          <a:prstGeom prst="rect">
            <a:avLst/>
          </a:prstGeom>
          <a:solidFill>
            <a:srgbClr val="3E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9144000" cy="21031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EC3D1"/>
                </a:solidFill>
                <a:latin typeface="Aptos"/>
              </a:defRPr>
            </a:pPr>
            <a:r>
              <a:t>PRIVATE SHIELD  •  CSE499B  •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64224"/>
            <a:ext cx="457200" cy="24688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44DAC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46504"/>
            <a:ext cx="5193792" cy="3319272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975104"/>
            <a:ext cx="59436" cy="393192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938528"/>
            <a:ext cx="4599431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What the method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33472"/>
            <a:ext cx="4700016" cy="2295144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EC3D1"/>
                </a:solidFill>
                <a:latin typeface="Aptos"/>
              </a:defRPr>
            </a:pPr>
            <a:r>
              <a:t>Class Probability Matrix (CPM), auxiliary validation, DBSCAN grouping and class-aware aggregation weights.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46504"/>
            <a:ext cx="5321808" cy="3319272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975104"/>
            <a:ext cx="59436" cy="393192"/>
          </a:xfrm>
          <a:prstGeom prst="rect">
            <a:avLst/>
          </a:prstGeom>
          <a:solidFill>
            <a:srgbClr val="FF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38528"/>
            <a:ext cx="4727448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Strength and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33472"/>
            <a:ext cx="4828032" cy="2295144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Strength: preserves clients that contribute useful minority-attack knowledge.</a:t>
            </a: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Limitation: depends on suitable auxiliary reference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5285232"/>
            <a:ext cx="10698480" cy="612648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404104"/>
            <a:ext cx="10241280" cy="41148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4F8FB"/>
                </a:solidFill>
                <a:latin typeface="Aptos"/>
              </a:defRPr>
            </a:pPr>
            <a:r>
              <a:t>Main insight: Dataset size does not necessarily equal client usefulness.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" y="484632"/>
            <a:ext cx="73152" cy="539496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29768"/>
            <a:ext cx="9144000" cy="2743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4DAC2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13816"/>
            <a:ext cx="1097280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B"/>
                </a:solidFill>
                <a:latin typeface="Aptos"/>
              </a:defRPr>
            </a:pPr>
            <a:r>
              <a:t>WEF-Defense  |  Training-behavior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6300216"/>
            <a:ext cx="10744200" cy="10972"/>
          </a:xfrm>
          <a:prstGeom prst="rect">
            <a:avLst/>
          </a:prstGeom>
          <a:solidFill>
            <a:srgbClr val="3E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9144000" cy="21031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EC3D1"/>
                </a:solidFill>
                <a:latin typeface="Aptos"/>
              </a:defRPr>
            </a:pPr>
            <a:r>
              <a:t>PRIVATE SHIELD  •  CSE499B  •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64224"/>
            <a:ext cx="457200" cy="24688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44DAC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46504"/>
            <a:ext cx="5193792" cy="3319272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975104"/>
            <a:ext cx="59436" cy="393192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938528"/>
            <a:ext cx="4599431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What the method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33472"/>
            <a:ext cx="4700016" cy="2295144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EC3D1"/>
                </a:solidFill>
                <a:latin typeface="Aptos"/>
              </a:defRPr>
            </a:pPr>
            <a:r>
              <a:t>Weight evolution over training as a signal of whether clients are genuinely learning or free riding.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46504"/>
            <a:ext cx="5321808" cy="3319272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975104"/>
            <a:ext cx="59436" cy="393192"/>
          </a:xfrm>
          <a:prstGeom prst="rect">
            <a:avLst/>
          </a:prstGeom>
          <a:solidFill>
            <a:srgbClr val="FF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38528"/>
            <a:ext cx="4727448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Strength and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33472"/>
            <a:ext cx="4828032" cy="2295144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Strength: focuses on actual client training behavior.</a:t>
            </a: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Limitation: legitimate training instability can resemble abnormal behavior.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5285232"/>
            <a:ext cx="10698480" cy="612648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394960"/>
            <a:ext cx="10241280" cy="41148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4F8FB"/>
                </a:solidFill>
                <a:latin typeface="Aptos"/>
              </a:defRPr>
            </a:pPr>
            <a:r>
              <a:t>Takeaway: Training dynamics add evidence, but do not prove malicious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" y="484632"/>
            <a:ext cx="73152" cy="539496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29768"/>
            <a:ext cx="9144000" cy="2743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4DAC2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13816"/>
            <a:ext cx="1097280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B"/>
                </a:solidFill>
                <a:latin typeface="Aptos"/>
              </a:defRPr>
            </a:pPr>
            <a:r>
              <a:t>FedMSE  |  Normal-traffic representation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6300216"/>
            <a:ext cx="10744200" cy="10972"/>
          </a:xfrm>
          <a:prstGeom prst="rect">
            <a:avLst/>
          </a:prstGeom>
          <a:solidFill>
            <a:srgbClr val="3E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9144000" cy="21031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EC3D1"/>
                </a:solidFill>
                <a:latin typeface="Aptos"/>
              </a:defRPr>
            </a:pPr>
            <a:r>
              <a:t>PRIVATE SHIELD  •  CSE499B  •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64224"/>
            <a:ext cx="457200" cy="24688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44DAC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46504"/>
            <a:ext cx="5193792" cy="3319272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975104"/>
            <a:ext cx="59436" cy="393192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938528"/>
            <a:ext cx="4599431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What the method 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33472"/>
            <a:ext cx="4700016" cy="2295144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AEC3D1"/>
                </a:solidFill>
                <a:latin typeface="Aptos"/>
              </a:defRPr>
            </a:pPr>
            <a:r>
              <a:t>Normal-traffic representations to recognize anomalies, including patterns not covered by known attack labels.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46504"/>
            <a:ext cx="5321808" cy="3319272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27648" y="1975104"/>
            <a:ext cx="59436" cy="393192"/>
          </a:xfrm>
          <a:prstGeom prst="rect">
            <a:avLst/>
          </a:prstGeom>
          <a:solidFill>
            <a:srgbClr val="FF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938528"/>
            <a:ext cx="4727448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Strength and limitation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633472"/>
            <a:ext cx="4828032" cy="2295144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Strength: not every attack type must be labeled in advance.</a:t>
            </a: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Limitation: legitimate unusual traffic can also trigger anomalous signals.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5285232"/>
            <a:ext cx="10698480" cy="612648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5394960"/>
            <a:ext cx="10241280" cy="41148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4F8FB"/>
                </a:solidFill>
                <a:latin typeface="Aptos"/>
              </a:defRPr>
            </a:pPr>
            <a:r>
              <a:t>Takeaway: Anomaly detection broadens coverage, but false alarms still matter.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" y="484632"/>
            <a:ext cx="73152" cy="539496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29768"/>
            <a:ext cx="9144000" cy="2743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4DAC2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13816"/>
            <a:ext cx="1097280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B"/>
                </a:solidFill>
                <a:latin typeface="Aptos"/>
              </a:defRPr>
            </a:pPr>
            <a:r>
              <a:t>Comparison of the four literature approaches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6300216"/>
            <a:ext cx="10744200" cy="10972"/>
          </a:xfrm>
          <a:prstGeom prst="rect">
            <a:avLst/>
          </a:prstGeom>
          <a:solidFill>
            <a:srgbClr val="3E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9144000" cy="21031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EC3D1"/>
                </a:solidFill>
                <a:latin typeface="Aptos"/>
              </a:defRPr>
            </a:pPr>
            <a:r>
              <a:t>PRIVATE SHIELD  •  CSE499B  •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64224"/>
            <a:ext cx="457200" cy="24688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44DAC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1719072"/>
            <a:ext cx="2231136" cy="612648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856231"/>
            <a:ext cx="2039112" cy="32004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4DAC2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1528" y="1719072"/>
            <a:ext cx="2340864" cy="612648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1856231"/>
            <a:ext cx="2148840" cy="32004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4DAC2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04688" y="1719072"/>
            <a:ext cx="2606040" cy="612648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856231"/>
            <a:ext cx="2414016" cy="32004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4DAC2"/>
                </a:solidFill>
                <a:latin typeface="Aptos"/>
              </a:defRPr>
            </a:pPr>
            <a:r>
              <a:t>Main strength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163824" cy="612648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56231"/>
            <a:ext cx="2971800" cy="32004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44DAC2"/>
                </a:solidFill>
                <a:latin typeface="Aptos"/>
              </a:defRPr>
            </a:pPr>
            <a:r>
              <a:t>Important limitation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2459736"/>
            <a:ext cx="2231136" cy="6400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2606040"/>
            <a:ext cx="2066543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F8FB"/>
                </a:solidFill>
                <a:latin typeface="Aptos"/>
              </a:defRPr>
            </a:pPr>
            <a:r>
              <a:t>SecureDyn-FL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81528" y="2459736"/>
            <a:ext cx="2340864" cy="6400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606040"/>
            <a:ext cx="2176272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Update trajectory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04688" y="2459736"/>
            <a:ext cx="2606040" cy="6400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59" y="2606040"/>
            <a:ext cx="2441448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Temporal 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2459736"/>
            <a:ext cx="3163824" cy="6400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2606040"/>
            <a:ext cx="2999232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Benign shift may look malicious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" y="3200400"/>
            <a:ext cx="2231136" cy="64008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3346704"/>
            <a:ext cx="2066543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F8FB"/>
                </a:solidFill>
                <a:latin typeface="Aptos"/>
              </a:defRPr>
            </a:pPr>
            <a:r>
              <a:t>FedMADE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81528" y="3200400"/>
            <a:ext cx="2340864" cy="64008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3346704"/>
            <a:ext cx="2176272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Class performance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04688" y="3200400"/>
            <a:ext cx="2606040" cy="64008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23559" y="3346704"/>
            <a:ext cx="2441448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Rare-class knowledge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3024" y="3200400"/>
            <a:ext cx="3163824" cy="64008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6" y="3346704"/>
            <a:ext cx="2999232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Needs auxiliary reference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" y="3941064"/>
            <a:ext cx="2231136" cy="6400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087368"/>
            <a:ext cx="2066543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F8FB"/>
                </a:solidFill>
                <a:latin typeface="Aptos"/>
              </a:defRPr>
            </a:pPr>
            <a:r>
              <a:t>WEF-Defense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81528" y="3941064"/>
            <a:ext cx="2340864" cy="6400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0" y="4087368"/>
            <a:ext cx="2176272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Weight evolution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04688" y="3941064"/>
            <a:ext cx="2606040" cy="6400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59" y="4087368"/>
            <a:ext cx="2441448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Free-rider detection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93024" y="3941064"/>
            <a:ext cx="3163824" cy="6400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1896" y="4087368"/>
            <a:ext cx="2999232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Benign instability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" y="4681728"/>
            <a:ext cx="2231136" cy="64008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7824" y="4828032"/>
            <a:ext cx="2066543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F4F8FB"/>
                </a:solidFill>
                <a:latin typeface="Aptos"/>
              </a:defRPr>
            </a:pPr>
            <a:r>
              <a:t>FedMSE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81528" y="4681728"/>
            <a:ext cx="2340864" cy="64008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4828032"/>
            <a:ext cx="2176272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Normal representation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04688" y="4681728"/>
            <a:ext cx="2606040" cy="64008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23559" y="4828032"/>
            <a:ext cx="2441448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Unseen anomalies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93024" y="4681728"/>
            <a:ext cx="3163824" cy="64008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1896" y="4828032"/>
            <a:ext cx="2999232" cy="39319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AEC3D1"/>
                </a:solidFill>
                <a:latin typeface="Aptos"/>
              </a:defRPr>
            </a:pPr>
            <a:r>
              <a:t>Unusual benign traffic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" y="5650992"/>
            <a:ext cx="10652760" cy="448056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" y="5742432"/>
            <a:ext cx="10332720" cy="29260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4F8FB"/>
                </a:solidFill>
                <a:latin typeface="Aptos"/>
              </a:defRPr>
            </a:pPr>
            <a:r>
              <a:t>Synthesis: No single signal gives a universally reliable client trust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93776" y="484632"/>
            <a:ext cx="73152" cy="539496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2376" y="429768"/>
            <a:ext cx="9144000" cy="2743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44DAC2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813816"/>
            <a:ext cx="10972800" cy="7315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F4F8FB"/>
                </a:solidFill>
                <a:latin typeface="Aptos"/>
              </a:defRPr>
            </a:pPr>
            <a:r>
              <a:t>Research gap and proposed CSE499B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6300216"/>
            <a:ext cx="10744200" cy="10972"/>
          </a:xfrm>
          <a:prstGeom prst="rect">
            <a:avLst/>
          </a:prstGeom>
          <a:solidFill>
            <a:srgbClr val="3E5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9144000" cy="21031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AEC3D1"/>
                </a:solidFill>
                <a:latin typeface="Aptos"/>
              </a:defRPr>
            </a:pPr>
            <a:r>
              <a:t>PRIVATE SHIELD  •  CSE499B  •  GROUP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64224"/>
            <a:ext cx="457200" cy="24688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r">
              <a:spcAft>
                <a:spcPts val="500"/>
              </a:spcAft>
              <a:defRPr sz="1200" b="1">
                <a:solidFill>
                  <a:srgbClr val="44DAC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64792"/>
            <a:ext cx="5148072" cy="33832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993391"/>
            <a:ext cx="59436" cy="393192"/>
          </a:xfrm>
          <a:prstGeom prst="rect">
            <a:avLst/>
          </a:prstGeom>
          <a:solidFill>
            <a:srgbClr val="F9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1956816"/>
            <a:ext cx="4553712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51760"/>
            <a:ext cx="4654296" cy="235915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A legitimate rare-class client may have unusual updates, while a stealthy malicious client can look statistically ordinary.</a:t>
            </a: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Trust-only or class-only evidence can miss this difference.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764792"/>
            <a:ext cx="5358384" cy="3383280"/>
          </a:xfrm>
          <a:prstGeom prst="roundRect">
            <a:avLst>
              <a:gd name="adj" fmla="val 16000"/>
            </a:avLst>
          </a:prstGeom>
          <a:solidFill>
            <a:srgbClr val="13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993391"/>
            <a:ext cx="59436" cy="393192"/>
          </a:xfrm>
          <a:prstGeom prst="rect">
            <a:avLst/>
          </a:prstGeom>
          <a:solidFill>
            <a:srgbClr val="44D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956816"/>
            <a:ext cx="4764024" cy="502920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2000" b="1">
                <a:solidFill>
                  <a:srgbClr val="F4F8FB"/>
                </a:solidFill>
                <a:latin typeface="Aptos"/>
              </a:defRPr>
            </a:pPr>
            <a:r>
              <a:t>Proposed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651760"/>
            <a:ext cx="4864608" cy="2359152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Combine SecureDyn-inspired temporal trust with FedMADE-inspired class contribution.</a:t>
            </a: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</a:p>
          <a:p>
            <a:pPr>
              <a:spcAft>
                <a:spcPts val="500"/>
              </a:spcAft>
              <a:defRPr sz="1800" b="0">
                <a:solidFill>
                  <a:srgbClr val="AEC3D1"/>
                </a:solidFill>
                <a:latin typeface="Aptos"/>
              </a:defRPr>
            </a:pPr>
            <a:r>
              <a:t>Use both signals for trust-aware, class-aware federated aggregation.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5385816"/>
            <a:ext cx="10671048" cy="594360"/>
          </a:xfrm>
          <a:prstGeom prst="roundRect">
            <a:avLst>
              <a:gd name="adj" fmla="val 16000"/>
            </a:avLst>
          </a:prstGeom>
          <a:solidFill>
            <a:srgbClr val="19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04688"/>
            <a:ext cx="10332720" cy="338328"/>
          </a:xfrm>
          <a:prstGeom prst="rect">
            <a:avLst/>
          </a:prstGeom>
          <a:noFill/>
        </p:spPr>
        <p:txBody>
          <a:bodyPr wrap="square" lIns="27432" rIns="27432" tIns="22860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4F8FB"/>
                </a:solidFill>
                <a:latin typeface="Aptos"/>
              </a:defRPr>
            </a:pPr>
            <a:r>
              <a:t>Target: protect minority-class recall without falsely rejecting benign non-IID clients.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