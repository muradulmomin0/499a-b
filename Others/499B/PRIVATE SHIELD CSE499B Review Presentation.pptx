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10"/>
    <p:sldId id="265" r:id="rId11"/>
    <p:sldId id="267" r:id="rId13"/>
    <p:sldId id="268" r:id="rId14"/>
    <p:sldId id="269" r:id="rId15"/>
    <p:sldId id="270" r:id="rId16"/>
    <p:sldId id="271" r:id="rId17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all group members by full name before discussing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5" name="Text 3"/>
          <p:cNvSpPr/>
          <p:nvPr/>
        </p:nvSpPr>
        <p:spPr>
          <a:xfrm>
            <a:off x="566928" y="402336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CSE499B Research Review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649224"/>
            <a:ext cx="566928" cy="0"/>
          </a:xfrm>
          <a:prstGeom prst="line">
            <a:avLst/>
          </a:prstGeom>
          <a:noFill/>
          <a:ln w="15240">
            <a:solidFill>
              <a:srgbClr val="176B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731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SHIELD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85216" y="12984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Trust-Aware and Class-Aware Federated Intrusion Detection for Heterogeneous IoT Networks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85216" y="20574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CSE499B Research Review &amp; Preliminary Thesis Direction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85216" y="2615184"/>
            <a:ext cx="3017520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Md. Murad Ul Momin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Rima Saha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Sakia Tabassum Anonna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Ashraful Hossain Riyan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5216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Department of Electrical and Computer Engineering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 South University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0" y="8229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heterogeneous clients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20840" y="1325880"/>
            <a:ext cx="804672" cy="457200"/>
          </a:xfrm>
          <a:prstGeom prst="roundRect">
            <a:avLst>
              <a:gd name="adj" fmla="val 10000"/>
            </a:avLst>
          </a:prstGeom>
          <a:solidFill>
            <a:srgbClr val="DCE5EA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0568" y="1417320"/>
            <a:ext cx="58521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35140" y="1879092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81444" y="1879092"/>
            <a:ext cx="64008" cy="64008"/>
          </a:xfrm>
          <a:prstGeom prst="ellipse">
            <a:avLst/>
          </a:prstGeom>
          <a:solidFill>
            <a:srgbClr val="C18A3B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27748" y="1879092"/>
            <a:ext cx="64008" cy="64008"/>
          </a:xfrm>
          <a:prstGeom prst="ellipse">
            <a:avLst/>
          </a:prstGeom>
          <a:solidFill>
            <a:srgbClr val="456A82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4052" y="187909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554480"/>
            <a:ext cx="1828800" cy="1115568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35240" y="2011680"/>
            <a:ext cx="804672" cy="457200"/>
          </a:xfrm>
          <a:prstGeom prst="roundRect">
            <a:avLst>
              <a:gd name="adj" fmla="val 10000"/>
            </a:avLst>
          </a:prstGeom>
          <a:solidFill>
            <a:srgbClr val="EFE3C9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44968" y="2103120"/>
            <a:ext cx="58521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49540" y="2564892"/>
            <a:ext cx="64008" cy="64008"/>
          </a:xfrm>
          <a:prstGeom prst="ellipse">
            <a:avLst/>
          </a:prstGeom>
          <a:solidFill>
            <a:srgbClr val="C18A3B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95844" y="2564892"/>
            <a:ext cx="64008" cy="64008"/>
          </a:xfrm>
          <a:prstGeom prst="ellipse">
            <a:avLst/>
          </a:prstGeom>
          <a:solidFill>
            <a:srgbClr val="456A82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2148" y="256489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8452" y="2564892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39912" y="2240280"/>
            <a:ext cx="914400" cy="429768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812280" y="2788920"/>
            <a:ext cx="804672" cy="457200"/>
          </a:xfrm>
          <a:prstGeom prst="roundRect">
            <a:avLst>
              <a:gd name="adj" fmla="val 10000"/>
            </a:avLst>
          </a:prstGeom>
          <a:solidFill>
            <a:srgbClr val="E1E8D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22008" y="2880360"/>
            <a:ext cx="58521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926580" y="3342132"/>
            <a:ext cx="64008" cy="64008"/>
          </a:xfrm>
          <a:prstGeom prst="ellipse">
            <a:avLst/>
          </a:prstGeom>
          <a:solidFill>
            <a:srgbClr val="456A82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72884" y="334213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19188" y="3342132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65492" y="3342132"/>
            <a:ext cx="64008" cy="64008"/>
          </a:xfrm>
          <a:prstGeom prst="ellipse">
            <a:avLst/>
          </a:prstGeom>
          <a:solidFill>
            <a:srgbClr val="C18A3B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16952" y="3017520"/>
            <a:ext cx="1737360" cy="-34747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818120" y="3703320"/>
            <a:ext cx="804672" cy="457200"/>
          </a:xfrm>
          <a:prstGeom prst="roundRect">
            <a:avLst>
              <a:gd name="adj" fmla="val 10000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27848" y="3794760"/>
            <a:ext cx="58521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932420" y="425653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78724" y="4256532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5028" y="4256532"/>
            <a:ext cx="64008" cy="64008"/>
          </a:xfrm>
          <a:prstGeom prst="ellipse">
            <a:avLst/>
          </a:prstGeom>
          <a:solidFill>
            <a:srgbClr val="C18A3B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71332" y="4256532"/>
            <a:ext cx="64008" cy="64008"/>
          </a:xfrm>
          <a:prstGeom prst="ellipse">
            <a:avLst/>
          </a:prstGeom>
          <a:solidFill>
            <a:srgbClr val="456A82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22792" y="3931920"/>
            <a:ext cx="731520" cy="-126187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372600" y="2212848"/>
            <a:ext cx="1024128" cy="896112"/>
          </a:xfrm>
          <a:prstGeom prst="roundRect">
            <a:avLst>
              <a:gd name="adj" fmla="val 5102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82328" y="2304288"/>
            <a:ext cx="80467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federated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77072" y="340156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updates, not raw traffic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405872" y="2670048"/>
            <a:ext cx="612648" cy="0"/>
          </a:xfrm>
          <a:prstGeom prst="line">
            <a:avLst/>
          </a:prstGeom>
          <a:noFill/>
          <a:ln w="15240">
            <a:solidFill>
              <a:srgbClr val="176B68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0991088" y="2276856"/>
            <a:ext cx="749808" cy="786384"/>
          </a:xfrm>
          <a:prstGeom prst="roundRect">
            <a:avLst>
              <a:gd name="adj" fmla="val 6098"/>
            </a:avLst>
          </a:prstGeom>
          <a:solidFill>
            <a:srgbClr val="DCE8E5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100816" y="2368296"/>
            <a:ext cx="530352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IDS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 1 — THE PROBLEM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Federated Learning Removes One Risk — Not All of Them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13232" y="1417320"/>
            <a:ext cx="1920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170078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IDS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1664208"/>
            <a:ext cx="713232" cy="0"/>
          </a:xfrm>
          <a:prstGeom prst="line">
            <a:avLst/>
          </a:prstGeom>
          <a:noFill/>
          <a:ln w="1397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19856" y="1307592"/>
            <a:ext cx="1965960" cy="713232"/>
          </a:xfrm>
          <a:prstGeom prst="roundRect">
            <a:avLst>
              <a:gd name="adj" fmla="val 6410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399032"/>
            <a:ext cx="174650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telemetry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transferred centrally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31536" y="1664208"/>
            <a:ext cx="694944" cy="0"/>
          </a:xfrm>
          <a:prstGeom prst="line">
            <a:avLst/>
          </a:prstGeom>
          <a:noFill/>
          <a:ln w="1397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307592"/>
            <a:ext cx="1920240" cy="713232"/>
          </a:xfrm>
          <a:prstGeom prst="roundRect">
            <a:avLst>
              <a:gd name="adj" fmla="val 6410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81928" y="1399032"/>
            <a:ext cx="17007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+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2971800"/>
            <a:ext cx="1920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063240"/>
            <a:ext cx="170078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Federated IDS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70048" y="3218688"/>
            <a:ext cx="713232" cy="0"/>
          </a:xfrm>
          <a:prstGeom prst="line">
            <a:avLst/>
          </a:prstGeom>
          <a:noFill/>
          <a:ln w="1397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419856" y="2971800"/>
            <a:ext cx="1965960" cy="502920"/>
          </a:xfrm>
          <a:prstGeom prst="roundRect">
            <a:avLst>
              <a:gd name="adj" fmla="val 9091"/>
            </a:avLst>
          </a:prstGeom>
          <a:solidFill>
            <a:srgbClr val="DCE8E5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9584" y="3063240"/>
            <a:ext cx="174650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remains local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31536" y="3218688"/>
            <a:ext cx="694944" cy="0"/>
          </a:xfrm>
          <a:prstGeom prst="line">
            <a:avLst/>
          </a:prstGeom>
          <a:noFill/>
          <a:ln w="1397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72200" y="2852928"/>
            <a:ext cx="1920240" cy="713232"/>
          </a:xfrm>
          <a:prstGeom prst="roundRect">
            <a:avLst>
              <a:gd name="adj" fmla="val 6410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81928" y="2944368"/>
            <a:ext cx="17007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updates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still evidence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140817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03920" y="1856232"/>
            <a:ext cx="2578608" cy="329184"/>
          </a:xfrm>
          <a:prstGeom prst="roundRect">
            <a:avLst>
              <a:gd name="adj" fmla="val 13889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13648" y="1947672"/>
            <a:ext cx="23591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Non-IID clients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03920" y="2377440"/>
            <a:ext cx="25786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13648" y="2468880"/>
            <a:ext cx="23591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Poisoning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03920" y="2898648"/>
            <a:ext cx="2578608" cy="329184"/>
          </a:xfrm>
          <a:prstGeom prst="roundRect">
            <a:avLst>
              <a:gd name="adj" fmla="val 13889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13648" y="2990088"/>
            <a:ext cx="23591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riding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03920" y="3419856"/>
            <a:ext cx="25786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13648" y="3511296"/>
            <a:ext cx="23591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Rare attack classes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503920" y="3941064"/>
            <a:ext cx="2578608" cy="329184"/>
          </a:xfrm>
          <a:prstGeom prst="roundRect">
            <a:avLst>
              <a:gd name="adj" fmla="val 13889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13648" y="4032504"/>
            <a:ext cx="23591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leakage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50976" y="519379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receives model updates — but still has to decide which knowledge deserves trust.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TENSION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Unusual Does Not Necessarily Mean Malicious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1051560" y="1389888"/>
            <a:ext cx="7315200" cy="0"/>
          </a:xfrm>
          <a:prstGeom prst="line">
            <a:avLst/>
          </a:prstGeom>
          <a:noFill/>
          <a:ln w="11430">
            <a:solidFill>
              <a:srgbClr val="161A1D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51560" y="5367528"/>
            <a:ext cx="7315200" cy="0"/>
          </a:xfrm>
          <a:prstGeom prst="line">
            <a:avLst/>
          </a:prstGeom>
          <a:noFill/>
          <a:ln w="11430">
            <a:solidFill>
              <a:srgbClr val="161A1D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51560" y="1389888"/>
            <a:ext cx="0" cy="3977640"/>
          </a:xfrm>
          <a:prstGeom prst="line">
            <a:avLst/>
          </a:prstGeom>
          <a:noFill/>
          <a:ln w="11430">
            <a:solidFill>
              <a:srgbClr val="161A1D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8366760" y="1389888"/>
            <a:ext cx="0" cy="3977640"/>
          </a:xfrm>
          <a:prstGeom prst="line">
            <a:avLst/>
          </a:prstGeom>
          <a:noFill/>
          <a:ln w="11430">
            <a:solidFill>
              <a:srgbClr val="161A1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4709160" y="1389888"/>
            <a:ext cx="0" cy="3977640"/>
          </a:xfrm>
          <a:prstGeom prst="line">
            <a:avLst/>
          </a:prstGeom>
          <a:noFill/>
          <a:ln w="12700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51560" y="3378708"/>
            <a:ext cx="7315200" cy="0"/>
          </a:xfrm>
          <a:prstGeom prst="line">
            <a:avLst/>
          </a:prstGeom>
          <a:noFill/>
          <a:ln w="12700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143000" y="5550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appears ordinary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80760" y="55504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appears unusual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1572768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class utility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4407408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class utility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22576" y="4581144"/>
            <a:ext cx="201168" cy="20116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44256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majority client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30568" y="2048256"/>
            <a:ext cx="237744" cy="237744"/>
          </a:xfrm>
          <a:prstGeom prst="ellipse">
            <a:avLst/>
          </a:prstGeom>
          <a:solidFill>
            <a:srgbClr val="C18A3B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1892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rare-class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client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44368" y="2231136"/>
            <a:ext cx="237744" cy="237744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08483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stealth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malicious client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68312" y="4526280"/>
            <a:ext cx="219456" cy="21945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43616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obvious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poisoning client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52560" y="1554480"/>
            <a:ext cx="2148840" cy="320040"/>
          </a:xfrm>
          <a:prstGeom prst="roundRect">
            <a:avLst>
              <a:gd name="adj" fmla="val 14286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62288" y="1645920"/>
            <a:ext cx="1929384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Difficult cases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098280" y="2057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rare-class benign client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098280" y="23042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but valuable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098280" y="28895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stealth malicious client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098280" y="313639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ordinary-looking but harmful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98280" y="4206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 alone cannot tell the whole story.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CSE499A LESSON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Baselines. Four Different Views of Client Trust.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456A82"/>
          </a:solidFill>
          <a:ln w="11430">
            <a:solidFill>
              <a:srgbClr val="456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673352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33172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23160"/>
            <a:ext cx="165506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SecureDyn-FL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456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/ geometric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56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behavior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15768" y="2569464"/>
            <a:ext cx="548640" cy="0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600200"/>
            <a:ext cx="548640" cy="548640"/>
          </a:xfrm>
          <a:prstGeom prst="ellipse">
            <a:avLst/>
          </a:prstGeom>
          <a:solidFill>
            <a:srgbClr val="C18A3B"/>
          </a:solidFill>
          <a:ln w="11430">
            <a:solidFill>
              <a:srgbClr val="C18A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5576" y="1673352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29000" y="233172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38728" y="2423160"/>
            <a:ext cx="165506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FedMADE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29000" y="320040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Class-level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67528" y="2569464"/>
            <a:ext cx="548640" cy="0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80760" y="1600200"/>
            <a:ext cx="548640" cy="548640"/>
          </a:xfrm>
          <a:prstGeom prst="ellipse">
            <a:avLst/>
          </a:prstGeom>
          <a:solidFill>
            <a:srgbClr val="647D68"/>
          </a:solidFill>
          <a:ln w="11430">
            <a:solidFill>
              <a:srgbClr val="647D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17336" y="1673352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80760" y="233172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647D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90488" y="2423160"/>
            <a:ext cx="165506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WEF-Defense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80760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080760" y="320040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47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47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behavior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19288" y="2569464"/>
            <a:ext cx="548640" cy="0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176B68"/>
          </a:solidFill>
          <a:ln w="11430">
            <a:solidFill>
              <a:srgbClr val="176B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69096" y="1673352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732520" y="233172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42248" y="2423160"/>
            <a:ext cx="165506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FedMSE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732520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732520" y="320040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Normal-traffic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" y="4937760"/>
            <a:ext cx="1028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CSE499A changed the project from “implementing defenses” to understanding what evidence the server should trust.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SecureDyn-FL — Is the Update Behavior Suspicious?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749808" y="1188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updates across rounds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49808" y="1508760"/>
            <a:ext cx="457200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4023360"/>
            <a:ext cx="0" cy="-2258568"/>
          </a:xfrm>
          <a:prstGeom prst="line">
            <a:avLst/>
          </a:prstGeom>
          <a:noFill/>
          <a:ln w="4445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783080" y="4023360"/>
            <a:ext cx="0" cy="-2258568"/>
          </a:xfrm>
          <a:prstGeom prst="line">
            <a:avLst/>
          </a:prstGeom>
          <a:noFill/>
          <a:ln w="4445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2560320" y="4023360"/>
            <a:ext cx="0" cy="-2258568"/>
          </a:xfrm>
          <a:prstGeom prst="line">
            <a:avLst/>
          </a:prstGeom>
          <a:noFill/>
          <a:ln w="4445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337560" y="4023360"/>
            <a:ext cx="0" cy="-2258568"/>
          </a:xfrm>
          <a:prstGeom prst="line">
            <a:avLst/>
          </a:prstGeom>
          <a:noFill/>
          <a:ln w="4445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114800" y="4023360"/>
            <a:ext cx="0" cy="-2258568"/>
          </a:xfrm>
          <a:prstGeom prst="line">
            <a:avLst/>
          </a:prstGeom>
          <a:noFill/>
          <a:ln w="4445">
            <a:solidFill>
              <a:srgbClr val="D8D3C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024128" y="3474720"/>
            <a:ext cx="758952" cy="-411480"/>
          </a:xfrm>
          <a:prstGeom prst="line">
            <a:avLst/>
          </a:prstGeom>
          <a:noFill/>
          <a:ln w="15240">
            <a:solidFill>
              <a:srgbClr val="647D68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783080" y="3063240"/>
            <a:ext cx="758952" cy="-274320"/>
          </a:xfrm>
          <a:prstGeom prst="line">
            <a:avLst/>
          </a:prstGeom>
          <a:noFill/>
          <a:ln w="15240">
            <a:solidFill>
              <a:srgbClr val="647D68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2542032" y="2788920"/>
            <a:ext cx="749808" cy="-182880"/>
          </a:xfrm>
          <a:prstGeom prst="line">
            <a:avLst/>
          </a:prstGeom>
          <a:noFill/>
          <a:ln w="15240">
            <a:solidFill>
              <a:srgbClr val="647D68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291840" y="2606040"/>
            <a:ext cx="758952" cy="-274320"/>
          </a:xfrm>
          <a:prstGeom prst="line">
            <a:avLst/>
          </a:prstGeom>
          <a:noFill/>
          <a:ln w="15240">
            <a:solidFill>
              <a:srgbClr val="647D68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4050792" y="2331720"/>
            <a:ext cx="704088" cy="-182880"/>
          </a:xfrm>
          <a:prstGeom prst="line">
            <a:avLst/>
          </a:prstGeom>
          <a:noFill/>
          <a:ln w="15240">
            <a:solidFill>
              <a:srgbClr val="647D68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97280" y="3383280"/>
            <a:ext cx="758952" cy="-137160"/>
          </a:xfrm>
          <a:prstGeom prst="line">
            <a:avLst/>
          </a:prstGeom>
          <a:noFill/>
          <a:ln w="15240">
            <a:solidFill>
              <a:srgbClr val="A84A4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856232" y="3246120"/>
            <a:ext cx="758952" cy="-118872"/>
          </a:xfrm>
          <a:prstGeom prst="line">
            <a:avLst/>
          </a:prstGeom>
          <a:noFill/>
          <a:ln w="15240">
            <a:solidFill>
              <a:srgbClr val="A84A4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2615184" y="3127248"/>
            <a:ext cx="731520" cy="-429768"/>
          </a:xfrm>
          <a:prstGeom prst="line">
            <a:avLst/>
          </a:prstGeom>
          <a:noFill/>
          <a:ln w="15240">
            <a:solidFill>
              <a:srgbClr val="A84A4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346704" y="2697480"/>
            <a:ext cx="768096" cy="-996696"/>
          </a:xfrm>
          <a:prstGeom prst="line">
            <a:avLst/>
          </a:prstGeom>
          <a:noFill/>
          <a:ln w="15240">
            <a:solidFill>
              <a:srgbClr val="A84A4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4114800" y="1700784"/>
            <a:ext cx="612648" cy="-420624"/>
          </a:xfrm>
          <a:prstGeom prst="line">
            <a:avLst/>
          </a:prstGeom>
          <a:noFill/>
          <a:ln w="15240">
            <a:solidFill>
              <a:srgbClr val="A84A4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82980" y="343357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41932" y="302209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00884" y="274777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50692" y="256489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9644" y="229057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13732" y="2107692"/>
            <a:ext cx="82296" cy="82296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6132" y="3342132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15084" y="3204972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4036" y="3086100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05556" y="2656332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73652" y="1659636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86300" y="1239012"/>
            <a:ext cx="82296" cy="82296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17320" y="4553712"/>
            <a:ext cx="3246120" cy="393192"/>
          </a:xfrm>
          <a:prstGeom prst="roundRect">
            <a:avLst>
              <a:gd name="adj" fmla="val 11628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27048" y="4645152"/>
            <a:ext cx="30266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GMM / Mahalanobis-style audit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63240" y="4443984"/>
            <a:ext cx="0" cy="109728"/>
          </a:xfrm>
          <a:prstGeom prst="line">
            <a:avLst/>
          </a:prstGeom>
          <a:noFill/>
          <a:ln w="12700">
            <a:solidFill>
              <a:srgbClr val="456A82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160520" y="24231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7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behavior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187952" y="14173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suspicious turn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852160" y="1280160"/>
            <a:ext cx="2514600" cy="347472"/>
          </a:xfrm>
          <a:prstGeom prst="roundRect">
            <a:avLst>
              <a:gd name="adj" fmla="val 13158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61888" y="1371600"/>
            <a:ext cx="229514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in CSE499A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920740" y="1796796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1755648"/>
            <a:ext cx="2185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N-BaIoT-compatible preprocessing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20740" y="2080260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53328" y="2039112"/>
            <a:ext cx="2185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partitions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920740" y="2363724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53328" y="2322576"/>
            <a:ext cx="2185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1D-CNN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920740" y="2647188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53328" y="2606040"/>
            <a:ext cx="2185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aggregation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20740" y="2930652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53328" y="2889504"/>
            <a:ext cx="2185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IID / non-IID runs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9006840" y="1280160"/>
            <a:ext cx="2240280" cy="347472"/>
          </a:xfrm>
          <a:prstGeom prst="roundRect">
            <a:avLst>
              <a:gd name="adj" fmla="val 13158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16568" y="1371600"/>
            <a:ext cx="202082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yet reproduced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075420" y="1796796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1755648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GMM / Mahalanobis auditing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075420" y="2080260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208008" y="2039112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encrypted aggregation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75420" y="2363724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08008" y="2322576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personalization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075420" y="2647188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208008" y="2606040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pruning + quantization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075420" y="293065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208008" y="2889504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poisoning evaluation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870448" y="480060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matters: the CSE499A version is a running reference pipeline, not a full reproduction of SecureDyn-FL.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FedMADE — Which Classes Does This Client Actually Help?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804672" y="1234440"/>
            <a:ext cx="27432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2523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Model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76272" y="1645920"/>
            <a:ext cx="0" cy="21031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04672" y="1874520"/>
            <a:ext cx="27432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65960"/>
            <a:ext cx="2523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Auxiliary validation set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76272" y="2286000"/>
            <a:ext cx="0" cy="21031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04672" y="2514600"/>
            <a:ext cx="2743200" cy="393192"/>
          </a:xfrm>
          <a:prstGeom prst="roundRect">
            <a:avLst>
              <a:gd name="adj" fmla="val 11628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06040"/>
            <a:ext cx="2523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Probability Matrix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76272" y="2926080"/>
            <a:ext cx="0" cy="21031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4672" y="3154680"/>
            <a:ext cx="27432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46120"/>
            <a:ext cx="2523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DBSCAN grouping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76272" y="3566160"/>
            <a:ext cx="0" cy="210312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4672" y="3794760"/>
            <a:ext cx="27432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886200"/>
            <a:ext cx="2523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Class-aware aggregation weight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77640" y="2103120"/>
            <a:ext cx="2240280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78224" y="2212848"/>
            <a:ext cx="429768" cy="219456"/>
          </a:xfrm>
          <a:prstGeom prst="rect">
            <a:avLst/>
          </a:prstGeom>
          <a:solidFill>
            <a:srgbClr val="DCE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1144" y="2212848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84064" y="2212848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86984" y="2212848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78224" y="2496312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1144" y="2496312"/>
            <a:ext cx="429768" cy="219456"/>
          </a:xfrm>
          <a:prstGeom prst="rect">
            <a:avLst/>
          </a:prstGeom>
          <a:solidFill>
            <a:srgbClr val="DCE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84064" y="2496312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6984" y="2496312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78224" y="2779776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81144" y="2779776"/>
            <a:ext cx="429768" cy="219456"/>
          </a:xfrm>
          <a:prstGeom prst="rect">
            <a:avLst/>
          </a:prstGeom>
          <a:solidFill>
            <a:srgbClr val="EBD5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84064" y="2779776"/>
            <a:ext cx="429768" cy="219456"/>
          </a:xfrm>
          <a:prstGeom prst="rect">
            <a:avLst/>
          </a:prstGeom>
          <a:solidFill>
            <a:srgbClr val="DCE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86984" y="2779776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78224" y="3063240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81144" y="3063240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84064" y="3063240"/>
            <a:ext cx="429768" cy="219456"/>
          </a:xfrm>
          <a:prstGeom prst="rect">
            <a:avLst/>
          </a:prstGeom>
          <a:solidFill>
            <a:srgbClr val="F7F5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86984" y="3063240"/>
            <a:ext cx="429768" cy="219456"/>
          </a:xfrm>
          <a:prstGeom prst="rect">
            <a:avLst/>
          </a:prstGeom>
          <a:solidFill>
            <a:srgbClr val="DCE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04488" y="3840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= class behavior, not sample count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29400" y="1298448"/>
            <a:ext cx="1051560" cy="347472"/>
          </a:xfrm>
          <a:prstGeom prst="roundRect">
            <a:avLst>
              <a:gd name="adj" fmla="val 13158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39128" y="1389888"/>
            <a:ext cx="8321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66560" y="178308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samples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poor minority-class knowledge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29400" y="2834640"/>
            <a:ext cx="1051560" cy="347472"/>
          </a:xfrm>
          <a:prstGeom prst="roundRect">
            <a:avLst>
              <a:gd name="adj" fmla="val 13158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2926080"/>
            <a:ext cx="8321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B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66560" y="33101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samples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rare-attack knowledge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81160" y="1417320"/>
            <a:ext cx="1280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0160">
            <a:solidFill>
              <a:srgbClr val="6467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90888" y="1508760"/>
            <a:ext cx="10607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FedAvg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363456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dominates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9281160" y="2907792"/>
            <a:ext cx="1463040" cy="347472"/>
          </a:xfrm>
          <a:prstGeom prst="roundRect">
            <a:avLst>
              <a:gd name="adj" fmla="val 13158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90888" y="2999232"/>
            <a:ext cx="124358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FedMADE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363456" y="340156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can retain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meaningful influence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629400" y="49834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size ≠ client usefulness.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COMPARATIVE 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 Evidence Can Produce Different Decisions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1325880" cy="384048"/>
          </a:xfrm>
          <a:prstGeom prst="roundRect">
            <a:avLst>
              <a:gd name="adj" fmla="val 11905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234440"/>
            <a:ext cx="11064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1874520" y="1143000"/>
            <a:ext cx="2148840" cy="384048"/>
          </a:xfrm>
          <a:prstGeom prst="roundRect">
            <a:avLst>
              <a:gd name="adj" fmla="val 11905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84248" y="1234440"/>
            <a:ext cx="1929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4069080" y="1143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78808" y="1234440"/>
            <a:ext cx="1883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6217920" y="1143000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234440"/>
            <a:ext cx="1792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8275320" y="1143000"/>
            <a:ext cx="2788920" cy="384048"/>
          </a:xfrm>
          <a:prstGeom prst="roundRect">
            <a:avLst>
              <a:gd name="adj" fmla="val 11905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234440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Possible false alarm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502920" y="1600200"/>
            <a:ext cx="132588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1691640"/>
            <a:ext cx="11064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SecureDyn-FL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874520" y="1600200"/>
            <a:ext cx="214884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84248" y="1691640"/>
            <a:ext cx="192938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trajectory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069080" y="1600200"/>
            <a:ext cx="210312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78808" y="1691640"/>
            <a:ext cx="18836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poisoning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6217920" y="1600200"/>
            <a:ext cx="201168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1691640"/>
            <a:ext cx="17922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security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8275320" y="1600200"/>
            <a:ext cx="278892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5048" y="1691640"/>
            <a:ext cx="25694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distribution shift may appear suspicious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502920" y="2313432"/>
            <a:ext cx="132588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" y="2404872"/>
            <a:ext cx="11064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FedMADE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74520" y="2313432"/>
            <a:ext cx="214884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4248" y="2404872"/>
            <a:ext cx="192938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performance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4069080" y="2313432"/>
            <a:ext cx="21031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78808" y="2404872"/>
            <a:ext cx="18836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imbalance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6217920" y="2313432"/>
            <a:ext cx="201168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27648" y="2404872"/>
            <a:ext cx="17922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preserves rare-class knowledge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8275320" y="2313432"/>
            <a:ext cx="27889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85048" y="2404872"/>
            <a:ext cx="25694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depends on auxiliary reference data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502920" y="3026664"/>
            <a:ext cx="132588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118104"/>
            <a:ext cx="11064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WEF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874520" y="3026664"/>
            <a:ext cx="214884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84248" y="3118104"/>
            <a:ext cx="192938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evolution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4069080" y="3026664"/>
            <a:ext cx="210312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78808" y="3118104"/>
            <a:ext cx="18836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riding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6217920" y="3026664"/>
            <a:ext cx="201168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27648" y="3118104"/>
            <a:ext cx="17922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observes actual training behavior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8275320" y="3026664"/>
            <a:ext cx="2788920" cy="585216"/>
          </a:xfrm>
          <a:prstGeom prst="roundRect">
            <a:avLst>
              <a:gd name="adj" fmla="val 7813"/>
            </a:avLst>
          </a:prstGeom>
          <a:solidFill>
            <a:srgbClr val="F0ECE3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85048" y="3118104"/>
            <a:ext cx="25694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instability may look abnormal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502920" y="3739896"/>
            <a:ext cx="132588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3831336"/>
            <a:ext cx="11064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FedMSE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874520" y="3739896"/>
            <a:ext cx="214884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84248" y="3831336"/>
            <a:ext cx="192938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representation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4069080" y="3739896"/>
            <a:ext cx="21031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78808" y="3831336"/>
            <a:ext cx="18836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anomalies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6217920" y="3739896"/>
            <a:ext cx="201168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3831336"/>
            <a:ext cx="179222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not require every attack label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8275320" y="3739896"/>
            <a:ext cx="27889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85048" y="3831336"/>
            <a:ext cx="2569464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unusual behavior may trigger anomaly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713232" y="56692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single signal is a universal trust score.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GAP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Gap Appears Where Security and Class Utility Intersect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868680" y="1755648"/>
            <a:ext cx="329184" cy="329184"/>
          </a:xfrm>
          <a:prstGeom prst="ellipse">
            <a:avLst/>
          </a:prstGeom>
          <a:solidFill>
            <a:srgbClr val="456A82"/>
          </a:solidFill>
          <a:ln w="11430">
            <a:solidFill>
              <a:srgbClr val="456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" y="18288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2212848"/>
            <a:ext cx="2560320" cy="1005840"/>
          </a:xfrm>
          <a:prstGeom prst="roundRect">
            <a:avLst>
              <a:gd name="adj" fmla="val 4545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304288"/>
            <a:ext cx="234086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heterogeneity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malicious behavior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3749040" cy="941832"/>
          </a:xfrm>
          <a:prstGeom prst="line">
            <a:avLst/>
          </a:prstGeom>
          <a:noFill/>
          <a:ln w="10160">
            <a:solidFill>
              <a:srgbClr val="456A82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89120" y="1755648"/>
            <a:ext cx="329184" cy="329184"/>
          </a:xfrm>
          <a:prstGeom prst="ellipse">
            <a:avLst/>
          </a:prstGeom>
          <a:solidFill>
            <a:srgbClr val="C18A3B"/>
          </a:solidFill>
          <a:ln w="11430">
            <a:solidFill>
              <a:srgbClr val="C18A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5696" y="18288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2212848"/>
            <a:ext cx="2560320" cy="1005840"/>
          </a:xfrm>
          <a:prstGeom prst="roundRect">
            <a:avLst>
              <a:gd name="adj" fmla="val 4545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8848" y="2304288"/>
            <a:ext cx="234086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accuracy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minority-class failure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0" y="3246120"/>
            <a:ext cx="228600" cy="941832"/>
          </a:xfrm>
          <a:prstGeom prst="line">
            <a:avLst/>
          </a:prstGeom>
          <a:noFill/>
          <a:ln w="10160">
            <a:solidFill>
              <a:srgbClr val="C18A3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09560" y="1755648"/>
            <a:ext cx="329184" cy="329184"/>
          </a:xfrm>
          <a:prstGeom prst="ellipse">
            <a:avLst/>
          </a:prstGeom>
          <a:solidFill>
            <a:srgbClr val="A84A44"/>
          </a:solidFill>
          <a:ln w="11430">
            <a:solidFill>
              <a:srgbClr val="A84A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46136" y="18288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09560" y="2212848"/>
            <a:ext cx="2560320" cy="1005840"/>
          </a:xfrm>
          <a:prstGeom prst="roundRect">
            <a:avLst>
              <a:gd name="adj" fmla="val 4545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9288" y="2304288"/>
            <a:ext cx="2340864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trust score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noisy multi-view evidence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9720" y="3246120"/>
            <a:ext cx="-3291840" cy="941832"/>
          </a:xfrm>
          <a:prstGeom prst="line">
            <a:avLst/>
          </a:prstGeom>
          <a:noFill/>
          <a:ln w="10160">
            <a:solidFill>
              <a:srgbClr val="A84A44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788920" y="4251960"/>
            <a:ext cx="6720840" cy="786384"/>
          </a:xfrm>
          <a:prstGeom prst="roundRect">
            <a:avLst>
              <a:gd name="adj" fmla="val 5814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98648" y="4343400"/>
            <a:ext cx="6501384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should the server decide whether an unusual client is harmful or simply valuable?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CSE499B DIRECTION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Single-View Detection to Multi-View Client Evidence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49808" y="128016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371600"/>
            <a:ext cx="160934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 Client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4208" y="1737360"/>
            <a:ext cx="0" cy="365760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9808" y="21488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240280"/>
            <a:ext cx="160934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Training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64208" y="2606040"/>
            <a:ext cx="0" cy="365760"/>
          </a:xfrm>
          <a:prstGeom prst="line">
            <a:avLst/>
          </a:prstGeom>
          <a:noFill/>
          <a:ln w="1016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" y="30175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Model / Update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2148840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2240280"/>
            <a:ext cx="877824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06040" y="3017520"/>
            <a:ext cx="1097280" cy="-658368"/>
          </a:xfrm>
          <a:prstGeom prst="line">
            <a:avLst/>
          </a:prstGeom>
          <a:noFill/>
          <a:ln w="11430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57800" y="1188720"/>
            <a:ext cx="2606040" cy="1143000"/>
          </a:xfrm>
          <a:prstGeom prst="roundRect">
            <a:avLst>
              <a:gd name="adj" fmla="val 4000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67528" y="1280160"/>
            <a:ext cx="2386584" cy="978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Trust Evidence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SecureDyn-inspired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update trajectory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anomalous update behavior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257800" y="3383280"/>
            <a:ext cx="2606040" cy="1335024"/>
          </a:xfrm>
          <a:prstGeom prst="roundRect">
            <a:avLst>
              <a:gd name="adj" fmla="val 3425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67528" y="3474720"/>
            <a:ext cx="2386584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Contribution Evidence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FedMADE-inspired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CPM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minority-class utility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per-class behavior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2359152"/>
            <a:ext cx="457200" cy="-576072"/>
          </a:xfrm>
          <a:prstGeom prst="line">
            <a:avLst/>
          </a:prstGeom>
          <a:noFill/>
          <a:ln w="11430">
            <a:solidFill>
              <a:srgbClr val="456A82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800600" y="2359152"/>
            <a:ext cx="457200" cy="1572768"/>
          </a:xfrm>
          <a:prstGeom prst="line">
            <a:avLst/>
          </a:prstGeom>
          <a:noFill/>
          <a:ln w="11430">
            <a:solidFill>
              <a:srgbClr val="C18A3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686800" y="2359152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96528" y="2450592"/>
            <a:ext cx="1243584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Multi-View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Score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82128" y="1755648"/>
            <a:ext cx="804672" cy="877824"/>
          </a:xfrm>
          <a:prstGeom prst="line">
            <a:avLst/>
          </a:prstGeom>
          <a:noFill/>
          <a:ln w="11430">
            <a:solidFill>
              <a:srgbClr val="456A8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882128" y="4041648"/>
            <a:ext cx="804672" cy="-1179576"/>
          </a:xfrm>
          <a:prstGeom prst="line">
            <a:avLst/>
          </a:prstGeom>
          <a:noFill/>
          <a:ln w="11430">
            <a:solidFill>
              <a:srgbClr val="C18A3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8200" y="38862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DCE8E5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928" y="3977640"/>
            <a:ext cx="1700784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Trust-aware +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class-aware aggregation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18320" y="3154680"/>
            <a:ext cx="0" cy="731520"/>
          </a:xfrm>
          <a:prstGeom prst="line">
            <a:avLst/>
          </a:prstGeom>
          <a:noFill/>
          <a:ln w="11430">
            <a:solidFill>
              <a:srgbClr val="176B6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835640" y="3840480"/>
            <a:ext cx="8686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45368" y="3931920"/>
            <a:ext cx="64922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IDS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387584" y="4224528"/>
            <a:ext cx="448056" cy="0"/>
          </a:xfrm>
          <a:prstGeom prst="line">
            <a:avLst/>
          </a:prstGeom>
          <a:noFill/>
          <a:ln w="11430">
            <a:solidFill>
              <a:srgbClr val="176B68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32688" y="551383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Protect minority-class performance without falsely rejecting legitimate non-IID clients.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THREAT MODEL / STRESS TEST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Attack We Actually Want to Expose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77240" y="1371600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E1E8DF"/>
          </a:solidFill>
          <a:ln w="10160">
            <a:solidFill>
              <a:srgbClr val="647D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463040"/>
            <a:ext cx="6766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20240" y="1371600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E1E8DF"/>
          </a:solidFill>
          <a:ln w="10160">
            <a:solidFill>
              <a:srgbClr val="647D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29968" y="1463040"/>
            <a:ext cx="6766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63240" y="1371600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E1E8DF"/>
          </a:solidFill>
          <a:ln w="10160">
            <a:solidFill>
              <a:srgbClr val="647D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463040"/>
            <a:ext cx="6766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463040"/>
            <a:ext cx="6766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compromised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49240" y="1371600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EBD5D2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8968" y="1463040"/>
            <a:ext cx="6766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compromised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68680" y="2697480"/>
            <a:ext cx="1874520" cy="365760"/>
          </a:xfrm>
          <a:prstGeom prst="roundRect">
            <a:avLst>
              <a:gd name="adj" fmla="val 12500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2788920"/>
            <a:ext cx="165506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malicious strategy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2735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close to benign update behavior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while selectively degrading one rare attack class.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37960" y="1664208"/>
            <a:ext cx="2194560" cy="347472"/>
          </a:xfrm>
          <a:prstGeom prst="roundRect">
            <a:avLst>
              <a:gd name="adj" fmla="val 13158"/>
            </a:avLst>
          </a:prstGeom>
          <a:solidFill>
            <a:srgbClr val="DCE5EA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1755648"/>
            <a:ext cx="19751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Parameter-space appearance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03720" y="23042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647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normal-ish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20840" y="2715768"/>
            <a:ext cx="1783080" cy="1005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3C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63156" y="2958084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83196" y="2958084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03236" y="2958084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3276" y="2958084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63156" y="3131820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83196" y="3131820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03236" y="3131820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23276" y="3131820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63156" y="3305556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3196" y="3305556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03236" y="3305556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23276" y="3305556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63156" y="3479292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64908" y="3461004"/>
            <a:ext cx="100584" cy="100584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03236" y="3479292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23276" y="3479292"/>
            <a:ext cx="64008" cy="64008"/>
          </a:xfrm>
          <a:prstGeom prst="ellipse">
            <a:avLst/>
          </a:prstGeom>
          <a:solidFill>
            <a:srgbClr val="647D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9720" y="1664208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EFE3C9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99448" y="1755648"/>
            <a:ext cx="170078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Class-level impact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738360" y="23042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84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harmful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281160" y="2807208"/>
            <a:ext cx="1600200" cy="201168"/>
          </a:xfrm>
          <a:prstGeom prst="rect">
            <a:avLst/>
          </a:prstGeom>
          <a:solidFill>
            <a:srgbClr val="647D68"/>
          </a:solidFill>
          <a:ln w="12700">
            <a:solidFill>
              <a:srgbClr val="647D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281160" y="3236976"/>
            <a:ext cx="566928" cy="201168"/>
          </a:xfrm>
          <a:prstGeom prst="rect">
            <a:avLst/>
          </a:prstGeom>
          <a:solidFill>
            <a:srgbClr val="A84A44"/>
          </a:solidFill>
          <a:ln w="12700">
            <a:solidFill>
              <a:srgbClr val="A84A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927080" y="275234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accuracy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0927080" y="318211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rare-class recall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017520" y="530352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Stealth in parameter space. Damage in class space.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PLAN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Comparison Before Combination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29768" y="1344168"/>
            <a:ext cx="329184" cy="329184"/>
          </a:xfrm>
          <a:prstGeom prst="ellipse">
            <a:avLst/>
          </a:prstGeom>
          <a:solidFill>
            <a:srgbClr val="456A82"/>
          </a:solidFill>
          <a:ln w="11430">
            <a:solidFill>
              <a:srgbClr val="456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" y="14173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874520"/>
            <a:ext cx="1901952" cy="502920"/>
          </a:xfrm>
          <a:prstGeom prst="roundRect">
            <a:avLst>
              <a:gd name="adj" fmla="val 9091"/>
            </a:avLst>
          </a:prstGeom>
          <a:solidFill>
            <a:srgbClr val="F0ECE3"/>
          </a:solidFill>
          <a:ln w="10160">
            <a:solidFill>
              <a:srgbClr val="456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965960"/>
            <a:ext cx="1682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Clean baselines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17830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FedAvg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SecureDyn-oriented baseline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FedMADE</a:t>
            </a:r>
            <a:endParaRPr lang="en-US" sz="870" dirty="0"/>
          </a:p>
        </p:txBody>
      </p:sp>
      <p:sp>
        <p:nvSpPr>
          <p:cNvPr id="12" name="Shape 10"/>
          <p:cNvSpPr/>
          <p:nvPr/>
        </p:nvSpPr>
        <p:spPr>
          <a:xfrm>
            <a:off x="2423160" y="2121408"/>
            <a:ext cx="292608" cy="0"/>
          </a:xfrm>
          <a:prstGeom prst="line">
            <a:avLst/>
          </a:prstGeom>
          <a:noFill/>
          <a:ln w="9525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15768" y="1344168"/>
            <a:ext cx="329184" cy="329184"/>
          </a:xfrm>
          <a:prstGeom prst="ellipse">
            <a:avLst/>
          </a:prstGeom>
          <a:solidFill>
            <a:srgbClr val="176B68"/>
          </a:solidFill>
          <a:ln w="11430">
            <a:solidFill>
              <a:srgbClr val="176B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52344" y="14173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88920" y="1874520"/>
            <a:ext cx="19019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176B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98648" y="1965960"/>
            <a:ext cx="1682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Heterogeneity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834640" y="2596896"/>
            <a:ext cx="17830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IID vs non-IID clients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4709160" y="2121408"/>
            <a:ext cx="292608" cy="0"/>
          </a:xfrm>
          <a:prstGeom prst="line">
            <a:avLst/>
          </a:prstGeom>
          <a:noFill/>
          <a:ln w="9525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01768" y="1344168"/>
            <a:ext cx="329184" cy="329184"/>
          </a:xfrm>
          <a:prstGeom prst="ellipse">
            <a:avLst/>
          </a:prstGeom>
          <a:solidFill>
            <a:srgbClr val="A84A44"/>
          </a:solidFill>
          <a:ln w="11430">
            <a:solidFill>
              <a:srgbClr val="A84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8344" y="14173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74920" y="1874520"/>
            <a:ext cx="1901952" cy="502920"/>
          </a:xfrm>
          <a:prstGeom prst="roundRect">
            <a:avLst>
              <a:gd name="adj" fmla="val 9091"/>
            </a:avLst>
          </a:prstGeom>
          <a:solidFill>
            <a:srgbClr val="F0ECE3"/>
          </a:solidFill>
          <a:ln w="10160">
            <a:solidFill>
              <a:srgbClr val="A84A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84648" y="1965960"/>
            <a:ext cx="1682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Adversarial evaluation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20640" y="2596896"/>
            <a:ext cx="17830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flipping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scaled/randomized updates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replacement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malicious-client ratios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6995160" y="2121408"/>
            <a:ext cx="292608" cy="0"/>
          </a:xfrm>
          <a:prstGeom prst="line">
            <a:avLst/>
          </a:prstGeom>
          <a:noFill/>
          <a:ln w="9525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87768" y="1344168"/>
            <a:ext cx="329184" cy="329184"/>
          </a:xfrm>
          <a:prstGeom prst="ellipse">
            <a:avLst/>
          </a:prstGeom>
          <a:solidFill>
            <a:srgbClr val="C18A3B"/>
          </a:solidFill>
          <a:ln w="11430">
            <a:solidFill>
              <a:srgbClr val="C18A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24344" y="14173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60920" y="1874520"/>
            <a:ext cx="19019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C18A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70648" y="1965960"/>
            <a:ext cx="1682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Minority-class stealth attack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06640" y="2596896"/>
            <a:ext cx="17830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combined trust +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evidence</a:t>
            </a:r>
            <a:endParaRPr lang="en-US" sz="870" dirty="0"/>
          </a:p>
        </p:txBody>
      </p:sp>
      <p:sp>
        <p:nvSpPr>
          <p:cNvPr id="30" name="Shape 28"/>
          <p:cNvSpPr/>
          <p:nvPr/>
        </p:nvSpPr>
        <p:spPr>
          <a:xfrm>
            <a:off x="9281160" y="2121408"/>
            <a:ext cx="292608" cy="0"/>
          </a:xfrm>
          <a:prstGeom prst="line">
            <a:avLst/>
          </a:prstGeom>
          <a:noFill/>
          <a:ln w="9525">
            <a:solidFill>
              <a:srgbClr val="64676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73768" y="1344168"/>
            <a:ext cx="329184" cy="329184"/>
          </a:xfrm>
          <a:prstGeom prst="ellipse">
            <a:avLst/>
          </a:prstGeom>
          <a:solidFill>
            <a:srgbClr val="647D68"/>
          </a:solidFill>
          <a:ln w="11430">
            <a:solidFill>
              <a:srgbClr val="647D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10344" y="14173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46920" y="1874520"/>
            <a:ext cx="1901952" cy="502920"/>
          </a:xfrm>
          <a:prstGeom prst="roundRect">
            <a:avLst>
              <a:gd name="adj" fmla="val 9091"/>
            </a:avLst>
          </a:prstGeom>
          <a:solidFill>
            <a:srgbClr val="F0ECE3"/>
          </a:solidFill>
          <a:ln w="10160">
            <a:solidFill>
              <a:srgbClr val="647D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1965960"/>
            <a:ext cx="1682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5 — Ablation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692640" y="2596896"/>
            <a:ext cx="17830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FedAvg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class-aware only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trust-aware only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combined mechanism</a:t>
            </a:r>
            <a:endParaRPr lang="en-US" sz="870" dirty="0"/>
          </a:p>
        </p:txBody>
      </p:sp>
      <p:sp>
        <p:nvSpPr>
          <p:cNvPr id="36" name="Shape 34"/>
          <p:cNvSpPr/>
          <p:nvPr/>
        </p:nvSpPr>
        <p:spPr>
          <a:xfrm>
            <a:off x="2057400" y="4645152"/>
            <a:ext cx="7863840" cy="393192"/>
          </a:xfrm>
          <a:prstGeom prst="roundRect">
            <a:avLst>
              <a:gd name="adj" fmla="val 11628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67128" y="4736592"/>
            <a:ext cx="7644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setup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40280" y="516636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splits  •  seeds  •  client participation  •  local epochs  •  communication rounds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 + METRICS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53949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A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Must Measure Security, Utility and Cost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C9C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3429000" cy="329184"/>
          </a:xfrm>
          <a:prstGeom prst="roundRect">
            <a:avLst>
              <a:gd name="adj" fmla="val 13889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325880"/>
            <a:ext cx="320954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Primary: CICIoT2023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21762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heterogeneous IoT setting; uneven attack-class distributions suitable for class-aware experiments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3044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6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Secondary: N-BaIoT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3383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device-level benign/botnet traffic; compatible with earlier CSE499A preprocessing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234440"/>
            <a:ext cx="3063240" cy="329184"/>
          </a:xfrm>
          <a:prstGeom prst="roundRect">
            <a:avLst>
              <a:gd name="adj" fmla="val 13889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4568" y="1325880"/>
            <a:ext cx="284378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/ DETECTION QUALITY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39996" y="182422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178308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39996" y="209854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72584" y="205740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39996" y="237286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72584" y="23317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39996" y="264718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2584" y="260604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39996" y="292150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288036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per-class F1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39996" y="3195828"/>
            <a:ext cx="64008" cy="64008"/>
          </a:xfrm>
          <a:prstGeom prst="ellipse">
            <a:avLst/>
          </a:prstGeom>
          <a:solidFill>
            <a:srgbClr val="176B68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72584" y="315468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where applicable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909560" y="1234440"/>
            <a:ext cx="3474720" cy="329184"/>
          </a:xfrm>
          <a:prstGeom prst="roundRect">
            <a:avLst>
              <a:gd name="adj" fmla="val 13889"/>
            </a:avLst>
          </a:prstGeom>
          <a:solidFill>
            <a:srgbClr val="161A1D"/>
          </a:solidFill>
          <a:ln w="10160">
            <a:solidFill>
              <a:srgbClr val="161A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19288" y="1325880"/>
            <a:ext cx="325526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+ SYSTEM METRICS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14716" y="1824228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47304" y="178308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malicious-client detection / rejection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8014716" y="2080260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47304" y="203911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false rejection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14716" y="233629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47304" y="2295144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attack-induced degradation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8014716" y="2592324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47304" y="2551176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across rounds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8014716" y="2848356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47304" y="2807208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convergence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8014716" y="3104388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47304" y="306324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duration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8014716" y="3360420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47304" y="331927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cost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8014716" y="3616452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47304" y="3575304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/ memory observations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8014716" y="3872484"/>
            <a:ext cx="64008" cy="64008"/>
          </a:xfrm>
          <a:prstGeom prst="ellipse">
            <a:avLst/>
          </a:prstGeom>
          <a:solidFill>
            <a:srgbClr val="A84A44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47304" y="3831336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61A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epsilon / delta if DP is used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1874520" y="5230368"/>
            <a:ext cx="7955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Prioritize: Macro-F1 + per-class behavior + false rejection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A1D"/>
          </a:solidFill>
          <a:ln w="12700">
            <a:solidFill>
              <a:srgbClr val="161A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7620">
            <a:solidFill>
              <a:srgbClr val="565A5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47104"/>
            <a:ext cx="11109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8D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06 | Md. Murad Ul Momin • Rima Saha • Sakia Tabassum Anonna • Ashraful Hossain Riyan</a:t>
            </a:r>
            <a:endParaRPr lang="en-US" sz="650" dirty="0"/>
          </a:p>
        </p:txBody>
      </p:sp>
      <p:sp>
        <p:nvSpPr>
          <p:cNvPr id="5" name="Text 3"/>
          <p:cNvSpPr/>
          <p:nvPr/>
        </p:nvSpPr>
        <p:spPr>
          <a:xfrm>
            <a:off x="713232" y="658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CE8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SHIELD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61872" y="17373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 federated IDS judge a client by both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468880" y="248716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18A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its update behaves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532120" y="3017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3438144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DCE8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attack knowledge it contributes?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148840" y="461772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88920" y="460857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minority-class knowledge   •   Reject malicious influence   •   Avoid punishing legitimate non-IID clients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0360" y="553212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BFC5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CSE499B → controlled experiments, multi-view evidence, defensible aggregation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5440680" y="5943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467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North South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PRIVATE SHIELD CSE499B Research Review</dc:title>
  <dc:subject>CSE499B Research Review</dc:subject>
  <dc:creator>PRIVATE SHIELD Group 06</dc:creator>
  <cp:lastModifiedBy>PRIVATE SHIELD Group 06</cp:lastModifiedBy>
  <cp:revision>1</cp:revision>
  <dcterms:created xsi:type="dcterms:W3CDTF">2026-10-05T17:18:38Z</dcterms:created>
  <dcterms:modified xsi:type="dcterms:W3CDTF">2026-10-05T17:18:38Z</dcterms:modified>
</cp:coreProperties>
</file>