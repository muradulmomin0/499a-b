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2" d="100"/>
          <a:sy n="112" d="100"/>
        </p:scale>
        <p:origin x="6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04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Briefly introduce the project title: PRIVATE SHIELD. Mention this is a CSE 499A final-year project by Group 06, Section 15. Introduce team members. State the core idea in one sentence: a federated, privacy-preserving IDS for IoT using FL + DP. Take 30–45 seconds on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scale of IoT proliferation. Emphasize that existing security architectures were designed for centralized, high-bandwidth, server-grade environments — not the constrained, distributed IoT edge. The stat cards quickly convey urgency. Spend 45–60 seconds; transition into 'why centralized IDS fails specifically'.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motivation slide. Walk through each of the four failure points. Emphasize that federated learning alone doesn't solve privacy — it introduces NEW attack surfaces. The bottom red callout is the synthesis: no current solution handles all these constraints simultaneously.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existing literature addresses one or two of these gaps at a time, but no unified, production-grade framework addresses all simultaneously. This motivates the novel integrated architecture of PRIVATE SHIELD. Mention specific gaps: no FL+DP+adversarial-robustness+SOC+LLM integration exists at the edge level. 45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overview. Explain the five pillars top-level. Key innovation: combining FL + DP + adversarial robustness + SOC + LLM into ONE coherent edge-native system. Mention the hardware: real Raspberry Pi and ESP32 nodes — not simulation. 60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left to right: IoT devices capture packets → local model training with DP gradient clipping → Flower server aggregates via FedAvg with DP noise → SOC dashboard shows real-time alerts → LLM assistant generates forensic reports. Emphasize that raw data NEVER leaves the device. 75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six-step pipeline. Key point: Step 03 (DP gradient update) is where privacy is enforced — gradients are clipped and noised BEFORE leaving the device. Step 04 aggregation never sees raw data. The FedAvg formula at the bottom ties it to the mathematical formulation in the proposal. 60–75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differential privacy intuitively: 'adding calibrated noise to make individual contributions indistinguishable.' The Opacus library from Meta provides production-grade DP training on PyTorch. Walk through the 4-step DP mechanism on the right: raw gradient → clipping → noise injection → protected transmission. Mention ε-δ notation briefly. 60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adversarial evaluation depth — a major novelty of this project. Most FL papers don't test all three attack vectors simultaneously. Walk through each: attack vector, then mitigation. Emphasize these are ACTIVE simulations using Scapy and injected rogue nodes, not just theoretical analysis. 60–75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breadth of the tech stack — this is a full-stack research project covering hardware, ML, privacy, backend, and frontend. Key differentiators: Opacus for DP (Meta's production library), Flower for FL orchestration (industry standard), and Claude API for LLM forensics. 45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EXPECTED outcomes — stress this clearly. The project is in development; these represent the target benchmarks from the proposal. Highlight the four quadrant structure: baseline benchmark, FL+DP, adversarial robustness, and SOC dashboard. The italicized third bullet in each is the quantified expected outcome. 60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9 active project weeks from Week 4 to Week 12. The alternating card layout follows each week. Key submission milestones: Proposed Solution Report (Week 6), Progress Report (Week 8), Final Presentation (Week 12). This shows systematic planning and version-controlled deliverable management. 45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quickly conveys the novelty of PRIVATE SHIELD over traditional centralized approaches. Walk row by row: privacy, bandwidth, adversarial defense, edge deployment, formal guarantees, forensic automation, scalability. The green column shows consistent advantages. Highlight that the combination of ALL these properties in a single edge-native system is the key contribution. 60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five key takeaways. Emphasize the novelty: no existing published framework combines FL + DP + adversarial evaluation + SOC dashboard + LLM forensics at the IoT edge. The project addresses a genuine research gap with a complete, systematic engineering approach. Invite questions. Thank the panel. 45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7132320" y="502920"/>
            <a:ext cx="1463040" cy="1463040"/>
          </a:xfrm>
          <a:prstGeom prst="rect">
            <a:avLst/>
          </a:prstGeom>
        </p:spPr>
      </p:pic>
      <p:sp>
        <p:nvSpPr>
          <p:cNvPr id="5" name="Text 2"/>
          <p:cNvSpPr/>
          <p:nvPr/>
        </p:nvSpPr>
        <p:spPr>
          <a:xfrm>
            <a:off x="457200" y="347472"/>
            <a:ext cx="6400800" cy="292608"/>
          </a:xfrm>
          <a:prstGeom prst="rect">
            <a:avLst/>
          </a:prstGeom>
          <a:noFill/>
          <a:ln/>
        </p:spPr>
        <p:txBody>
          <a:bodyPr wrap="square" lIns="0" tIns="0" rIns="0" bIns="0" rtlCol="0" anchor="ctr"/>
          <a:lstStyle/>
          <a:p>
            <a:pPr marL="0" indent="0" algn="l">
              <a:buNone/>
            </a:pPr>
            <a:r>
              <a:rPr lang="en-US" sz="1000" kern="0" spc="150" dirty="0">
                <a:solidFill>
                  <a:srgbClr val="00D4FF"/>
                </a:solidFill>
                <a:latin typeface="Calibri" pitchFamily="34" charset="0"/>
                <a:ea typeface="Calibri" pitchFamily="34" charset="-122"/>
                <a:cs typeface="Calibri" pitchFamily="34" charset="-120"/>
              </a:rPr>
              <a:t>CSE </a:t>
            </a:r>
            <a:r>
              <a:rPr lang="en-US" sz="1000" kern="0" spc="150">
                <a:solidFill>
                  <a:srgbClr val="00D4FF"/>
                </a:solidFill>
                <a:latin typeface="Calibri" pitchFamily="34" charset="0"/>
                <a:ea typeface="Calibri" pitchFamily="34" charset="-122"/>
                <a:cs typeface="Calibri" pitchFamily="34" charset="-120"/>
              </a:rPr>
              <a:t>499A   </a:t>
            </a:r>
            <a:r>
              <a:rPr lang="en-US" sz="1000" kern="0" spc="150" dirty="0">
                <a:solidFill>
                  <a:srgbClr val="00D4FF"/>
                </a:solidFill>
                <a:latin typeface="Calibri" pitchFamily="34" charset="0"/>
                <a:ea typeface="Calibri" pitchFamily="34" charset="-122"/>
                <a:cs typeface="Calibri" pitchFamily="34" charset="-120"/>
              </a:rPr>
              <a:t>·  Section 15</a:t>
            </a:r>
            <a:endParaRPr lang="en-US" sz="1000" dirty="0"/>
          </a:p>
        </p:txBody>
      </p:sp>
      <p:sp>
        <p:nvSpPr>
          <p:cNvPr id="6" name="Text 3"/>
          <p:cNvSpPr/>
          <p:nvPr/>
        </p:nvSpPr>
        <p:spPr>
          <a:xfrm>
            <a:off x="457200" y="685800"/>
            <a:ext cx="6583680" cy="960120"/>
          </a:xfrm>
          <a:prstGeom prst="rect">
            <a:avLst/>
          </a:prstGeom>
          <a:noFill/>
          <a:ln/>
        </p:spPr>
        <p:txBody>
          <a:bodyPr wrap="square" lIns="0" tIns="0" rIns="0" bIns="0"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PRIVATE SHIELD</a:t>
            </a:r>
            <a:endParaRPr lang="en-US" sz="5200" dirty="0"/>
          </a:p>
        </p:txBody>
      </p:sp>
      <p:sp>
        <p:nvSpPr>
          <p:cNvPr id="7" name="Text 4"/>
          <p:cNvSpPr/>
          <p:nvPr/>
        </p:nvSpPr>
        <p:spPr>
          <a:xfrm>
            <a:off x="457200" y="1691640"/>
            <a:ext cx="6583680" cy="731520"/>
          </a:xfrm>
          <a:prstGeom prst="rect">
            <a:avLst/>
          </a:prstGeom>
          <a:noFill/>
          <a:ln/>
        </p:spPr>
        <p:txBody>
          <a:bodyPr wrap="square" lIns="0" tIns="0" rIns="0" bIns="0" rtlCol="0" anchor="t"/>
          <a:lstStyle/>
          <a:p>
            <a:pPr marL="0" indent="0" algn="l">
              <a:buNone/>
            </a:pPr>
            <a:r>
              <a:rPr lang="en-US" sz="1600" dirty="0">
                <a:solidFill>
                  <a:srgbClr val="00D4FF"/>
                </a:solidFill>
                <a:latin typeface="Calibri" pitchFamily="34" charset="0"/>
                <a:ea typeface="Calibri" pitchFamily="34" charset="-122"/>
                <a:cs typeface="Calibri" pitchFamily="34" charset="-120"/>
              </a:rPr>
              <a:t>A Privacy-Preserving Federated Intelligence System</a:t>
            </a:r>
            <a:endParaRPr lang="en-US" sz="1600" dirty="0"/>
          </a:p>
          <a:p>
            <a:pPr marL="0" indent="0" algn="l">
              <a:buNone/>
            </a:pPr>
            <a:r>
              <a:rPr lang="en-US" sz="1600" dirty="0">
                <a:solidFill>
                  <a:srgbClr val="00D4FF"/>
                </a:solidFill>
                <a:latin typeface="Calibri" pitchFamily="34" charset="0"/>
                <a:ea typeface="Calibri" pitchFamily="34" charset="-122"/>
                <a:cs typeface="Calibri" pitchFamily="34" charset="-120"/>
              </a:rPr>
              <a:t>for IoT Threat Detection</a:t>
            </a:r>
            <a:endParaRPr lang="en-US" sz="1600" dirty="0"/>
          </a:p>
        </p:txBody>
      </p:sp>
      <p:sp>
        <p:nvSpPr>
          <p:cNvPr id="8" name="Shape 5"/>
          <p:cNvSpPr/>
          <p:nvPr/>
        </p:nvSpPr>
        <p:spPr>
          <a:xfrm>
            <a:off x="457200" y="2487168"/>
            <a:ext cx="5943600" cy="36576"/>
          </a:xfrm>
          <a:prstGeom prst="rect">
            <a:avLst/>
          </a:prstGeom>
          <a:solidFill>
            <a:srgbClr val="0891B2"/>
          </a:solidFill>
          <a:ln w="12700">
            <a:solidFill>
              <a:srgbClr val="0891B2"/>
            </a:solidFill>
            <a:prstDash val="solid"/>
          </a:ln>
        </p:spPr>
      </p:sp>
      <p:sp>
        <p:nvSpPr>
          <p:cNvPr id="9" name="Shape 6"/>
          <p:cNvSpPr/>
          <p:nvPr/>
        </p:nvSpPr>
        <p:spPr>
          <a:xfrm>
            <a:off x="457200" y="2651760"/>
            <a:ext cx="5852160" cy="1664208"/>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0" name="Text 7"/>
          <p:cNvSpPr/>
          <p:nvPr/>
        </p:nvSpPr>
        <p:spPr>
          <a:xfrm>
            <a:off x="594360" y="2724912"/>
            <a:ext cx="5577840" cy="274320"/>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Group 06  ·  Project Team</a:t>
            </a:r>
            <a:endParaRPr lang="en-US" sz="1100" dirty="0"/>
          </a:p>
        </p:txBody>
      </p:sp>
      <p:sp>
        <p:nvSpPr>
          <p:cNvPr id="11" name="Text 8"/>
          <p:cNvSpPr/>
          <p:nvPr/>
        </p:nvSpPr>
        <p:spPr>
          <a:xfrm>
            <a:off x="594360" y="3035808"/>
            <a:ext cx="5577840" cy="502920"/>
          </a:xfrm>
          <a:prstGeom prst="rect">
            <a:avLst/>
          </a:prstGeom>
          <a:noFill/>
          <a:ln/>
        </p:spPr>
        <p:txBody>
          <a:bodyPr wrap="square" lIns="0" tIns="0" rIns="0" bIns="0" rtlCol="0" anchor="ctr"/>
          <a:lstStyle/>
          <a:p>
            <a:pPr marL="0" indent="0" algn="l">
              <a:buNone/>
            </a:pPr>
            <a:r>
              <a:rPr lang="en-US" sz="1250" dirty="0">
                <a:solidFill>
                  <a:srgbClr val="E2E8F0"/>
                </a:solidFill>
                <a:latin typeface="Calibri" pitchFamily="34" charset="0"/>
                <a:ea typeface="Calibri" pitchFamily="34" charset="-122"/>
                <a:cs typeface="Calibri" pitchFamily="34" charset="-120"/>
              </a:rPr>
              <a:t>Md. Murad Ul Momin  ·  Rima Saha</a:t>
            </a:r>
            <a:endParaRPr lang="en-US" sz="1250" dirty="0"/>
          </a:p>
          <a:p>
            <a:pPr marL="0" indent="0" algn="l">
              <a:buNone/>
            </a:pPr>
            <a:r>
              <a:rPr lang="en-US" sz="1250" dirty="0">
                <a:solidFill>
                  <a:srgbClr val="E2E8F0"/>
                </a:solidFill>
                <a:latin typeface="Calibri" pitchFamily="34" charset="0"/>
                <a:ea typeface="Calibri" pitchFamily="34" charset="-122"/>
                <a:cs typeface="Calibri" pitchFamily="34" charset="-120"/>
              </a:rPr>
              <a:t>Sakia Tabassum Anonna  ·  Ashraful Hossain Riyan</a:t>
            </a:r>
            <a:endParaRPr lang="en-US" sz="1250" dirty="0"/>
          </a:p>
        </p:txBody>
      </p:sp>
      <p:sp>
        <p:nvSpPr>
          <p:cNvPr id="12" name="Text 9"/>
          <p:cNvSpPr/>
          <p:nvPr/>
        </p:nvSpPr>
        <p:spPr>
          <a:xfrm>
            <a:off x="594360" y="3593592"/>
            <a:ext cx="5577840" cy="256032"/>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Supervised under Mohammad </a:t>
            </a:r>
            <a:r>
              <a:rPr lang="en-US" sz="1000" dirty="0" err="1">
                <a:solidFill>
                  <a:srgbClr val="94A3B8"/>
                </a:solidFill>
                <a:latin typeface="Calibri" pitchFamily="34" charset="0"/>
                <a:ea typeface="Calibri" pitchFamily="34" charset="-122"/>
                <a:cs typeface="Calibri" pitchFamily="34" charset="-120"/>
              </a:rPr>
              <a:t>Shifat</a:t>
            </a:r>
            <a:r>
              <a:rPr lang="en-US" sz="1000" dirty="0">
                <a:solidFill>
                  <a:srgbClr val="94A3B8"/>
                </a:solidFill>
                <a:latin typeface="Calibri" pitchFamily="34" charset="0"/>
                <a:ea typeface="Calibri" pitchFamily="34" charset="-122"/>
                <a:cs typeface="Calibri" pitchFamily="34" charset="-120"/>
              </a:rPr>
              <a:t> –E-Rabbi(</a:t>
            </a:r>
            <a:r>
              <a:rPr lang="en-US" sz="1000" dirty="0" err="1">
                <a:solidFill>
                  <a:srgbClr val="94A3B8"/>
                </a:solidFill>
                <a:latin typeface="Calibri" pitchFamily="34" charset="0"/>
                <a:ea typeface="Calibri" pitchFamily="34" charset="-122"/>
                <a:cs typeface="Calibri" pitchFamily="34" charset="-120"/>
              </a:rPr>
              <a:t>Msrb</a:t>
            </a:r>
            <a:r>
              <a:rPr lang="en-US" sz="1000" dirty="0">
                <a:solidFill>
                  <a:srgbClr val="94A3B8"/>
                </a:solidFill>
                <a:latin typeface="Calibri" pitchFamily="34" charset="0"/>
                <a:ea typeface="Calibri" pitchFamily="34" charset="-122"/>
                <a:cs typeface="Calibri" pitchFamily="34" charset="-120"/>
              </a:rPr>
              <a:t>)  ·  North South University</a:t>
            </a:r>
            <a:endParaRPr lang="en-US" sz="1000" dirty="0"/>
          </a:p>
        </p:txBody>
      </p:sp>
      <p:sp>
        <p:nvSpPr>
          <p:cNvPr id="13" name="Text 10"/>
          <p:cNvSpPr/>
          <p:nvPr/>
        </p:nvSpPr>
        <p:spPr>
          <a:xfrm>
            <a:off x="457200" y="4434840"/>
            <a:ext cx="8229600" cy="274320"/>
          </a:xfrm>
          <a:prstGeom prst="rect">
            <a:avLst/>
          </a:prstGeom>
          <a:noFill/>
          <a:ln/>
        </p:spPr>
        <p:txBody>
          <a:bodyPr wrap="square" lIns="0" tIns="0" rIns="0" bIns="0" rtlCol="0" anchor="ctr"/>
          <a:lstStyle/>
          <a:p>
            <a:pPr marL="0" indent="0" algn="l">
              <a:buNone/>
            </a:pPr>
            <a:r>
              <a:rPr lang="en-US" sz="950" kern="0" spc="50" dirty="0">
                <a:solidFill>
                  <a:srgbClr val="94A3B8"/>
                </a:solidFill>
                <a:latin typeface="Calibri" pitchFamily="34" charset="0"/>
                <a:ea typeface="Calibri" pitchFamily="34" charset="-122"/>
                <a:cs typeface="Calibri" pitchFamily="34" charset="-120"/>
              </a:rPr>
              <a:t>Federated Learning  ·  Differential Privacy  ·  Adversarial Robustness  ·  IoT Edge Security</a:t>
            </a:r>
            <a:endParaRPr lang="en-US" sz="950" dirty="0"/>
          </a:p>
        </p:txBody>
      </p:sp>
      <p:sp>
        <p:nvSpPr>
          <p:cNvPr id="14" name="Shape 11"/>
          <p:cNvSpPr/>
          <p:nvPr/>
        </p:nvSpPr>
        <p:spPr>
          <a:xfrm>
            <a:off x="0" y="4800600"/>
            <a:ext cx="9144000" cy="342900"/>
          </a:xfrm>
          <a:prstGeom prst="rect">
            <a:avLst/>
          </a:prstGeom>
          <a:solidFill>
            <a:srgbClr val="071020"/>
          </a:solidFill>
          <a:ln w="12700">
            <a:solidFill>
              <a:srgbClr val="071020"/>
            </a:solidFill>
            <a:prstDash val="solid"/>
          </a:ln>
        </p:spPr>
      </p:sp>
      <p:sp>
        <p:nvSpPr>
          <p:cNvPr id="15" name="Shape 12"/>
          <p:cNvSpPr/>
          <p:nvPr/>
        </p:nvSpPr>
        <p:spPr>
          <a:xfrm>
            <a:off x="0" y="4796028"/>
            <a:ext cx="9144000" cy="13716"/>
          </a:xfrm>
          <a:prstGeom prst="rect">
            <a:avLst/>
          </a:prstGeom>
          <a:solidFill>
            <a:srgbClr val="0891B2"/>
          </a:solidFill>
          <a:ln w="12700">
            <a:solidFill>
              <a:srgbClr val="0891B2"/>
            </a:solidFill>
            <a:prstDash val="solid"/>
          </a:ln>
        </p:spPr>
      </p:sp>
      <p:sp>
        <p:nvSpPr>
          <p:cNvPr id="16" name="Text 13"/>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17" name="Text 14"/>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 /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Background &amp; Motivation</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The IoT Security Crisis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15568"/>
            <a:ext cx="2578608" cy="146304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6" name="Image 0" descr="preencoded.png"/>
          <p:cNvPicPr>
            <a:picLocks noChangeAspect="1"/>
          </p:cNvPicPr>
          <p:nvPr/>
        </p:nvPicPr>
        <p:blipFill>
          <a:blip r:embed="rId3"/>
          <a:stretch>
            <a:fillRect/>
          </a:stretch>
        </p:blipFill>
        <p:spPr>
          <a:xfrm>
            <a:off x="521208" y="1234440"/>
            <a:ext cx="411480" cy="411480"/>
          </a:xfrm>
          <a:prstGeom prst="rect">
            <a:avLst/>
          </a:prstGeom>
        </p:spPr>
      </p:pic>
      <p:sp>
        <p:nvSpPr>
          <p:cNvPr id="7" name="Text 4"/>
          <p:cNvSpPr/>
          <p:nvPr/>
        </p:nvSpPr>
        <p:spPr>
          <a:xfrm>
            <a:off x="978408" y="1188720"/>
            <a:ext cx="1920240" cy="548640"/>
          </a:xfrm>
          <a:prstGeom prst="rect">
            <a:avLst/>
          </a:prstGeom>
          <a:noFill/>
          <a:ln/>
        </p:spPr>
        <p:txBody>
          <a:bodyPr wrap="square" lIns="0" tIns="0" rIns="0" bIns="0" rtlCol="0" anchor="ctr"/>
          <a:lstStyle/>
          <a:p>
            <a:pPr marL="0" indent="0" algn="l">
              <a:buNone/>
            </a:pPr>
            <a:r>
              <a:rPr lang="en-US" sz="3000" b="1" dirty="0">
                <a:solidFill>
                  <a:srgbClr val="00D4FF"/>
                </a:solidFill>
                <a:latin typeface="Cambria" pitchFamily="34" charset="0"/>
                <a:ea typeface="Cambria" pitchFamily="34" charset="-122"/>
                <a:cs typeface="Cambria" pitchFamily="34" charset="-120"/>
              </a:rPr>
              <a:t>15.9B+</a:t>
            </a:r>
            <a:endParaRPr lang="en-US" sz="3000" dirty="0"/>
          </a:p>
        </p:txBody>
      </p:sp>
      <p:sp>
        <p:nvSpPr>
          <p:cNvPr id="8" name="Text 5"/>
          <p:cNvSpPr/>
          <p:nvPr/>
        </p:nvSpPr>
        <p:spPr>
          <a:xfrm>
            <a:off x="521208" y="1737360"/>
            <a:ext cx="2377440" cy="457200"/>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IoT Devices Online</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(2023, projected 29B by 2030)</a:t>
            </a:r>
            <a:endParaRPr lang="en-US" sz="1000" dirty="0"/>
          </a:p>
        </p:txBody>
      </p:sp>
      <p:sp>
        <p:nvSpPr>
          <p:cNvPr id="9" name="Shape 6"/>
          <p:cNvSpPr/>
          <p:nvPr/>
        </p:nvSpPr>
        <p:spPr>
          <a:xfrm>
            <a:off x="3218688" y="1115568"/>
            <a:ext cx="2578608" cy="146304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0" name="Image 1" descr="preencoded.png"/>
          <p:cNvPicPr>
            <a:picLocks noChangeAspect="1"/>
          </p:cNvPicPr>
          <p:nvPr/>
        </p:nvPicPr>
        <p:blipFill>
          <a:blip r:embed="rId4"/>
          <a:stretch>
            <a:fillRect/>
          </a:stretch>
        </p:blipFill>
        <p:spPr>
          <a:xfrm>
            <a:off x="3328416" y="1234440"/>
            <a:ext cx="411480" cy="411480"/>
          </a:xfrm>
          <a:prstGeom prst="rect">
            <a:avLst/>
          </a:prstGeom>
        </p:spPr>
      </p:pic>
      <p:sp>
        <p:nvSpPr>
          <p:cNvPr id="11" name="Text 7"/>
          <p:cNvSpPr/>
          <p:nvPr/>
        </p:nvSpPr>
        <p:spPr>
          <a:xfrm>
            <a:off x="3785616" y="1188720"/>
            <a:ext cx="1920240" cy="548640"/>
          </a:xfrm>
          <a:prstGeom prst="rect">
            <a:avLst/>
          </a:prstGeom>
          <a:noFill/>
          <a:ln/>
        </p:spPr>
        <p:txBody>
          <a:bodyPr wrap="square" lIns="0" tIns="0" rIns="0" bIns="0" rtlCol="0" anchor="ctr"/>
          <a:lstStyle/>
          <a:p>
            <a:pPr marL="0" indent="0" algn="l">
              <a:buNone/>
            </a:pPr>
            <a:r>
              <a:rPr lang="en-US" sz="3000" b="1" dirty="0">
                <a:solidFill>
                  <a:srgbClr val="00D4FF"/>
                </a:solidFill>
                <a:latin typeface="Cambria" pitchFamily="34" charset="0"/>
                <a:ea typeface="Cambria" pitchFamily="34" charset="-122"/>
                <a:cs typeface="Cambria" pitchFamily="34" charset="-120"/>
              </a:rPr>
              <a:t>300%</a:t>
            </a:r>
            <a:endParaRPr lang="en-US" sz="3000" dirty="0"/>
          </a:p>
        </p:txBody>
      </p:sp>
      <p:sp>
        <p:nvSpPr>
          <p:cNvPr id="12" name="Text 8"/>
          <p:cNvSpPr/>
          <p:nvPr/>
        </p:nvSpPr>
        <p:spPr>
          <a:xfrm>
            <a:off x="3328416" y="1737360"/>
            <a:ext cx="2377440" cy="457200"/>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Increase in IoT Attacks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since 2020</a:t>
            </a:r>
            <a:endParaRPr lang="en-US" sz="1000" dirty="0"/>
          </a:p>
        </p:txBody>
      </p:sp>
      <p:sp>
        <p:nvSpPr>
          <p:cNvPr id="13" name="Shape 9"/>
          <p:cNvSpPr/>
          <p:nvPr/>
        </p:nvSpPr>
        <p:spPr>
          <a:xfrm>
            <a:off x="6025896" y="1115568"/>
            <a:ext cx="2578608" cy="146304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4" name="Image 2" descr="preencoded.png"/>
          <p:cNvPicPr>
            <a:picLocks noChangeAspect="1"/>
          </p:cNvPicPr>
          <p:nvPr/>
        </p:nvPicPr>
        <p:blipFill>
          <a:blip r:embed="rId5"/>
          <a:stretch>
            <a:fillRect/>
          </a:stretch>
        </p:blipFill>
        <p:spPr>
          <a:xfrm>
            <a:off x="6135624" y="1234440"/>
            <a:ext cx="411480" cy="411480"/>
          </a:xfrm>
          <a:prstGeom prst="rect">
            <a:avLst/>
          </a:prstGeom>
        </p:spPr>
      </p:pic>
      <p:sp>
        <p:nvSpPr>
          <p:cNvPr id="15" name="Text 10"/>
          <p:cNvSpPr/>
          <p:nvPr/>
        </p:nvSpPr>
        <p:spPr>
          <a:xfrm>
            <a:off x="6592824" y="1188720"/>
            <a:ext cx="1920240" cy="548640"/>
          </a:xfrm>
          <a:prstGeom prst="rect">
            <a:avLst/>
          </a:prstGeom>
          <a:noFill/>
          <a:ln/>
        </p:spPr>
        <p:txBody>
          <a:bodyPr wrap="square" lIns="0" tIns="0" rIns="0" bIns="0" rtlCol="0" anchor="ctr"/>
          <a:lstStyle/>
          <a:p>
            <a:pPr marL="0" indent="0" algn="l">
              <a:buNone/>
            </a:pPr>
            <a:r>
              <a:rPr lang="en-US" sz="3000" b="1" dirty="0">
                <a:solidFill>
                  <a:srgbClr val="00D4FF"/>
                </a:solidFill>
                <a:latin typeface="Cambria" pitchFamily="34" charset="0"/>
                <a:ea typeface="Cambria" pitchFamily="34" charset="-122"/>
                <a:cs typeface="Cambria" pitchFamily="34" charset="-120"/>
              </a:rPr>
              <a:t>0</a:t>
            </a:r>
            <a:endParaRPr lang="en-US" sz="3000" dirty="0"/>
          </a:p>
        </p:txBody>
      </p:sp>
      <p:sp>
        <p:nvSpPr>
          <p:cNvPr id="16" name="Text 11"/>
          <p:cNvSpPr/>
          <p:nvPr/>
        </p:nvSpPr>
        <p:spPr>
          <a:xfrm>
            <a:off x="6135624" y="1737360"/>
            <a:ext cx="2377440" cy="457200"/>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Hardware Security</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Modules on Budget Devices</a:t>
            </a:r>
            <a:endParaRPr lang="en-US" sz="1000" dirty="0"/>
          </a:p>
        </p:txBody>
      </p:sp>
      <p:sp>
        <p:nvSpPr>
          <p:cNvPr id="17" name="Shape 12"/>
          <p:cNvSpPr/>
          <p:nvPr/>
        </p:nvSpPr>
        <p:spPr>
          <a:xfrm>
            <a:off x="411480" y="2743200"/>
            <a:ext cx="8321040" cy="18288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8" name="Text 13"/>
          <p:cNvSpPr/>
          <p:nvPr/>
        </p:nvSpPr>
        <p:spPr>
          <a:xfrm>
            <a:off x="594360" y="2816352"/>
            <a:ext cx="7955280" cy="320040"/>
          </a:xfrm>
          <a:prstGeom prst="rect">
            <a:avLst/>
          </a:prstGeom>
          <a:noFill/>
          <a:ln/>
        </p:spPr>
        <p:txBody>
          <a:bodyPr wrap="square" lIns="0" tIns="0" rIns="0" bIns="0" rtlCol="0" anchor="ctr"/>
          <a:lstStyle/>
          <a:p>
            <a:pPr marL="0" indent="0" algn="l">
              <a:buNone/>
            </a:pPr>
            <a:r>
              <a:rPr lang="en-US" sz="1300" b="1" dirty="0">
                <a:solidFill>
                  <a:srgbClr val="00D4FF"/>
                </a:solidFill>
                <a:latin typeface="Calibri" pitchFamily="34" charset="0"/>
                <a:ea typeface="Calibri" pitchFamily="34" charset="-122"/>
                <a:cs typeface="Calibri" pitchFamily="34" charset="-120"/>
              </a:rPr>
              <a:t>Why This Matters</a:t>
            </a:r>
            <a:endParaRPr lang="en-US" sz="1300" dirty="0"/>
          </a:p>
        </p:txBody>
      </p:sp>
      <p:sp>
        <p:nvSpPr>
          <p:cNvPr id="19" name="Text 14"/>
          <p:cNvSpPr/>
          <p:nvPr/>
        </p:nvSpPr>
        <p:spPr>
          <a:xfrm>
            <a:off x="594360" y="3136392"/>
            <a:ext cx="7955280" cy="1325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Smart homes, medical, and industrial IoT devices have minimal internal security, no hardware security modules, and limited compute budgets</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Legacy Centralized IDS streams raw, unencrypted telemetry to cloud — creating catastrophic privacy exposure at enterprise and residential scale</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Network bandwidth exhaustion, cloud dependency, and real-time latency make centralized approaches structurally unviable for edge environments</a:t>
            </a:r>
            <a:endParaRPr lang="en-US" sz="1200" dirty="0"/>
          </a:p>
          <a:p>
            <a:pPr marL="342900" indent="-3429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Coordinated botnet hijacking and zero-day exploits exploit these static, non-adaptive security architectures</a:t>
            </a:r>
            <a:endParaRPr lang="en-US" sz="1200" dirty="0"/>
          </a:p>
        </p:txBody>
      </p:sp>
      <p:sp>
        <p:nvSpPr>
          <p:cNvPr id="20" name="Shape 15"/>
          <p:cNvSpPr/>
          <p:nvPr/>
        </p:nvSpPr>
        <p:spPr>
          <a:xfrm>
            <a:off x="0" y="4800600"/>
            <a:ext cx="9144000" cy="342900"/>
          </a:xfrm>
          <a:prstGeom prst="rect">
            <a:avLst/>
          </a:prstGeom>
          <a:solidFill>
            <a:srgbClr val="071020"/>
          </a:solidFill>
          <a:ln w="12700">
            <a:solidFill>
              <a:srgbClr val="071020"/>
            </a:solidFill>
            <a:prstDash val="solid"/>
          </a:ln>
        </p:spPr>
      </p:sp>
      <p:sp>
        <p:nvSpPr>
          <p:cNvPr id="21" name="Shape 16"/>
          <p:cNvSpPr/>
          <p:nvPr/>
        </p:nvSpPr>
        <p:spPr>
          <a:xfrm>
            <a:off x="0" y="4796028"/>
            <a:ext cx="9144000" cy="13716"/>
          </a:xfrm>
          <a:prstGeom prst="rect">
            <a:avLst/>
          </a:prstGeom>
          <a:solidFill>
            <a:srgbClr val="0891B2"/>
          </a:solidFill>
          <a:ln w="12700">
            <a:solidFill>
              <a:srgbClr val="0891B2"/>
            </a:solidFill>
            <a:prstDash val="solid"/>
          </a:ln>
        </p:spPr>
      </p:sp>
      <p:sp>
        <p:nvSpPr>
          <p:cNvPr id="22" name="Text 17"/>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3" name="Text 18"/>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Why Centralized IDS Fails at the Edge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6" name="Image 0" descr="preencoded.png"/>
          <p:cNvPicPr>
            <a:picLocks noChangeAspect="1"/>
          </p:cNvPicPr>
          <p:nvPr/>
        </p:nvPicPr>
        <p:blipFill>
          <a:blip r:embed="rId3"/>
          <a:stretch>
            <a:fillRect/>
          </a:stretch>
        </p:blipFill>
        <p:spPr>
          <a:xfrm>
            <a:off x="576072" y="1252728"/>
            <a:ext cx="384048" cy="384048"/>
          </a:xfrm>
          <a:prstGeom prst="rect">
            <a:avLst/>
          </a:prstGeom>
        </p:spPr>
      </p:pic>
      <p:sp>
        <p:nvSpPr>
          <p:cNvPr id="7" name="Text 4"/>
          <p:cNvSpPr/>
          <p:nvPr/>
        </p:nvSpPr>
        <p:spPr>
          <a:xfrm>
            <a:off x="1051560" y="1234440"/>
            <a:ext cx="32004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Privacy Leakage</a:t>
            </a:r>
            <a:endParaRPr lang="en-US" sz="1300" dirty="0"/>
          </a:p>
        </p:txBody>
      </p:sp>
      <p:sp>
        <p:nvSpPr>
          <p:cNvPr id="8" name="Text 5"/>
          <p:cNvSpPr/>
          <p:nvPr/>
        </p:nvSpPr>
        <p:spPr>
          <a:xfrm>
            <a:off x="576072" y="1618488"/>
            <a:ext cx="3639312"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Continuous exfiltration of raw packets exposes behavioral data, video feeds, and enterprise transactions to interception &amp; breaches</a:t>
            </a:r>
            <a:endParaRPr lang="en-US" sz="1100" dirty="0"/>
          </a:p>
        </p:txBody>
      </p:sp>
      <p:sp>
        <p:nvSpPr>
          <p:cNvPr id="9" name="Shape 6"/>
          <p:cNvSpPr/>
          <p:nvPr/>
        </p:nvSpPr>
        <p:spPr>
          <a:xfrm>
            <a:off x="411480" y="283464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0" name="Image 1" descr="preencoded.png"/>
          <p:cNvPicPr>
            <a:picLocks noChangeAspect="1"/>
          </p:cNvPicPr>
          <p:nvPr/>
        </p:nvPicPr>
        <p:blipFill>
          <a:blip r:embed="rId4"/>
          <a:stretch>
            <a:fillRect/>
          </a:stretch>
        </p:blipFill>
        <p:spPr>
          <a:xfrm>
            <a:off x="576072" y="2944368"/>
            <a:ext cx="384048" cy="384048"/>
          </a:xfrm>
          <a:prstGeom prst="rect">
            <a:avLst/>
          </a:prstGeom>
        </p:spPr>
      </p:pic>
      <p:sp>
        <p:nvSpPr>
          <p:cNvPr id="11" name="Text 7"/>
          <p:cNvSpPr/>
          <p:nvPr/>
        </p:nvSpPr>
        <p:spPr>
          <a:xfrm>
            <a:off x="1051560" y="2926080"/>
            <a:ext cx="32004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Network Overload</a:t>
            </a:r>
            <a:endParaRPr lang="en-US" sz="1300" dirty="0"/>
          </a:p>
        </p:txBody>
      </p:sp>
      <p:sp>
        <p:nvSpPr>
          <p:cNvPr id="12" name="Text 8"/>
          <p:cNvSpPr/>
          <p:nvPr/>
        </p:nvSpPr>
        <p:spPr>
          <a:xfrm>
            <a:off x="576072" y="3310128"/>
            <a:ext cx="3639312"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Billions of devices streaming telemetry cause bandwidth exhaustion, severe latency, and complete blind spots during WAN outages</a:t>
            </a:r>
            <a:endParaRPr lang="en-US" sz="1100" dirty="0"/>
          </a:p>
        </p:txBody>
      </p:sp>
      <p:sp>
        <p:nvSpPr>
          <p:cNvPr id="13" name="Shape 9"/>
          <p:cNvSpPr/>
          <p:nvPr/>
        </p:nvSpPr>
        <p:spPr>
          <a:xfrm>
            <a:off x="4663440" y="114300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4" name="Image 2" descr="preencoded.png"/>
          <p:cNvPicPr>
            <a:picLocks noChangeAspect="1"/>
          </p:cNvPicPr>
          <p:nvPr/>
        </p:nvPicPr>
        <p:blipFill>
          <a:blip r:embed="rId5"/>
          <a:stretch>
            <a:fillRect/>
          </a:stretch>
        </p:blipFill>
        <p:spPr>
          <a:xfrm>
            <a:off x="4828032" y="1252728"/>
            <a:ext cx="384048" cy="384048"/>
          </a:xfrm>
          <a:prstGeom prst="rect">
            <a:avLst/>
          </a:prstGeom>
        </p:spPr>
      </p:pic>
      <p:sp>
        <p:nvSpPr>
          <p:cNvPr id="15" name="Text 10"/>
          <p:cNvSpPr/>
          <p:nvPr/>
        </p:nvSpPr>
        <p:spPr>
          <a:xfrm>
            <a:off x="5303520" y="1234440"/>
            <a:ext cx="32004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Non-IID Heterogeneity</a:t>
            </a:r>
            <a:endParaRPr lang="en-US" sz="1300" dirty="0"/>
          </a:p>
        </p:txBody>
      </p:sp>
      <p:sp>
        <p:nvSpPr>
          <p:cNvPr id="16" name="Text 11"/>
          <p:cNvSpPr/>
          <p:nvPr/>
        </p:nvSpPr>
        <p:spPr>
          <a:xfrm>
            <a:off x="4828032" y="1618488"/>
            <a:ext cx="3639312"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Static, centralized models fail to adapt to highly heterogeneous device profiles — vulnerable to coordinated zero-day exploits</a:t>
            </a:r>
            <a:endParaRPr lang="en-US" sz="1100" dirty="0"/>
          </a:p>
        </p:txBody>
      </p:sp>
      <p:sp>
        <p:nvSpPr>
          <p:cNvPr id="17" name="Shape 12"/>
          <p:cNvSpPr/>
          <p:nvPr/>
        </p:nvSpPr>
        <p:spPr>
          <a:xfrm>
            <a:off x="4663440" y="283464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8" name="Image 3" descr="preencoded.png"/>
          <p:cNvPicPr>
            <a:picLocks noChangeAspect="1"/>
          </p:cNvPicPr>
          <p:nvPr/>
        </p:nvPicPr>
        <p:blipFill>
          <a:blip r:embed="rId6"/>
          <a:stretch>
            <a:fillRect/>
          </a:stretch>
        </p:blipFill>
        <p:spPr>
          <a:xfrm>
            <a:off x="4828032" y="2944368"/>
            <a:ext cx="384048" cy="384048"/>
          </a:xfrm>
          <a:prstGeom prst="rect">
            <a:avLst/>
          </a:prstGeom>
        </p:spPr>
      </p:pic>
      <p:sp>
        <p:nvSpPr>
          <p:cNvPr id="19" name="Text 13"/>
          <p:cNvSpPr/>
          <p:nvPr/>
        </p:nvSpPr>
        <p:spPr>
          <a:xfrm>
            <a:off x="5303520" y="2926080"/>
            <a:ext cx="32004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FL Attack Surface</a:t>
            </a:r>
            <a:endParaRPr lang="en-US" sz="1300" dirty="0"/>
          </a:p>
        </p:txBody>
      </p:sp>
      <p:sp>
        <p:nvSpPr>
          <p:cNvPr id="20" name="Text 14"/>
          <p:cNvSpPr/>
          <p:nvPr/>
        </p:nvSpPr>
        <p:spPr>
          <a:xfrm>
            <a:off x="4828032" y="3310128"/>
            <a:ext cx="3639312"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Even Federated Learning deployments face data poisoning, free-rider exploitation, and gradient inference extraction attacks</a:t>
            </a:r>
            <a:endParaRPr lang="en-US" sz="1100" dirty="0"/>
          </a:p>
        </p:txBody>
      </p:sp>
      <p:sp>
        <p:nvSpPr>
          <p:cNvPr id="21" name="Shape 15"/>
          <p:cNvSpPr/>
          <p:nvPr/>
        </p:nvSpPr>
        <p:spPr>
          <a:xfrm>
            <a:off x="411480" y="4572000"/>
            <a:ext cx="8321040" cy="164592"/>
          </a:xfrm>
          <a:prstGeom prst="rect">
            <a:avLst/>
          </a:prstGeom>
          <a:solidFill>
            <a:srgbClr val="1E0A0A"/>
          </a:solidFill>
          <a:ln w="12700">
            <a:solidFill>
              <a:srgbClr val="EF4444"/>
            </a:solidFill>
            <a:prstDash val="solid"/>
          </a:ln>
          <a:effectLst>
            <a:outerShdw blurRad="101600" dist="38100" dir="2700000" algn="bl" rotWithShape="0">
              <a:srgbClr val="000000">
                <a:alpha val="25000"/>
              </a:srgbClr>
            </a:outerShdw>
          </a:effectLst>
        </p:spPr>
      </p:sp>
      <p:sp>
        <p:nvSpPr>
          <p:cNvPr id="22" name="Text 16"/>
          <p:cNvSpPr/>
          <p:nvPr/>
        </p:nvSpPr>
        <p:spPr>
          <a:xfrm>
            <a:off x="548640" y="4590288"/>
            <a:ext cx="8046720" cy="128016"/>
          </a:xfrm>
          <a:prstGeom prst="rect">
            <a:avLst/>
          </a:prstGeom>
          <a:noFill/>
          <a:ln/>
        </p:spPr>
        <p:txBody>
          <a:bodyPr wrap="square" lIns="0" tIns="0" rIns="0" bIns="0" rtlCol="0" anchor="ctr"/>
          <a:lstStyle/>
          <a:p>
            <a:pPr marL="0" indent="0" algn="l">
              <a:buNone/>
            </a:pPr>
            <a:r>
              <a:rPr lang="en-US" sz="950" b="1" dirty="0">
                <a:solidFill>
                  <a:srgbClr val="FCA5A5"/>
                </a:solidFill>
                <a:latin typeface="Calibri" pitchFamily="34" charset="0"/>
                <a:ea typeface="Calibri" pitchFamily="34" charset="-122"/>
                <a:cs typeface="Calibri" pitchFamily="34" charset="-120"/>
              </a:rPr>
              <a:t>No existing solution simultaneously enforces formal cryptographic privacy, filters adversarial parameter mutations, and operates within IoT compute budgets.</a:t>
            </a:r>
            <a:endParaRPr lang="en-US" sz="950" dirty="0"/>
          </a:p>
        </p:txBody>
      </p:sp>
      <p:sp>
        <p:nvSpPr>
          <p:cNvPr id="23" name="Shape 17"/>
          <p:cNvSpPr/>
          <p:nvPr/>
        </p:nvSpPr>
        <p:spPr>
          <a:xfrm>
            <a:off x="0" y="4800600"/>
            <a:ext cx="9144000" cy="342900"/>
          </a:xfrm>
          <a:prstGeom prst="rect">
            <a:avLst/>
          </a:prstGeom>
          <a:solidFill>
            <a:srgbClr val="071020"/>
          </a:solidFill>
          <a:ln w="12700">
            <a:solidFill>
              <a:srgbClr val="071020"/>
            </a:solidFill>
            <a:prstDash val="solid"/>
          </a:ln>
        </p:spPr>
      </p:sp>
      <p:sp>
        <p:nvSpPr>
          <p:cNvPr id="24" name="Shape 18"/>
          <p:cNvSpPr/>
          <p:nvPr/>
        </p:nvSpPr>
        <p:spPr>
          <a:xfrm>
            <a:off x="0" y="4796028"/>
            <a:ext cx="9144000" cy="13716"/>
          </a:xfrm>
          <a:prstGeom prst="rect">
            <a:avLst/>
          </a:prstGeom>
          <a:solidFill>
            <a:srgbClr val="0891B2"/>
          </a:solidFill>
          <a:ln w="12700">
            <a:solidFill>
              <a:srgbClr val="0891B2"/>
            </a:solidFill>
            <a:prstDash val="solid"/>
          </a:ln>
        </p:spPr>
      </p:sp>
      <p:sp>
        <p:nvSpPr>
          <p:cNvPr id="25" name="Text 19"/>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6" name="Text 20"/>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Research Gap</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What the Literature Is Missing</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6" name="Shape 4"/>
          <p:cNvSpPr/>
          <p:nvPr/>
        </p:nvSpPr>
        <p:spPr>
          <a:xfrm>
            <a:off x="576072" y="1307592"/>
            <a:ext cx="91440" cy="804672"/>
          </a:xfrm>
          <a:prstGeom prst="rect">
            <a:avLst/>
          </a:prstGeom>
          <a:solidFill>
            <a:srgbClr val="00D4FF"/>
          </a:solidFill>
          <a:ln w="12700">
            <a:solidFill>
              <a:srgbClr val="00D4FF"/>
            </a:solidFill>
            <a:prstDash val="solid"/>
          </a:ln>
        </p:spPr>
      </p:sp>
      <p:sp>
        <p:nvSpPr>
          <p:cNvPr id="7" name="Text 5"/>
          <p:cNvSpPr/>
          <p:nvPr/>
        </p:nvSpPr>
        <p:spPr>
          <a:xfrm>
            <a:off x="777240" y="1252728"/>
            <a:ext cx="3474720" cy="347472"/>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Privacy + Accuracy Trade-off</a:t>
            </a:r>
            <a:endParaRPr lang="en-US" sz="1250" dirty="0"/>
          </a:p>
        </p:txBody>
      </p:sp>
      <p:sp>
        <p:nvSpPr>
          <p:cNvPr id="8" name="Text 6"/>
          <p:cNvSpPr/>
          <p:nvPr/>
        </p:nvSpPr>
        <p:spPr>
          <a:xfrm>
            <a:off x="777240" y="1600200"/>
            <a:ext cx="3474720"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Existing FL-based IDS systems lack formal DP guarantees — or sacrifice classification accuracy for privacy, with no balance mechanism</a:t>
            </a:r>
            <a:endParaRPr lang="en-US" sz="1100" dirty="0"/>
          </a:p>
        </p:txBody>
      </p:sp>
      <p:sp>
        <p:nvSpPr>
          <p:cNvPr id="9" name="Shape 7"/>
          <p:cNvSpPr/>
          <p:nvPr/>
        </p:nvSpPr>
        <p:spPr>
          <a:xfrm>
            <a:off x="4663440" y="114300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0" name="Shape 8"/>
          <p:cNvSpPr/>
          <p:nvPr/>
        </p:nvSpPr>
        <p:spPr>
          <a:xfrm>
            <a:off x="4828032" y="1307592"/>
            <a:ext cx="91440" cy="804672"/>
          </a:xfrm>
          <a:prstGeom prst="rect">
            <a:avLst/>
          </a:prstGeom>
          <a:solidFill>
            <a:srgbClr val="06B6D4"/>
          </a:solidFill>
          <a:ln w="12700">
            <a:solidFill>
              <a:srgbClr val="06B6D4"/>
            </a:solidFill>
            <a:prstDash val="solid"/>
          </a:ln>
        </p:spPr>
      </p:sp>
      <p:sp>
        <p:nvSpPr>
          <p:cNvPr id="11" name="Text 9"/>
          <p:cNvSpPr/>
          <p:nvPr/>
        </p:nvSpPr>
        <p:spPr>
          <a:xfrm>
            <a:off x="5029200" y="1252728"/>
            <a:ext cx="3474720" cy="347472"/>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Adversarial Robustness Evaluation</a:t>
            </a:r>
            <a:endParaRPr lang="en-US" sz="1250" dirty="0"/>
          </a:p>
        </p:txBody>
      </p:sp>
      <p:sp>
        <p:nvSpPr>
          <p:cNvPr id="12" name="Text 10"/>
          <p:cNvSpPr/>
          <p:nvPr/>
        </p:nvSpPr>
        <p:spPr>
          <a:xfrm>
            <a:off x="5029200" y="1600200"/>
            <a:ext cx="3474720"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Published work rarely evaluates FL threat detection under simultaneous poisoning, free-rider, and gradient inference attack vectors</a:t>
            </a:r>
            <a:endParaRPr lang="en-US" sz="1100" dirty="0"/>
          </a:p>
        </p:txBody>
      </p:sp>
      <p:sp>
        <p:nvSpPr>
          <p:cNvPr id="13" name="Shape 11"/>
          <p:cNvSpPr/>
          <p:nvPr/>
        </p:nvSpPr>
        <p:spPr>
          <a:xfrm>
            <a:off x="411480" y="283464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4" name="Shape 12"/>
          <p:cNvSpPr/>
          <p:nvPr/>
        </p:nvSpPr>
        <p:spPr>
          <a:xfrm>
            <a:off x="576072" y="2999232"/>
            <a:ext cx="91440" cy="804672"/>
          </a:xfrm>
          <a:prstGeom prst="rect">
            <a:avLst/>
          </a:prstGeom>
          <a:solidFill>
            <a:srgbClr val="10B981"/>
          </a:solidFill>
          <a:ln w="12700">
            <a:solidFill>
              <a:srgbClr val="10B981"/>
            </a:solidFill>
            <a:prstDash val="solid"/>
          </a:ln>
        </p:spPr>
      </p:sp>
      <p:sp>
        <p:nvSpPr>
          <p:cNvPr id="15" name="Text 13"/>
          <p:cNvSpPr/>
          <p:nvPr/>
        </p:nvSpPr>
        <p:spPr>
          <a:xfrm>
            <a:off x="777240" y="2944368"/>
            <a:ext cx="3474720" cy="347472"/>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Edge-Native Deployment</a:t>
            </a:r>
            <a:endParaRPr lang="en-US" sz="1250" dirty="0"/>
          </a:p>
        </p:txBody>
      </p:sp>
      <p:sp>
        <p:nvSpPr>
          <p:cNvPr id="16" name="Text 14"/>
          <p:cNvSpPr/>
          <p:nvPr/>
        </p:nvSpPr>
        <p:spPr>
          <a:xfrm>
            <a:off x="777240" y="3291840"/>
            <a:ext cx="3474720"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Most FL security research targets cloud infrastructure; ARM Cortex / Tensilica ESP32 edge-native deployment remains largely unaddressed</a:t>
            </a:r>
            <a:endParaRPr lang="en-US" sz="1100" dirty="0"/>
          </a:p>
        </p:txBody>
      </p:sp>
      <p:sp>
        <p:nvSpPr>
          <p:cNvPr id="17" name="Shape 15"/>
          <p:cNvSpPr/>
          <p:nvPr/>
        </p:nvSpPr>
        <p:spPr>
          <a:xfrm>
            <a:off x="4663440" y="2834640"/>
            <a:ext cx="397764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8" name="Shape 16"/>
          <p:cNvSpPr/>
          <p:nvPr/>
        </p:nvSpPr>
        <p:spPr>
          <a:xfrm>
            <a:off x="4828032" y="2999232"/>
            <a:ext cx="91440" cy="804672"/>
          </a:xfrm>
          <a:prstGeom prst="rect">
            <a:avLst/>
          </a:prstGeom>
          <a:solidFill>
            <a:srgbClr val="F59E0B"/>
          </a:solidFill>
          <a:ln w="12700">
            <a:solidFill>
              <a:srgbClr val="F59E0B"/>
            </a:solidFill>
            <a:prstDash val="solid"/>
          </a:ln>
        </p:spPr>
      </p:sp>
      <p:sp>
        <p:nvSpPr>
          <p:cNvPr id="19" name="Text 17"/>
          <p:cNvSpPr/>
          <p:nvPr/>
        </p:nvSpPr>
        <p:spPr>
          <a:xfrm>
            <a:off x="5029200" y="2944368"/>
            <a:ext cx="3474720" cy="347472"/>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Integrated Forensic Intelligence</a:t>
            </a:r>
            <a:endParaRPr lang="en-US" sz="1250" dirty="0"/>
          </a:p>
        </p:txBody>
      </p:sp>
      <p:sp>
        <p:nvSpPr>
          <p:cNvPr id="20" name="Text 18"/>
          <p:cNvSpPr/>
          <p:nvPr/>
        </p:nvSpPr>
        <p:spPr>
          <a:xfrm>
            <a:off x="5029200" y="3291840"/>
            <a:ext cx="3474720" cy="868680"/>
          </a:xfrm>
          <a:prstGeom prst="rect">
            <a:avLst/>
          </a:prstGeom>
          <a:noFill/>
          <a:ln/>
        </p:spPr>
        <p:txBody>
          <a:bodyPr wrap="square" lIns="0" tIns="0" rIns="0" bIns="0" rtlCol="0" anchor="t"/>
          <a:lstStyle/>
          <a:p>
            <a:pPr marL="0" indent="0" algn="l">
              <a:buNone/>
            </a:pPr>
            <a:r>
              <a:rPr lang="en-US" sz="1100" dirty="0">
                <a:solidFill>
                  <a:srgbClr val="94A3B8"/>
                </a:solidFill>
                <a:latin typeface="Calibri" pitchFamily="34" charset="0"/>
                <a:ea typeface="Calibri" pitchFamily="34" charset="-122"/>
                <a:cs typeface="Calibri" pitchFamily="34" charset="-120"/>
              </a:rPr>
              <a:t>No existing framework couples live SOC dashboards with an LLM forensic assistant for automated, plain-English threat remediation logs</a:t>
            </a:r>
            <a:endParaRPr lang="en-US" sz="1100" dirty="0"/>
          </a:p>
        </p:txBody>
      </p:sp>
      <p:sp>
        <p:nvSpPr>
          <p:cNvPr id="21" name="Shape 19"/>
          <p:cNvSpPr/>
          <p:nvPr/>
        </p:nvSpPr>
        <p:spPr>
          <a:xfrm>
            <a:off x="0" y="4800600"/>
            <a:ext cx="9144000" cy="342900"/>
          </a:xfrm>
          <a:prstGeom prst="rect">
            <a:avLst/>
          </a:prstGeom>
          <a:solidFill>
            <a:srgbClr val="071020"/>
          </a:solidFill>
          <a:ln w="12700">
            <a:solidFill>
              <a:srgbClr val="071020"/>
            </a:solidFill>
            <a:prstDash val="solid"/>
          </a:ln>
        </p:spPr>
      </p:sp>
      <p:sp>
        <p:nvSpPr>
          <p:cNvPr id="22" name="Shape 20"/>
          <p:cNvSpPr/>
          <p:nvPr/>
        </p:nvSpPr>
        <p:spPr>
          <a:xfrm>
            <a:off x="0" y="4796028"/>
            <a:ext cx="9144000" cy="13716"/>
          </a:xfrm>
          <a:prstGeom prst="rect">
            <a:avLst/>
          </a:prstGeom>
          <a:solidFill>
            <a:srgbClr val="0891B2"/>
          </a:solidFill>
          <a:ln w="12700">
            <a:solidFill>
              <a:srgbClr val="0891B2"/>
            </a:solidFill>
            <a:prstDash val="solid"/>
          </a:ln>
        </p:spPr>
      </p:sp>
      <p:sp>
        <p:nvSpPr>
          <p:cNvPr id="23" name="Text 21"/>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4" name="Text 22"/>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Proposed Solution: PRIVATE SHIELD</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A Unified, Adversarial-Robust, Privacy-Preserving Federated IDS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pic>
        <p:nvPicPr>
          <p:cNvPr id="5" name="Image 0" descr="preencoded.png"/>
          <p:cNvPicPr>
            <a:picLocks noChangeAspect="1"/>
          </p:cNvPicPr>
          <p:nvPr/>
        </p:nvPicPr>
        <p:blipFill>
          <a:blip r:embed="rId3"/>
          <a:stretch>
            <a:fillRect/>
          </a:stretch>
        </p:blipFill>
        <p:spPr>
          <a:xfrm>
            <a:off x="7818120" y="1115568"/>
            <a:ext cx="960120" cy="960120"/>
          </a:xfrm>
          <a:prstGeom prst="rect">
            <a:avLst/>
          </a:prstGeom>
        </p:spPr>
      </p:pic>
      <p:sp>
        <p:nvSpPr>
          <p:cNvPr id="6" name="Shape 3"/>
          <p:cNvSpPr/>
          <p:nvPr/>
        </p:nvSpPr>
        <p:spPr>
          <a:xfrm>
            <a:off x="411480" y="1115568"/>
            <a:ext cx="7223760" cy="822960"/>
          </a:xfrm>
          <a:prstGeom prst="rect">
            <a:avLst/>
          </a:prstGeom>
          <a:solidFill>
            <a:srgbClr val="091830"/>
          </a:solidFill>
          <a:ln w="12700">
            <a:solidFill>
              <a:srgbClr val="1E3A5F"/>
            </a:solidFill>
            <a:prstDash val="solid"/>
          </a:ln>
          <a:effectLst>
            <a:outerShdw blurRad="101600" dist="38100" dir="2700000" algn="bl" rotWithShape="0">
              <a:srgbClr val="000000">
                <a:alpha val="25000"/>
              </a:srgbClr>
            </a:outerShdw>
          </a:effectLst>
        </p:spPr>
      </p:sp>
      <p:sp>
        <p:nvSpPr>
          <p:cNvPr id="7" name="Text 4"/>
          <p:cNvSpPr/>
          <p:nvPr/>
        </p:nvSpPr>
        <p:spPr>
          <a:xfrm>
            <a:off x="548640" y="1170432"/>
            <a:ext cx="6949440" cy="713232"/>
          </a:xfrm>
          <a:prstGeom prst="rect">
            <a:avLst/>
          </a:prstGeom>
          <a:noFill/>
          <a:ln/>
        </p:spPr>
        <p:txBody>
          <a:bodyPr wrap="square" lIns="0" tIns="0" rIns="0" bIns="0" rtlCol="0" anchor="ctr"/>
          <a:lstStyle/>
          <a:p>
            <a:pPr marL="0" indent="0" algn="l">
              <a:buNone/>
            </a:pPr>
            <a:r>
              <a:rPr lang="en-US" sz="1150" dirty="0">
                <a:solidFill>
                  <a:srgbClr val="E2E8F0"/>
                </a:solidFill>
                <a:latin typeface="Calibri" pitchFamily="34" charset="0"/>
                <a:ea typeface="Calibri" pitchFamily="34" charset="-122"/>
                <a:cs typeface="Calibri" pitchFamily="34" charset="-120"/>
              </a:rPr>
              <a:t>PRIVATE SHIELD is a decentralized federated intelligence optimization loop for edge-layer IoT threat classification. It trains local models on-device, aggregates privacy-hardened gradients via FedAvg, and enforces Differential Privacy to guarantee data never leaves the edge in raw form.</a:t>
            </a:r>
            <a:endParaRPr lang="en-US" sz="1150" dirty="0"/>
          </a:p>
        </p:txBody>
      </p:sp>
      <p:sp>
        <p:nvSpPr>
          <p:cNvPr id="8" name="Shape 5"/>
          <p:cNvSpPr/>
          <p:nvPr/>
        </p:nvSpPr>
        <p:spPr>
          <a:xfrm>
            <a:off x="411480" y="2084832"/>
            <a:ext cx="1536192" cy="25146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9" name="Image 1" descr="preencoded.png"/>
          <p:cNvPicPr>
            <a:picLocks noChangeAspect="1"/>
          </p:cNvPicPr>
          <p:nvPr/>
        </p:nvPicPr>
        <p:blipFill>
          <a:blip r:embed="rId4"/>
          <a:stretch>
            <a:fillRect/>
          </a:stretch>
        </p:blipFill>
        <p:spPr>
          <a:xfrm>
            <a:off x="950976" y="2212848"/>
            <a:ext cx="457200" cy="457200"/>
          </a:xfrm>
          <a:prstGeom prst="rect">
            <a:avLst/>
          </a:prstGeom>
        </p:spPr>
      </p:pic>
      <p:sp>
        <p:nvSpPr>
          <p:cNvPr id="10" name="Text 6"/>
          <p:cNvSpPr/>
          <p:nvPr/>
        </p:nvSpPr>
        <p:spPr>
          <a:xfrm>
            <a:off x="502920" y="2743200"/>
            <a:ext cx="13716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Federated Learning</a:t>
            </a:r>
            <a:endParaRPr lang="en-US" sz="1050" dirty="0"/>
          </a:p>
        </p:txBody>
      </p:sp>
      <p:sp>
        <p:nvSpPr>
          <p:cNvPr id="11" name="Text 7"/>
          <p:cNvSpPr/>
          <p:nvPr/>
        </p:nvSpPr>
        <p:spPr>
          <a:xfrm>
            <a:off x="484632" y="3218688"/>
            <a:ext cx="1408176" cy="502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FedAvg aggregation</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over Flower runtime</a:t>
            </a:r>
            <a:endParaRPr lang="en-US" sz="950" dirty="0"/>
          </a:p>
        </p:txBody>
      </p:sp>
      <p:sp>
        <p:nvSpPr>
          <p:cNvPr id="12" name="Shape 8"/>
          <p:cNvSpPr/>
          <p:nvPr/>
        </p:nvSpPr>
        <p:spPr>
          <a:xfrm>
            <a:off x="484632" y="4407408"/>
            <a:ext cx="1417320" cy="109728"/>
          </a:xfrm>
          <a:prstGeom prst="rect">
            <a:avLst/>
          </a:prstGeom>
          <a:solidFill>
            <a:srgbClr val="00D4FF"/>
          </a:solidFill>
          <a:ln w="12700">
            <a:solidFill>
              <a:srgbClr val="00D4FF"/>
            </a:solidFill>
            <a:prstDash val="solid"/>
          </a:ln>
        </p:spPr>
      </p:sp>
      <p:sp>
        <p:nvSpPr>
          <p:cNvPr id="13" name="Shape 9"/>
          <p:cNvSpPr/>
          <p:nvPr/>
        </p:nvSpPr>
        <p:spPr>
          <a:xfrm>
            <a:off x="2084832" y="2084832"/>
            <a:ext cx="1536192" cy="25146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4" name="Image 2" descr="preencoded.png"/>
          <p:cNvPicPr>
            <a:picLocks noChangeAspect="1"/>
          </p:cNvPicPr>
          <p:nvPr/>
        </p:nvPicPr>
        <p:blipFill>
          <a:blip r:embed="rId5"/>
          <a:stretch>
            <a:fillRect/>
          </a:stretch>
        </p:blipFill>
        <p:spPr>
          <a:xfrm>
            <a:off x="2624328" y="2212848"/>
            <a:ext cx="457200" cy="457200"/>
          </a:xfrm>
          <a:prstGeom prst="rect">
            <a:avLst/>
          </a:prstGeom>
        </p:spPr>
      </p:pic>
      <p:sp>
        <p:nvSpPr>
          <p:cNvPr id="15" name="Text 10"/>
          <p:cNvSpPr/>
          <p:nvPr/>
        </p:nvSpPr>
        <p:spPr>
          <a:xfrm>
            <a:off x="2176272" y="2743200"/>
            <a:ext cx="13716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Differential Privacy</a:t>
            </a:r>
            <a:endParaRPr lang="en-US" sz="1050" dirty="0"/>
          </a:p>
        </p:txBody>
      </p:sp>
      <p:sp>
        <p:nvSpPr>
          <p:cNvPr id="16" name="Text 11"/>
          <p:cNvSpPr/>
          <p:nvPr/>
        </p:nvSpPr>
        <p:spPr>
          <a:xfrm>
            <a:off x="2157984" y="3218688"/>
            <a:ext cx="1408176" cy="502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Opacus Laplace/</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Gaussian perturbations</a:t>
            </a:r>
            <a:endParaRPr lang="en-US" sz="950" dirty="0"/>
          </a:p>
        </p:txBody>
      </p:sp>
      <p:sp>
        <p:nvSpPr>
          <p:cNvPr id="17" name="Shape 12"/>
          <p:cNvSpPr/>
          <p:nvPr/>
        </p:nvSpPr>
        <p:spPr>
          <a:xfrm>
            <a:off x="2157984" y="4407408"/>
            <a:ext cx="1417320" cy="109728"/>
          </a:xfrm>
          <a:prstGeom prst="rect">
            <a:avLst/>
          </a:prstGeom>
          <a:solidFill>
            <a:srgbClr val="06B6D4"/>
          </a:solidFill>
          <a:ln w="12700">
            <a:solidFill>
              <a:srgbClr val="06B6D4"/>
            </a:solidFill>
            <a:prstDash val="solid"/>
          </a:ln>
        </p:spPr>
      </p:sp>
      <p:sp>
        <p:nvSpPr>
          <p:cNvPr id="18" name="Shape 13"/>
          <p:cNvSpPr/>
          <p:nvPr/>
        </p:nvSpPr>
        <p:spPr>
          <a:xfrm>
            <a:off x="3758184" y="2084832"/>
            <a:ext cx="1536192" cy="25146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9" name="Image 3" descr="preencoded.png"/>
          <p:cNvPicPr>
            <a:picLocks noChangeAspect="1"/>
          </p:cNvPicPr>
          <p:nvPr/>
        </p:nvPicPr>
        <p:blipFill>
          <a:blip r:embed="rId6"/>
          <a:stretch>
            <a:fillRect/>
          </a:stretch>
        </p:blipFill>
        <p:spPr>
          <a:xfrm>
            <a:off x="4297680" y="2212848"/>
            <a:ext cx="457200" cy="457200"/>
          </a:xfrm>
          <a:prstGeom prst="rect">
            <a:avLst/>
          </a:prstGeom>
        </p:spPr>
      </p:pic>
      <p:sp>
        <p:nvSpPr>
          <p:cNvPr id="20" name="Text 14"/>
          <p:cNvSpPr/>
          <p:nvPr/>
        </p:nvSpPr>
        <p:spPr>
          <a:xfrm>
            <a:off x="3849624" y="2743200"/>
            <a:ext cx="13716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Adversarial Defense</a:t>
            </a:r>
            <a:endParaRPr lang="en-US" sz="1050" dirty="0"/>
          </a:p>
        </p:txBody>
      </p:sp>
      <p:sp>
        <p:nvSpPr>
          <p:cNvPr id="21" name="Text 15"/>
          <p:cNvSpPr/>
          <p:nvPr/>
        </p:nvSpPr>
        <p:spPr>
          <a:xfrm>
            <a:off x="3831336" y="3218688"/>
            <a:ext cx="1408176" cy="502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Poisoning, Free-Rider</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&amp; Gradient Inference</a:t>
            </a:r>
            <a:endParaRPr lang="en-US" sz="950" dirty="0"/>
          </a:p>
        </p:txBody>
      </p:sp>
      <p:sp>
        <p:nvSpPr>
          <p:cNvPr id="22" name="Shape 16"/>
          <p:cNvSpPr/>
          <p:nvPr/>
        </p:nvSpPr>
        <p:spPr>
          <a:xfrm>
            <a:off x="3831336" y="4407408"/>
            <a:ext cx="1417320" cy="109728"/>
          </a:xfrm>
          <a:prstGeom prst="rect">
            <a:avLst/>
          </a:prstGeom>
          <a:solidFill>
            <a:srgbClr val="10B981"/>
          </a:solidFill>
          <a:ln w="12700">
            <a:solidFill>
              <a:srgbClr val="10B981"/>
            </a:solidFill>
            <a:prstDash val="solid"/>
          </a:ln>
        </p:spPr>
      </p:sp>
      <p:sp>
        <p:nvSpPr>
          <p:cNvPr id="23" name="Shape 17"/>
          <p:cNvSpPr/>
          <p:nvPr/>
        </p:nvSpPr>
        <p:spPr>
          <a:xfrm>
            <a:off x="5431536" y="2084832"/>
            <a:ext cx="1536192" cy="25146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24" name="Image 4" descr="preencoded.png"/>
          <p:cNvPicPr>
            <a:picLocks noChangeAspect="1"/>
          </p:cNvPicPr>
          <p:nvPr/>
        </p:nvPicPr>
        <p:blipFill>
          <a:blip r:embed="rId7"/>
          <a:stretch>
            <a:fillRect/>
          </a:stretch>
        </p:blipFill>
        <p:spPr>
          <a:xfrm>
            <a:off x="5971032" y="2212848"/>
            <a:ext cx="457200" cy="457200"/>
          </a:xfrm>
          <a:prstGeom prst="rect">
            <a:avLst/>
          </a:prstGeom>
        </p:spPr>
      </p:pic>
      <p:sp>
        <p:nvSpPr>
          <p:cNvPr id="25" name="Text 18"/>
          <p:cNvSpPr/>
          <p:nvPr/>
        </p:nvSpPr>
        <p:spPr>
          <a:xfrm>
            <a:off x="5522976" y="2743200"/>
            <a:ext cx="13716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SOC Dashboard</a:t>
            </a:r>
            <a:endParaRPr lang="en-US" sz="1050" dirty="0"/>
          </a:p>
        </p:txBody>
      </p:sp>
      <p:sp>
        <p:nvSpPr>
          <p:cNvPr id="26" name="Text 19"/>
          <p:cNvSpPr/>
          <p:nvPr/>
        </p:nvSpPr>
        <p:spPr>
          <a:xfrm>
            <a:off x="5504688" y="3218688"/>
            <a:ext cx="1408176" cy="502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React + WebSockets</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real-time alerts</a:t>
            </a:r>
            <a:endParaRPr lang="en-US" sz="950" dirty="0"/>
          </a:p>
        </p:txBody>
      </p:sp>
      <p:sp>
        <p:nvSpPr>
          <p:cNvPr id="27" name="Shape 20"/>
          <p:cNvSpPr/>
          <p:nvPr/>
        </p:nvSpPr>
        <p:spPr>
          <a:xfrm>
            <a:off x="5504688" y="4407408"/>
            <a:ext cx="1417320" cy="109728"/>
          </a:xfrm>
          <a:prstGeom prst="rect">
            <a:avLst/>
          </a:prstGeom>
          <a:solidFill>
            <a:srgbClr val="F59E0B"/>
          </a:solidFill>
          <a:ln w="12700">
            <a:solidFill>
              <a:srgbClr val="F59E0B"/>
            </a:solidFill>
            <a:prstDash val="solid"/>
          </a:ln>
        </p:spPr>
      </p:sp>
      <p:sp>
        <p:nvSpPr>
          <p:cNvPr id="28" name="Shape 21"/>
          <p:cNvSpPr/>
          <p:nvPr/>
        </p:nvSpPr>
        <p:spPr>
          <a:xfrm>
            <a:off x="7104888" y="2084832"/>
            <a:ext cx="1536192" cy="25146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29" name="Image 5" descr="preencoded.png"/>
          <p:cNvPicPr>
            <a:picLocks noChangeAspect="1"/>
          </p:cNvPicPr>
          <p:nvPr/>
        </p:nvPicPr>
        <p:blipFill>
          <a:blip r:embed="rId8"/>
          <a:stretch>
            <a:fillRect/>
          </a:stretch>
        </p:blipFill>
        <p:spPr>
          <a:xfrm>
            <a:off x="7644384" y="2212848"/>
            <a:ext cx="457200" cy="457200"/>
          </a:xfrm>
          <a:prstGeom prst="rect">
            <a:avLst/>
          </a:prstGeom>
        </p:spPr>
      </p:pic>
      <p:sp>
        <p:nvSpPr>
          <p:cNvPr id="30" name="Text 22"/>
          <p:cNvSpPr/>
          <p:nvPr/>
        </p:nvSpPr>
        <p:spPr>
          <a:xfrm>
            <a:off x="7196328" y="2743200"/>
            <a:ext cx="1371600"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LLM Forensics</a:t>
            </a:r>
            <a:endParaRPr lang="en-US" sz="1050" dirty="0"/>
          </a:p>
        </p:txBody>
      </p:sp>
      <p:sp>
        <p:nvSpPr>
          <p:cNvPr id="31" name="Text 23"/>
          <p:cNvSpPr/>
          <p:nvPr/>
        </p:nvSpPr>
        <p:spPr>
          <a:xfrm>
            <a:off x="7178040" y="3218688"/>
            <a:ext cx="1408176" cy="5029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Claude API automated</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remediation logs</a:t>
            </a:r>
            <a:endParaRPr lang="en-US" sz="950" dirty="0"/>
          </a:p>
        </p:txBody>
      </p:sp>
      <p:sp>
        <p:nvSpPr>
          <p:cNvPr id="32" name="Shape 24"/>
          <p:cNvSpPr/>
          <p:nvPr/>
        </p:nvSpPr>
        <p:spPr>
          <a:xfrm>
            <a:off x="7178040" y="4407408"/>
            <a:ext cx="1417320" cy="109728"/>
          </a:xfrm>
          <a:prstGeom prst="rect">
            <a:avLst/>
          </a:prstGeom>
          <a:solidFill>
            <a:srgbClr val="A78BFA"/>
          </a:solidFill>
          <a:ln w="12700">
            <a:solidFill>
              <a:srgbClr val="A78BFA"/>
            </a:solidFill>
            <a:prstDash val="solid"/>
          </a:ln>
        </p:spPr>
      </p:sp>
      <p:sp>
        <p:nvSpPr>
          <p:cNvPr id="33" name="Text 25"/>
          <p:cNvSpPr/>
          <p:nvPr/>
        </p:nvSpPr>
        <p:spPr>
          <a:xfrm>
            <a:off x="411480" y="4645152"/>
            <a:ext cx="832104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Hardware: Raspberry Pi 4 (ARM Cortex-A72) + ESP32 NodeMCU edge nodes  ·  Dataset: CICFlowMeter 80-feature network traffic vectors</a:t>
            </a:r>
            <a:endParaRPr lang="en-US" sz="900" dirty="0"/>
          </a:p>
        </p:txBody>
      </p:sp>
      <p:sp>
        <p:nvSpPr>
          <p:cNvPr id="34" name="Shape 26"/>
          <p:cNvSpPr/>
          <p:nvPr/>
        </p:nvSpPr>
        <p:spPr>
          <a:xfrm>
            <a:off x="0" y="4800600"/>
            <a:ext cx="9144000" cy="342900"/>
          </a:xfrm>
          <a:prstGeom prst="rect">
            <a:avLst/>
          </a:prstGeom>
          <a:solidFill>
            <a:srgbClr val="071020"/>
          </a:solidFill>
          <a:ln w="12700">
            <a:solidFill>
              <a:srgbClr val="071020"/>
            </a:solidFill>
            <a:prstDash val="solid"/>
          </a:ln>
        </p:spPr>
      </p:sp>
      <p:sp>
        <p:nvSpPr>
          <p:cNvPr id="35" name="Shape 27"/>
          <p:cNvSpPr/>
          <p:nvPr/>
        </p:nvSpPr>
        <p:spPr>
          <a:xfrm>
            <a:off x="0" y="4796028"/>
            <a:ext cx="9144000" cy="13716"/>
          </a:xfrm>
          <a:prstGeom prst="rect">
            <a:avLst/>
          </a:prstGeom>
          <a:solidFill>
            <a:srgbClr val="0891B2"/>
          </a:solidFill>
          <a:ln w="12700">
            <a:solidFill>
              <a:srgbClr val="0891B2"/>
            </a:solidFill>
            <a:prstDash val="solid"/>
          </a:ln>
        </p:spPr>
      </p:sp>
      <p:sp>
        <p:nvSpPr>
          <p:cNvPr id="36" name="Text 28"/>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7" name="Text 29"/>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System Architecture</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Edge → Federation → Intelligence Pipeline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228600" y="1207008"/>
            <a:ext cx="1600200" cy="749808"/>
          </a:xfrm>
          <a:prstGeom prst="rect">
            <a:avLst/>
          </a:prstGeom>
          <a:solidFill>
            <a:srgbClr val="0A2540"/>
          </a:solidFill>
          <a:ln w="12700">
            <a:solidFill>
              <a:srgbClr val="0891B2"/>
            </a:solidFill>
            <a:prstDash val="solid"/>
          </a:ln>
          <a:effectLst>
            <a:outerShdw blurRad="101600" dist="38100" dir="2700000" algn="bl" rotWithShape="0">
              <a:srgbClr val="000000">
                <a:alpha val="25000"/>
              </a:srgbClr>
            </a:outerShdw>
          </a:effectLst>
        </p:spPr>
      </p:sp>
      <p:sp>
        <p:nvSpPr>
          <p:cNvPr id="6" name="Text 4"/>
          <p:cNvSpPr/>
          <p:nvPr/>
        </p:nvSpPr>
        <p:spPr>
          <a:xfrm>
            <a:off x="256032" y="1280160"/>
            <a:ext cx="1536192" cy="603504"/>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Raspberry Pi 4</a:t>
            </a:r>
            <a:endParaRPr lang="en-US" sz="900" dirty="0"/>
          </a:p>
          <a:p>
            <a:pPr marL="0" indent="0" algn="ctr">
              <a:buNone/>
            </a:pPr>
            <a:r>
              <a:rPr lang="en-US" sz="900" dirty="0">
                <a:solidFill>
                  <a:srgbClr val="E2E8F0"/>
                </a:solidFill>
                <a:latin typeface="Calibri" pitchFamily="34" charset="0"/>
                <a:ea typeface="Calibri" pitchFamily="34" charset="-122"/>
                <a:cs typeface="Calibri" pitchFamily="34" charset="-120"/>
              </a:rPr>
              <a:t>(Gateway Node)</a:t>
            </a:r>
            <a:endParaRPr lang="en-US" sz="900" dirty="0"/>
          </a:p>
        </p:txBody>
      </p:sp>
      <p:sp>
        <p:nvSpPr>
          <p:cNvPr id="7" name="Shape 5"/>
          <p:cNvSpPr/>
          <p:nvPr/>
        </p:nvSpPr>
        <p:spPr>
          <a:xfrm>
            <a:off x="228600" y="2304288"/>
            <a:ext cx="1600200" cy="749808"/>
          </a:xfrm>
          <a:prstGeom prst="rect">
            <a:avLst/>
          </a:prstGeom>
          <a:solidFill>
            <a:srgbClr val="0A2540"/>
          </a:solidFill>
          <a:ln w="12700">
            <a:solidFill>
              <a:srgbClr val="0891B2"/>
            </a:solidFill>
            <a:prstDash val="solid"/>
          </a:ln>
          <a:effectLst>
            <a:outerShdw blurRad="101600" dist="38100" dir="2700000" algn="bl" rotWithShape="0">
              <a:srgbClr val="000000">
                <a:alpha val="25000"/>
              </a:srgbClr>
            </a:outerShdw>
          </a:effectLst>
        </p:spPr>
      </p:sp>
      <p:sp>
        <p:nvSpPr>
          <p:cNvPr id="8" name="Text 6"/>
          <p:cNvSpPr/>
          <p:nvPr/>
        </p:nvSpPr>
        <p:spPr>
          <a:xfrm>
            <a:off x="256032" y="2377440"/>
            <a:ext cx="1536192" cy="603504"/>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ESP32 Node A</a:t>
            </a:r>
            <a:endParaRPr lang="en-US" sz="900" dirty="0"/>
          </a:p>
          <a:p>
            <a:pPr marL="0" indent="0" algn="ctr">
              <a:buNone/>
            </a:pPr>
            <a:r>
              <a:rPr lang="en-US" sz="900" dirty="0">
                <a:solidFill>
                  <a:srgbClr val="E2E8F0"/>
                </a:solidFill>
                <a:latin typeface="Calibri" pitchFamily="34" charset="0"/>
                <a:ea typeface="Calibri" pitchFamily="34" charset="-122"/>
                <a:cs typeface="Calibri" pitchFamily="34" charset="-120"/>
              </a:rPr>
              <a:t>(Sensor Edge)</a:t>
            </a:r>
            <a:endParaRPr lang="en-US" sz="900" dirty="0"/>
          </a:p>
        </p:txBody>
      </p:sp>
      <p:sp>
        <p:nvSpPr>
          <p:cNvPr id="9" name="Shape 7"/>
          <p:cNvSpPr/>
          <p:nvPr/>
        </p:nvSpPr>
        <p:spPr>
          <a:xfrm>
            <a:off x="228600" y="3401568"/>
            <a:ext cx="1600200" cy="749808"/>
          </a:xfrm>
          <a:prstGeom prst="rect">
            <a:avLst/>
          </a:prstGeom>
          <a:solidFill>
            <a:srgbClr val="0A2540"/>
          </a:solidFill>
          <a:ln w="12700">
            <a:solidFill>
              <a:srgbClr val="0891B2"/>
            </a:solidFill>
            <a:prstDash val="solid"/>
          </a:ln>
          <a:effectLst>
            <a:outerShdw blurRad="101600" dist="38100" dir="2700000" algn="bl" rotWithShape="0">
              <a:srgbClr val="000000">
                <a:alpha val="25000"/>
              </a:srgbClr>
            </a:outerShdw>
          </a:effectLst>
        </p:spPr>
      </p:sp>
      <p:sp>
        <p:nvSpPr>
          <p:cNvPr id="10" name="Text 8"/>
          <p:cNvSpPr/>
          <p:nvPr/>
        </p:nvSpPr>
        <p:spPr>
          <a:xfrm>
            <a:off x="256032" y="3474720"/>
            <a:ext cx="1536192" cy="603504"/>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ESP32 Node B</a:t>
            </a:r>
            <a:endParaRPr lang="en-US" sz="900" dirty="0"/>
          </a:p>
          <a:p>
            <a:pPr marL="0" indent="0" algn="ctr">
              <a:buNone/>
            </a:pPr>
            <a:r>
              <a:rPr lang="en-US" sz="900" dirty="0">
                <a:solidFill>
                  <a:srgbClr val="E2E8F0"/>
                </a:solidFill>
                <a:latin typeface="Calibri" pitchFamily="34" charset="0"/>
                <a:ea typeface="Calibri" pitchFamily="34" charset="-122"/>
                <a:cs typeface="Calibri" pitchFamily="34" charset="-120"/>
              </a:rPr>
              <a:t>(Sensor Edge)</a:t>
            </a:r>
            <a:endParaRPr lang="en-US" sz="900" dirty="0"/>
          </a:p>
        </p:txBody>
      </p:sp>
      <p:sp>
        <p:nvSpPr>
          <p:cNvPr id="11" name="Text 9"/>
          <p:cNvSpPr/>
          <p:nvPr/>
        </p:nvSpPr>
        <p:spPr>
          <a:xfrm>
            <a:off x="228600" y="4251960"/>
            <a:ext cx="1600200" cy="256032"/>
          </a:xfrm>
          <a:prstGeom prst="rect">
            <a:avLst/>
          </a:prstGeom>
          <a:noFill/>
          <a:ln/>
        </p:spPr>
        <p:txBody>
          <a:bodyPr wrap="square" lIns="0" tIns="0" rIns="0" bIns="0" rtlCol="0" anchor="ctr"/>
          <a:lstStyle/>
          <a:p>
            <a:pPr marL="0" indent="0" algn="ctr">
              <a:buNone/>
            </a:pPr>
            <a:r>
              <a:rPr lang="en-US" sz="900" b="1" dirty="0">
                <a:solidFill>
                  <a:srgbClr val="0891B2"/>
                </a:solidFill>
                <a:latin typeface="Calibri" pitchFamily="34" charset="0"/>
                <a:ea typeface="Calibri" pitchFamily="34" charset="-122"/>
                <a:cs typeface="Calibri" pitchFamily="34" charset="-120"/>
              </a:rPr>
              <a:t>IoT Edge Nodes</a:t>
            </a:r>
            <a:endParaRPr lang="en-US" sz="900" dirty="0"/>
          </a:p>
        </p:txBody>
      </p:sp>
      <p:sp>
        <p:nvSpPr>
          <p:cNvPr id="12" name="Shape 10"/>
          <p:cNvSpPr/>
          <p:nvPr/>
        </p:nvSpPr>
        <p:spPr>
          <a:xfrm>
            <a:off x="2011680" y="1207008"/>
            <a:ext cx="1691640" cy="2944368"/>
          </a:xfrm>
          <a:prstGeom prst="rect">
            <a:avLst/>
          </a:prstGeom>
          <a:solidFill>
            <a:srgbClr val="0D2035"/>
          </a:solidFill>
          <a:ln w="12700">
            <a:solidFill>
              <a:srgbClr val="00D4FF"/>
            </a:solidFill>
            <a:prstDash val="solid"/>
          </a:ln>
          <a:effectLst>
            <a:outerShdw blurRad="101600" dist="38100" dir="2700000" algn="bl" rotWithShape="0">
              <a:srgbClr val="000000">
                <a:alpha val="25000"/>
              </a:srgbClr>
            </a:outerShdw>
          </a:effectLst>
        </p:spPr>
      </p:sp>
      <p:sp>
        <p:nvSpPr>
          <p:cNvPr id="13" name="Text 11"/>
          <p:cNvSpPr/>
          <p:nvPr/>
        </p:nvSpPr>
        <p:spPr>
          <a:xfrm>
            <a:off x="2029968" y="1261872"/>
            <a:ext cx="1664208" cy="274320"/>
          </a:xfrm>
          <a:prstGeom prst="rect">
            <a:avLst/>
          </a:prstGeom>
          <a:noFill/>
          <a:ln/>
        </p:spPr>
        <p:txBody>
          <a:bodyPr wrap="square" lIns="0" tIns="0" rIns="0" bIns="0" rtlCol="0" anchor="ctr"/>
          <a:lstStyle/>
          <a:p>
            <a:pPr marL="0" indent="0" algn="ctr">
              <a:buNone/>
            </a:pPr>
            <a:r>
              <a:rPr lang="en-US" sz="900" b="1" dirty="0">
                <a:solidFill>
                  <a:srgbClr val="00D4FF"/>
                </a:solidFill>
                <a:latin typeface="Calibri" pitchFamily="34" charset="0"/>
                <a:ea typeface="Calibri" pitchFamily="34" charset="-122"/>
                <a:cs typeface="Calibri" pitchFamily="34" charset="-120"/>
              </a:rPr>
              <a:t>LOCAL TRAINING</a:t>
            </a:r>
            <a:endParaRPr lang="en-US" sz="900" dirty="0"/>
          </a:p>
        </p:txBody>
      </p:sp>
      <p:sp>
        <p:nvSpPr>
          <p:cNvPr id="14" name="Shape 12"/>
          <p:cNvSpPr/>
          <p:nvPr/>
        </p:nvSpPr>
        <p:spPr>
          <a:xfrm>
            <a:off x="2103120" y="1572768"/>
            <a:ext cx="1508760" cy="548640"/>
          </a:xfrm>
          <a:prstGeom prst="rect">
            <a:avLst/>
          </a:prstGeom>
          <a:solidFill>
            <a:srgbClr val="102840"/>
          </a:solidFill>
          <a:ln w="12700">
            <a:solidFill>
              <a:srgbClr val="1E3A5F"/>
            </a:solidFill>
            <a:prstDash val="solid"/>
          </a:ln>
        </p:spPr>
      </p:sp>
      <p:sp>
        <p:nvSpPr>
          <p:cNvPr id="15" name="Text 13"/>
          <p:cNvSpPr/>
          <p:nvPr/>
        </p:nvSpPr>
        <p:spPr>
          <a:xfrm>
            <a:off x="2103120" y="1591056"/>
            <a:ext cx="150876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Scapy Packet</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Capture</a:t>
            </a:r>
            <a:endParaRPr lang="en-US" sz="850" dirty="0"/>
          </a:p>
        </p:txBody>
      </p:sp>
      <p:sp>
        <p:nvSpPr>
          <p:cNvPr id="16" name="Shape 14"/>
          <p:cNvSpPr/>
          <p:nvPr/>
        </p:nvSpPr>
        <p:spPr>
          <a:xfrm>
            <a:off x="2103120" y="2231136"/>
            <a:ext cx="1508760" cy="548640"/>
          </a:xfrm>
          <a:prstGeom prst="rect">
            <a:avLst/>
          </a:prstGeom>
          <a:solidFill>
            <a:srgbClr val="102840"/>
          </a:solidFill>
          <a:ln w="12700">
            <a:solidFill>
              <a:srgbClr val="1E3A5F"/>
            </a:solidFill>
            <a:prstDash val="solid"/>
          </a:ln>
        </p:spPr>
      </p:sp>
      <p:sp>
        <p:nvSpPr>
          <p:cNvPr id="17" name="Text 15"/>
          <p:cNvSpPr/>
          <p:nvPr/>
        </p:nvSpPr>
        <p:spPr>
          <a:xfrm>
            <a:off x="2103120" y="2249424"/>
            <a:ext cx="150876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CICFlowMeter</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80-Feature Maps</a:t>
            </a:r>
            <a:endParaRPr lang="en-US" sz="850" dirty="0"/>
          </a:p>
        </p:txBody>
      </p:sp>
      <p:sp>
        <p:nvSpPr>
          <p:cNvPr id="18" name="Shape 16"/>
          <p:cNvSpPr/>
          <p:nvPr/>
        </p:nvSpPr>
        <p:spPr>
          <a:xfrm>
            <a:off x="2103120" y="2889504"/>
            <a:ext cx="1508760" cy="548640"/>
          </a:xfrm>
          <a:prstGeom prst="rect">
            <a:avLst/>
          </a:prstGeom>
          <a:solidFill>
            <a:srgbClr val="102840"/>
          </a:solidFill>
          <a:ln w="12700">
            <a:solidFill>
              <a:srgbClr val="1E3A5F"/>
            </a:solidFill>
            <a:prstDash val="solid"/>
          </a:ln>
        </p:spPr>
      </p:sp>
      <p:sp>
        <p:nvSpPr>
          <p:cNvPr id="19" name="Text 17"/>
          <p:cNvSpPr/>
          <p:nvPr/>
        </p:nvSpPr>
        <p:spPr>
          <a:xfrm>
            <a:off x="2103120" y="2907792"/>
            <a:ext cx="150876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PyTorch MLP</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Autoencoder</a:t>
            </a:r>
            <a:endParaRPr lang="en-US" sz="850" dirty="0"/>
          </a:p>
        </p:txBody>
      </p:sp>
      <p:sp>
        <p:nvSpPr>
          <p:cNvPr id="20" name="Shape 18"/>
          <p:cNvSpPr/>
          <p:nvPr/>
        </p:nvSpPr>
        <p:spPr>
          <a:xfrm>
            <a:off x="2103120" y="3547872"/>
            <a:ext cx="1508760" cy="548640"/>
          </a:xfrm>
          <a:prstGeom prst="rect">
            <a:avLst/>
          </a:prstGeom>
          <a:solidFill>
            <a:srgbClr val="102840"/>
          </a:solidFill>
          <a:ln w="12700">
            <a:solidFill>
              <a:srgbClr val="1E3A5F"/>
            </a:solidFill>
            <a:prstDash val="solid"/>
          </a:ln>
        </p:spPr>
      </p:sp>
      <p:sp>
        <p:nvSpPr>
          <p:cNvPr id="21" name="Text 19"/>
          <p:cNvSpPr/>
          <p:nvPr/>
        </p:nvSpPr>
        <p:spPr>
          <a:xfrm>
            <a:off x="2103120" y="3566160"/>
            <a:ext cx="150876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DP Gradient</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Clipping (Opacus)</a:t>
            </a:r>
            <a:endParaRPr lang="en-US" sz="850" dirty="0"/>
          </a:p>
        </p:txBody>
      </p:sp>
      <p:sp>
        <p:nvSpPr>
          <p:cNvPr id="22" name="Text 20"/>
          <p:cNvSpPr/>
          <p:nvPr/>
        </p:nvSpPr>
        <p:spPr>
          <a:xfrm>
            <a:off x="2011680" y="4251960"/>
            <a:ext cx="1691640" cy="256032"/>
          </a:xfrm>
          <a:prstGeom prst="rect">
            <a:avLst/>
          </a:prstGeom>
          <a:noFill/>
          <a:ln/>
        </p:spPr>
        <p:txBody>
          <a:bodyPr wrap="square" lIns="0" tIns="0" rIns="0" bIns="0" rtlCol="0" anchor="ctr"/>
          <a:lstStyle/>
          <a:p>
            <a:pPr marL="0" indent="0" algn="ctr">
              <a:buNone/>
            </a:pPr>
            <a:r>
              <a:rPr lang="en-US" sz="900" b="1" dirty="0">
                <a:solidFill>
                  <a:srgbClr val="00D4FF"/>
                </a:solidFill>
                <a:latin typeface="Calibri" pitchFamily="34" charset="0"/>
                <a:ea typeface="Calibri" pitchFamily="34" charset="-122"/>
                <a:cs typeface="Calibri" pitchFamily="34" charset="-120"/>
              </a:rPr>
              <a:t>Local Training</a:t>
            </a:r>
            <a:endParaRPr lang="en-US" sz="900" dirty="0"/>
          </a:p>
        </p:txBody>
      </p:sp>
      <p:sp>
        <p:nvSpPr>
          <p:cNvPr id="23" name="Shape 21"/>
          <p:cNvSpPr/>
          <p:nvPr/>
        </p:nvSpPr>
        <p:spPr>
          <a:xfrm>
            <a:off x="1828800" y="1545336"/>
            <a:ext cx="201168" cy="54864"/>
          </a:xfrm>
          <a:prstGeom prst="rect">
            <a:avLst/>
          </a:prstGeom>
          <a:solidFill>
            <a:srgbClr val="0891B2"/>
          </a:solidFill>
          <a:ln w="12700">
            <a:solidFill>
              <a:srgbClr val="0891B2"/>
            </a:solidFill>
            <a:prstDash val="solid"/>
          </a:ln>
        </p:spPr>
      </p:sp>
      <p:sp>
        <p:nvSpPr>
          <p:cNvPr id="24" name="Shape 22"/>
          <p:cNvSpPr/>
          <p:nvPr/>
        </p:nvSpPr>
        <p:spPr>
          <a:xfrm>
            <a:off x="1828800" y="2642616"/>
            <a:ext cx="201168" cy="54864"/>
          </a:xfrm>
          <a:prstGeom prst="rect">
            <a:avLst/>
          </a:prstGeom>
          <a:solidFill>
            <a:srgbClr val="0891B2"/>
          </a:solidFill>
          <a:ln w="12700">
            <a:solidFill>
              <a:srgbClr val="0891B2"/>
            </a:solidFill>
            <a:prstDash val="solid"/>
          </a:ln>
        </p:spPr>
      </p:sp>
      <p:sp>
        <p:nvSpPr>
          <p:cNvPr id="25" name="Shape 23"/>
          <p:cNvSpPr/>
          <p:nvPr/>
        </p:nvSpPr>
        <p:spPr>
          <a:xfrm>
            <a:off x="1828800" y="3739896"/>
            <a:ext cx="201168" cy="54864"/>
          </a:xfrm>
          <a:prstGeom prst="rect">
            <a:avLst/>
          </a:prstGeom>
          <a:solidFill>
            <a:srgbClr val="0891B2"/>
          </a:solidFill>
          <a:ln w="12700">
            <a:solidFill>
              <a:srgbClr val="0891B2"/>
            </a:solidFill>
            <a:prstDash val="solid"/>
          </a:ln>
        </p:spPr>
      </p:sp>
      <p:sp>
        <p:nvSpPr>
          <p:cNvPr id="26" name="Shape 24"/>
          <p:cNvSpPr/>
          <p:nvPr/>
        </p:nvSpPr>
        <p:spPr>
          <a:xfrm>
            <a:off x="3886200" y="1207008"/>
            <a:ext cx="1783080" cy="2944368"/>
          </a:xfrm>
          <a:prstGeom prst="rect">
            <a:avLst/>
          </a:prstGeom>
          <a:solidFill>
            <a:srgbClr val="0A2010"/>
          </a:solidFill>
          <a:ln w="12700">
            <a:solidFill>
              <a:srgbClr val="10B981"/>
            </a:solidFill>
            <a:prstDash val="solid"/>
          </a:ln>
          <a:effectLst>
            <a:outerShdw blurRad="101600" dist="38100" dir="2700000" algn="bl" rotWithShape="0">
              <a:srgbClr val="000000">
                <a:alpha val="25000"/>
              </a:srgbClr>
            </a:outerShdw>
          </a:effectLst>
        </p:spPr>
      </p:sp>
      <p:sp>
        <p:nvSpPr>
          <p:cNvPr id="27" name="Text 25"/>
          <p:cNvSpPr/>
          <p:nvPr/>
        </p:nvSpPr>
        <p:spPr>
          <a:xfrm>
            <a:off x="3904488" y="1261872"/>
            <a:ext cx="1737360" cy="347472"/>
          </a:xfrm>
          <a:prstGeom prst="rect">
            <a:avLst/>
          </a:prstGeom>
          <a:noFill/>
          <a:ln/>
        </p:spPr>
        <p:txBody>
          <a:bodyPr wrap="square" lIns="0" tIns="0" rIns="0" bIns="0" rtlCol="0" anchor="ctr"/>
          <a:lstStyle/>
          <a:p>
            <a:pPr marL="0" indent="0" algn="ctr">
              <a:buNone/>
            </a:pPr>
            <a:r>
              <a:rPr lang="en-US" sz="900" b="1" dirty="0">
                <a:solidFill>
                  <a:srgbClr val="10B981"/>
                </a:solidFill>
                <a:latin typeface="Calibri" pitchFamily="34" charset="0"/>
                <a:ea typeface="Calibri" pitchFamily="34" charset="-122"/>
                <a:cs typeface="Calibri" pitchFamily="34" charset="-120"/>
              </a:rPr>
              <a:t>FEDERATED</a:t>
            </a:r>
            <a:endParaRPr lang="en-US" sz="900" dirty="0"/>
          </a:p>
          <a:p>
            <a:pPr marL="0" indent="0" algn="ctr">
              <a:buNone/>
            </a:pPr>
            <a:r>
              <a:rPr lang="en-US" sz="900" b="1" dirty="0">
                <a:solidFill>
                  <a:srgbClr val="10B981"/>
                </a:solidFill>
                <a:latin typeface="Calibri" pitchFamily="34" charset="0"/>
                <a:ea typeface="Calibri" pitchFamily="34" charset="-122"/>
                <a:cs typeface="Calibri" pitchFamily="34" charset="-120"/>
              </a:rPr>
              <a:t>AGGREGATION</a:t>
            </a:r>
            <a:endParaRPr lang="en-US" sz="900" dirty="0"/>
          </a:p>
        </p:txBody>
      </p:sp>
      <p:sp>
        <p:nvSpPr>
          <p:cNvPr id="28" name="Shape 26"/>
          <p:cNvSpPr/>
          <p:nvPr/>
        </p:nvSpPr>
        <p:spPr>
          <a:xfrm>
            <a:off x="3977640" y="1645920"/>
            <a:ext cx="1600200" cy="548640"/>
          </a:xfrm>
          <a:prstGeom prst="rect">
            <a:avLst/>
          </a:prstGeom>
          <a:solidFill>
            <a:srgbClr val="0A280D"/>
          </a:solidFill>
          <a:ln w="12700">
            <a:solidFill>
              <a:srgbClr val="1E5F2A"/>
            </a:solidFill>
            <a:prstDash val="solid"/>
          </a:ln>
        </p:spPr>
      </p:sp>
      <p:sp>
        <p:nvSpPr>
          <p:cNvPr id="29" name="Text 27"/>
          <p:cNvSpPr/>
          <p:nvPr/>
        </p:nvSpPr>
        <p:spPr>
          <a:xfrm>
            <a:off x="3977640" y="1664208"/>
            <a:ext cx="160020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Flower (flwr)</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Orchestrator</a:t>
            </a:r>
            <a:endParaRPr lang="en-US" sz="850" dirty="0"/>
          </a:p>
        </p:txBody>
      </p:sp>
      <p:sp>
        <p:nvSpPr>
          <p:cNvPr id="30" name="Shape 28"/>
          <p:cNvSpPr/>
          <p:nvPr/>
        </p:nvSpPr>
        <p:spPr>
          <a:xfrm>
            <a:off x="3977640" y="2304288"/>
            <a:ext cx="1600200" cy="548640"/>
          </a:xfrm>
          <a:prstGeom prst="rect">
            <a:avLst/>
          </a:prstGeom>
          <a:solidFill>
            <a:srgbClr val="0A280D"/>
          </a:solidFill>
          <a:ln w="12700">
            <a:solidFill>
              <a:srgbClr val="1E5F2A"/>
            </a:solidFill>
            <a:prstDash val="solid"/>
          </a:ln>
        </p:spPr>
      </p:sp>
      <p:sp>
        <p:nvSpPr>
          <p:cNvPr id="31" name="Text 29"/>
          <p:cNvSpPr/>
          <p:nvPr/>
        </p:nvSpPr>
        <p:spPr>
          <a:xfrm>
            <a:off x="3977640" y="2322576"/>
            <a:ext cx="160020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FedAvg</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Aggregation</a:t>
            </a:r>
            <a:endParaRPr lang="en-US" sz="850" dirty="0"/>
          </a:p>
        </p:txBody>
      </p:sp>
      <p:sp>
        <p:nvSpPr>
          <p:cNvPr id="32" name="Shape 30"/>
          <p:cNvSpPr/>
          <p:nvPr/>
        </p:nvSpPr>
        <p:spPr>
          <a:xfrm>
            <a:off x="3977640" y="2962656"/>
            <a:ext cx="1600200" cy="548640"/>
          </a:xfrm>
          <a:prstGeom prst="rect">
            <a:avLst/>
          </a:prstGeom>
          <a:solidFill>
            <a:srgbClr val="0A280D"/>
          </a:solidFill>
          <a:ln w="12700">
            <a:solidFill>
              <a:srgbClr val="1E5F2A"/>
            </a:solidFill>
            <a:prstDash val="solid"/>
          </a:ln>
        </p:spPr>
      </p:sp>
      <p:sp>
        <p:nvSpPr>
          <p:cNvPr id="33" name="Text 31"/>
          <p:cNvSpPr/>
          <p:nvPr/>
        </p:nvSpPr>
        <p:spPr>
          <a:xfrm>
            <a:off x="3977640" y="2980944"/>
            <a:ext cx="160020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DP Noise</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Injection: N(0,σ²)</a:t>
            </a:r>
            <a:endParaRPr lang="en-US" sz="850" dirty="0"/>
          </a:p>
        </p:txBody>
      </p:sp>
      <p:sp>
        <p:nvSpPr>
          <p:cNvPr id="34" name="Shape 32"/>
          <p:cNvSpPr/>
          <p:nvPr/>
        </p:nvSpPr>
        <p:spPr>
          <a:xfrm>
            <a:off x="3977640" y="3621024"/>
            <a:ext cx="1600200" cy="548640"/>
          </a:xfrm>
          <a:prstGeom prst="rect">
            <a:avLst/>
          </a:prstGeom>
          <a:solidFill>
            <a:srgbClr val="0A280D"/>
          </a:solidFill>
          <a:ln w="12700">
            <a:solidFill>
              <a:srgbClr val="1E5F2A"/>
            </a:solidFill>
            <a:prstDash val="solid"/>
          </a:ln>
        </p:spPr>
      </p:sp>
      <p:sp>
        <p:nvSpPr>
          <p:cNvPr id="35" name="Text 33"/>
          <p:cNvSpPr/>
          <p:nvPr/>
        </p:nvSpPr>
        <p:spPr>
          <a:xfrm>
            <a:off x="3977640" y="3639312"/>
            <a:ext cx="1600200" cy="512064"/>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Euclidean</a:t>
            </a:r>
            <a:endParaRPr lang="en-US" sz="850" dirty="0"/>
          </a:p>
          <a:p>
            <a:pPr marL="0" indent="0" algn="ctr">
              <a:buNone/>
            </a:pPr>
            <a:r>
              <a:rPr lang="en-US" sz="850" dirty="0">
                <a:solidFill>
                  <a:srgbClr val="E2E8F0"/>
                </a:solidFill>
                <a:latin typeface="Calibri" pitchFamily="34" charset="0"/>
                <a:ea typeface="Calibri" pitchFamily="34" charset="-122"/>
                <a:cs typeface="Calibri" pitchFamily="34" charset="-120"/>
              </a:rPr>
              <a:t>Distance Filter</a:t>
            </a:r>
            <a:endParaRPr lang="en-US" sz="850" dirty="0"/>
          </a:p>
        </p:txBody>
      </p:sp>
      <p:sp>
        <p:nvSpPr>
          <p:cNvPr id="36" name="Text 34"/>
          <p:cNvSpPr/>
          <p:nvPr/>
        </p:nvSpPr>
        <p:spPr>
          <a:xfrm>
            <a:off x="3886200" y="4251960"/>
            <a:ext cx="1783080" cy="256032"/>
          </a:xfrm>
          <a:prstGeom prst="rect">
            <a:avLst/>
          </a:prstGeom>
          <a:noFill/>
          <a:ln/>
        </p:spPr>
        <p:txBody>
          <a:bodyPr wrap="square" lIns="0" tIns="0" rIns="0" bIns="0" rtlCol="0" anchor="ctr"/>
          <a:lstStyle/>
          <a:p>
            <a:pPr marL="0" indent="0" algn="ctr">
              <a:buNone/>
            </a:pPr>
            <a:r>
              <a:rPr lang="en-US" sz="900" b="1" dirty="0">
                <a:solidFill>
                  <a:srgbClr val="10B981"/>
                </a:solidFill>
                <a:latin typeface="Calibri" pitchFamily="34" charset="0"/>
                <a:ea typeface="Calibri" pitchFamily="34" charset="-122"/>
                <a:cs typeface="Calibri" pitchFamily="34" charset="-120"/>
              </a:rPr>
              <a:t>FL Server</a:t>
            </a:r>
            <a:endParaRPr lang="en-US" sz="900" dirty="0"/>
          </a:p>
        </p:txBody>
      </p:sp>
      <p:sp>
        <p:nvSpPr>
          <p:cNvPr id="37" name="Shape 35"/>
          <p:cNvSpPr/>
          <p:nvPr/>
        </p:nvSpPr>
        <p:spPr>
          <a:xfrm>
            <a:off x="3703320" y="2468880"/>
            <a:ext cx="201168" cy="54864"/>
          </a:xfrm>
          <a:prstGeom prst="rect">
            <a:avLst/>
          </a:prstGeom>
          <a:solidFill>
            <a:srgbClr val="10B981"/>
          </a:solidFill>
          <a:ln w="12700">
            <a:solidFill>
              <a:srgbClr val="10B981"/>
            </a:solidFill>
            <a:prstDash val="solid"/>
          </a:ln>
        </p:spPr>
      </p:sp>
      <p:sp>
        <p:nvSpPr>
          <p:cNvPr id="38" name="Shape 36"/>
          <p:cNvSpPr/>
          <p:nvPr/>
        </p:nvSpPr>
        <p:spPr>
          <a:xfrm>
            <a:off x="5852160" y="1207008"/>
            <a:ext cx="1645920" cy="1371600"/>
          </a:xfrm>
          <a:prstGeom prst="rect">
            <a:avLst/>
          </a:prstGeom>
          <a:solidFill>
            <a:srgbClr val="1A1000"/>
          </a:solidFill>
          <a:ln w="12700">
            <a:solidFill>
              <a:srgbClr val="F59E0B"/>
            </a:solidFill>
            <a:prstDash val="solid"/>
          </a:ln>
          <a:effectLst>
            <a:outerShdw blurRad="101600" dist="38100" dir="2700000" algn="bl" rotWithShape="0">
              <a:srgbClr val="000000">
                <a:alpha val="25000"/>
              </a:srgbClr>
            </a:outerShdw>
          </a:effectLst>
        </p:spPr>
      </p:sp>
      <p:sp>
        <p:nvSpPr>
          <p:cNvPr id="39" name="Text 37"/>
          <p:cNvSpPr/>
          <p:nvPr/>
        </p:nvSpPr>
        <p:spPr>
          <a:xfrm>
            <a:off x="5870448" y="1261872"/>
            <a:ext cx="1609344" cy="256032"/>
          </a:xfrm>
          <a:prstGeom prst="rect">
            <a:avLst/>
          </a:prstGeom>
          <a:noFill/>
          <a:ln/>
        </p:spPr>
        <p:txBody>
          <a:bodyPr wrap="square" lIns="0" tIns="0" rIns="0" bIns="0" rtlCol="0" anchor="ctr"/>
          <a:lstStyle/>
          <a:p>
            <a:pPr marL="0" indent="0" algn="ctr">
              <a:buNone/>
            </a:pPr>
            <a:r>
              <a:rPr lang="en-US" sz="900" b="1" dirty="0">
                <a:solidFill>
                  <a:srgbClr val="F59E0B"/>
                </a:solidFill>
                <a:latin typeface="Calibri" pitchFamily="34" charset="0"/>
                <a:ea typeface="Calibri" pitchFamily="34" charset="-122"/>
                <a:cs typeface="Calibri" pitchFamily="34" charset="-120"/>
              </a:rPr>
              <a:t>SOC DASHBOARD</a:t>
            </a:r>
            <a:endParaRPr lang="en-US" sz="900" dirty="0"/>
          </a:p>
        </p:txBody>
      </p:sp>
      <p:sp>
        <p:nvSpPr>
          <p:cNvPr id="40" name="Text 38"/>
          <p:cNvSpPr/>
          <p:nvPr/>
        </p:nvSpPr>
        <p:spPr>
          <a:xfrm>
            <a:off x="5870448" y="1536192"/>
            <a:ext cx="1609344" cy="80467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React.js + D3.js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WebSocket Alerts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InfluxDB + Redis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Real-time Topology</a:t>
            </a:r>
            <a:endParaRPr lang="en-US" sz="850" dirty="0"/>
          </a:p>
        </p:txBody>
      </p:sp>
      <p:sp>
        <p:nvSpPr>
          <p:cNvPr id="41" name="Shape 39"/>
          <p:cNvSpPr/>
          <p:nvPr/>
        </p:nvSpPr>
        <p:spPr>
          <a:xfrm>
            <a:off x="5852160" y="2743200"/>
            <a:ext cx="1645920" cy="1408176"/>
          </a:xfrm>
          <a:prstGeom prst="rect">
            <a:avLst/>
          </a:prstGeom>
          <a:solidFill>
            <a:srgbClr val="0F001A"/>
          </a:solidFill>
          <a:ln w="12700">
            <a:solidFill>
              <a:srgbClr val="A78BFA"/>
            </a:solidFill>
            <a:prstDash val="solid"/>
          </a:ln>
          <a:effectLst>
            <a:outerShdw blurRad="101600" dist="38100" dir="2700000" algn="bl" rotWithShape="0">
              <a:srgbClr val="000000">
                <a:alpha val="25000"/>
              </a:srgbClr>
            </a:outerShdw>
          </a:effectLst>
        </p:spPr>
      </p:sp>
      <p:sp>
        <p:nvSpPr>
          <p:cNvPr id="42" name="Text 40"/>
          <p:cNvSpPr/>
          <p:nvPr/>
        </p:nvSpPr>
        <p:spPr>
          <a:xfrm>
            <a:off x="5870448" y="2798064"/>
            <a:ext cx="1609344" cy="256032"/>
          </a:xfrm>
          <a:prstGeom prst="rect">
            <a:avLst/>
          </a:prstGeom>
          <a:noFill/>
          <a:ln/>
        </p:spPr>
        <p:txBody>
          <a:bodyPr wrap="square" lIns="0" tIns="0" rIns="0" bIns="0" rtlCol="0" anchor="ctr"/>
          <a:lstStyle/>
          <a:p>
            <a:pPr marL="0" indent="0" algn="ctr">
              <a:buNone/>
            </a:pPr>
            <a:r>
              <a:rPr lang="en-US" sz="900" b="1" dirty="0">
                <a:solidFill>
                  <a:srgbClr val="A78BFA"/>
                </a:solidFill>
                <a:latin typeface="Calibri" pitchFamily="34" charset="0"/>
                <a:ea typeface="Calibri" pitchFamily="34" charset="-122"/>
                <a:cs typeface="Calibri" pitchFamily="34" charset="-120"/>
              </a:rPr>
              <a:t>LLM FORENSICS</a:t>
            </a:r>
            <a:endParaRPr lang="en-US" sz="900" dirty="0"/>
          </a:p>
        </p:txBody>
      </p:sp>
      <p:sp>
        <p:nvSpPr>
          <p:cNvPr id="43" name="Text 41"/>
          <p:cNvSpPr/>
          <p:nvPr/>
        </p:nvSpPr>
        <p:spPr>
          <a:xfrm>
            <a:off x="5870448" y="3072384"/>
            <a:ext cx="1609344" cy="804672"/>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Claude API</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Automated Analysis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Forensic PDF Reports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Plain-English Alerts</a:t>
            </a:r>
            <a:endParaRPr lang="en-US" sz="850" dirty="0"/>
          </a:p>
        </p:txBody>
      </p:sp>
      <p:sp>
        <p:nvSpPr>
          <p:cNvPr id="44" name="Shape 42"/>
          <p:cNvSpPr/>
          <p:nvPr/>
        </p:nvSpPr>
        <p:spPr>
          <a:xfrm>
            <a:off x="5669280" y="1874520"/>
            <a:ext cx="201168" cy="54864"/>
          </a:xfrm>
          <a:prstGeom prst="rect">
            <a:avLst/>
          </a:prstGeom>
          <a:solidFill>
            <a:srgbClr val="F59E0B"/>
          </a:solidFill>
          <a:ln w="12700">
            <a:solidFill>
              <a:srgbClr val="F59E0B"/>
            </a:solidFill>
            <a:prstDash val="solid"/>
          </a:ln>
        </p:spPr>
      </p:sp>
      <p:sp>
        <p:nvSpPr>
          <p:cNvPr id="45" name="Shape 43"/>
          <p:cNvSpPr/>
          <p:nvPr/>
        </p:nvSpPr>
        <p:spPr>
          <a:xfrm>
            <a:off x="5669280" y="3401568"/>
            <a:ext cx="201168" cy="54864"/>
          </a:xfrm>
          <a:prstGeom prst="rect">
            <a:avLst/>
          </a:prstGeom>
          <a:solidFill>
            <a:srgbClr val="A78BFA"/>
          </a:solidFill>
          <a:ln w="12700">
            <a:solidFill>
              <a:srgbClr val="A78BFA"/>
            </a:solidFill>
            <a:prstDash val="solid"/>
          </a:ln>
        </p:spPr>
      </p:sp>
      <p:sp>
        <p:nvSpPr>
          <p:cNvPr id="46" name="Shape 44"/>
          <p:cNvSpPr/>
          <p:nvPr/>
        </p:nvSpPr>
        <p:spPr>
          <a:xfrm>
            <a:off x="7635240" y="1207008"/>
            <a:ext cx="1234440" cy="2944368"/>
          </a:xfrm>
          <a:prstGeom prst="rect">
            <a:avLst/>
          </a:prstGeom>
          <a:solidFill>
            <a:srgbClr val="0A0A20"/>
          </a:solidFill>
          <a:ln w="12700">
            <a:solidFill>
              <a:srgbClr val="00D4FF"/>
            </a:solidFill>
            <a:prstDash val="solid"/>
          </a:ln>
          <a:effectLst>
            <a:outerShdw blurRad="101600" dist="38100" dir="2700000" algn="bl" rotWithShape="0">
              <a:srgbClr val="000000">
                <a:alpha val="25000"/>
              </a:srgbClr>
            </a:outerShdw>
          </a:effectLst>
        </p:spPr>
      </p:sp>
      <p:sp>
        <p:nvSpPr>
          <p:cNvPr id="47" name="Text 45"/>
          <p:cNvSpPr/>
          <p:nvPr/>
        </p:nvSpPr>
        <p:spPr>
          <a:xfrm>
            <a:off x="7653528" y="1828800"/>
            <a:ext cx="1188720" cy="731520"/>
          </a:xfrm>
          <a:prstGeom prst="rect">
            <a:avLst/>
          </a:prstGeom>
          <a:noFill/>
          <a:ln/>
        </p:spPr>
        <p:txBody>
          <a:bodyPr wrap="square" lIns="0" tIns="0" rIns="0" bIns="0" rtlCol="0" anchor="ctr"/>
          <a:lstStyle/>
          <a:p>
            <a:pPr marL="0" indent="0" algn="ctr">
              <a:buNone/>
            </a:pPr>
            <a:r>
              <a:rPr lang="en-US" sz="900" b="1" dirty="0">
                <a:solidFill>
                  <a:srgbClr val="00D4FF"/>
                </a:solidFill>
                <a:latin typeface="Calibri" pitchFamily="34" charset="0"/>
                <a:ea typeface="Calibri" pitchFamily="34" charset="-122"/>
                <a:cs typeface="Calibri" pitchFamily="34" charset="-120"/>
              </a:rPr>
              <a:t>GLOBAL</a:t>
            </a:r>
            <a:endParaRPr lang="en-US" sz="900" dirty="0"/>
          </a:p>
          <a:p>
            <a:pPr marL="0" indent="0" algn="ctr">
              <a:buNone/>
            </a:pPr>
            <a:r>
              <a:rPr lang="en-US" sz="900" b="1" dirty="0">
                <a:solidFill>
                  <a:srgbClr val="00D4FF"/>
                </a:solidFill>
                <a:latin typeface="Calibri" pitchFamily="34" charset="0"/>
                <a:ea typeface="Calibri" pitchFamily="34" charset="-122"/>
                <a:cs typeface="Calibri" pitchFamily="34" charset="-120"/>
              </a:rPr>
              <a:t>THREAT</a:t>
            </a:r>
            <a:endParaRPr lang="en-US" sz="900" dirty="0"/>
          </a:p>
          <a:p>
            <a:pPr marL="0" indent="0" algn="ctr">
              <a:buNone/>
            </a:pPr>
            <a:r>
              <a:rPr lang="en-US" sz="900" b="1" dirty="0">
                <a:solidFill>
                  <a:srgbClr val="00D4FF"/>
                </a:solidFill>
                <a:latin typeface="Calibri" pitchFamily="34" charset="0"/>
                <a:ea typeface="Calibri" pitchFamily="34" charset="-122"/>
                <a:cs typeface="Calibri" pitchFamily="34" charset="-120"/>
              </a:rPr>
              <a:t>MODEL</a:t>
            </a:r>
            <a:endParaRPr lang="en-US" sz="900" dirty="0"/>
          </a:p>
        </p:txBody>
      </p:sp>
      <p:sp>
        <p:nvSpPr>
          <p:cNvPr id="48" name="Text 46"/>
          <p:cNvSpPr/>
          <p:nvPr/>
        </p:nvSpPr>
        <p:spPr>
          <a:xfrm>
            <a:off x="7653528" y="2633472"/>
            <a:ext cx="1188720" cy="640080"/>
          </a:xfrm>
          <a:prstGeom prst="rect">
            <a:avLst/>
          </a:prstGeom>
          <a:noFill/>
          <a:ln/>
        </p:spPr>
        <p:txBody>
          <a:bodyPr wrap="square" lIns="0" tIns="0" rIns="0" bIns="0"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Updated every</a:t>
            </a:r>
            <a:endParaRPr lang="en-US" sz="800" dirty="0"/>
          </a:p>
          <a:p>
            <a:pPr marL="0" indent="0" algn="ctr">
              <a:buNone/>
            </a:pPr>
            <a:r>
              <a:rPr lang="en-US" sz="800" dirty="0">
                <a:solidFill>
                  <a:srgbClr val="94A3B8"/>
                </a:solidFill>
                <a:latin typeface="Calibri" pitchFamily="34" charset="0"/>
                <a:ea typeface="Calibri" pitchFamily="34" charset="-122"/>
                <a:cs typeface="Calibri" pitchFamily="34" charset="-120"/>
              </a:rPr>
              <a:t>aggregation round</a:t>
            </a:r>
            <a:endParaRPr lang="en-US" sz="800" dirty="0"/>
          </a:p>
          <a:p>
            <a:pPr marL="0" indent="0" algn="ctr">
              <a:buNone/>
            </a:pPr>
            <a:r>
              <a:rPr lang="en-US" sz="800" dirty="0">
                <a:solidFill>
                  <a:srgbClr val="94A3B8"/>
                </a:solidFill>
                <a:latin typeface="Calibri" pitchFamily="34" charset="0"/>
                <a:ea typeface="Calibri" pitchFamily="34" charset="-122"/>
                <a:cs typeface="Calibri" pitchFamily="34" charset="-120"/>
              </a:rPr>
              <a:t>Broadcast to all</a:t>
            </a:r>
            <a:endParaRPr lang="en-US" sz="800" dirty="0"/>
          </a:p>
          <a:p>
            <a:pPr marL="0" indent="0" algn="ctr">
              <a:buNone/>
            </a:pPr>
            <a:r>
              <a:rPr lang="en-US" sz="800" dirty="0">
                <a:solidFill>
                  <a:srgbClr val="94A3B8"/>
                </a:solidFill>
                <a:latin typeface="Calibri" pitchFamily="34" charset="0"/>
                <a:ea typeface="Calibri" pitchFamily="34" charset="-122"/>
                <a:cs typeface="Calibri" pitchFamily="34" charset="-120"/>
              </a:rPr>
              <a:t>edge nodes</a:t>
            </a:r>
            <a:endParaRPr lang="en-US" sz="800" dirty="0"/>
          </a:p>
        </p:txBody>
      </p:sp>
      <p:sp>
        <p:nvSpPr>
          <p:cNvPr id="49" name="Shape 47"/>
          <p:cNvSpPr/>
          <p:nvPr/>
        </p:nvSpPr>
        <p:spPr>
          <a:xfrm>
            <a:off x="7498080" y="2468880"/>
            <a:ext cx="155448" cy="54864"/>
          </a:xfrm>
          <a:prstGeom prst="rect">
            <a:avLst/>
          </a:prstGeom>
          <a:solidFill>
            <a:srgbClr val="00D4FF"/>
          </a:solidFill>
          <a:ln w="12700">
            <a:solidFill>
              <a:srgbClr val="00D4FF"/>
            </a:solidFill>
            <a:prstDash val="solid"/>
          </a:ln>
        </p:spPr>
      </p:sp>
      <p:sp>
        <p:nvSpPr>
          <p:cNvPr id="50" name="Text 48"/>
          <p:cNvSpPr/>
          <p:nvPr/>
        </p:nvSpPr>
        <p:spPr>
          <a:xfrm>
            <a:off x="2011680" y="4572000"/>
            <a:ext cx="6858000" cy="201168"/>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 Gradient Updates (DP-Hardened)           Global Model Broadcast →</a:t>
            </a:r>
            <a:endParaRPr lang="en-US" sz="850" dirty="0"/>
          </a:p>
        </p:txBody>
      </p:sp>
      <p:sp>
        <p:nvSpPr>
          <p:cNvPr id="51" name="Shape 49"/>
          <p:cNvSpPr/>
          <p:nvPr/>
        </p:nvSpPr>
        <p:spPr>
          <a:xfrm>
            <a:off x="0" y="4800600"/>
            <a:ext cx="9144000" cy="342900"/>
          </a:xfrm>
          <a:prstGeom prst="rect">
            <a:avLst/>
          </a:prstGeom>
          <a:solidFill>
            <a:srgbClr val="071020"/>
          </a:solidFill>
          <a:ln w="12700">
            <a:solidFill>
              <a:srgbClr val="071020"/>
            </a:solidFill>
            <a:prstDash val="solid"/>
          </a:ln>
        </p:spPr>
      </p:sp>
      <p:sp>
        <p:nvSpPr>
          <p:cNvPr id="52" name="Shape 50"/>
          <p:cNvSpPr/>
          <p:nvPr/>
        </p:nvSpPr>
        <p:spPr>
          <a:xfrm>
            <a:off x="0" y="4796028"/>
            <a:ext cx="9144000" cy="13716"/>
          </a:xfrm>
          <a:prstGeom prst="rect">
            <a:avLst/>
          </a:prstGeom>
          <a:solidFill>
            <a:srgbClr val="0891B2"/>
          </a:solidFill>
          <a:ln w="12700">
            <a:solidFill>
              <a:srgbClr val="0891B2"/>
            </a:solidFill>
            <a:prstDash val="solid"/>
          </a:ln>
        </p:spPr>
      </p:sp>
      <p:sp>
        <p:nvSpPr>
          <p:cNvPr id="53" name="Text 51"/>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54" name="Text 52"/>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Federated Learning Workflow</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FedAvg-Powered Decentralized Optimization Loop</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292608" y="1143000"/>
            <a:ext cx="1298448" cy="3246120"/>
          </a:xfrm>
          <a:prstGeom prst="rect">
            <a:avLst/>
          </a:prstGeom>
          <a:solidFill>
            <a:srgbClr val="0D1F3C"/>
          </a:solidFill>
          <a:ln w="12700">
            <a:solidFill>
              <a:srgbClr val="0891B2"/>
            </a:solidFill>
            <a:prstDash val="solid"/>
          </a:ln>
          <a:effectLst>
            <a:outerShdw blurRad="101600" dist="38100" dir="2700000" algn="bl" rotWithShape="0">
              <a:srgbClr val="000000">
                <a:alpha val="25000"/>
              </a:srgbClr>
            </a:outerShdw>
          </a:effectLst>
        </p:spPr>
      </p:sp>
      <p:sp>
        <p:nvSpPr>
          <p:cNvPr id="6" name="Shape 4"/>
          <p:cNvSpPr/>
          <p:nvPr/>
        </p:nvSpPr>
        <p:spPr>
          <a:xfrm>
            <a:off x="713232" y="1207008"/>
            <a:ext cx="457200" cy="457200"/>
          </a:xfrm>
          <a:prstGeom prst="ellipse">
            <a:avLst/>
          </a:prstGeom>
          <a:solidFill>
            <a:srgbClr val="0891B2"/>
          </a:solidFill>
          <a:ln w="12700">
            <a:solidFill>
              <a:srgbClr val="0891B2"/>
            </a:solidFill>
            <a:prstDash val="solid"/>
          </a:ln>
        </p:spPr>
      </p:sp>
      <p:sp>
        <p:nvSpPr>
          <p:cNvPr id="7" name="Text 5"/>
          <p:cNvSpPr/>
          <p:nvPr/>
        </p:nvSpPr>
        <p:spPr>
          <a:xfrm>
            <a:off x="713232"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01</a:t>
            </a:r>
            <a:endParaRPr lang="en-US" sz="1100" dirty="0"/>
          </a:p>
        </p:txBody>
      </p:sp>
      <p:sp>
        <p:nvSpPr>
          <p:cNvPr id="8" name="Text 6"/>
          <p:cNvSpPr/>
          <p:nvPr/>
        </p:nvSpPr>
        <p:spPr>
          <a:xfrm>
            <a:off x="338328"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Telemetry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9" name="Text 7"/>
          <p:cNvSpPr/>
          <p:nvPr/>
        </p:nvSpPr>
        <p:spPr>
          <a:xfrm>
            <a:off x="338328"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Scapy hooks capture</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80-feature CICFlowMeter</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network vectors</a:t>
            </a:r>
            <a:endParaRPr lang="en-US" sz="850" dirty="0"/>
          </a:p>
        </p:txBody>
      </p:sp>
      <p:sp>
        <p:nvSpPr>
          <p:cNvPr id="10" name="Shape 8"/>
          <p:cNvSpPr/>
          <p:nvPr/>
        </p:nvSpPr>
        <p:spPr>
          <a:xfrm>
            <a:off x="1591056" y="2176272"/>
            <a:ext cx="164592" cy="45720"/>
          </a:xfrm>
          <a:prstGeom prst="rect">
            <a:avLst/>
          </a:prstGeom>
          <a:solidFill>
            <a:srgbClr val="94A3B8"/>
          </a:solidFill>
          <a:ln w="12700">
            <a:solidFill>
              <a:srgbClr val="94A3B8"/>
            </a:solidFill>
            <a:prstDash val="solid"/>
          </a:ln>
        </p:spPr>
      </p:sp>
      <p:sp>
        <p:nvSpPr>
          <p:cNvPr id="11" name="Shape 9"/>
          <p:cNvSpPr/>
          <p:nvPr/>
        </p:nvSpPr>
        <p:spPr>
          <a:xfrm>
            <a:off x="1746504" y="1143000"/>
            <a:ext cx="1298448" cy="3246120"/>
          </a:xfrm>
          <a:prstGeom prst="rect">
            <a:avLst/>
          </a:prstGeom>
          <a:solidFill>
            <a:srgbClr val="0D1F3C"/>
          </a:solidFill>
          <a:ln w="12700">
            <a:solidFill>
              <a:srgbClr val="00D4FF"/>
            </a:solidFill>
            <a:prstDash val="solid"/>
          </a:ln>
          <a:effectLst>
            <a:outerShdw blurRad="101600" dist="38100" dir="2700000" algn="bl" rotWithShape="0">
              <a:srgbClr val="000000">
                <a:alpha val="25000"/>
              </a:srgbClr>
            </a:outerShdw>
          </a:effectLst>
        </p:spPr>
      </p:sp>
      <p:sp>
        <p:nvSpPr>
          <p:cNvPr id="12" name="Shape 10"/>
          <p:cNvSpPr/>
          <p:nvPr/>
        </p:nvSpPr>
        <p:spPr>
          <a:xfrm>
            <a:off x="2167128" y="1207008"/>
            <a:ext cx="457200" cy="457200"/>
          </a:xfrm>
          <a:prstGeom prst="ellipse">
            <a:avLst/>
          </a:prstGeom>
          <a:solidFill>
            <a:srgbClr val="00D4FF"/>
          </a:solidFill>
          <a:ln w="12700">
            <a:solidFill>
              <a:srgbClr val="00D4FF"/>
            </a:solidFill>
            <a:prstDash val="solid"/>
          </a:ln>
        </p:spPr>
      </p:sp>
      <p:sp>
        <p:nvSpPr>
          <p:cNvPr id="13" name="Text 11"/>
          <p:cNvSpPr/>
          <p:nvPr/>
        </p:nvSpPr>
        <p:spPr>
          <a:xfrm>
            <a:off x="2167128"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792224"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Local Model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Training</a:t>
            </a:r>
            <a:endParaRPr lang="en-US" sz="1000" dirty="0"/>
          </a:p>
        </p:txBody>
      </p:sp>
      <p:sp>
        <p:nvSpPr>
          <p:cNvPr id="15" name="Text 13"/>
          <p:cNvSpPr/>
          <p:nvPr/>
        </p:nvSpPr>
        <p:spPr>
          <a:xfrm>
            <a:off x="1792224"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PyTorch MLP Autoencoder</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trained on-device</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(Raspberry Pi / ESP32)</a:t>
            </a:r>
            <a:endParaRPr lang="en-US" sz="850" dirty="0"/>
          </a:p>
        </p:txBody>
      </p:sp>
      <p:sp>
        <p:nvSpPr>
          <p:cNvPr id="16" name="Shape 14"/>
          <p:cNvSpPr/>
          <p:nvPr/>
        </p:nvSpPr>
        <p:spPr>
          <a:xfrm>
            <a:off x="3044952" y="2176272"/>
            <a:ext cx="164592" cy="45720"/>
          </a:xfrm>
          <a:prstGeom prst="rect">
            <a:avLst/>
          </a:prstGeom>
          <a:solidFill>
            <a:srgbClr val="94A3B8"/>
          </a:solidFill>
          <a:ln w="12700">
            <a:solidFill>
              <a:srgbClr val="94A3B8"/>
            </a:solidFill>
            <a:prstDash val="solid"/>
          </a:ln>
        </p:spPr>
      </p:sp>
      <p:sp>
        <p:nvSpPr>
          <p:cNvPr id="17" name="Shape 15"/>
          <p:cNvSpPr/>
          <p:nvPr/>
        </p:nvSpPr>
        <p:spPr>
          <a:xfrm>
            <a:off x="3200400" y="1143000"/>
            <a:ext cx="1298448" cy="3246120"/>
          </a:xfrm>
          <a:prstGeom prst="rect">
            <a:avLst/>
          </a:prstGeom>
          <a:solidFill>
            <a:srgbClr val="0D1F3C"/>
          </a:solidFill>
          <a:ln w="12700">
            <a:solidFill>
              <a:srgbClr val="10B981"/>
            </a:solidFill>
            <a:prstDash val="solid"/>
          </a:ln>
          <a:effectLst>
            <a:outerShdw blurRad="101600" dist="38100" dir="2700000" algn="bl" rotWithShape="0">
              <a:srgbClr val="000000">
                <a:alpha val="25000"/>
              </a:srgbClr>
            </a:outerShdw>
          </a:effectLst>
        </p:spPr>
      </p:sp>
      <p:sp>
        <p:nvSpPr>
          <p:cNvPr id="18" name="Shape 16"/>
          <p:cNvSpPr/>
          <p:nvPr/>
        </p:nvSpPr>
        <p:spPr>
          <a:xfrm>
            <a:off x="3621024" y="1207008"/>
            <a:ext cx="457200" cy="457200"/>
          </a:xfrm>
          <a:prstGeom prst="ellipse">
            <a:avLst/>
          </a:prstGeom>
          <a:solidFill>
            <a:srgbClr val="10B981"/>
          </a:solidFill>
          <a:ln w="12700">
            <a:solidFill>
              <a:srgbClr val="10B981"/>
            </a:solidFill>
            <a:prstDash val="solid"/>
          </a:ln>
        </p:spPr>
      </p:sp>
      <p:sp>
        <p:nvSpPr>
          <p:cNvPr id="19" name="Text 17"/>
          <p:cNvSpPr/>
          <p:nvPr/>
        </p:nvSpPr>
        <p:spPr>
          <a:xfrm>
            <a:off x="3621024"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3246120"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DP Gradient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Update</a:t>
            </a:r>
            <a:endParaRPr lang="en-US" sz="1000" dirty="0"/>
          </a:p>
        </p:txBody>
      </p:sp>
      <p:sp>
        <p:nvSpPr>
          <p:cNvPr id="21" name="Text 19"/>
          <p:cNvSpPr/>
          <p:nvPr/>
        </p:nvSpPr>
        <p:spPr>
          <a:xfrm>
            <a:off x="3246120"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Opacus clips gradients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&amp; injects Laplace/</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Gaussian noise</a:t>
            </a:r>
            <a:endParaRPr lang="en-US" sz="850" dirty="0"/>
          </a:p>
        </p:txBody>
      </p:sp>
      <p:sp>
        <p:nvSpPr>
          <p:cNvPr id="22" name="Shape 20"/>
          <p:cNvSpPr/>
          <p:nvPr/>
        </p:nvSpPr>
        <p:spPr>
          <a:xfrm>
            <a:off x="4498848" y="2176272"/>
            <a:ext cx="164592" cy="45720"/>
          </a:xfrm>
          <a:prstGeom prst="rect">
            <a:avLst/>
          </a:prstGeom>
          <a:solidFill>
            <a:srgbClr val="94A3B8"/>
          </a:solidFill>
          <a:ln w="12700">
            <a:solidFill>
              <a:srgbClr val="94A3B8"/>
            </a:solidFill>
            <a:prstDash val="solid"/>
          </a:ln>
        </p:spPr>
      </p:sp>
      <p:sp>
        <p:nvSpPr>
          <p:cNvPr id="23" name="Shape 21"/>
          <p:cNvSpPr/>
          <p:nvPr/>
        </p:nvSpPr>
        <p:spPr>
          <a:xfrm>
            <a:off x="4654296" y="1143000"/>
            <a:ext cx="1298448" cy="3246120"/>
          </a:xfrm>
          <a:prstGeom prst="rect">
            <a:avLst/>
          </a:prstGeom>
          <a:solidFill>
            <a:srgbClr val="0D1F3C"/>
          </a:solidFill>
          <a:ln w="12700">
            <a:solidFill>
              <a:srgbClr val="F59E0B"/>
            </a:solidFill>
            <a:prstDash val="solid"/>
          </a:ln>
          <a:effectLst>
            <a:outerShdw blurRad="101600" dist="38100" dir="2700000" algn="bl" rotWithShape="0">
              <a:srgbClr val="000000">
                <a:alpha val="25000"/>
              </a:srgbClr>
            </a:outerShdw>
          </a:effectLst>
        </p:spPr>
      </p:sp>
      <p:sp>
        <p:nvSpPr>
          <p:cNvPr id="24" name="Shape 22"/>
          <p:cNvSpPr/>
          <p:nvPr/>
        </p:nvSpPr>
        <p:spPr>
          <a:xfrm>
            <a:off x="5074920" y="1207008"/>
            <a:ext cx="457200" cy="457200"/>
          </a:xfrm>
          <a:prstGeom prst="ellipse">
            <a:avLst/>
          </a:prstGeom>
          <a:solidFill>
            <a:srgbClr val="F59E0B"/>
          </a:solidFill>
          <a:ln w="12700">
            <a:solidFill>
              <a:srgbClr val="F59E0B"/>
            </a:solidFill>
            <a:prstDash val="solid"/>
          </a:ln>
        </p:spPr>
      </p:sp>
      <p:sp>
        <p:nvSpPr>
          <p:cNvPr id="25" name="Text 23"/>
          <p:cNvSpPr/>
          <p:nvPr/>
        </p:nvSpPr>
        <p:spPr>
          <a:xfrm>
            <a:off x="5074920"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04</a:t>
            </a:r>
            <a:endParaRPr lang="en-US" sz="1100" dirty="0"/>
          </a:p>
        </p:txBody>
      </p:sp>
      <p:sp>
        <p:nvSpPr>
          <p:cNvPr id="26" name="Text 24"/>
          <p:cNvSpPr/>
          <p:nvPr/>
        </p:nvSpPr>
        <p:spPr>
          <a:xfrm>
            <a:off x="4700016"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FedAvg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Aggregation</a:t>
            </a:r>
            <a:endParaRPr lang="en-US" sz="1000" dirty="0"/>
          </a:p>
        </p:txBody>
      </p:sp>
      <p:sp>
        <p:nvSpPr>
          <p:cNvPr id="27" name="Text 25"/>
          <p:cNvSpPr/>
          <p:nvPr/>
        </p:nvSpPr>
        <p:spPr>
          <a:xfrm>
            <a:off x="4700016"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Flower server computes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weighted average:</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w_(t+1) = Σ(nᵢ/n)·wᵢ</a:t>
            </a:r>
            <a:endParaRPr lang="en-US" sz="850" dirty="0"/>
          </a:p>
        </p:txBody>
      </p:sp>
      <p:sp>
        <p:nvSpPr>
          <p:cNvPr id="28" name="Shape 26"/>
          <p:cNvSpPr/>
          <p:nvPr/>
        </p:nvSpPr>
        <p:spPr>
          <a:xfrm>
            <a:off x="5952744" y="2176272"/>
            <a:ext cx="164592" cy="45720"/>
          </a:xfrm>
          <a:prstGeom prst="rect">
            <a:avLst/>
          </a:prstGeom>
          <a:solidFill>
            <a:srgbClr val="94A3B8"/>
          </a:solidFill>
          <a:ln w="12700">
            <a:solidFill>
              <a:srgbClr val="94A3B8"/>
            </a:solidFill>
            <a:prstDash val="solid"/>
          </a:ln>
        </p:spPr>
      </p:sp>
      <p:sp>
        <p:nvSpPr>
          <p:cNvPr id="29" name="Shape 27"/>
          <p:cNvSpPr/>
          <p:nvPr/>
        </p:nvSpPr>
        <p:spPr>
          <a:xfrm>
            <a:off x="6108192" y="1143000"/>
            <a:ext cx="1298448" cy="3246120"/>
          </a:xfrm>
          <a:prstGeom prst="rect">
            <a:avLst/>
          </a:prstGeom>
          <a:solidFill>
            <a:srgbClr val="0D1F3C"/>
          </a:solidFill>
          <a:ln w="12700">
            <a:solidFill>
              <a:srgbClr val="F97316"/>
            </a:solidFill>
            <a:prstDash val="solid"/>
          </a:ln>
          <a:effectLst>
            <a:outerShdw blurRad="101600" dist="38100" dir="2700000" algn="bl" rotWithShape="0">
              <a:srgbClr val="000000">
                <a:alpha val="25000"/>
              </a:srgbClr>
            </a:outerShdw>
          </a:effectLst>
        </p:spPr>
      </p:sp>
      <p:sp>
        <p:nvSpPr>
          <p:cNvPr id="30" name="Shape 28"/>
          <p:cNvSpPr/>
          <p:nvPr/>
        </p:nvSpPr>
        <p:spPr>
          <a:xfrm>
            <a:off x="6528816" y="1207008"/>
            <a:ext cx="457200" cy="457200"/>
          </a:xfrm>
          <a:prstGeom prst="ellipse">
            <a:avLst/>
          </a:prstGeom>
          <a:solidFill>
            <a:srgbClr val="F97316"/>
          </a:solidFill>
          <a:ln w="12700">
            <a:solidFill>
              <a:srgbClr val="F97316"/>
            </a:solidFill>
            <a:prstDash val="solid"/>
          </a:ln>
        </p:spPr>
      </p:sp>
      <p:sp>
        <p:nvSpPr>
          <p:cNvPr id="31" name="Text 29"/>
          <p:cNvSpPr/>
          <p:nvPr/>
        </p:nvSpPr>
        <p:spPr>
          <a:xfrm>
            <a:off x="6528816"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05</a:t>
            </a:r>
            <a:endParaRPr lang="en-US" sz="1100" dirty="0"/>
          </a:p>
        </p:txBody>
      </p:sp>
      <p:sp>
        <p:nvSpPr>
          <p:cNvPr id="32" name="Text 30"/>
          <p:cNvSpPr/>
          <p:nvPr/>
        </p:nvSpPr>
        <p:spPr>
          <a:xfrm>
            <a:off x="6153912"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Detection</a:t>
            </a:r>
            <a:endParaRPr lang="en-US" sz="1000" dirty="0"/>
          </a:p>
        </p:txBody>
      </p:sp>
      <p:sp>
        <p:nvSpPr>
          <p:cNvPr id="33" name="Text 31"/>
          <p:cNvSpPr/>
          <p:nvPr/>
        </p:nvSpPr>
        <p:spPr>
          <a:xfrm>
            <a:off x="6153912"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Global model classifies</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network anomalies &amp;</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flag malicious traffic</a:t>
            </a:r>
            <a:endParaRPr lang="en-US" sz="850" dirty="0"/>
          </a:p>
        </p:txBody>
      </p:sp>
      <p:sp>
        <p:nvSpPr>
          <p:cNvPr id="34" name="Shape 32"/>
          <p:cNvSpPr/>
          <p:nvPr/>
        </p:nvSpPr>
        <p:spPr>
          <a:xfrm>
            <a:off x="7406640" y="2176272"/>
            <a:ext cx="164592" cy="45720"/>
          </a:xfrm>
          <a:prstGeom prst="rect">
            <a:avLst/>
          </a:prstGeom>
          <a:solidFill>
            <a:srgbClr val="94A3B8"/>
          </a:solidFill>
          <a:ln w="12700">
            <a:solidFill>
              <a:srgbClr val="94A3B8"/>
            </a:solidFill>
            <a:prstDash val="solid"/>
          </a:ln>
        </p:spPr>
      </p:sp>
      <p:sp>
        <p:nvSpPr>
          <p:cNvPr id="35" name="Shape 33"/>
          <p:cNvSpPr/>
          <p:nvPr/>
        </p:nvSpPr>
        <p:spPr>
          <a:xfrm>
            <a:off x="7562088" y="1143000"/>
            <a:ext cx="1298448" cy="3246120"/>
          </a:xfrm>
          <a:prstGeom prst="rect">
            <a:avLst/>
          </a:prstGeom>
          <a:solidFill>
            <a:srgbClr val="0D1F3C"/>
          </a:solidFill>
          <a:ln w="12700">
            <a:solidFill>
              <a:srgbClr val="A78BFA"/>
            </a:solidFill>
            <a:prstDash val="solid"/>
          </a:ln>
          <a:effectLst>
            <a:outerShdw blurRad="101600" dist="38100" dir="2700000" algn="bl" rotWithShape="0">
              <a:srgbClr val="000000">
                <a:alpha val="25000"/>
              </a:srgbClr>
            </a:outerShdw>
          </a:effectLst>
        </p:spPr>
      </p:sp>
      <p:sp>
        <p:nvSpPr>
          <p:cNvPr id="36" name="Shape 34"/>
          <p:cNvSpPr/>
          <p:nvPr/>
        </p:nvSpPr>
        <p:spPr>
          <a:xfrm>
            <a:off x="7982712" y="1207008"/>
            <a:ext cx="457200" cy="457200"/>
          </a:xfrm>
          <a:prstGeom prst="ellipse">
            <a:avLst/>
          </a:prstGeom>
          <a:solidFill>
            <a:srgbClr val="A78BFA"/>
          </a:solidFill>
          <a:ln w="12700">
            <a:solidFill>
              <a:srgbClr val="A78BFA"/>
            </a:solidFill>
            <a:prstDash val="solid"/>
          </a:ln>
        </p:spPr>
      </p:sp>
      <p:sp>
        <p:nvSpPr>
          <p:cNvPr id="37" name="Text 35"/>
          <p:cNvSpPr/>
          <p:nvPr/>
        </p:nvSpPr>
        <p:spPr>
          <a:xfrm>
            <a:off x="7982712" y="1207008"/>
            <a:ext cx="457200" cy="457200"/>
          </a:xfrm>
          <a:prstGeom prst="rect">
            <a:avLst/>
          </a:prstGeom>
          <a:noFill/>
          <a:ln/>
        </p:spPr>
        <p:txBody>
          <a:bodyPr wrap="square" lIns="0" tIns="0" rIns="0" bIns="0" rtlCol="0" anchor="ctr"/>
          <a:lstStyle/>
          <a:p>
            <a:pPr marL="0" indent="0" algn="ctr">
              <a:buNone/>
            </a:pPr>
            <a:r>
              <a:rPr lang="en-US" sz="1100" b="1" dirty="0">
                <a:solidFill>
                  <a:srgbClr val="0A1628"/>
                </a:solidFill>
                <a:latin typeface="Cambria" pitchFamily="34" charset="0"/>
                <a:ea typeface="Cambria" pitchFamily="34" charset="-122"/>
                <a:cs typeface="Cambria" pitchFamily="34" charset="-120"/>
              </a:rPr>
              <a:t>06</a:t>
            </a:r>
            <a:endParaRPr lang="en-US" sz="1100" dirty="0"/>
          </a:p>
        </p:txBody>
      </p:sp>
      <p:sp>
        <p:nvSpPr>
          <p:cNvPr id="38" name="Text 36"/>
          <p:cNvSpPr/>
          <p:nvPr/>
        </p:nvSpPr>
        <p:spPr>
          <a:xfrm>
            <a:off x="7607808" y="1737360"/>
            <a:ext cx="1216152"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SOC Alert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 LLM Log</a:t>
            </a:r>
            <a:endParaRPr lang="en-US" sz="1000" dirty="0"/>
          </a:p>
        </p:txBody>
      </p:sp>
      <p:sp>
        <p:nvSpPr>
          <p:cNvPr id="39" name="Text 37"/>
          <p:cNvSpPr/>
          <p:nvPr/>
        </p:nvSpPr>
        <p:spPr>
          <a:xfrm>
            <a:off x="7607808" y="2240280"/>
            <a:ext cx="1216152" cy="100584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WebSocket push to</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dashboard + Claude API</a:t>
            </a:r>
            <a:endParaRPr lang="en-US" sz="850" dirty="0"/>
          </a:p>
          <a:p>
            <a:pPr marL="0" indent="0" algn="ctr">
              <a:buNone/>
            </a:pPr>
            <a:r>
              <a:rPr lang="en-US" sz="850" dirty="0">
                <a:solidFill>
                  <a:srgbClr val="94A3B8"/>
                </a:solidFill>
                <a:latin typeface="Calibri" pitchFamily="34" charset="0"/>
                <a:ea typeface="Calibri" pitchFamily="34" charset="-122"/>
                <a:cs typeface="Calibri" pitchFamily="34" charset="-120"/>
              </a:rPr>
              <a:t>forensic summary</a:t>
            </a:r>
            <a:endParaRPr lang="en-US" sz="850" dirty="0"/>
          </a:p>
        </p:txBody>
      </p:sp>
      <p:sp>
        <p:nvSpPr>
          <p:cNvPr id="40" name="Shape 38"/>
          <p:cNvSpPr/>
          <p:nvPr/>
        </p:nvSpPr>
        <p:spPr>
          <a:xfrm>
            <a:off x="292608" y="4526280"/>
            <a:ext cx="8567928" cy="182880"/>
          </a:xfrm>
          <a:prstGeom prst="rect">
            <a:avLst/>
          </a:prstGeom>
          <a:solidFill>
            <a:srgbClr val="071828"/>
          </a:solidFill>
          <a:ln w="12700">
            <a:solidFill>
              <a:srgbClr val="0891B2"/>
            </a:solidFill>
            <a:prstDash val="solid"/>
          </a:ln>
          <a:effectLst>
            <a:outerShdw blurRad="101600" dist="38100" dir="2700000" algn="bl" rotWithShape="0">
              <a:srgbClr val="000000">
                <a:alpha val="25000"/>
              </a:srgbClr>
            </a:outerShdw>
          </a:effectLst>
        </p:spPr>
      </p:sp>
      <p:sp>
        <p:nvSpPr>
          <p:cNvPr id="41" name="Text 39"/>
          <p:cNvSpPr/>
          <p:nvPr/>
        </p:nvSpPr>
        <p:spPr>
          <a:xfrm>
            <a:off x="384048" y="4544568"/>
            <a:ext cx="8366760" cy="146304"/>
          </a:xfrm>
          <a:prstGeom prst="rect">
            <a:avLst/>
          </a:prstGeom>
          <a:noFill/>
          <a:ln/>
        </p:spPr>
        <p:txBody>
          <a:bodyPr wrap="square" lIns="0" tIns="0" rIns="0" bIns="0" rtlCol="0" anchor="ctr"/>
          <a:lstStyle/>
          <a:p>
            <a:pPr marL="0" indent="0" algn="ctr">
              <a:buNone/>
            </a:pPr>
            <a:r>
              <a:rPr lang="en-US" sz="900" i="1" dirty="0">
                <a:solidFill>
                  <a:srgbClr val="00D4FF"/>
                </a:solidFill>
                <a:latin typeface="Calibri" pitchFamily="34" charset="0"/>
                <a:ea typeface="Calibri" pitchFamily="34" charset="-122"/>
                <a:cs typeface="Calibri" pitchFamily="34" charset="-120"/>
              </a:rPr>
              <a:t>FedAvg Rule:  w_(t+1) = Σᵢ (nᵢ / n) · w_(t+1)ⁱ + N(0, σ²)   — where nᵢ = local samples, n = total samples, σ² = DP noise variance</a:t>
            </a:r>
            <a:endParaRPr lang="en-US" sz="900" dirty="0"/>
          </a:p>
        </p:txBody>
      </p:sp>
      <p:sp>
        <p:nvSpPr>
          <p:cNvPr id="42" name="Shape 40"/>
          <p:cNvSpPr/>
          <p:nvPr/>
        </p:nvSpPr>
        <p:spPr>
          <a:xfrm>
            <a:off x="0" y="4800600"/>
            <a:ext cx="9144000" cy="342900"/>
          </a:xfrm>
          <a:prstGeom prst="rect">
            <a:avLst/>
          </a:prstGeom>
          <a:solidFill>
            <a:srgbClr val="071020"/>
          </a:solidFill>
          <a:ln w="12700">
            <a:solidFill>
              <a:srgbClr val="071020"/>
            </a:solidFill>
            <a:prstDash val="solid"/>
          </a:ln>
        </p:spPr>
      </p:sp>
      <p:sp>
        <p:nvSpPr>
          <p:cNvPr id="43" name="Shape 41"/>
          <p:cNvSpPr/>
          <p:nvPr/>
        </p:nvSpPr>
        <p:spPr>
          <a:xfrm>
            <a:off x="0" y="4796028"/>
            <a:ext cx="9144000" cy="13716"/>
          </a:xfrm>
          <a:prstGeom prst="rect">
            <a:avLst/>
          </a:prstGeom>
          <a:solidFill>
            <a:srgbClr val="0891B2"/>
          </a:solidFill>
          <a:ln w="12700">
            <a:solidFill>
              <a:srgbClr val="0891B2"/>
            </a:solidFill>
            <a:prstDash val="solid"/>
          </a:ln>
        </p:spPr>
      </p:sp>
      <p:sp>
        <p:nvSpPr>
          <p:cNvPr id="44" name="Text 42"/>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45" name="Text 43"/>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Privacy Layer: Differential Privacy with Opacus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Formal Cryptographic Anonymity Guarantees on Gradient Updates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34290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6" name="Text 4"/>
          <p:cNvSpPr/>
          <p:nvPr/>
        </p:nvSpPr>
        <p:spPr>
          <a:xfrm>
            <a:off x="548640" y="1207008"/>
            <a:ext cx="3749040" cy="320040"/>
          </a:xfrm>
          <a:prstGeom prst="rect">
            <a:avLst/>
          </a:prstGeom>
          <a:noFill/>
          <a:ln/>
        </p:spPr>
        <p:txBody>
          <a:bodyPr wrap="square" lIns="0" tIns="0" rIns="0" bIns="0" rtlCol="0" anchor="ctr"/>
          <a:lstStyle/>
          <a:p>
            <a:pPr marL="0" indent="0" algn="l">
              <a:buNone/>
            </a:pPr>
            <a:r>
              <a:rPr lang="en-US" sz="1300" b="1" dirty="0">
                <a:solidFill>
                  <a:srgbClr val="00D4FF"/>
                </a:solidFill>
                <a:latin typeface="Calibri" pitchFamily="34" charset="0"/>
                <a:ea typeface="Calibri" pitchFamily="34" charset="-122"/>
                <a:cs typeface="Calibri" pitchFamily="34" charset="-120"/>
              </a:rPr>
              <a:t>How It Works</a:t>
            </a:r>
            <a:endParaRPr lang="en-US" sz="1300" dirty="0"/>
          </a:p>
        </p:txBody>
      </p:sp>
      <p:sp>
        <p:nvSpPr>
          <p:cNvPr id="7" name="Text 5"/>
          <p:cNvSpPr/>
          <p:nvPr/>
        </p:nvSpPr>
        <p:spPr>
          <a:xfrm>
            <a:off x="548640" y="1572768"/>
            <a:ext cx="3749040"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Each edge device trains its local model using PyTorch; gradients are computed per mini-batch</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Opacus library clips gradient norms to bound sensitivity: ‖g‖ ≤ C (clipping threshold)</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Calibrated Laplace or Gaussian noise N(0, σ²) is injected into clipped gradients before transmission</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Only the DP-perturbed gradient is dispatched to the Flower aggregation server — raw data &amp; original gradients never transmitted</a:t>
            </a:r>
            <a:endParaRPr lang="en-US" sz="1100" dirty="0"/>
          </a:p>
          <a:p>
            <a:pPr marL="342900" indent="-342900">
              <a:spcAft>
                <a:spcPts val="600"/>
              </a:spcAft>
              <a:buSzPct val="100000"/>
              <a:buChar char="•"/>
            </a:pPr>
            <a:r>
              <a:rPr lang="en-US" sz="1100" dirty="0">
                <a:solidFill>
                  <a:srgbClr val="E2E8F0"/>
                </a:solidFill>
                <a:latin typeface="Calibri" pitchFamily="34" charset="0"/>
                <a:ea typeface="Calibri" pitchFamily="34" charset="-122"/>
                <a:cs typeface="Calibri" pitchFamily="34" charset="-120"/>
              </a:rPr>
              <a:t>The aggregated global model maintains (ε, δ)-differential privacy guarantees across all participating nodes</a:t>
            </a:r>
            <a:endParaRPr lang="en-US" sz="1100" dirty="0"/>
          </a:p>
        </p:txBody>
      </p:sp>
      <p:sp>
        <p:nvSpPr>
          <p:cNvPr id="8" name="Shape 6"/>
          <p:cNvSpPr/>
          <p:nvPr/>
        </p:nvSpPr>
        <p:spPr>
          <a:xfrm>
            <a:off x="4526280" y="1143000"/>
            <a:ext cx="4206240" cy="3429000"/>
          </a:xfrm>
          <a:prstGeom prst="rect">
            <a:avLst/>
          </a:prstGeom>
          <a:solidFill>
            <a:srgbClr val="0A2010"/>
          </a:solidFill>
          <a:ln w="12700">
            <a:solidFill>
              <a:srgbClr val="10B981"/>
            </a:solidFill>
            <a:prstDash val="solid"/>
          </a:ln>
          <a:effectLst>
            <a:outerShdw blurRad="101600" dist="38100" dir="2700000" algn="bl" rotWithShape="0">
              <a:srgbClr val="000000">
                <a:alpha val="25000"/>
              </a:srgbClr>
            </a:outerShdw>
          </a:effectLst>
        </p:spPr>
      </p:sp>
      <p:sp>
        <p:nvSpPr>
          <p:cNvPr id="9" name="Text 7"/>
          <p:cNvSpPr/>
          <p:nvPr/>
        </p:nvSpPr>
        <p:spPr>
          <a:xfrm>
            <a:off x="4663440" y="1207008"/>
            <a:ext cx="3840480" cy="320040"/>
          </a:xfrm>
          <a:prstGeom prst="rect">
            <a:avLst/>
          </a:prstGeom>
          <a:noFill/>
          <a:ln/>
        </p:spPr>
        <p:txBody>
          <a:bodyPr wrap="square" lIns="0" tIns="0" rIns="0" bIns="0" rtlCol="0" anchor="ctr"/>
          <a:lstStyle/>
          <a:p>
            <a:pPr marL="0" indent="0" algn="l">
              <a:buNone/>
            </a:pPr>
            <a:r>
              <a:rPr lang="en-US" sz="1300" b="1" dirty="0">
                <a:solidFill>
                  <a:srgbClr val="10B981"/>
                </a:solidFill>
                <a:latin typeface="Calibri" pitchFamily="34" charset="0"/>
                <a:ea typeface="Calibri" pitchFamily="34" charset="-122"/>
                <a:cs typeface="Calibri" pitchFamily="34" charset="-120"/>
              </a:rPr>
              <a:t>DP Mechanism</a:t>
            </a:r>
            <a:endParaRPr lang="en-US" sz="1300" dirty="0"/>
          </a:p>
        </p:txBody>
      </p:sp>
      <p:sp>
        <p:nvSpPr>
          <p:cNvPr id="10" name="Shape 8"/>
          <p:cNvSpPr/>
          <p:nvPr/>
        </p:nvSpPr>
        <p:spPr>
          <a:xfrm>
            <a:off x="4663440" y="1627632"/>
            <a:ext cx="3858768" cy="594360"/>
          </a:xfrm>
          <a:prstGeom prst="rect">
            <a:avLst/>
          </a:prstGeom>
          <a:solidFill>
            <a:srgbClr val="0A280D"/>
          </a:solidFill>
          <a:ln w="12700">
            <a:solidFill>
              <a:srgbClr val="1E5F2A"/>
            </a:solidFill>
            <a:prstDash val="solid"/>
          </a:ln>
        </p:spPr>
      </p:sp>
      <p:sp>
        <p:nvSpPr>
          <p:cNvPr id="11" name="Text 9"/>
          <p:cNvSpPr/>
          <p:nvPr/>
        </p:nvSpPr>
        <p:spPr>
          <a:xfrm>
            <a:off x="4754880" y="1673352"/>
            <a:ext cx="3657600" cy="256032"/>
          </a:xfrm>
          <a:prstGeom prst="rect">
            <a:avLst/>
          </a:prstGeom>
          <a:noFill/>
          <a:ln/>
        </p:spPr>
        <p:txBody>
          <a:bodyPr wrap="square" lIns="0" tIns="0" rIns="0" bIns="0" rtlCol="0" anchor="ctr"/>
          <a:lstStyle/>
          <a:p>
            <a:pPr marL="0" indent="0" algn="l">
              <a:buNone/>
            </a:pPr>
            <a:r>
              <a:rPr lang="en-US" sz="1100" b="1" dirty="0">
                <a:solidFill>
                  <a:srgbClr val="94A3B8"/>
                </a:solidFill>
                <a:latin typeface="Calibri" pitchFamily="34" charset="0"/>
                <a:ea typeface="Calibri" pitchFamily="34" charset="-122"/>
                <a:cs typeface="Calibri" pitchFamily="34" charset="-120"/>
              </a:rPr>
              <a:t>Raw Gradient g</a:t>
            </a:r>
            <a:endParaRPr lang="en-US" sz="1100" dirty="0"/>
          </a:p>
        </p:txBody>
      </p:sp>
      <p:sp>
        <p:nvSpPr>
          <p:cNvPr id="12" name="Text 10"/>
          <p:cNvSpPr/>
          <p:nvPr/>
        </p:nvSpPr>
        <p:spPr>
          <a:xfrm>
            <a:off x="4754880" y="1929384"/>
            <a:ext cx="3657600" cy="22860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Computed from local loss</a:t>
            </a:r>
            <a:endParaRPr lang="en-US" sz="950" dirty="0"/>
          </a:p>
        </p:txBody>
      </p:sp>
      <p:sp>
        <p:nvSpPr>
          <p:cNvPr id="13" name="Shape 11"/>
          <p:cNvSpPr/>
          <p:nvPr/>
        </p:nvSpPr>
        <p:spPr>
          <a:xfrm>
            <a:off x="6473952" y="2221992"/>
            <a:ext cx="36576" cy="164592"/>
          </a:xfrm>
          <a:prstGeom prst="rect">
            <a:avLst/>
          </a:prstGeom>
          <a:solidFill>
            <a:srgbClr val="10B981"/>
          </a:solidFill>
          <a:ln w="12700">
            <a:solidFill>
              <a:srgbClr val="10B981"/>
            </a:solidFill>
            <a:prstDash val="solid"/>
          </a:ln>
        </p:spPr>
      </p:sp>
      <p:sp>
        <p:nvSpPr>
          <p:cNvPr id="14" name="Shape 12"/>
          <p:cNvSpPr/>
          <p:nvPr/>
        </p:nvSpPr>
        <p:spPr>
          <a:xfrm>
            <a:off x="4663440" y="2359152"/>
            <a:ext cx="3858768" cy="594360"/>
          </a:xfrm>
          <a:prstGeom prst="rect">
            <a:avLst/>
          </a:prstGeom>
          <a:solidFill>
            <a:srgbClr val="0A280D"/>
          </a:solidFill>
          <a:ln w="12700">
            <a:solidFill>
              <a:srgbClr val="1E5F2A"/>
            </a:solidFill>
            <a:prstDash val="solid"/>
          </a:ln>
        </p:spPr>
      </p:sp>
      <p:sp>
        <p:nvSpPr>
          <p:cNvPr id="15" name="Text 13"/>
          <p:cNvSpPr/>
          <p:nvPr/>
        </p:nvSpPr>
        <p:spPr>
          <a:xfrm>
            <a:off x="4754880" y="2404872"/>
            <a:ext cx="3657600" cy="256032"/>
          </a:xfrm>
          <a:prstGeom prst="rect">
            <a:avLst/>
          </a:prstGeom>
          <a:noFill/>
          <a:ln/>
        </p:spPr>
        <p:txBody>
          <a:bodyPr wrap="square" lIns="0" tIns="0" rIns="0" bIns="0" rtlCol="0" anchor="ctr"/>
          <a:lstStyle/>
          <a:p>
            <a:pPr marL="0" indent="0" algn="l">
              <a:buNone/>
            </a:pPr>
            <a:r>
              <a:rPr lang="en-US" sz="1100" b="1" dirty="0">
                <a:solidFill>
                  <a:srgbClr val="00D4FF"/>
                </a:solidFill>
                <a:latin typeface="Calibri" pitchFamily="34" charset="0"/>
                <a:ea typeface="Calibri" pitchFamily="34" charset="-122"/>
                <a:cs typeface="Calibri" pitchFamily="34" charset="-120"/>
              </a:rPr>
              <a:t>Gradient Clipping</a:t>
            </a:r>
            <a:endParaRPr lang="en-US" sz="1100" dirty="0"/>
          </a:p>
        </p:txBody>
      </p:sp>
      <p:sp>
        <p:nvSpPr>
          <p:cNvPr id="16" name="Text 14"/>
          <p:cNvSpPr/>
          <p:nvPr/>
        </p:nvSpPr>
        <p:spPr>
          <a:xfrm>
            <a:off x="4754880" y="2660904"/>
            <a:ext cx="3657600" cy="22860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Clip: g̃ = g · min(1, C/‖g‖)</a:t>
            </a:r>
            <a:endParaRPr lang="en-US" sz="950" dirty="0"/>
          </a:p>
        </p:txBody>
      </p:sp>
      <p:sp>
        <p:nvSpPr>
          <p:cNvPr id="17" name="Shape 15"/>
          <p:cNvSpPr/>
          <p:nvPr/>
        </p:nvSpPr>
        <p:spPr>
          <a:xfrm>
            <a:off x="6473952" y="2953512"/>
            <a:ext cx="36576" cy="164592"/>
          </a:xfrm>
          <a:prstGeom prst="rect">
            <a:avLst/>
          </a:prstGeom>
          <a:solidFill>
            <a:srgbClr val="10B981"/>
          </a:solidFill>
          <a:ln w="12700">
            <a:solidFill>
              <a:srgbClr val="10B981"/>
            </a:solidFill>
            <a:prstDash val="solid"/>
          </a:ln>
        </p:spPr>
      </p:sp>
      <p:sp>
        <p:nvSpPr>
          <p:cNvPr id="18" name="Shape 16"/>
          <p:cNvSpPr/>
          <p:nvPr/>
        </p:nvSpPr>
        <p:spPr>
          <a:xfrm>
            <a:off x="4663440" y="3090672"/>
            <a:ext cx="3858768" cy="594360"/>
          </a:xfrm>
          <a:prstGeom prst="rect">
            <a:avLst/>
          </a:prstGeom>
          <a:solidFill>
            <a:srgbClr val="0A280D"/>
          </a:solidFill>
          <a:ln w="12700">
            <a:solidFill>
              <a:srgbClr val="1E5F2A"/>
            </a:solidFill>
            <a:prstDash val="solid"/>
          </a:ln>
        </p:spPr>
      </p:sp>
      <p:sp>
        <p:nvSpPr>
          <p:cNvPr id="19" name="Text 17"/>
          <p:cNvSpPr/>
          <p:nvPr/>
        </p:nvSpPr>
        <p:spPr>
          <a:xfrm>
            <a:off x="4754880" y="3136392"/>
            <a:ext cx="3657600" cy="256032"/>
          </a:xfrm>
          <a:prstGeom prst="rect">
            <a:avLst/>
          </a:prstGeom>
          <a:noFill/>
          <a:ln/>
        </p:spPr>
        <p:txBody>
          <a:bodyPr wrap="square" lIns="0" tIns="0" rIns="0" bIns="0" rtlCol="0" anchor="ctr"/>
          <a:lstStyle/>
          <a:p>
            <a:pPr marL="0" indent="0" algn="l">
              <a:buNone/>
            </a:pPr>
            <a:r>
              <a:rPr lang="en-US" sz="1100" b="1" dirty="0">
                <a:solidFill>
                  <a:srgbClr val="06B6D4"/>
                </a:solidFill>
                <a:latin typeface="Calibri" pitchFamily="34" charset="0"/>
                <a:ea typeface="Calibri" pitchFamily="34" charset="-122"/>
                <a:cs typeface="Calibri" pitchFamily="34" charset="-120"/>
              </a:rPr>
              <a:t>Noise Addition</a:t>
            </a:r>
            <a:endParaRPr lang="en-US" sz="1100" dirty="0"/>
          </a:p>
        </p:txBody>
      </p:sp>
      <p:sp>
        <p:nvSpPr>
          <p:cNvPr id="20" name="Text 18"/>
          <p:cNvSpPr/>
          <p:nvPr/>
        </p:nvSpPr>
        <p:spPr>
          <a:xfrm>
            <a:off x="4754880" y="3392424"/>
            <a:ext cx="3657600" cy="22860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g_dp = g̃ + N(0, σ²C²·I)</a:t>
            </a:r>
            <a:endParaRPr lang="en-US" sz="950" dirty="0"/>
          </a:p>
        </p:txBody>
      </p:sp>
      <p:sp>
        <p:nvSpPr>
          <p:cNvPr id="21" name="Shape 19"/>
          <p:cNvSpPr/>
          <p:nvPr/>
        </p:nvSpPr>
        <p:spPr>
          <a:xfrm>
            <a:off x="6473952" y="3685032"/>
            <a:ext cx="36576" cy="164592"/>
          </a:xfrm>
          <a:prstGeom prst="rect">
            <a:avLst/>
          </a:prstGeom>
          <a:solidFill>
            <a:srgbClr val="10B981"/>
          </a:solidFill>
          <a:ln w="12700">
            <a:solidFill>
              <a:srgbClr val="10B981"/>
            </a:solidFill>
            <a:prstDash val="solid"/>
          </a:ln>
        </p:spPr>
      </p:sp>
      <p:sp>
        <p:nvSpPr>
          <p:cNvPr id="22" name="Shape 20"/>
          <p:cNvSpPr/>
          <p:nvPr/>
        </p:nvSpPr>
        <p:spPr>
          <a:xfrm>
            <a:off x="4663440" y="3822192"/>
            <a:ext cx="3858768" cy="594360"/>
          </a:xfrm>
          <a:prstGeom prst="rect">
            <a:avLst/>
          </a:prstGeom>
          <a:solidFill>
            <a:srgbClr val="0A280D"/>
          </a:solidFill>
          <a:ln w="12700">
            <a:solidFill>
              <a:srgbClr val="1E5F2A"/>
            </a:solidFill>
            <a:prstDash val="solid"/>
          </a:ln>
        </p:spPr>
      </p:sp>
      <p:sp>
        <p:nvSpPr>
          <p:cNvPr id="23" name="Text 21"/>
          <p:cNvSpPr/>
          <p:nvPr/>
        </p:nvSpPr>
        <p:spPr>
          <a:xfrm>
            <a:off x="4754880" y="3867912"/>
            <a:ext cx="3657600" cy="256032"/>
          </a:xfrm>
          <a:prstGeom prst="rect">
            <a:avLst/>
          </a:prstGeom>
          <a:noFill/>
          <a:ln/>
        </p:spPr>
        <p:txBody>
          <a:bodyPr wrap="square" lIns="0" tIns="0" rIns="0" bIns="0" rtlCol="0" anchor="ctr"/>
          <a:lstStyle/>
          <a:p>
            <a:pPr marL="0" indent="0" algn="l">
              <a:buNone/>
            </a:pPr>
            <a:r>
              <a:rPr lang="en-US" sz="1100" b="1" dirty="0">
                <a:solidFill>
                  <a:srgbClr val="10B981"/>
                </a:solidFill>
                <a:latin typeface="Calibri" pitchFamily="34" charset="0"/>
                <a:ea typeface="Calibri" pitchFamily="34" charset="-122"/>
                <a:cs typeface="Calibri" pitchFamily="34" charset="-120"/>
              </a:rPr>
              <a:t>DP-Protected Update</a:t>
            </a:r>
            <a:endParaRPr lang="en-US" sz="1100" dirty="0"/>
          </a:p>
        </p:txBody>
      </p:sp>
      <p:sp>
        <p:nvSpPr>
          <p:cNvPr id="24" name="Text 22"/>
          <p:cNvSpPr/>
          <p:nvPr/>
        </p:nvSpPr>
        <p:spPr>
          <a:xfrm>
            <a:off x="4754880" y="4123944"/>
            <a:ext cx="3657600" cy="22860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Transmitted to FL Server</a:t>
            </a:r>
            <a:endParaRPr lang="en-US" sz="950" dirty="0"/>
          </a:p>
        </p:txBody>
      </p:sp>
      <p:sp>
        <p:nvSpPr>
          <p:cNvPr id="25" name="Text 23"/>
          <p:cNvSpPr/>
          <p:nvPr/>
        </p:nvSpPr>
        <p:spPr>
          <a:xfrm>
            <a:off x="411480" y="4663440"/>
            <a:ext cx="8321040" cy="164592"/>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Privacy Budget: (ε, δ)  —  smaller ε = stronger privacy; Opacus tracks cumulative privacy budget automatically</a:t>
            </a:r>
            <a:endParaRPr lang="en-US" sz="900" dirty="0"/>
          </a:p>
        </p:txBody>
      </p:sp>
      <p:sp>
        <p:nvSpPr>
          <p:cNvPr id="26" name="Shape 24"/>
          <p:cNvSpPr/>
          <p:nvPr/>
        </p:nvSpPr>
        <p:spPr>
          <a:xfrm>
            <a:off x="0" y="4800600"/>
            <a:ext cx="9144000" cy="342900"/>
          </a:xfrm>
          <a:prstGeom prst="rect">
            <a:avLst/>
          </a:prstGeom>
          <a:solidFill>
            <a:srgbClr val="071020"/>
          </a:solidFill>
          <a:ln w="12700">
            <a:solidFill>
              <a:srgbClr val="071020"/>
            </a:solidFill>
            <a:prstDash val="solid"/>
          </a:ln>
        </p:spPr>
      </p:sp>
      <p:sp>
        <p:nvSpPr>
          <p:cNvPr id="27" name="Shape 25"/>
          <p:cNvSpPr/>
          <p:nvPr/>
        </p:nvSpPr>
        <p:spPr>
          <a:xfrm>
            <a:off x="0" y="4796028"/>
            <a:ext cx="9144000" cy="13716"/>
          </a:xfrm>
          <a:prstGeom prst="rect">
            <a:avLst/>
          </a:prstGeom>
          <a:solidFill>
            <a:srgbClr val="0891B2"/>
          </a:solidFill>
          <a:ln w="12700">
            <a:solidFill>
              <a:srgbClr val="0891B2"/>
            </a:solidFill>
            <a:prstDash val="solid"/>
          </a:ln>
        </p:spPr>
      </p:sp>
      <p:sp>
        <p:nvSpPr>
          <p:cNvPr id="28" name="Text 26"/>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9" name="Text 27"/>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Adversarial Threat Evaluation</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Attacking and Defending the Federated Learning Pipeline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8321040" cy="10515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6" name="Image 0" descr="preencoded.png"/>
          <p:cNvPicPr>
            <a:picLocks noChangeAspect="1"/>
          </p:cNvPicPr>
          <p:nvPr/>
        </p:nvPicPr>
        <p:blipFill>
          <a:blip r:embed="rId3"/>
          <a:stretch>
            <a:fillRect/>
          </a:stretch>
        </p:blipFill>
        <p:spPr>
          <a:xfrm>
            <a:off x="548640" y="1252728"/>
            <a:ext cx="457200" cy="457200"/>
          </a:xfrm>
          <a:prstGeom prst="rect">
            <a:avLst/>
          </a:prstGeom>
        </p:spPr>
      </p:pic>
      <p:sp>
        <p:nvSpPr>
          <p:cNvPr id="7" name="Text 4"/>
          <p:cNvSpPr/>
          <p:nvPr/>
        </p:nvSpPr>
        <p:spPr>
          <a:xfrm>
            <a:off x="1115568" y="1234440"/>
            <a:ext cx="6400800" cy="292608"/>
          </a:xfrm>
          <a:prstGeom prst="rect">
            <a:avLst/>
          </a:prstGeom>
          <a:noFill/>
          <a:ln/>
        </p:spPr>
        <p:txBody>
          <a:bodyPr wrap="square" lIns="0" tIns="0" rIns="0" bIns="0" rtlCol="0" anchor="ctr"/>
          <a:lstStyle/>
          <a:p>
            <a:pPr marL="0" indent="0" algn="l">
              <a:buNone/>
            </a:pPr>
            <a:r>
              <a:rPr lang="en-US" sz="1250" b="1" dirty="0">
                <a:solidFill>
                  <a:srgbClr val="EF4444"/>
                </a:solidFill>
                <a:latin typeface="Calibri" pitchFamily="34" charset="0"/>
                <a:ea typeface="Calibri" pitchFamily="34" charset="-122"/>
                <a:cs typeface="Calibri" pitchFamily="34" charset="-120"/>
              </a:rPr>
              <a:t>Data Poisoning Attack</a:t>
            </a:r>
            <a:endParaRPr lang="en-US" sz="1250" dirty="0"/>
          </a:p>
        </p:txBody>
      </p:sp>
      <p:sp>
        <p:nvSpPr>
          <p:cNvPr id="8" name="Text 5"/>
          <p:cNvSpPr/>
          <p:nvPr/>
        </p:nvSpPr>
        <p:spPr>
          <a:xfrm>
            <a:off x="1115568" y="1527048"/>
            <a:ext cx="6995160" cy="283464"/>
          </a:xfrm>
          <a:prstGeom prst="rect">
            <a:avLst/>
          </a:prstGeom>
          <a:noFill/>
          <a:ln/>
        </p:spPr>
        <p:txBody>
          <a:bodyPr wrap="square" lIns="0" tIns="0" rIns="0" bIns="0" rtlCol="0" anchor="ctr"/>
          <a:lstStyle/>
          <a:p>
            <a:pPr marL="0" indent="0" algn="l">
              <a:buNone/>
            </a:pPr>
            <a:r>
              <a:rPr lang="en-US" sz="1000" dirty="0">
                <a:solidFill>
                  <a:srgbClr val="E2E8F0"/>
                </a:solidFill>
                <a:latin typeface="Calibri" pitchFamily="34" charset="0"/>
                <a:ea typeface="Calibri" pitchFamily="34" charset="-122"/>
                <a:cs typeface="Calibri" pitchFamily="34" charset="-120"/>
              </a:rPr>
              <a:t>⚠ Attack: Malicious nodes inject corrupted model parameters into the global aggregation pipeline, causing systemic classification decay</a:t>
            </a:r>
            <a:endParaRPr lang="en-US" sz="1000" dirty="0"/>
          </a:p>
        </p:txBody>
      </p:sp>
      <p:sp>
        <p:nvSpPr>
          <p:cNvPr id="9" name="Text 6"/>
          <p:cNvSpPr/>
          <p:nvPr/>
        </p:nvSpPr>
        <p:spPr>
          <a:xfrm>
            <a:off x="1115568" y="1810512"/>
            <a:ext cx="6995160" cy="283464"/>
          </a:xfrm>
          <a:prstGeom prst="rect">
            <a:avLst/>
          </a:prstGeom>
          <a:noFill/>
          <a:ln/>
        </p:spPr>
        <p:txBody>
          <a:bodyPr wrap="square" lIns="0" tIns="0" rIns="0" bIns="0" rtlCol="0" anchor="ctr"/>
          <a:lstStyle/>
          <a:p>
            <a:pPr marL="0" indent="0" algn="l">
              <a:buNone/>
            </a:pPr>
            <a:r>
              <a:rPr lang="en-US" sz="1000" dirty="0">
                <a:solidFill>
                  <a:srgbClr val="10B981"/>
                </a:solidFill>
                <a:latin typeface="Calibri" pitchFamily="34" charset="0"/>
                <a:ea typeface="Calibri" pitchFamily="34" charset="-122"/>
                <a:cs typeface="Calibri" pitchFamily="34" charset="-120"/>
              </a:rPr>
              <a:t>✓ Defense: Euclidean distance metric validation: parameter vectors deviating beyond σ-boundary thresholds are quarantined and dropped</a:t>
            </a:r>
            <a:endParaRPr lang="en-US" sz="1000" dirty="0"/>
          </a:p>
        </p:txBody>
      </p:sp>
      <p:sp>
        <p:nvSpPr>
          <p:cNvPr id="10" name="Shape 7"/>
          <p:cNvSpPr/>
          <p:nvPr/>
        </p:nvSpPr>
        <p:spPr>
          <a:xfrm>
            <a:off x="411480" y="2304288"/>
            <a:ext cx="8321040" cy="10515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1" name="Image 1" descr="preencoded.png"/>
          <p:cNvPicPr>
            <a:picLocks noChangeAspect="1"/>
          </p:cNvPicPr>
          <p:nvPr/>
        </p:nvPicPr>
        <p:blipFill>
          <a:blip r:embed="rId4"/>
          <a:stretch>
            <a:fillRect/>
          </a:stretch>
        </p:blipFill>
        <p:spPr>
          <a:xfrm>
            <a:off x="548640" y="2414016"/>
            <a:ext cx="457200" cy="457200"/>
          </a:xfrm>
          <a:prstGeom prst="rect">
            <a:avLst/>
          </a:prstGeom>
        </p:spPr>
      </p:pic>
      <p:sp>
        <p:nvSpPr>
          <p:cNvPr id="12" name="Text 8"/>
          <p:cNvSpPr/>
          <p:nvPr/>
        </p:nvSpPr>
        <p:spPr>
          <a:xfrm>
            <a:off x="1115568" y="2395728"/>
            <a:ext cx="6400800" cy="292608"/>
          </a:xfrm>
          <a:prstGeom prst="rect">
            <a:avLst/>
          </a:prstGeom>
          <a:noFill/>
          <a:ln/>
        </p:spPr>
        <p:txBody>
          <a:bodyPr wrap="square" lIns="0" tIns="0" rIns="0" bIns="0" rtlCol="0" anchor="ctr"/>
          <a:lstStyle/>
          <a:p>
            <a:pPr marL="0" indent="0" algn="l">
              <a:buNone/>
            </a:pPr>
            <a:r>
              <a:rPr lang="en-US" sz="1250" b="1" dirty="0">
                <a:solidFill>
                  <a:srgbClr val="F59E0B"/>
                </a:solidFill>
                <a:latin typeface="Calibri" pitchFamily="34" charset="0"/>
                <a:ea typeface="Calibri" pitchFamily="34" charset="-122"/>
                <a:cs typeface="Calibri" pitchFamily="34" charset="-120"/>
              </a:rPr>
              <a:t>Free-Rider Exploitation</a:t>
            </a:r>
            <a:endParaRPr lang="en-US" sz="1250" dirty="0"/>
          </a:p>
        </p:txBody>
      </p:sp>
      <p:sp>
        <p:nvSpPr>
          <p:cNvPr id="13" name="Text 9"/>
          <p:cNvSpPr/>
          <p:nvPr/>
        </p:nvSpPr>
        <p:spPr>
          <a:xfrm>
            <a:off x="1115568" y="2688336"/>
            <a:ext cx="6995160" cy="283464"/>
          </a:xfrm>
          <a:prstGeom prst="rect">
            <a:avLst/>
          </a:prstGeom>
          <a:noFill/>
          <a:ln/>
        </p:spPr>
        <p:txBody>
          <a:bodyPr wrap="square" lIns="0" tIns="0" rIns="0" bIns="0" rtlCol="0" anchor="ctr"/>
          <a:lstStyle/>
          <a:p>
            <a:pPr marL="0" indent="0" algn="l">
              <a:buNone/>
            </a:pPr>
            <a:r>
              <a:rPr lang="en-US" sz="1000" dirty="0">
                <a:solidFill>
                  <a:srgbClr val="E2E8F0"/>
                </a:solidFill>
                <a:latin typeface="Calibri" pitchFamily="34" charset="0"/>
                <a:ea typeface="Calibri" pitchFamily="34" charset="-122"/>
                <a:cs typeface="Calibri" pitchFamily="34" charset="-120"/>
              </a:rPr>
              <a:t>⚠ Attack: Rogue nodes receive global model intelligence updates without contributing any local compute or gradient submissions</a:t>
            </a:r>
            <a:endParaRPr lang="en-US" sz="1000" dirty="0"/>
          </a:p>
        </p:txBody>
      </p:sp>
      <p:sp>
        <p:nvSpPr>
          <p:cNvPr id="14" name="Text 10"/>
          <p:cNvSpPr/>
          <p:nvPr/>
        </p:nvSpPr>
        <p:spPr>
          <a:xfrm>
            <a:off x="1115568" y="2971800"/>
            <a:ext cx="6995160" cy="283464"/>
          </a:xfrm>
          <a:prstGeom prst="rect">
            <a:avLst/>
          </a:prstGeom>
          <a:noFill/>
          <a:ln/>
        </p:spPr>
        <p:txBody>
          <a:bodyPr wrap="square" lIns="0" tIns="0" rIns="0" bIns="0" rtlCol="0" anchor="ctr"/>
          <a:lstStyle/>
          <a:p>
            <a:pPr marL="0" indent="0" algn="l">
              <a:buNone/>
            </a:pPr>
            <a:r>
              <a:rPr lang="en-US" sz="1000" dirty="0">
                <a:solidFill>
                  <a:srgbClr val="10B981"/>
                </a:solidFill>
                <a:latin typeface="Calibri" pitchFamily="34" charset="0"/>
                <a:ea typeface="Calibri" pitchFamily="34" charset="-122"/>
                <a:cs typeface="Calibri" pitchFamily="34" charset="-120"/>
              </a:rPr>
              <a:t>✓ Defense: Peer-to-peer reputation scoring index tracks participation history; nodes with zero contribution are blacklisted from aggregation</a:t>
            </a:r>
            <a:endParaRPr lang="en-US" sz="1000" dirty="0"/>
          </a:p>
        </p:txBody>
      </p:sp>
      <p:sp>
        <p:nvSpPr>
          <p:cNvPr id="15" name="Shape 11"/>
          <p:cNvSpPr/>
          <p:nvPr/>
        </p:nvSpPr>
        <p:spPr>
          <a:xfrm>
            <a:off x="411480" y="3465576"/>
            <a:ext cx="8321040" cy="10515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pic>
        <p:nvPicPr>
          <p:cNvPr id="16" name="Image 2" descr="preencoded.png"/>
          <p:cNvPicPr>
            <a:picLocks noChangeAspect="1"/>
          </p:cNvPicPr>
          <p:nvPr/>
        </p:nvPicPr>
        <p:blipFill>
          <a:blip r:embed="rId5"/>
          <a:stretch>
            <a:fillRect/>
          </a:stretch>
        </p:blipFill>
        <p:spPr>
          <a:xfrm>
            <a:off x="548640" y="3575304"/>
            <a:ext cx="457200" cy="457200"/>
          </a:xfrm>
          <a:prstGeom prst="rect">
            <a:avLst/>
          </a:prstGeom>
        </p:spPr>
      </p:pic>
      <p:sp>
        <p:nvSpPr>
          <p:cNvPr id="17" name="Text 12"/>
          <p:cNvSpPr/>
          <p:nvPr/>
        </p:nvSpPr>
        <p:spPr>
          <a:xfrm>
            <a:off x="1115568" y="3557016"/>
            <a:ext cx="6400800" cy="292608"/>
          </a:xfrm>
          <a:prstGeom prst="rect">
            <a:avLst/>
          </a:prstGeom>
          <a:noFill/>
          <a:ln/>
        </p:spPr>
        <p:txBody>
          <a:bodyPr wrap="square" lIns="0" tIns="0" rIns="0" bIns="0" rtlCol="0" anchor="ctr"/>
          <a:lstStyle/>
          <a:p>
            <a:pPr marL="0" indent="0" algn="l">
              <a:buNone/>
            </a:pPr>
            <a:r>
              <a:rPr lang="en-US" sz="1250" b="1" dirty="0">
                <a:solidFill>
                  <a:srgbClr val="A78BFA"/>
                </a:solidFill>
                <a:latin typeface="Calibri" pitchFamily="34" charset="0"/>
                <a:ea typeface="Calibri" pitchFamily="34" charset="-122"/>
                <a:cs typeface="Calibri" pitchFamily="34" charset="-120"/>
              </a:rPr>
              <a:t>Gradient Inference Attack</a:t>
            </a:r>
            <a:endParaRPr lang="en-US" sz="1250" dirty="0"/>
          </a:p>
        </p:txBody>
      </p:sp>
      <p:sp>
        <p:nvSpPr>
          <p:cNvPr id="18" name="Text 13"/>
          <p:cNvSpPr/>
          <p:nvPr/>
        </p:nvSpPr>
        <p:spPr>
          <a:xfrm>
            <a:off x="1115568" y="3849624"/>
            <a:ext cx="6995160" cy="283464"/>
          </a:xfrm>
          <a:prstGeom prst="rect">
            <a:avLst/>
          </a:prstGeom>
          <a:noFill/>
          <a:ln/>
        </p:spPr>
        <p:txBody>
          <a:bodyPr wrap="square" lIns="0" tIns="0" rIns="0" bIns="0" rtlCol="0" anchor="ctr"/>
          <a:lstStyle/>
          <a:p>
            <a:pPr marL="0" indent="0" algn="l">
              <a:buNone/>
            </a:pPr>
            <a:r>
              <a:rPr lang="en-US" sz="1000" dirty="0">
                <a:solidFill>
                  <a:srgbClr val="E2E8F0"/>
                </a:solidFill>
                <a:latin typeface="Calibri" pitchFamily="34" charset="0"/>
                <a:ea typeface="Calibri" pitchFamily="34" charset="-122"/>
                <a:cs typeface="Calibri" pitchFamily="34" charset="-120"/>
              </a:rPr>
              <a:t>⚠ Attack: Adversary intercepts and reverse-engineers mathematical gradient updates to reconstruct private local training data</a:t>
            </a:r>
            <a:endParaRPr lang="en-US" sz="1000" dirty="0"/>
          </a:p>
        </p:txBody>
      </p:sp>
      <p:sp>
        <p:nvSpPr>
          <p:cNvPr id="19" name="Text 14"/>
          <p:cNvSpPr/>
          <p:nvPr/>
        </p:nvSpPr>
        <p:spPr>
          <a:xfrm>
            <a:off x="1115568" y="4133088"/>
            <a:ext cx="6995160" cy="283464"/>
          </a:xfrm>
          <a:prstGeom prst="rect">
            <a:avLst/>
          </a:prstGeom>
          <a:noFill/>
          <a:ln/>
        </p:spPr>
        <p:txBody>
          <a:bodyPr wrap="square" lIns="0" tIns="0" rIns="0" bIns="0" rtlCol="0" anchor="ctr"/>
          <a:lstStyle/>
          <a:p>
            <a:pPr marL="0" indent="0" algn="l">
              <a:buNone/>
            </a:pPr>
            <a:r>
              <a:rPr lang="en-US" sz="1000" dirty="0">
                <a:solidFill>
                  <a:srgbClr val="10B981"/>
                </a:solidFill>
                <a:latin typeface="Calibri" pitchFamily="34" charset="0"/>
                <a:ea typeface="Calibri" pitchFamily="34" charset="-122"/>
                <a:cs typeface="Calibri" pitchFamily="34" charset="-120"/>
              </a:rPr>
              <a:t>✓ Defense: DP noise injection renders gradient reconstruction mathematically infeasible; formal (ε, δ) bounds limit information leakage</a:t>
            </a:r>
            <a:endParaRPr lang="en-US" sz="1000" dirty="0"/>
          </a:p>
        </p:txBody>
      </p:sp>
      <p:sp>
        <p:nvSpPr>
          <p:cNvPr id="20" name="Text 15"/>
          <p:cNvSpPr/>
          <p:nvPr/>
        </p:nvSpPr>
        <p:spPr>
          <a:xfrm>
            <a:off x="411480" y="4645152"/>
            <a:ext cx="8321040" cy="164592"/>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Adversarial simulation uses Scapy-generated malicious traffic + injected rogue client nodes — evaluated against Euclidean distance filters &amp; DP budget bounds</a:t>
            </a:r>
            <a:endParaRPr lang="en-US" sz="850" dirty="0"/>
          </a:p>
        </p:txBody>
      </p:sp>
      <p:sp>
        <p:nvSpPr>
          <p:cNvPr id="21" name="Shape 16"/>
          <p:cNvSpPr/>
          <p:nvPr/>
        </p:nvSpPr>
        <p:spPr>
          <a:xfrm>
            <a:off x="0" y="4800600"/>
            <a:ext cx="9144000" cy="342900"/>
          </a:xfrm>
          <a:prstGeom prst="rect">
            <a:avLst/>
          </a:prstGeom>
          <a:solidFill>
            <a:srgbClr val="071020"/>
          </a:solidFill>
          <a:ln w="12700">
            <a:solidFill>
              <a:srgbClr val="071020"/>
            </a:solidFill>
            <a:prstDash val="solid"/>
          </a:ln>
        </p:spPr>
      </p:sp>
      <p:sp>
        <p:nvSpPr>
          <p:cNvPr id="22" name="Shape 17"/>
          <p:cNvSpPr/>
          <p:nvPr/>
        </p:nvSpPr>
        <p:spPr>
          <a:xfrm>
            <a:off x="0" y="4796028"/>
            <a:ext cx="9144000" cy="13716"/>
          </a:xfrm>
          <a:prstGeom prst="rect">
            <a:avLst/>
          </a:prstGeom>
          <a:solidFill>
            <a:srgbClr val="0891B2"/>
          </a:solidFill>
          <a:ln w="12700">
            <a:solidFill>
              <a:srgbClr val="0891B2"/>
            </a:solidFill>
            <a:prstDash val="solid"/>
          </a:ln>
        </p:spPr>
      </p:sp>
      <p:sp>
        <p:nvSpPr>
          <p:cNvPr id="23" name="Text 18"/>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4" name="Text 19"/>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Tools &amp; Technologies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Full-Stack Edge-to-Cloud Technology Architecture</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3977640" cy="1572768"/>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6" name="Shape 4"/>
          <p:cNvSpPr/>
          <p:nvPr/>
        </p:nvSpPr>
        <p:spPr>
          <a:xfrm>
            <a:off x="411480" y="1143000"/>
            <a:ext cx="3977640" cy="347472"/>
          </a:xfrm>
          <a:prstGeom prst="rect">
            <a:avLst/>
          </a:prstGeom>
          <a:solidFill>
            <a:srgbClr val="0891B2">
              <a:alpha val="25000"/>
            </a:srgbClr>
          </a:solidFill>
          <a:ln w="12700">
            <a:solidFill>
              <a:srgbClr val="0891B2"/>
            </a:solidFill>
            <a:prstDash val="solid"/>
          </a:ln>
        </p:spPr>
      </p:sp>
      <p:sp>
        <p:nvSpPr>
          <p:cNvPr id="7" name="Text 5"/>
          <p:cNvSpPr/>
          <p:nvPr/>
        </p:nvSpPr>
        <p:spPr>
          <a:xfrm>
            <a:off x="548640" y="1179576"/>
            <a:ext cx="3749040" cy="27432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Hardware Layer</a:t>
            </a:r>
            <a:endParaRPr lang="en-US" sz="1150" dirty="0"/>
          </a:p>
        </p:txBody>
      </p:sp>
      <p:sp>
        <p:nvSpPr>
          <p:cNvPr id="8" name="Text 6"/>
          <p:cNvSpPr/>
          <p:nvPr/>
        </p:nvSpPr>
        <p:spPr>
          <a:xfrm>
            <a:off x="548640" y="153619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Raspberry Pi 4 (ARM Cortex-A72)</a:t>
            </a:r>
            <a:endParaRPr lang="en-US" sz="1050" dirty="0"/>
          </a:p>
        </p:txBody>
      </p:sp>
      <p:sp>
        <p:nvSpPr>
          <p:cNvPr id="9" name="Text 7"/>
          <p:cNvSpPr/>
          <p:nvPr/>
        </p:nvSpPr>
        <p:spPr>
          <a:xfrm>
            <a:off x="548640" y="181051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ESP32 NodeMCU (Tensilica)</a:t>
            </a:r>
            <a:endParaRPr lang="en-US" sz="1050" dirty="0"/>
          </a:p>
        </p:txBody>
      </p:sp>
      <p:sp>
        <p:nvSpPr>
          <p:cNvPr id="10" name="Text 8"/>
          <p:cNvSpPr/>
          <p:nvPr/>
        </p:nvSpPr>
        <p:spPr>
          <a:xfrm>
            <a:off x="548640" y="208483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DHT11 Sensors + PIR Motion</a:t>
            </a:r>
            <a:endParaRPr lang="en-US" sz="1050" dirty="0"/>
          </a:p>
        </p:txBody>
      </p:sp>
      <p:sp>
        <p:nvSpPr>
          <p:cNvPr id="11" name="Text 9"/>
          <p:cNvSpPr/>
          <p:nvPr/>
        </p:nvSpPr>
        <p:spPr>
          <a:xfrm>
            <a:off x="548640" y="235915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Ethernet Hub Infrastructure</a:t>
            </a:r>
            <a:endParaRPr lang="en-US" sz="1050" dirty="0"/>
          </a:p>
        </p:txBody>
      </p:sp>
      <p:sp>
        <p:nvSpPr>
          <p:cNvPr id="12" name="Shape 10"/>
          <p:cNvSpPr/>
          <p:nvPr/>
        </p:nvSpPr>
        <p:spPr>
          <a:xfrm>
            <a:off x="4663440" y="1143000"/>
            <a:ext cx="3977640" cy="1572768"/>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3" name="Shape 11"/>
          <p:cNvSpPr/>
          <p:nvPr/>
        </p:nvSpPr>
        <p:spPr>
          <a:xfrm>
            <a:off x="4663440" y="1143000"/>
            <a:ext cx="3977640" cy="347472"/>
          </a:xfrm>
          <a:prstGeom prst="rect">
            <a:avLst/>
          </a:prstGeom>
          <a:solidFill>
            <a:srgbClr val="00D4FF">
              <a:alpha val="25000"/>
            </a:srgbClr>
          </a:solidFill>
          <a:ln w="12700">
            <a:solidFill>
              <a:srgbClr val="00D4FF"/>
            </a:solidFill>
            <a:prstDash val="solid"/>
          </a:ln>
        </p:spPr>
      </p:sp>
      <p:sp>
        <p:nvSpPr>
          <p:cNvPr id="14" name="Text 12"/>
          <p:cNvSpPr/>
          <p:nvPr/>
        </p:nvSpPr>
        <p:spPr>
          <a:xfrm>
            <a:off x="4800600" y="1179576"/>
            <a:ext cx="3749040" cy="27432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ML &amp; Privacy</a:t>
            </a:r>
            <a:endParaRPr lang="en-US" sz="1150" dirty="0"/>
          </a:p>
        </p:txBody>
      </p:sp>
      <p:sp>
        <p:nvSpPr>
          <p:cNvPr id="15" name="Text 13"/>
          <p:cNvSpPr/>
          <p:nvPr/>
        </p:nvSpPr>
        <p:spPr>
          <a:xfrm>
            <a:off x="4800600" y="153619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PyTorch + PyTorch Lightning</a:t>
            </a:r>
            <a:endParaRPr lang="en-US" sz="1050" dirty="0"/>
          </a:p>
        </p:txBody>
      </p:sp>
      <p:sp>
        <p:nvSpPr>
          <p:cNvPr id="16" name="Text 14"/>
          <p:cNvSpPr/>
          <p:nvPr/>
        </p:nvSpPr>
        <p:spPr>
          <a:xfrm>
            <a:off x="4800600" y="181051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Flower (flwr) FL Framework</a:t>
            </a:r>
            <a:endParaRPr lang="en-US" sz="1050" dirty="0"/>
          </a:p>
        </p:txBody>
      </p:sp>
      <p:sp>
        <p:nvSpPr>
          <p:cNvPr id="17" name="Text 15"/>
          <p:cNvSpPr/>
          <p:nvPr/>
        </p:nvSpPr>
        <p:spPr>
          <a:xfrm>
            <a:off x="4800600" y="208483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Opacus (DP Engine)</a:t>
            </a:r>
            <a:endParaRPr lang="en-US" sz="1050" dirty="0"/>
          </a:p>
        </p:txBody>
      </p:sp>
      <p:sp>
        <p:nvSpPr>
          <p:cNvPr id="18" name="Text 16"/>
          <p:cNvSpPr/>
          <p:nvPr/>
        </p:nvSpPr>
        <p:spPr>
          <a:xfrm>
            <a:off x="4800600" y="235915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Scikit-Learn Classifiers</a:t>
            </a:r>
            <a:endParaRPr lang="en-US" sz="1050" dirty="0"/>
          </a:p>
        </p:txBody>
      </p:sp>
      <p:sp>
        <p:nvSpPr>
          <p:cNvPr id="19" name="Shape 17"/>
          <p:cNvSpPr/>
          <p:nvPr/>
        </p:nvSpPr>
        <p:spPr>
          <a:xfrm>
            <a:off x="411480" y="2880360"/>
            <a:ext cx="3977640" cy="1572768"/>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20" name="Shape 18"/>
          <p:cNvSpPr/>
          <p:nvPr/>
        </p:nvSpPr>
        <p:spPr>
          <a:xfrm>
            <a:off x="411480" y="2880360"/>
            <a:ext cx="3977640" cy="347472"/>
          </a:xfrm>
          <a:prstGeom prst="rect">
            <a:avLst/>
          </a:prstGeom>
          <a:solidFill>
            <a:srgbClr val="10B981">
              <a:alpha val="25000"/>
            </a:srgbClr>
          </a:solidFill>
          <a:ln w="12700">
            <a:solidFill>
              <a:srgbClr val="10B981"/>
            </a:solidFill>
            <a:prstDash val="solid"/>
          </a:ln>
        </p:spPr>
      </p:sp>
      <p:sp>
        <p:nvSpPr>
          <p:cNvPr id="21" name="Text 19"/>
          <p:cNvSpPr/>
          <p:nvPr/>
        </p:nvSpPr>
        <p:spPr>
          <a:xfrm>
            <a:off x="548640" y="2916936"/>
            <a:ext cx="3749040" cy="27432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Backend &amp; Data</a:t>
            </a:r>
            <a:endParaRPr lang="en-US" sz="1150" dirty="0"/>
          </a:p>
        </p:txBody>
      </p:sp>
      <p:sp>
        <p:nvSpPr>
          <p:cNvPr id="22" name="Text 20"/>
          <p:cNvSpPr/>
          <p:nvPr/>
        </p:nvSpPr>
        <p:spPr>
          <a:xfrm>
            <a:off x="548640" y="327355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FastAPI (Async)</a:t>
            </a:r>
            <a:endParaRPr lang="en-US" sz="1050" dirty="0"/>
          </a:p>
        </p:txBody>
      </p:sp>
      <p:sp>
        <p:nvSpPr>
          <p:cNvPr id="23" name="Text 21"/>
          <p:cNvSpPr/>
          <p:nvPr/>
        </p:nvSpPr>
        <p:spPr>
          <a:xfrm>
            <a:off x="548640" y="354787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PostgreSQL + InfluxDB</a:t>
            </a:r>
            <a:endParaRPr lang="en-US" sz="1050" dirty="0"/>
          </a:p>
        </p:txBody>
      </p:sp>
      <p:sp>
        <p:nvSpPr>
          <p:cNvPr id="24" name="Text 22"/>
          <p:cNvSpPr/>
          <p:nvPr/>
        </p:nvSpPr>
        <p:spPr>
          <a:xfrm>
            <a:off x="548640" y="382219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Redis Cache + Docker</a:t>
            </a:r>
            <a:endParaRPr lang="en-US" sz="1050" dirty="0"/>
          </a:p>
        </p:txBody>
      </p:sp>
      <p:sp>
        <p:nvSpPr>
          <p:cNvPr id="25" name="Text 23"/>
          <p:cNvSpPr/>
          <p:nvPr/>
        </p:nvSpPr>
        <p:spPr>
          <a:xfrm>
            <a:off x="548640" y="409651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Mosquitto MQTT Broker</a:t>
            </a:r>
            <a:endParaRPr lang="en-US" sz="1050" dirty="0"/>
          </a:p>
        </p:txBody>
      </p:sp>
      <p:sp>
        <p:nvSpPr>
          <p:cNvPr id="26" name="Shape 24"/>
          <p:cNvSpPr/>
          <p:nvPr/>
        </p:nvSpPr>
        <p:spPr>
          <a:xfrm>
            <a:off x="4663440" y="2880360"/>
            <a:ext cx="3977640" cy="1572768"/>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27" name="Shape 25"/>
          <p:cNvSpPr/>
          <p:nvPr/>
        </p:nvSpPr>
        <p:spPr>
          <a:xfrm>
            <a:off x="4663440" y="2880360"/>
            <a:ext cx="3977640" cy="347472"/>
          </a:xfrm>
          <a:prstGeom prst="rect">
            <a:avLst/>
          </a:prstGeom>
          <a:solidFill>
            <a:srgbClr val="F59E0B">
              <a:alpha val="25000"/>
            </a:srgbClr>
          </a:solidFill>
          <a:ln w="12700">
            <a:solidFill>
              <a:srgbClr val="F59E0B"/>
            </a:solidFill>
            <a:prstDash val="solid"/>
          </a:ln>
        </p:spPr>
      </p:sp>
      <p:sp>
        <p:nvSpPr>
          <p:cNvPr id="28" name="Text 26"/>
          <p:cNvSpPr/>
          <p:nvPr/>
        </p:nvSpPr>
        <p:spPr>
          <a:xfrm>
            <a:off x="4800600" y="2916936"/>
            <a:ext cx="3749040" cy="274320"/>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Frontend &amp; Intelligence</a:t>
            </a:r>
            <a:endParaRPr lang="en-US" sz="1150" dirty="0"/>
          </a:p>
        </p:txBody>
      </p:sp>
      <p:sp>
        <p:nvSpPr>
          <p:cNvPr id="29" name="Text 27"/>
          <p:cNvSpPr/>
          <p:nvPr/>
        </p:nvSpPr>
        <p:spPr>
          <a:xfrm>
            <a:off x="4800600" y="327355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React.js + Tailwind CSS</a:t>
            </a:r>
            <a:endParaRPr lang="en-US" sz="1050" dirty="0"/>
          </a:p>
        </p:txBody>
      </p:sp>
      <p:sp>
        <p:nvSpPr>
          <p:cNvPr id="30" name="Text 28"/>
          <p:cNvSpPr/>
          <p:nvPr/>
        </p:nvSpPr>
        <p:spPr>
          <a:xfrm>
            <a:off x="4800600" y="354787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D3.js + Recharts Topology</a:t>
            </a:r>
            <a:endParaRPr lang="en-US" sz="1050" dirty="0"/>
          </a:p>
        </p:txBody>
      </p:sp>
      <p:sp>
        <p:nvSpPr>
          <p:cNvPr id="31" name="Text 29"/>
          <p:cNvSpPr/>
          <p:nvPr/>
        </p:nvSpPr>
        <p:spPr>
          <a:xfrm>
            <a:off x="4800600" y="382219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WebSockets Protocol</a:t>
            </a:r>
            <a:endParaRPr lang="en-US" sz="1050" dirty="0"/>
          </a:p>
        </p:txBody>
      </p:sp>
      <p:sp>
        <p:nvSpPr>
          <p:cNvPr id="32" name="Text 30"/>
          <p:cNvSpPr/>
          <p:nvPr/>
        </p:nvSpPr>
        <p:spPr>
          <a:xfrm>
            <a:off x="4800600" y="4096512"/>
            <a:ext cx="3730752" cy="246888"/>
          </a:xfrm>
          <a:prstGeom prst="rect">
            <a:avLst/>
          </a:prstGeom>
          <a:noFill/>
          <a:ln/>
        </p:spPr>
        <p:txBody>
          <a:bodyPr wrap="square" lIns="0" tIns="0" rIns="0" bIns="0" rtlCol="0" anchor="ctr"/>
          <a:lstStyle/>
          <a:p>
            <a:pPr marL="0" indent="0" algn="l">
              <a:buNone/>
            </a:pPr>
            <a:r>
              <a:rPr lang="en-US" sz="1050" dirty="0">
                <a:solidFill>
                  <a:srgbClr val="E2E8F0"/>
                </a:solidFill>
                <a:latin typeface="Calibri" pitchFamily="34" charset="0"/>
                <a:ea typeface="Calibri" pitchFamily="34" charset="-122"/>
                <a:cs typeface="Calibri" pitchFamily="34" charset="-120"/>
              </a:rPr>
              <a:t>▸  Anthropic Claude API</a:t>
            </a:r>
            <a:endParaRPr lang="en-US" sz="1050" dirty="0"/>
          </a:p>
        </p:txBody>
      </p:sp>
      <p:sp>
        <p:nvSpPr>
          <p:cNvPr id="33" name="Text 31"/>
          <p:cNvSpPr/>
          <p:nvPr/>
        </p:nvSpPr>
        <p:spPr>
          <a:xfrm>
            <a:off x="411480" y="4645152"/>
            <a:ext cx="8321040" cy="164592"/>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Scapy (traffic generation) · CICFlowMeter (feature extraction) · Nmap (port scanning) · Arduino IDE (ESP32 firmware)</a:t>
            </a:r>
            <a:endParaRPr lang="en-US" sz="900" dirty="0"/>
          </a:p>
        </p:txBody>
      </p:sp>
      <p:sp>
        <p:nvSpPr>
          <p:cNvPr id="34" name="Shape 32"/>
          <p:cNvSpPr/>
          <p:nvPr/>
        </p:nvSpPr>
        <p:spPr>
          <a:xfrm>
            <a:off x="0" y="4800600"/>
            <a:ext cx="9144000" cy="342900"/>
          </a:xfrm>
          <a:prstGeom prst="rect">
            <a:avLst/>
          </a:prstGeom>
          <a:solidFill>
            <a:srgbClr val="071020"/>
          </a:solidFill>
          <a:ln w="12700">
            <a:solidFill>
              <a:srgbClr val="071020"/>
            </a:solidFill>
            <a:prstDash val="solid"/>
          </a:ln>
        </p:spPr>
      </p:sp>
      <p:sp>
        <p:nvSpPr>
          <p:cNvPr id="35" name="Shape 33"/>
          <p:cNvSpPr/>
          <p:nvPr/>
        </p:nvSpPr>
        <p:spPr>
          <a:xfrm>
            <a:off x="0" y="4796028"/>
            <a:ext cx="9144000" cy="13716"/>
          </a:xfrm>
          <a:prstGeom prst="rect">
            <a:avLst/>
          </a:prstGeom>
          <a:solidFill>
            <a:srgbClr val="0891B2"/>
          </a:solidFill>
          <a:ln w="12700">
            <a:solidFill>
              <a:srgbClr val="0891B2"/>
            </a:solidFill>
            <a:prstDash val="solid"/>
          </a:ln>
        </p:spPr>
      </p:sp>
      <p:sp>
        <p:nvSpPr>
          <p:cNvPr id="36" name="Text 34"/>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7" name="Text 35"/>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Expected Outcomes</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Research Deliverables &amp; Performance Benchmarks</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143000"/>
            <a:ext cx="411480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6" name="Shape 4"/>
          <p:cNvSpPr/>
          <p:nvPr/>
        </p:nvSpPr>
        <p:spPr>
          <a:xfrm>
            <a:off x="411480" y="1143000"/>
            <a:ext cx="4114800" cy="320040"/>
          </a:xfrm>
          <a:prstGeom prst="rect">
            <a:avLst/>
          </a:prstGeom>
          <a:solidFill>
            <a:srgbClr val="0891B2">
              <a:alpha val="22000"/>
            </a:srgbClr>
          </a:solidFill>
          <a:ln w="12700">
            <a:solidFill>
              <a:srgbClr val="0891B2"/>
            </a:solidFill>
            <a:prstDash val="solid"/>
          </a:ln>
        </p:spPr>
      </p:sp>
      <p:sp>
        <p:nvSpPr>
          <p:cNvPr id="7" name="Text 5"/>
          <p:cNvSpPr/>
          <p:nvPr/>
        </p:nvSpPr>
        <p:spPr>
          <a:xfrm>
            <a:off x="521208" y="1179576"/>
            <a:ext cx="3886200" cy="2468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Centralized Baseline Benchmark</a:t>
            </a:r>
            <a:endParaRPr lang="en-US" sz="1100" dirty="0"/>
          </a:p>
        </p:txBody>
      </p:sp>
      <p:sp>
        <p:nvSpPr>
          <p:cNvPr id="8" name="Text 6"/>
          <p:cNvSpPr/>
          <p:nvPr/>
        </p:nvSpPr>
        <p:spPr>
          <a:xfrm>
            <a:off x="521208" y="1508760"/>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Confusion matrices for Random Forest, Isolation Forest, Deep Autoencoder under centralized tracking</a:t>
            </a:r>
            <a:endParaRPr lang="en-US" sz="950" dirty="0"/>
          </a:p>
        </p:txBody>
      </p:sp>
      <p:sp>
        <p:nvSpPr>
          <p:cNvPr id="9" name="Text 7"/>
          <p:cNvSpPr/>
          <p:nvPr/>
        </p:nvSpPr>
        <p:spPr>
          <a:xfrm>
            <a:off x="521208" y="1856232"/>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Classification latency, memory footprint, and detection accuracy comparison matrices</a:t>
            </a:r>
            <a:endParaRPr lang="en-US" sz="950" dirty="0"/>
          </a:p>
        </p:txBody>
      </p:sp>
      <p:sp>
        <p:nvSpPr>
          <p:cNvPr id="10" name="Text 8"/>
          <p:cNvSpPr/>
          <p:nvPr/>
        </p:nvSpPr>
        <p:spPr>
          <a:xfrm>
            <a:off x="521208" y="2203704"/>
            <a:ext cx="3886200" cy="320040"/>
          </a:xfrm>
          <a:prstGeom prst="rect">
            <a:avLst/>
          </a:prstGeom>
          <a:noFill/>
          <a:ln/>
        </p:spPr>
        <p:txBody>
          <a:bodyPr wrap="square" lIns="0" tIns="0" rIns="0" bIns="0" rtlCol="0" anchor="ctr"/>
          <a:lstStyle/>
          <a:p>
            <a:pPr marL="0" indent="0" algn="l">
              <a:buNone/>
            </a:pPr>
            <a:r>
              <a:rPr lang="en-US" sz="950" i="1" dirty="0">
                <a:solidFill>
                  <a:srgbClr val="0891B2"/>
                </a:solidFill>
                <a:latin typeface="Calibri" pitchFamily="34" charset="0"/>
                <a:ea typeface="Calibri" pitchFamily="34" charset="-122"/>
                <a:cs typeface="Calibri" pitchFamily="34" charset="-120"/>
              </a:rPr>
              <a:t>• Expected: &gt;90% detection rate with &lt;5% false positives on CICFlowMeter dataset</a:t>
            </a:r>
            <a:endParaRPr lang="en-US" sz="950" dirty="0"/>
          </a:p>
        </p:txBody>
      </p:sp>
      <p:sp>
        <p:nvSpPr>
          <p:cNvPr id="11" name="Shape 9"/>
          <p:cNvSpPr/>
          <p:nvPr/>
        </p:nvSpPr>
        <p:spPr>
          <a:xfrm>
            <a:off x="4663440" y="1143000"/>
            <a:ext cx="411480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2" name="Shape 10"/>
          <p:cNvSpPr/>
          <p:nvPr/>
        </p:nvSpPr>
        <p:spPr>
          <a:xfrm>
            <a:off x="4663440" y="1143000"/>
            <a:ext cx="4114800" cy="320040"/>
          </a:xfrm>
          <a:prstGeom prst="rect">
            <a:avLst/>
          </a:prstGeom>
          <a:solidFill>
            <a:srgbClr val="00D4FF">
              <a:alpha val="22000"/>
            </a:srgbClr>
          </a:solidFill>
          <a:ln w="12700">
            <a:solidFill>
              <a:srgbClr val="00D4FF"/>
            </a:solidFill>
            <a:prstDash val="solid"/>
          </a:ln>
        </p:spPr>
      </p:sp>
      <p:sp>
        <p:nvSpPr>
          <p:cNvPr id="13" name="Text 11"/>
          <p:cNvSpPr/>
          <p:nvPr/>
        </p:nvSpPr>
        <p:spPr>
          <a:xfrm>
            <a:off x="4773168" y="1179576"/>
            <a:ext cx="3886200" cy="2468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FL Framework with DP Guarantees</a:t>
            </a:r>
            <a:endParaRPr lang="en-US" sz="1100" dirty="0"/>
          </a:p>
        </p:txBody>
      </p:sp>
      <p:sp>
        <p:nvSpPr>
          <p:cNvPr id="14" name="Text 12"/>
          <p:cNvSpPr/>
          <p:nvPr/>
        </p:nvSpPr>
        <p:spPr>
          <a:xfrm>
            <a:off x="4773168" y="1508760"/>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Functional FL pipeline with configurable (ε, δ) privacy budget on real Raspberry Pi + ESP32 hardware</a:t>
            </a:r>
            <a:endParaRPr lang="en-US" sz="950" dirty="0"/>
          </a:p>
        </p:txBody>
      </p:sp>
      <p:sp>
        <p:nvSpPr>
          <p:cNvPr id="15" name="Text 13"/>
          <p:cNvSpPr/>
          <p:nvPr/>
        </p:nvSpPr>
        <p:spPr>
          <a:xfrm>
            <a:off x="4773168" y="1856232"/>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Convergence metrics under Non-IID data distributions across heterogeneous edge nodes</a:t>
            </a:r>
            <a:endParaRPr lang="en-US" sz="950" dirty="0"/>
          </a:p>
        </p:txBody>
      </p:sp>
      <p:sp>
        <p:nvSpPr>
          <p:cNvPr id="16" name="Text 14"/>
          <p:cNvSpPr/>
          <p:nvPr/>
        </p:nvSpPr>
        <p:spPr>
          <a:xfrm>
            <a:off x="4773168" y="2203704"/>
            <a:ext cx="3886200" cy="320040"/>
          </a:xfrm>
          <a:prstGeom prst="rect">
            <a:avLst/>
          </a:prstGeom>
          <a:noFill/>
          <a:ln/>
        </p:spPr>
        <p:txBody>
          <a:bodyPr wrap="square" lIns="0" tIns="0" rIns="0" bIns="0" rtlCol="0" anchor="ctr"/>
          <a:lstStyle/>
          <a:p>
            <a:pPr marL="0" indent="0" algn="l">
              <a:buNone/>
            </a:pPr>
            <a:r>
              <a:rPr lang="en-US" sz="950" i="1" dirty="0">
                <a:solidFill>
                  <a:srgbClr val="00D4FF"/>
                </a:solidFill>
                <a:latin typeface="Calibri" pitchFamily="34" charset="0"/>
                <a:ea typeface="Calibri" pitchFamily="34" charset="-122"/>
                <a:cs typeface="Calibri" pitchFamily="34" charset="-120"/>
              </a:rPr>
              <a:t>• Expected: &lt;8% accuracy loss vs. centralized baseline with strong DP (ε ≤ 1.0)</a:t>
            </a:r>
            <a:endParaRPr lang="en-US" sz="950" dirty="0"/>
          </a:p>
        </p:txBody>
      </p:sp>
      <p:sp>
        <p:nvSpPr>
          <p:cNvPr id="17" name="Shape 15"/>
          <p:cNvSpPr/>
          <p:nvPr/>
        </p:nvSpPr>
        <p:spPr>
          <a:xfrm>
            <a:off x="411480" y="2788920"/>
            <a:ext cx="411480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18" name="Shape 16"/>
          <p:cNvSpPr/>
          <p:nvPr/>
        </p:nvSpPr>
        <p:spPr>
          <a:xfrm>
            <a:off x="411480" y="2788920"/>
            <a:ext cx="4114800" cy="320040"/>
          </a:xfrm>
          <a:prstGeom prst="rect">
            <a:avLst/>
          </a:prstGeom>
          <a:solidFill>
            <a:srgbClr val="10B981">
              <a:alpha val="22000"/>
            </a:srgbClr>
          </a:solidFill>
          <a:ln w="12700">
            <a:solidFill>
              <a:srgbClr val="10B981"/>
            </a:solidFill>
            <a:prstDash val="solid"/>
          </a:ln>
        </p:spPr>
      </p:sp>
      <p:sp>
        <p:nvSpPr>
          <p:cNvPr id="19" name="Text 17"/>
          <p:cNvSpPr/>
          <p:nvPr/>
        </p:nvSpPr>
        <p:spPr>
          <a:xfrm>
            <a:off x="521208" y="2825496"/>
            <a:ext cx="3886200" cy="2468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Adversarial Robustness Metrics</a:t>
            </a:r>
            <a:endParaRPr lang="en-US" sz="1100" dirty="0"/>
          </a:p>
        </p:txBody>
      </p:sp>
      <p:sp>
        <p:nvSpPr>
          <p:cNvPr id="20" name="Text 18"/>
          <p:cNvSpPr/>
          <p:nvPr/>
        </p:nvSpPr>
        <p:spPr>
          <a:xfrm>
            <a:off x="521208" y="3154680"/>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Quantified resilience under simultaneous poisoning, free-rider, and gradient inference attacks</a:t>
            </a:r>
            <a:endParaRPr lang="en-US" sz="950" dirty="0"/>
          </a:p>
        </p:txBody>
      </p:sp>
      <p:sp>
        <p:nvSpPr>
          <p:cNvPr id="21" name="Text 19"/>
          <p:cNvSpPr/>
          <p:nvPr/>
        </p:nvSpPr>
        <p:spPr>
          <a:xfrm>
            <a:off x="521208" y="3502152"/>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Euclidean distance filter effectiveness: % of malicious client updates correctly quarantined</a:t>
            </a:r>
            <a:endParaRPr lang="en-US" sz="950" dirty="0"/>
          </a:p>
        </p:txBody>
      </p:sp>
      <p:sp>
        <p:nvSpPr>
          <p:cNvPr id="22" name="Text 20"/>
          <p:cNvSpPr/>
          <p:nvPr/>
        </p:nvSpPr>
        <p:spPr>
          <a:xfrm>
            <a:off x="521208" y="3849624"/>
            <a:ext cx="3886200" cy="320040"/>
          </a:xfrm>
          <a:prstGeom prst="rect">
            <a:avLst/>
          </a:prstGeom>
          <a:noFill/>
          <a:ln/>
        </p:spPr>
        <p:txBody>
          <a:bodyPr wrap="square" lIns="0" tIns="0" rIns="0" bIns="0" rtlCol="0" anchor="ctr"/>
          <a:lstStyle/>
          <a:p>
            <a:pPr marL="0" indent="0" algn="l">
              <a:buNone/>
            </a:pPr>
            <a:r>
              <a:rPr lang="en-US" sz="950" i="1" dirty="0">
                <a:solidFill>
                  <a:srgbClr val="10B981"/>
                </a:solidFill>
                <a:latin typeface="Calibri" pitchFamily="34" charset="0"/>
                <a:ea typeface="Calibri" pitchFamily="34" charset="-122"/>
                <a:cs typeface="Calibri" pitchFamily="34" charset="-120"/>
              </a:rPr>
              <a:t>• Expected: &gt;85% adversarial detection rate after defense mechanism activation</a:t>
            </a:r>
            <a:endParaRPr lang="en-US" sz="950" dirty="0"/>
          </a:p>
        </p:txBody>
      </p:sp>
      <p:sp>
        <p:nvSpPr>
          <p:cNvPr id="23" name="Shape 21"/>
          <p:cNvSpPr/>
          <p:nvPr/>
        </p:nvSpPr>
        <p:spPr>
          <a:xfrm>
            <a:off x="4663440" y="2788920"/>
            <a:ext cx="4114800" cy="150876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24" name="Shape 22"/>
          <p:cNvSpPr/>
          <p:nvPr/>
        </p:nvSpPr>
        <p:spPr>
          <a:xfrm>
            <a:off x="4663440" y="2788920"/>
            <a:ext cx="4114800" cy="320040"/>
          </a:xfrm>
          <a:prstGeom prst="rect">
            <a:avLst/>
          </a:prstGeom>
          <a:solidFill>
            <a:srgbClr val="F59E0B">
              <a:alpha val="22000"/>
            </a:srgbClr>
          </a:solidFill>
          <a:ln w="12700">
            <a:solidFill>
              <a:srgbClr val="F59E0B"/>
            </a:solidFill>
            <a:prstDash val="solid"/>
          </a:ln>
        </p:spPr>
      </p:sp>
      <p:sp>
        <p:nvSpPr>
          <p:cNvPr id="25" name="Text 23"/>
          <p:cNvSpPr/>
          <p:nvPr/>
        </p:nvSpPr>
        <p:spPr>
          <a:xfrm>
            <a:off x="4773168" y="2825496"/>
            <a:ext cx="3886200" cy="2468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Operational SOC Dashboard</a:t>
            </a:r>
            <a:endParaRPr lang="en-US" sz="1100" dirty="0"/>
          </a:p>
        </p:txBody>
      </p:sp>
      <p:sp>
        <p:nvSpPr>
          <p:cNvPr id="26" name="Text 24"/>
          <p:cNvSpPr/>
          <p:nvPr/>
        </p:nvSpPr>
        <p:spPr>
          <a:xfrm>
            <a:off x="4773168" y="3154680"/>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Live D3 topological connectivity maps with WebSocket zero-latency security alert pushes</a:t>
            </a:r>
            <a:endParaRPr lang="en-US" sz="950" dirty="0"/>
          </a:p>
        </p:txBody>
      </p:sp>
      <p:sp>
        <p:nvSpPr>
          <p:cNvPr id="27" name="Text 25"/>
          <p:cNvSpPr/>
          <p:nvPr/>
        </p:nvSpPr>
        <p:spPr>
          <a:xfrm>
            <a:off x="4773168" y="3502152"/>
            <a:ext cx="3886200" cy="320040"/>
          </a:xfrm>
          <a:prstGeom prst="rect">
            <a:avLst/>
          </a:prstGeom>
          <a:noFill/>
          <a:ln/>
        </p:spPr>
        <p:txBody>
          <a:bodyPr wrap="square" lIns="0" tIns="0" rIns="0" bIns="0"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 LLM forensic PDF reports with automated plain-English threat remediation summaries</a:t>
            </a:r>
            <a:endParaRPr lang="en-US" sz="950" dirty="0"/>
          </a:p>
        </p:txBody>
      </p:sp>
      <p:sp>
        <p:nvSpPr>
          <p:cNvPr id="28" name="Text 26"/>
          <p:cNvSpPr/>
          <p:nvPr/>
        </p:nvSpPr>
        <p:spPr>
          <a:xfrm>
            <a:off x="4773168" y="3849624"/>
            <a:ext cx="3886200" cy="320040"/>
          </a:xfrm>
          <a:prstGeom prst="rect">
            <a:avLst/>
          </a:prstGeom>
          <a:noFill/>
          <a:ln/>
        </p:spPr>
        <p:txBody>
          <a:bodyPr wrap="square" lIns="0" tIns="0" rIns="0" bIns="0" rtlCol="0" anchor="ctr"/>
          <a:lstStyle/>
          <a:p>
            <a:pPr marL="0" indent="0" algn="l">
              <a:buNone/>
            </a:pPr>
            <a:r>
              <a:rPr lang="en-US" sz="950" i="1" dirty="0">
                <a:solidFill>
                  <a:srgbClr val="F59E0B"/>
                </a:solidFill>
                <a:latin typeface="Calibri" pitchFamily="34" charset="0"/>
                <a:ea typeface="Calibri" pitchFamily="34" charset="-122"/>
                <a:cs typeface="Calibri" pitchFamily="34" charset="-120"/>
              </a:rPr>
              <a:t>• Expected: &lt;200ms end-to-end alert latency from detection to dashboard notification</a:t>
            </a:r>
            <a:endParaRPr lang="en-US" sz="950" dirty="0"/>
          </a:p>
        </p:txBody>
      </p:sp>
      <p:sp>
        <p:nvSpPr>
          <p:cNvPr id="29" name="Shape 27"/>
          <p:cNvSpPr/>
          <p:nvPr/>
        </p:nvSpPr>
        <p:spPr>
          <a:xfrm>
            <a:off x="0" y="4800600"/>
            <a:ext cx="9144000" cy="342900"/>
          </a:xfrm>
          <a:prstGeom prst="rect">
            <a:avLst/>
          </a:prstGeom>
          <a:solidFill>
            <a:srgbClr val="071020"/>
          </a:solidFill>
          <a:ln w="12700">
            <a:solidFill>
              <a:srgbClr val="071020"/>
            </a:solidFill>
            <a:prstDash val="solid"/>
          </a:ln>
        </p:spPr>
      </p:sp>
      <p:sp>
        <p:nvSpPr>
          <p:cNvPr id="30" name="Shape 28"/>
          <p:cNvSpPr/>
          <p:nvPr/>
        </p:nvSpPr>
        <p:spPr>
          <a:xfrm>
            <a:off x="0" y="4796028"/>
            <a:ext cx="9144000" cy="13716"/>
          </a:xfrm>
          <a:prstGeom prst="rect">
            <a:avLst/>
          </a:prstGeom>
          <a:solidFill>
            <a:srgbClr val="0891B2"/>
          </a:solidFill>
          <a:ln w="12700">
            <a:solidFill>
              <a:srgbClr val="0891B2"/>
            </a:solidFill>
            <a:prstDash val="solid"/>
          </a:ln>
        </p:spPr>
      </p:sp>
      <p:sp>
        <p:nvSpPr>
          <p:cNvPr id="31" name="Text 29"/>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32" name="Text 30"/>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Work Plan &amp; Timeline</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12-Week Structured Milestone Roadmap</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sp>
        <p:nvSpPr>
          <p:cNvPr id="5" name="Shape 3"/>
          <p:cNvSpPr/>
          <p:nvPr/>
        </p:nvSpPr>
        <p:spPr>
          <a:xfrm>
            <a:off x="411480" y="1399032"/>
            <a:ext cx="8321040" cy="45720"/>
          </a:xfrm>
          <a:prstGeom prst="rect">
            <a:avLst/>
          </a:prstGeom>
          <a:solidFill>
            <a:srgbClr val="1E3A5F"/>
          </a:solidFill>
          <a:ln w="12700">
            <a:solidFill>
              <a:srgbClr val="1E3A5F"/>
            </a:solidFill>
            <a:prstDash val="solid"/>
          </a:ln>
        </p:spPr>
      </p:sp>
      <p:sp>
        <p:nvSpPr>
          <p:cNvPr id="6" name="Shape 4"/>
          <p:cNvSpPr/>
          <p:nvPr/>
        </p:nvSpPr>
        <p:spPr>
          <a:xfrm>
            <a:off x="754888" y="1325880"/>
            <a:ext cx="237744" cy="237744"/>
          </a:xfrm>
          <a:prstGeom prst="ellipse">
            <a:avLst/>
          </a:prstGeom>
          <a:solidFill>
            <a:srgbClr val="0891B2"/>
          </a:solidFill>
          <a:ln w="12700">
            <a:solidFill>
              <a:srgbClr val="0891B2"/>
            </a:solidFill>
            <a:prstDash val="solid"/>
          </a:ln>
        </p:spPr>
      </p:sp>
      <p:sp>
        <p:nvSpPr>
          <p:cNvPr id="7" name="Shape 5"/>
          <p:cNvSpPr/>
          <p:nvPr/>
        </p:nvSpPr>
        <p:spPr>
          <a:xfrm>
            <a:off x="860044" y="1490472"/>
            <a:ext cx="27432" cy="0"/>
          </a:xfrm>
          <a:prstGeom prst="rect">
            <a:avLst/>
          </a:prstGeom>
          <a:solidFill>
            <a:srgbClr val="0891B2"/>
          </a:solidFill>
          <a:ln w="12700">
            <a:solidFill>
              <a:srgbClr val="0891B2"/>
            </a:solidFill>
            <a:prstDash val="solid"/>
          </a:ln>
        </p:spPr>
      </p:sp>
      <p:sp>
        <p:nvSpPr>
          <p:cNvPr id="8" name="Shape 6"/>
          <p:cNvSpPr/>
          <p:nvPr/>
        </p:nvSpPr>
        <p:spPr>
          <a:xfrm>
            <a:off x="466344" y="1508760"/>
            <a:ext cx="851408" cy="1234440"/>
          </a:xfrm>
          <a:prstGeom prst="rect">
            <a:avLst/>
          </a:prstGeom>
          <a:solidFill>
            <a:srgbClr val="0D1F3C"/>
          </a:solidFill>
          <a:ln w="12700">
            <a:solidFill>
              <a:srgbClr val="0891B2"/>
            </a:solidFill>
            <a:prstDash val="solid"/>
          </a:ln>
        </p:spPr>
      </p:sp>
      <p:sp>
        <p:nvSpPr>
          <p:cNvPr id="9" name="Text 7"/>
          <p:cNvSpPr/>
          <p:nvPr/>
        </p:nvSpPr>
        <p:spPr>
          <a:xfrm>
            <a:off x="502920" y="1554480"/>
            <a:ext cx="787400" cy="256032"/>
          </a:xfrm>
          <a:prstGeom prst="rect">
            <a:avLst/>
          </a:prstGeom>
          <a:noFill/>
          <a:ln/>
        </p:spPr>
        <p:txBody>
          <a:bodyPr wrap="square" lIns="0" tIns="0" rIns="0" bIns="0" rtlCol="0" anchor="ctr"/>
          <a:lstStyle/>
          <a:p>
            <a:pPr marL="0" indent="0" algn="ctr">
              <a:buNone/>
            </a:pPr>
            <a:r>
              <a:rPr lang="en-US" sz="1000" b="1" dirty="0">
                <a:solidFill>
                  <a:srgbClr val="0891B2"/>
                </a:solidFill>
                <a:latin typeface="Calibri" pitchFamily="34" charset="0"/>
                <a:ea typeface="Calibri" pitchFamily="34" charset="-122"/>
                <a:cs typeface="Calibri" pitchFamily="34" charset="-120"/>
              </a:rPr>
              <a:t>Wk 4</a:t>
            </a:r>
            <a:endParaRPr lang="en-US" sz="1000" dirty="0"/>
          </a:p>
        </p:txBody>
      </p:sp>
      <p:sp>
        <p:nvSpPr>
          <p:cNvPr id="10" name="Text 8"/>
          <p:cNvSpPr/>
          <p:nvPr/>
        </p:nvSpPr>
        <p:spPr>
          <a:xfrm>
            <a:off x="466344" y="1810512"/>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MQTT Gateway &amp; Sensors</a:t>
            </a:r>
            <a:endParaRPr lang="en-US" sz="900" dirty="0"/>
          </a:p>
        </p:txBody>
      </p:sp>
      <p:sp>
        <p:nvSpPr>
          <p:cNvPr id="11" name="Text 9"/>
          <p:cNvSpPr/>
          <p:nvPr/>
        </p:nvSpPr>
        <p:spPr>
          <a:xfrm>
            <a:off x="466344" y="2423160"/>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Hardware</a:t>
            </a:r>
            <a:endParaRPr lang="en-US" sz="850" dirty="0"/>
          </a:p>
        </p:txBody>
      </p:sp>
      <p:sp>
        <p:nvSpPr>
          <p:cNvPr id="12" name="Shape 10"/>
          <p:cNvSpPr/>
          <p:nvPr/>
        </p:nvSpPr>
        <p:spPr>
          <a:xfrm>
            <a:off x="1679448" y="1325880"/>
            <a:ext cx="237744" cy="237744"/>
          </a:xfrm>
          <a:prstGeom prst="ellipse">
            <a:avLst/>
          </a:prstGeom>
          <a:solidFill>
            <a:srgbClr val="0891B2"/>
          </a:solidFill>
          <a:ln w="12700">
            <a:solidFill>
              <a:srgbClr val="0891B2"/>
            </a:solidFill>
            <a:prstDash val="solid"/>
          </a:ln>
        </p:spPr>
      </p:sp>
      <p:sp>
        <p:nvSpPr>
          <p:cNvPr id="13" name="Shape 11"/>
          <p:cNvSpPr/>
          <p:nvPr/>
        </p:nvSpPr>
        <p:spPr>
          <a:xfrm>
            <a:off x="1784604" y="1417320"/>
            <a:ext cx="27432" cy="1527048"/>
          </a:xfrm>
          <a:prstGeom prst="rect">
            <a:avLst/>
          </a:prstGeom>
          <a:solidFill>
            <a:srgbClr val="0891B2"/>
          </a:solidFill>
          <a:ln w="12700">
            <a:solidFill>
              <a:srgbClr val="0891B2"/>
            </a:solidFill>
            <a:prstDash val="solid"/>
          </a:ln>
        </p:spPr>
      </p:sp>
      <p:sp>
        <p:nvSpPr>
          <p:cNvPr id="14" name="Shape 12"/>
          <p:cNvSpPr/>
          <p:nvPr/>
        </p:nvSpPr>
        <p:spPr>
          <a:xfrm>
            <a:off x="1390904" y="2944368"/>
            <a:ext cx="851408" cy="1234440"/>
          </a:xfrm>
          <a:prstGeom prst="rect">
            <a:avLst/>
          </a:prstGeom>
          <a:solidFill>
            <a:srgbClr val="0D1F3C"/>
          </a:solidFill>
          <a:ln w="12700">
            <a:solidFill>
              <a:srgbClr val="0891B2"/>
            </a:solidFill>
            <a:prstDash val="solid"/>
          </a:ln>
        </p:spPr>
      </p:sp>
      <p:sp>
        <p:nvSpPr>
          <p:cNvPr id="15" name="Text 13"/>
          <p:cNvSpPr/>
          <p:nvPr/>
        </p:nvSpPr>
        <p:spPr>
          <a:xfrm>
            <a:off x="1427480" y="2990088"/>
            <a:ext cx="787400" cy="256032"/>
          </a:xfrm>
          <a:prstGeom prst="rect">
            <a:avLst/>
          </a:prstGeom>
          <a:noFill/>
          <a:ln/>
        </p:spPr>
        <p:txBody>
          <a:bodyPr wrap="square" lIns="0" tIns="0" rIns="0" bIns="0" rtlCol="0" anchor="ctr"/>
          <a:lstStyle/>
          <a:p>
            <a:pPr marL="0" indent="0" algn="ctr">
              <a:buNone/>
            </a:pPr>
            <a:r>
              <a:rPr lang="en-US" sz="1000" b="1" dirty="0">
                <a:solidFill>
                  <a:srgbClr val="0891B2"/>
                </a:solidFill>
                <a:latin typeface="Calibri" pitchFamily="34" charset="0"/>
                <a:ea typeface="Calibri" pitchFamily="34" charset="-122"/>
                <a:cs typeface="Calibri" pitchFamily="34" charset="-120"/>
              </a:rPr>
              <a:t>Wk 5</a:t>
            </a:r>
            <a:endParaRPr lang="en-US" sz="1000" dirty="0"/>
          </a:p>
        </p:txBody>
      </p:sp>
      <p:sp>
        <p:nvSpPr>
          <p:cNvPr id="16" name="Text 14"/>
          <p:cNvSpPr/>
          <p:nvPr/>
        </p:nvSpPr>
        <p:spPr>
          <a:xfrm>
            <a:off x="1390904" y="3246120"/>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Packet Capture &amp; Scapy Setup</a:t>
            </a:r>
            <a:endParaRPr lang="en-US" sz="900" dirty="0"/>
          </a:p>
        </p:txBody>
      </p:sp>
      <p:sp>
        <p:nvSpPr>
          <p:cNvPr id="17" name="Text 15"/>
          <p:cNvSpPr/>
          <p:nvPr/>
        </p:nvSpPr>
        <p:spPr>
          <a:xfrm>
            <a:off x="1390904" y="3858768"/>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Network</a:t>
            </a:r>
            <a:endParaRPr lang="en-US" sz="850" dirty="0"/>
          </a:p>
        </p:txBody>
      </p:sp>
      <p:sp>
        <p:nvSpPr>
          <p:cNvPr id="18" name="Shape 16"/>
          <p:cNvSpPr/>
          <p:nvPr/>
        </p:nvSpPr>
        <p:spPr>
          <a:xfrm>
            <a:off x="2604008" y="1325880"/>
            <a:ext cx="237744" cy="237744"/>
          </a:xfrm>
          <a:prstGeom prst="ellipse">
            <a:avLst/>
          </a:prstGeom>
          <a:solidFill>
            <a:srgbClr val="00D4FF"/>
          </a:solidFill>
          <a:ln w="12700">
            <a:solidFill>
              <a:srgbClr val="00D4FF"/>
            </a:solidFill>
            <a:prstDash val="solid"/>
          </a:ln>
        </p:spPr>
      </p:sp>
      <p:sp>
        <p:nvSpPr>
          <p:cNvPr id="19" name="Shape 17"/>
          <p:cNvSpPr/>
          <p:nvPr/>
        </p:nvSpPr>
        <p:spPr>
          <a:xfrm>
            <a:off x="2709164" y="1490472"/>
            <a:ext cx="27432" cy="0"/>
          </a:xfrm>
          <a:prstGeom prst="rect">
            <a:avLst/>
          </a:prstGeom>
          <a:solidFill>
            <a:srgbClr val="00D4FF"/>
          </a:solidFill>
          <a:ln w="12700">
            <a:solidFill>
              <a:srgbClr val="00D4FF"/>
            </a:solidFill>
            <a:prstDash val="solid"/>
          </a:ln>
        </p:spPr>
      </p:sp>
      <p:sp>
        <p:nvSpPr>
          <p:cNvPr id="20" name="Shape 18"/>
          <p:cNvSpPr/>
          <p:nvPr/>
        </p:nvSpPr>
        <p:spPr>
          <a:xfrm>
            <a:off x="2315464" y="1508760"/>
            <a:ext cx="851408" cy="1234440"/>
          </a:xfrm>
          <a:prstGeom prst="rect">
            <a:avLst/>
          </a:prstGeom>
          <a:solidFill>
            <a:srgbClr val="0D1F3C"/>
          </a:solidFill>
          <a:ln w="12700">
            <a:solidFill>
              <a:srgbClr val="00D4FF"/>
            </a:solidFill>
            <a:prstDash val="solid"/>
          </a:ln>
        </p:spPr>
      </p:sp>
      <p:sp>
        <p:nvSpPr>
          <p:cNvPr id="21" name="Text 19"/>
          <p:cNvSpPr/>
          <p:nvPr/>
        </p:nvSpPr>
        <p:spPr>
          <a:xfrm>
            <a:off x="2352040" y="1554480"/>
            <a:ext cx="787400" cy="256032"/>
          </a:xfrm>
          <a:prstGeom prst="rect">
            <a:avLst/>
          </a:prstGeom>
          <a:noFill/>
          <a:ln/>
        </p:spPr>
        <p:txBody>
          <a:bodyPr wrap="square" lIns="0" tIns="0" rIns="0" bIns="0"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Wk 6</a:t>
            </a:r>
            <a:endParaRPr lang="en-US" sz="1000" dirty="0"/>
          </a:p>
        </p:txBody>
      </p:sp>
      <p:sp>
        <p:nvSpPr>
          <p:cNvPr id="22" name="Text 20"/>
          <p:cNvSpPr/>
          <p:nvPr/>
        </p:nvSpPr>
        <p:spPr>
          <a:xfrm>
            <a:off x="2315464" y="1810512"/>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Centralized ML Baselines</a:t>
            </a:r>
            <a:endParaRPr lang="en-US" sz="900" dirty="0"/>
          </a:p>
        </p:txBody>
      </p:sp>
      <p:sp>
        <p:nvSpPr>
          <p:cNvPr id="23" name="Text 21"/>
          <p:cNvSpPr/>
          <p:nvPr/>
        </p:nvSpPr>
        <p:spPr>
          <a:xfrm>
            <a:off x="2315464" y="2423160"/>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ML</a:t>
            </a:r>
            <a:endParaRPr lang="en-US" sz="850" dirty="0"/>
          </a:p>
        </p:txBody>
      </p:sp>
      <p:sp>
        <p:nvSpPr>
          <p:cNvPr id="24" name="Shape 22"/>
          <p:cNvSpPr/>
          <p:nvPr/>
        </p:nvSpPr>
        <p:spPr>
          <a:xfrm>
            <a:off x="3528568" y="1325880"/>
            <a:ext cx="237744" cy="237744"/>
          </a:xfrm>
          <a:prstGeom prst="ellipse">
            <a:avLst/>
          </a:prstGeom>
          <a:solidFill>
            <a:srgbClr val="00D4FF"/>
          </a:solidFill>
          <a:ln w="12700">
            <a:solidFill>
              <a:srgbClr val="00D4FF"/>
            </a:solidFill>
            <a:prstDash val="solid"/>
          </a:ln>
        </p:spPr>
      </p:sp>
      <p:sp>
        <p:nvSpPr>
          <p:cNvPr id="25" name="Shape 23"/>
          <p:cNvSpPr/>
          <p:nvPr/>
        </p:nvSpPr>
        <p:spPr>
          <a:xfrm>
            <a:off x="3633724" y="1417320"/>
            <a:ext cx="27432" cy="1527048"/>
          </a:xfrm>
          <a:prstGeom prst="rect">
            <a:avLst/>
          </a:prstGeom>
          <a:solidFill>
            <a:srgbClr val="00D4FF"/>
          </a:solidFill>
          <a:ln w="12700">
            <a:solidFill>
              <a:srgbClr val="00D4FF"/>
            </a:solidFill>
            <a:prstDash val="solid"/>
          </a:ln>
        </p:spPr>
      </p:sp>
      <p:sp>
        <p:nvSpPr>
          <p:cNvPr id="26" name="Shape 24"/>
          <p:cNvSpPr/>
          <p:nvPr/>
        </p:nvSpPr>
        <p:spPr>
          <a:xfrm>
            <a:off x="3240024" y="2944368"/>
            <a:ext cx="851408" cy="1234440"/>
          </a:xfrm>
          <a:prstGeom prst="rect">
            <a:avLst/>
          </a:prstGeom>
          <a:solidFill>
            <a:srgbClr val="0D1F3C"/>
          </a:solidFill>
          <a:ln w="12700">
            <a:solidFill>
              <a:srgbClr val="00D4FF"/>
            </a:solidFill>
            <a:prstDash val="solid"/>
          </a:ln>
        </p:spPr>
      </p:sp>
      <p:sp>
        <p:nvSpPr>
          <p:cNvPr id="27" name="Text 25"/>
          <p:cNvSpPr/>
          <p:nvPr/>
        </p:nvSpPr>
        <p:spPr>
          <a:xfrm>
            <a:off x="3276600" y="2990088"/>
            <a:ext cx="787400" cy="256032"/>
          </a:xfrm>
          <a:prstGeom prst="rect">
            <a:avLst/>
          </a:prstGeom>
          <a:noFill/>
          <a:ln/>
        </p:spPr>
        <p:txBody>
          <a:bodyPr wrap="square" lIns="0" tIns="0" rIns="0" bIns="0" rtlCol="0" anchor="ctr"/>
          <a:lstStyle/>
          <a:p>
            <a:pPr marL="0" indent="0" algn="ctr">
              <a:buNone/>
            </a:pPr>
            <a:r>
              <a:rPr lang="en-US" sz="1000" b="1" dirty="0">
                <a:solidFill>
                  <a:srgbClr val="00D4FF"/>
                </a:solidFill>
                <a:latin typeface="Calibri" pitchFamily="34" charset="0"/>
                <a:ea typeface="Calibri" pitchFamily="34" charset="-122"/>
                <a:cs typeface="Calibri" pitchFamily="34" charset="-120"/>
              </a:rPr>
              <a:t>Wk 7</a:t>
            </a:r>
            <a:endParaRPr lang="en-US" sz="1000" dirty="0"/>
          </a:p>
        </p:txBody>
      </p:sp>
      <p:sp>
        <p:nvSpPr>
          <p:cNvPr id="28" name="Text 26"/>
          <p:cNvSpPr/>
          <p:nvPr/>
        </p:nvSpPr>
        <p:spPr>
          <a:xfrm>
            <a:off x="3240024" y="3246120"/>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Flower FL Engine Init</a:t>
            </a:r>
            <a:endParaRPr lang="en-US" sz="900" dirty="0"/>
          </a:p>
        </p:txBody>
      </p:sp>
      <p:sp>
        <p:nvSpPr>
          <p:cNvPr id="29" name="Text 27"/>
          <p:cNvSpPr/>
          <p:nvPr/>
        </p:nvSpPr>
        <p:spPr>
          <a:xfrm>
            <a:off x="3240024" y="3858768"/>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FL</a:t>
            </a:r>
            <a:endParaRPr lang="en-US" sz="850" dirty="0"/>
          </a:p>
        </p:txBody>
      </p:sp>
      <p:sp>
        <p:nvSpPr>
          <p:cNvPr id="30" name="Shape 28"/>
          <p:cNvSpPr/>
          <p:nvPr/>
        </p:nvSpPr>
        <p:spPr>
          <a:xfrm>
            <a:off x="4453128" y="1325880"/>
            <a:ext cx="237744" cy="237744"/>
          </a:xfrm>
          <a:prstGeom prst="ellipse">
            <a:avLst/>
          </a:prstGeom>
          <a:solidFill>
            <a:srgbClr val="10B981"/>
          </a:solidFill>
          <a:ln w="12700">
            <a:solidFill>
              <a:srgbClr val="10B981"/>
            </a:solidFill>
            <a:prstDash val="solid"/>
          </a:ln>
        </p:spPr>
      </p:sp>
      <p:sp>
        <p:nvSpPr>
          <p:cNvPr id="31" name="Shape 29"/>
          <p:cNvSpPr/>
          <p:nvPr/>
        </p:nvSpPr>
        <p:spPr>
          <a:xfrm>
            <a:off x="4558284" y="1490472"/>
            <a:ext cx="27432" cy="0"/>
          </a:xfrm>
          <a:prstGeom prst="rect">
            <a:avLst/>
          </a:prstGeom>
          <a:solidFill>
            <a:srgbClr val="10B981"/>
          </a:solidFill>
          <a:ln w="12700">
            <a:solidFill>
              <a:srgbClr val="10B981"/>
            </a:solidFill>
            <a:prstDash val="solid"/>
          </a:ln>
        </p:spPr>
      </p:sp>
      <p:sp>
        <p:nvSpPr>
          <p:cNvPr id="32" name="Shape 30"/>
          <p:cNvSpPr/>
          <p:nvPr/>
        </p:nvSpPr>
        <p:spPr>
          <a:xfrm>
            <a:off x="4164584" y="1508760"/>
            <a:ext cx="851408" cy="1234440"/>
          </a:xfrm>
          <a:prstGeom prst="rect">
            <a:avLst/>
          </a:prstGeom>
          <a:solidFill>
            <a:srgbClr val="0D1F3C"/>
          </a:solidFill>
          <a:ln w="12700">
            <a:solidFill>
              <a:srgbClr val="10B981"/>
            </a:solidFill>
            <a:prstDash val="solid"/>
          </a:ln>
        </p:spPr>
      </p:sp>
      <p:sp>
        <p:nvSpPr>
          <p:cNvPr id="33" name="Text 31"/>
          <p:cNvSpPr/>
          <p:nvPr/>
        </p:nvSpPr>
        <p:spPr>
          <a:xfrm>
            <a:off x="4201160" y="1554480"/>
            <a:ext cx="787400" cy="256032"/>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Wk 8</a:t>
            </a:r>
            <a:endParaRPr lang="en-US" sz="1000" dirty="0"/>
          </a:p>
        </p:txBody>
      </p:sp>
      <p:sp>
        <p:nvSpPr>
          <p:cNvPr id="34" name="Text 32"/>
          <p:cNvSpPr/>
          <p:nvPr/>
        </p:nvSpPr>
        <p:spPr>
          <a:xfrm>
            <a:off x="4164584" y="1810512"/>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Non-IID Federated Stress Test</a:t>
            </a:r>
            <a:endParaRPr lang="en-US" sz="900" dirty="0"/>
          </a:p>
        </p:txBody>
      </p:sp>
      <p:sp>
        <p:nvSpPr>
          <p:cNvPr id="35" name="Text 33"/>
          <p:cNvSpPr/>
          <p:nvPr/>
        </p:nvSpPr>
        <p:spPr>
          <a:xfrm>
            <a:off x="4164584" y="2423160"/>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FL</a:t>
            </a:r>
            <a:endParaRPr lang="en-US" sz="850" dirty="0"/>
          </a:p>
        </p:txBody>
      </p:sp>
      <p:sp>
        <p:nvSpPr>
          <p:cNvPr id="36" name="Shape 34"/>
          <p:cNvSpPr/>
          <p:nvPr/>
        </p:nvSpPr>
        <p:spPr>
          <a:xfrm>
            <a:off x="5377688" y="1325880"/>
            <a:ext cx="237744" cy="237744"/>
          </a:xfrm>
          <a:prstGeom prst="ellipse">
            <a:avLst/>
          </a:prstGeom>
          <a:solidFill>
            <a:srgbClr val="10B981"/>
          </a:solidFill>
          <a:ln w="12700">
            <a:solidFill>
              <a:srgbClr val="10B981"/>
            </a:solidFill>
            <a:prstDash val="solid"/>
          </a:ln>
        </p:spPr>
      </p:sp>
      <p:sp>
        <p:nvSpPr>
          <p:cNvPr id="37" name="Shape 35"/>
          <p:cNvSpPr/>
          <p:nvPr/>
        </p:nvSpPr>
        <p:spPr>
          <a:xfrm>
            <a:off x="5482844" y="1417320"/>
            <a:ext cx="27432" cy="1527048"/>
          </a:xfrm>
          <a:prstGeom prst="rect">
            <a:avLst/>
          </a:prstGeom>
          <a:solidFill>
            <a:srgbClr val="10B981"/>
          </a:solidFill>
          <a:ln w="12700">
            <a:solidFill>
              <a:srgbClr val="10B981"/>
            </a:solidFill>
            <a:prstDash val="solid"/>
          </a:ln>
        </p:spPr>
      </p:sp>
      <p:sp>
        <p:nvSpPr>
          <p:cNvPr id="38" name="Shape 36"/>
          <p:cNvSpPr/>
          <p:nvPr/>
        </p:nvSpPr>
        <p:spPr>
          <a:xfrm>
            <a:off x="5089144" y="2944368"/>
            <a:ext cx="851408" cy="1234440"/>
          </a:xfrm>
          <a:prstGeom prst="rect">
            <a:avLst/>
          </a:prstGeom>
          <a:solidFill>
            <a:srgbClr val="0D1F3C"/>
          </a:solidFill>
          <a:ln w="12700">
            <a:solidFill>
              <a:srgbClr val="10B981"/>
            </a:solidFill>
            <a:prstDash val="solid"/>
          </a:ln>
        </p:spPr>
      </p:sp>
      <p:sp>
        <p:nvSpPr>
          <p:cNvPr id="39" name="Text 37"/>
          <p:cNvSpPr/>
          <p:nvPr/>
        </p:nvSpPr>
        <p:spPr>
          <a:xfrm>
            <a:off x="5125720" y="2990088"/>
            <a:ext cx="787400" cy="256032"/>
          </a:xfrm>
          <a:prstGeom prst="rect">
            <a:avLst/>
          </a:prstGeom>
          <a:noFill/>
          <a:ln/>
        </p:spPr>
        <p:txBody>
          <a:bodyPr wrap="square" lIns="0" tIns="0" rIns="0" bIns="0" rtlCol="0" anchor="ctr"/>
          <a:lstStyle/>
          <a:p>
            <a:pPr marL="0" indent="0" algn="ctr">
              <a:buNone/>
            </a:pPr>
            <a:r>
              <a:rPr lang="en-US" sz="1000" b="1" dirty="0">
                <a:solidFill>
                  <a:srgbClr val="10B981"/>
                </a:solidFill>
                <a:latin typeface="Calibri" pitchFamily="34" charset="0"/>
                <a:ea typeface="Calibri" pitchFamily="34" charset="-122"/>
                <a:cs typeface="Calibri" pitchFamily="34" charset="-120"/>
              </a:rPr>
              <a:t>Wk 9</a:t>
            </a:r>
            <a:endParaRPr lang="en-US" sz="1000" dirty="0"/>
          </a:p>
        </p:txBody>
      </p:sp>
      <p:sp>
        <p:nvSpPr>
          <p:cNvPr id="40" name="Text 38"/>
          <p:cNvSpPr/>
          <p:nvPr/>
        </p:nvSpPr>
        <p:spPr>
          <a:xfrm>
            <a:off x="5089144" y="3246120"/>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Opacus DP Integration</a:t>
            </a:r>
            <a:endParaRPr lang="en-US" sz="900" dirty="0"/>
          </a:p>
        </p:txBody>
      </p:sp>
      <p:sp>
        <p:nvSpPr>
          <p:cNvPr id="41" name="Text 39"/>
          <p:cNvSpPr/>
          <p:nvPr/>
        </p:nvSpPr>
        <p:spPr>
          <a:xfrm>
            <a:off x="5089144" y="3858768"/>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Privacy</a:t>
            </a:r>
            <a:endParaRPr lang="en-US" sz="850" dirty="0"/>
          </a:p>
        </p:txBody>
      </p:sp>
      <p:sp>
        <p:nvSpPr>
          <p:cNvPr id="42" name="Shape 40"/>
          <p:cNvSpPr/>
          <p:nvPr/>
        </p:nvSpPr>
        <p:spPr>
          <a:xfrm>
            <a:off x="6302248" y="1325880"/>
            <a:ext cx="237744" cy="237744"/>
          </a:xfrm>
          <a:prstGeom prst="ellipse">
            <a:avLst/>
          </a:prstGeom>
          <a:solidFill>
            <a:srgbClr val="F59E0B"/>
          </a:solidFill>
          <a:ln w="12700">
            <a:solidFill>
              <a:srgbClr val="F59E0B"/>
            </a:solidFill>
            <a:prstDash val="solid"/>
          </a:ln>
        </p:spPr>
      </p:sp>
      <p:sp>
        <p:nvSpPr>
          <p:cNvPr id="43" name="Shape 41"/>
          <p:cNvSpPr/>
          <p:nvPr/>
        </p:nvSpPr>
        <p:spPr>
          <a:xfrm>
            <a:off x="6407404" y="1490472"/>
            <a:ext cx="27432" cy="0"/>
          </a:xfrm>
          <a:prstGeom prst="rect">
            <a:avLst/>
          </a:prstGeom>
          <a:solidFill>
            <a:srgbClr val="F59E0B"/>
          </a:solidFill>
          <a:ln w="12700">
            <a:solidFill>
              <a:srgbClr val="F59E0B"/>
            </a:solidFill>
            <a:prstDash val="solid"/>
          </a:ln>
        </p:spPr>
      </p:sp>
      <p:sp>
        <p:nvSpPr>
          <p:cNvPr id="44" name="Shape 42"/>
          <p:cNvSpPr/>
          <p:nvPr/>
        </p:nvSpPr>
        <p:spPr>
          <a:xfrm>
            <a:off x="6013704" y="1508760"/>
            <a:ext cx="851408" cy="1234440"/>
          </a:xfrm>
          <a:prstGeom prst="rect">
            <a:avLst/>
          </a:prstGeom>
          <a:solidFill>
            <a:srgbClr val="0D1F3C"/>
          </a:solidFill>
          <a:ln w="12700">
            <a:solidFill>
              <a:srgbClr val="F59E0B"/>
            </a:solidFill>
            <a:prstDash val="solid"/>
          </a:ln>
        </p:spPr>
      </p:sp>
      <p:sp>
        <p:nvSpPr>
          <p:cNvPr id="45" name="Text 43"/>
          <p:cNvSpPr/>
          <p:nvPr/>
        </p:nvSpPr>
        <p:spPr>
          <a:xfrm>
            <a:off x="6050280" y="1554480"/>
            <a:ext cx="787400" cy="256032"/>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Wk 10</a:t>
            </a:r>
            <a:endParaRPr lang="en-US" sz="1000" dirty="0"/>
          </a:p>
        </p:txBody>
      </p:sp>
      <p:sp>
        <p:nvSpPr>
          <p:cNvPr id="46" name="Text 44"/>
          <p:cNvSpPr/>
          <p:nvPr/>
        </p:nvSpPr>
        <p:spPr>
          <a:xfrm>
            <a:off x="6013704" y="1810512"/>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Adversarial Attack Simulation</a:t>
            </a:r>
            <a:endParaRPr lang="en-US" sz="900" dirty="0"/>
          </a:p>
        </p:txBody>
      </p:sp>
      <p:sp>
        <p:nvSpPr>
          <p:cNvPr id="47" name="Text 45"/>
          <p:cNvSpPr/>
          <p:nvPr/>
        </p:nvSpPr>
        <p:spPr>
          <a:xfrm>
            <a:off x="6013704" y="2423160"/>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Security</a:t>
            </a:r>
            <a:endParaRPr lang="en-US" sz="850" dirty="0"/>
          </a:p>
        </p:txBody>
      </p:sp>
      <p:sp>
        <p:nvSpPr>
          <p:cNvPr id="48" name="Shape 46"/>
          <p:cNvSpPr/>
          <p:nvPr/>
        </p:nvSpPr>
        <p:spPr>
          <a:xfrm>
            <a:off x="7226808" y="1325880"/>
            <a:ext cx="237744" cy="237744"/>
          </a:xfrm>
          <a:prstGeom prst="ellipse">
            <a:avLst/>
          </a:prstGeom>
          <a:solidFill>
            <a:srgbClr val="F97316"/>
          </a:solidFill>
          <a:ln w="12700">
            <a:solidFill>
              <a:srgbClr val="F97316"/>
            </a:solidFill>
            <a:prstDash val="solid"/>
          </a:ln>
        </p:spPr>
      </p:sp>
      <p:sp>
        <p:nvSpPr>
          <p:cNvPr id="49" name="Shape 47"/>
          <p:cNvSpPr/>
          <p:nvPr/>
        </p:nvSpPr>
        <p:spPr>
          <a:xfrm>
            <a:off x="7331964" y="1417320"/>
            <a:ext cx="27432" cy="1527048"/>
          </a:xfrm>
          <a:prstGeom prst="rect">
            <a:avLst/>
          </a:prstGeom>
          <a:solidFill>
            <a:srgbClr val="F97316"/>
          </a:solidFill>
          <a:ln w="12700">
            <a:solidFill>
              <a:srgbClr val="F97316"/>
            </a:solidFill>
            <a:prstDash val="solid"/>
          </a:ln>
        </p:spPr>
      </p:sp>
      <p:sp>
        <p:nvSpPr>
          <p:cNvPr id="50" name="Shape 48"/>
          <p:cNvSpPr/>
          <p:nvPr/>
        </p:nvSpPr>
        <p:spPr>
          <a:xfrm>
            <a:off x="6938264" y="2944368"/>
            <a:ext cx="851408" cy="1234440"/>
          </a:xfrm>
          <a:prstGeom prst="rect">
            <a:avLst/>
          </a:prstGeom>
          <a:solidFill>
            <a:srgbClr val="0D1F3C"/>
          </a:solidFill>
          <a:ln w="12700">
            <a:solidFill>
              <a:srgbClr val="F97316"/>
            </a:solidFill>
            <a:prstDash val="solid"/>
          </a:ln>
        </p:spPr>
      </p:sp>
      <p:sp>
        <p:nvSpPr>
          <p:cNvPr id="51" name="Text 49"/>
          <p:cNvSpPr/>
          <p:nvPr/>
        </p:nvSpPr>
        <p:spPr>
          <a:xfrm>
            <a:off x="6974840" y="2990088"/>
            <a:ext cx="787400" cy="256032"/>
          </a:xfrm>
          <a:prstGeom prst="rect">
            <a:avLst/>
          </a:prstGeom>
          <a:noFill/>
          <a:ln/>
        </p:spPr>
        <p:txBody>
          <a:bodyPr wrap="square" lIns="0" tIns="0" rIns="0" bIns="0" rtlCol="0" anchor="ctr"/>
          <a:lstStyle/>
          <a:p>
            <a:pPr marL="0" indent="0" algn="ctr">
              <a:buNone/>
            </a:pPr>
            <a:r>
              <a:rPr lang="en-US" sz="1000" b="1" dirty="0">
                <a:solidFill>
                  <a:srgbClr val="F97316"/>
                </a:solidFill>
                <a:latin typeface="Calibri" pitchFamily="34" charset="0"/>
                <a:ea typeface="Calibri" pitchFamily="34" charset="-122"/>
                <a:cs typeface="Calibri" pitchFamily="34" charset="-120"/>
              </a:rPr>
              <a:t>Wk 11</a:t>
            </a:r>
            <a:endParaRPr lang="en-US" sz="1000" dirty="0"/>
          </a:p>
        </p:txBody>
      </p:sp>
      <p:sp>
        <p:nvSpPr>
          <p:cNvPr id="52" name="Text 50"/>
          <p:cNvSpPr/>
          <p:nvPr/>
        </p:nvSpPr>
        <p:spPr>
          <a:xfrm>
            <a:off x="6938264" y="3246120"/>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WebSocket + React Dashboard</a:t>
            </a:r>
            <a:endParaRPr lang="en-US" sz="900" dirty="0"/>
          </a:p>
        </p:txBody>
      </p:sp>
      <p:sp>
        <p:nvSpPr>
          <p:cNvPr id="53" name="Text 51"/>
          <p:cNvSpPr/>
          <p:nvPr/>
        </p:nvSpPr>
        <p:spPr>
          <a:xfrm>
            <a:off x="6938264" y="3858768"/>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Frontend</a:t>
            </a:r>
            <a:endParaRPr lang="en-US" sz="850" dirty="0"/>
          </a:p>
        </p:txBody>
      </p:sp>
      <p:sp>
        <p:nvSpPr>
          <p:cNvPr id="54" name="Shape 52"/>
          <p:cNvSpPr/>
          <p:nvPr/>
        </p:nvSpPr>
        <p:spPr>
          <a:xfrm>
            <a:off x="8151368" y="1325880"/>
            <a:ext cx="237744" cy="237744"/>
          </a:xfrm>
          <a:prstGeom prst="ellipse">
            <a:avLst/>
          </a:prstGeom>
          <a:solidFill>
            <a:srgbClr val="A78BFA"/>
          </a:solidFill>
          <a:ln w="12700">
            <a:solidFill>
              <a:srgbClr val="A78BFA"/>
            </a:solidFill>
            <a:prstDash val="solid"/>
          </a:ln>
        </p:spPr>
      </p:sp>
      <p:sp>
        <p:nvSpPr>
          <p:cNvPr id="55" name="Shape 53"/>
          <p:cNvSpPr/>
          <p:nvPr/>
        </p:nvSpPr>
        <p:spPr>
          <a:xfrm>
            <a:off x="8256524" y="1490472"/>
            <a:ext cx="27432" cy="0"/>
          </a:xfrm>
          <a:prstGeom prst="rect">
            <a:avLst/>
          </a:prstGeom>
          <a:solidFill>
            <a:srgbClr val="A78BFA"/>
          </a:solidFill>
          <a:ln w="12700">
            <a:solidFill>
              <a:srgbClr val="A78BFA"/>
            </a:solidFill>
            <a:prstDash val="solid"/>
          </a:ln>
        </p:spPr>
      </p:sp>
      <p:sp>
        <p:nvSpPr>
          <p:cNvPr id="56" name="Shape 54"/>
          <p:cNvSpPr/>
          <p:nvPr/>
        </p:nvSpPr>
        <p:spPr>
          <a:xfrm>
            <a:off x="7862824" y="1508760"/>
            <a:ext cx="851408" cy="1234440"/>
          </a:xfrm>
          <a:prstGeom prst="rect">
            <a:avLst/>
          </a:prstGeom>
          <a:solidFill>
            <a:srgbClr val="0D1F3C"/>
          </a:solidFill>
          <a:ln w="12700">
            <a:solidFill>
              <a:srgbClr val="A78BFA"/>
            </a:solidFill>
            <a:prstDash val="solid"/>
          </a:ln>
        </p:spPr>
      </p:sp>
      <p:sp>
        <p:nvSpPr>
          <p:cNvPr id="57" name="Text 55"/>
          <p:cNvSpPr/>
          <p:nvPr/>
        </p:nvSpPr>
        <p:spPr>
          <a:xfrm>
            <a:off x="7899400" y="1554480"/>
            <a:ext cx="787400" cy="256032"/>
          </a:xfrm>
          <a:prstGeom prst="rect">
            <a:avLst/>
          </a:prstGeom>
          <a:noFill/>
          <a:ln/>
        </p:spPr>
        <p:txBody>
          <a:bodyPr wrap="square" lIns="0" tIns="0" rIns="0" bIns="0" rtlCol="0" anchor="ctr"/>
          <a:lstStyle/>
          <a:p>
            <a:pPr marL="0" indent="0" algn="ctr">
              <a:buNone/>
            </a:pPr>
            <a:r>
              <a:rPr lang="en-US" sz="1000" b="1" dirty="0">
                <a:solidFill>
                  <a:srgbClr val="A78BFA"/>
                </a:solidFill>
                <a:latin typeface="Calibri" pitchFamily="34" charset="0"/>
                <a:ea typeface="Calibri" pitchFamily="34" charset="-122"/>
                <a:cs typeface="Calibri" pitchFamily="34" charset="-120"/>
              </a:rPr>
              <a:t>Wk 12</a:t>
            </a:r>
            <a:endParaRPr lang="en-US" sz="1000" dirty="0"/>
          </a:p>
        </p:txBody>
      </p:sp>
      <p:sp>
        <p:nvSpPr>
          <p:cNvPr id="58" name="Text 56"/>
          <p:cNvSpPr/>
          <p:nvPr/>
        </p:nvSpPr>
        <p:spPr>
          <a:xfrm>
            <a:off x="7862824" y="1810512"/>
            <a:ext cx="851408" cy="594360"/>
          </a:xfrm>
          <a:prstGeom prst="rect">
            <a:avLst/>
          </a:prstGeom>
          <a:noFill/>
          <a:ln/>
        </p:spPr>
        <p:txBody>
          <a:bodyPr wrap="square" lIns="0" tIns="0" rIns="0" bIns="0" rtlCol="0" anchor="ctr"/>
          <a:lstStyle/>
          <a:p>
            <a:pPr marL="0" indent="0" algn="ctr">
              <a:buNone/>
            </a:pPr>
            <a:r>
              <a:rPr lang="en-US" sz="900" dirty="0">
                <a:solidFill>
                  <a:srgbClr val="E2E8F0"/>
                </a:solidFill>
                <a:latin typeface="Calibri" pitchFamily="34" charset="0"/>
                <a:ea typeface="Calibri" pitchFamily="34" charset="-122"/>
                <a:cs typeface="Calibri" pitchFamily="34" charset="-120"/>
              </a:rPr>
              <a:t>Final Audit &amp; Presentation</a:t>
            </a:r>
            <a:endParaRPr lang="en-US" sz="900" dirty="0"/>
          </a:p>
        </p:txBody>
      </p:sp>
      <p:sp>
        <p:nvSpPr>
          <p:cNvPr id="59" name="Text 57"/>
          <p:cNvSpPr/>
          <p:nvPr/>
        </p:nvSpPr>
        <p:spPr>
          <a:xfrm>
            <a:off x="7862824" y="2423160"/>
            <a:ext cx="851408" cy="228600"/>
          </a:xfrm>
          <a:prstGeom prst="rect">
            <a:avLst/>
          </a:prstGeom>
          <a:noFill/>
          <a:ln/>
        </p:spPr>
        <p:txBody>
          <a:bodyPr wrap="square" lIns="0" tIns="0" rIns="0" bIns="0"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Delivery</a:t>
            </a:r>
            <a:endParaRPr lang="en-US" sz="850" dirty="0"/>
          </a:p>
        </p:txBody>
      </p:sp>
      <p:sp>
        <p:nvSpPr>
          <p:cNvPr id="60" name="Text 58"/>
          <p:cNvSpPr/>
          <p:nvPr/>
        </p:nvSpPr>
        <p:spPr>
          <a:xfrm>
            <a:off x="411480" y="4645152"/>
            <a:ext cx="8321040" cy="164592"/>
          </a:xfrm>
          <a:prstGeom prst="rect">
            <a:avLst/>
          </a:prstGeom>
          <a:noFill/>
          <a:ln/>
        </p:spPr>
        <p:txBody>
          <a:bodyPr wrap="square" lIns="0" tIns="0" rIns="0" bIns="0" rtlCol="0" anchor="ctr"/>
          <a:lstStyle/>
          <a:p>
            <a:pPr marL="0" indent="0" algn="ctr">
              <a:buNone/>
            </a:pPr>
            <a:r>
              <a:rPr lang="en-US" sz="900" dirty="0">
                <a:solidFill>
                  <a:srgbClr val="00D4FF"/>
                </a:solidFill>
                <a:latin typeface="Calibri" pitchFamily="34" charset="0"/>
                <a:ea typeface="Calibri" pitchFamily="34" charset="-122"/>
                <a:cs typeface="Calibri" pitchFamily="34" charset="-120"/>
              </a:rPr>
              <a:t>📋 Proposed Solution Report: Week 6   |   📊 Progress Report: Week 8   |   🎯 Final Presentation: Week 12</a:t>
            </a:r>
            <a:endParaRPr lang="en-US" sz="900" dirty="0"/>
          </a:p>
        </p:txBody>
      </p:sp>
      <p:sp>
        <p:nvSpPr>
          <p:cNvPr id="61" name="Shape 59"/>
          <p:cNvSpPr/>
          <p:nvPr/>
        </p:nvSpPr>
        <p:spPr>
          <a:xfrm>
            <a:off x="0" y="4800600"/>
            <a:ext cx="9144000" cy="342900"/>
          </a:xfrm>
          <a:prstGeom prst="rect">
            <a:avLst/>
          </a:prstGeom>
          <a:solidFill>
            <a:srgbClr val="071020"/>
          </a:solidFill>
          <a:ln w="12700">
            <a:solidFill>
              <a:srgbClr val="071020"/>
            </a:solidFill>
            <a:prstDash val="solid"/>
          </a:ln>
        </p:spPr>
      </p:sp>
      <p:sp>
        <p:nvSpPr>
          <p:cNvPr id="62" name="Shape 60"/>
          <p:cNvSpPr/>
          <p:nvPr/>
        </p:nvSpPr>
        <p:spPr>
          <a:xfrm>
            <a:off x="0" y="4796028"/>
            <a:ext cx="9144000" cy="13716"/>
          </a:xfrm>
          <a:prstGeom prst="rect">
            <a:avLst/>
          </a:prstGeom>
          <a:solidFill>
            <a:srgbClr val="0891B2"/>
          </a:solidFill>
          <a:ln w="12700">
            <a:solidFill>
              <a:srgbClr val="0891B2"/>
            </a:solidFill>
            <a:prstDash val="solid"/>
          </a:ln>
        </p:spPr>
      </p:sp>
      <p:sp>
        <p:nvSpPr>
          <p:cNvPr id="63" name="Text 61"/>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64" name="Text 62"/>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11480" y="201168"/>
            <a:ext cx="804672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Project Contribution &amp; Novelty</a:t>
            </a:r>
            <a:endParaRPr lang="en-US" sz="2800" dirty="0"/>
          </a:p>
        </p:txBody>
      </p:sp>
      <p:sp>
        <p:nvSpPr>
          <p:cNvPr id="3" name="Text 1"/>
          <p:cNvSpPr/>
          <p:nvPr/>
        </p:nvSpPr>
        <p:spPr>
          <a:xfrm>
            <a:off x="411480" y="749808"/>
            <a:ext cx="8046720" cy="292608"/>
          </a:xfrm>
          <a:prstGeom prst="rect">
            <a:avLst/>
          </a:prstGeom>
          <a:noFill/>
          <a:ln/>
        </p:spPr>
        <p:txBody>
          <a:bodyPr wrap="square" lIns="0" tIns="0" rIns="0" bIns="0" rtlCol="0" anchor="t"/>
          <a:lstStyle/>
          <a:p>
            <a:pPr marL="0" indent="0" algn="l">
              <a:buNone/>
            </a:pPr>
            <a:r>
              <a:rPr lang="en-US" sz="1300" i="1" dirty="0">
                <a:solidFill>
                  <a:srgbClr val="00D4FF"/>
                </a:solidFill>
                <a:latin typeface="Calibri" pitchFamily="34" charset="0"/>
                <a:ea typeface="Calibri" pitchFamily="34" charset="-122"/>
                <a:cs typeface="Calibri" pitchFamily="34" charset="-120"/>
              </a:rPr>
              <a:t>Centralized IDS vs. PRIVATE SHIELD</a:t>
            </a:r>
            <a:endParaRPr lang="en-US" sz="1300" dirty="0"/>
          </a:p>
        </p:txBody>
      </p:sp>
      <p:sp>
        <p:nvSpPr>
          <p:cNvPr id="4" name="Shape 2"/>
          <p:cNvSpPr/>
          <p:nvPr/>
        </p:nvSpPr>
        <p:spPr>
          <a:xfrm>
            <a:off x="411480" y="1005840"/>
            <a:ext cx="8321040" cy="16459"/>
          </a:xfrm>
          <a:prstGeom prst="rect">
            <a:avLst/>
          </a:prstGeom>
          <a:solidFill>
            <a:srgbClr val="0891B2">
              <a:alpha val="60000"/>
            </a:srgbClr>
          </a:solidFill>
          <a:ln w="12700">
            <a:solidFill>
              <a:srgbClr val="0891B2"/>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2779776"/>
        </p:xfrm>
        <a:graphic>
          <a:graphicData uri="http://schemas.openxmlformats.org/drawingml/2006/table">
            <a:tbl>
              <a:tblPr/>
              <a:tblGrid>
                <a:gridCol w="16459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47472">
                <a:tc>
                  <a:txBody>
                    <a:bodyPr/>
                    <a:lstStyle/>
                    <a:p>
                      <a:pPr marL="0" indent="0" algn="ctr">
                        <a:buNone/>
                      </a:pPr>
                      <a:r>
                        <a:rPr lang="en-US" sz="1000" b="1" dirty="0">
                          <a:solidFill>
                            <a:srgbClr val="00D4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640"/>
                    </a:solidFill>
                  </a:tcPr>
                </a:tc>
                <a:tc>
                  <a:txBody>
                    <a:bodyPr/>
                    <a:lstStyle/>
                    <a:p>
                      <a:pPr marL="0" indent="0" algn="ctr">
                        <a:buNone/>
                      </a:pPr>
                      <a:r>
                        <a:rPr lang="en-US" sz="1000" b="1" dirty="0">
                          <a:solidFill>
                            <a:srgbClr val="FCA5A5"/>
                          </a:solidFill>
                          <a:latin typeface="Calibri" pitchFamily="34" charset="0"/>
                          <a:ea typeface="Calibri" pitchFamily="34" charset="-122"/>
                          <a:cs typeface="Calibri" pitchFamily="34" charset="-120"/>
                        </a:rPr>
                        <a:t>Centralized IDS</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3D1515"/>
                    </a:solidFill>
                  </a:tcPr>
                </a:tc>
                <a:tc>
                  <a:txBody>
                    <a:bodyPr/>
                    <a:lstStyle/>
                    <a:p>
                      <a:pPr marL="0" indent="0" algn="ctr">
                        <a:buNone/>
                      </a:pPr>
                      <a:r>
                        <a:rPr lang="en-US" sz="1000" b="1" dirty="0">
                          <a:solidFill>
                            <a:srgbClr val="10B981"/>
                          </a:solidFill>
                          <a:latin typeface="Calibri" pitchFamily="34" charset="0"/>
                          <a:ea typeface="Calibri" pitchFamily="34" charset="-122"/>
                          <a:cs typeface="Calibri" pitchFamily="34" charset="-120"/>
                        </a:rPr>
                        <a:t>PRIVATE SHIELD</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A2A1A"/>
                    </a:solidFill>
                  </a:tcPr>
                </a:tc>
                <a:extLst>
                  <a:ext uri="{0D108BD9-81ED-4DB2-BD59-A6C34878D82A}">
                    <a16:rowId xmlns:a16="http://schemas.microsoft.com/office/drawing/2014/main" val="10000"/>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Data Privacy</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Raw telemetry streamed to cloud</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Data never leaves edge — DP-hardened gradients only</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extLst>
                  <a:ext uri="{0D108BD9-81ED-4DB2-BD59-A6C34878D82A}">
                    <a16:rowId xmlns:a16="http://schemas.microsoft.com/office/drawing/2014/main" val="10001"/>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Network Bandwidth</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Massive bandwidth consumption</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Minimal — only parameter updates transmitted</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extLst>
                  <a:ext uri="{0D108BD9-81ED-4DB2-BD59-A6C34878D82A}">
                    <a16:rowId xmlns:a16="http://schemas.microsoft.com/office/drawing/2014/main" val="10002"/>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Adversarial Defense</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None — static models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Active poisoning, free-rider &amp; inference mitigations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extLst>
                  <a:ext uri="{0D108BD9-81ED-4DB2-BD59-A6C34878D82A}">
                    <a16:rowId xmlns:a16="http://schemas.microsoft.com/office/drawing/2014/main" val="10003"/>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Edge Deployment</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Requires cloud connectivity</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Fully offline-capable on Raspberry Pi + ESP32</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extLst>
                  <a:ext uri="{0D108BD9-81ED-4DB2-BD59-A6C34878D82A}">
                    <a16:rowId xmlns:a16="http://schemas.microsoft.com/office/drawing/2014/main" val="10004"/>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Formal Privacy</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No formal guarantees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(ε, δ)-DP guaranteed via Opacus runtime</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extLst>
                  <a:ext uri="{0D108BD9-81ED-4DB2-BD59-A6C34878D82A}">
                    <a16:rowId xmlns:a16="http://schemas.microsoft.com/office/drawing/2014/main" val="10005"/>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Forensic Analysis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Manual log analysis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Automated LLM (Claude API) plain-English reports</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91830"/>
                    </a:solidFill>
                  </a:tcPr>
                </a:tc>
                <a:extLst>
                  <a:ext uri="{0D108BD9-81ED-4DB2-BD59-A6C34878D82A}">
                    <a16:rowId xmlns:a16="http://schemas.microsoft.com/office/drawing/2014/main" val="10006"/>
                  </a:ext>
                </a:extLst>
              </a:tr>
              <a:tr h="347472">
                <a:tc>
                  <a:txBody>
                    <a:bodyPr/>
                    <a:lstStyle/>
                    <a:p>
                      <a:pPr marL="0" indent="0" algn="l">
                        <a:buNone/>
                      </a:pPr>
                      <a:r>
                        <a:rPr lang="en-US" sz="950" dirty="0">
                          <a:solidFill>
                            <a:srgbClr val="CBD5E1"/>
                          </a:solidFill>
                          <a:latin typeface="Calibri" pitchFamily="34" charset="0"/>
                          <a:ea typeface="Calibri" pitchFamily="34" charset="-122"/>
                          <a:cs typeface="Calibri" pitchFamily="34" charset="-120"/>
                        </a:rPr>
                        <a:t>Scalability</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FCA5A5"/>
                          </a:solidFill>
                          <a:latin typeface="Calibri" pitchFamily="34" charset="0"/>
                          <a:ea typeface="Calibri" pitchFamily="34" charset="-122"/>
                          <a:cs typeface="Calibri" pitchFamily="34" charset="-120"/>
                        </a:rPr>
                        <a:t>Single point of failure</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tc>
                  <a:txBody>
                    <a:bodyPr/>
                    <a:lstStyle/>
                    <a:p>
                      <a:pPr marL="0" indent="0" algn="ctr">
                        <a:buNone/>
                      </a:pPr>
                      <a:r>
                        <a:rPr lang="en-US" sz="950" dirty="0">
                          <a:solidFill>
                            <a:srgbClr val="E2E8F0"/>
                          </a:solidFill>
                          <a:latin typeface="Calibri" pitchFamily="34" charset="0"/>
                          <a:ea typeface="Calibri" pitchFamily="34" charset="-122"/>
                          <a:cs typeface="Calibri" pitchFamily="34" charset="-120"/>
                        </a:rPr>
                        <a:t>Decentralized mesh — no central bottleneck</a:t>
                      </a:r>
                      <a:endParaRPr lang="en-US" sz="95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1F3C"/>
                    </a:solidFill>
                  </a:tcPr>
                </a:tc>
                <a:extLst>
                  <a:ext uri="{0D108BD9-81ED-4DB2-BD59-A6C34878D82A}">
                    <a16:rowId xmlns:a16="http://schemas.microsoft.com/office/drawing/2014/main" val="10007"/>
                  </a:ext>
                </a:extLst>
              </a:tr>
            </a:tbl>
          </a:graphicData>
        </a:graphic>
      </p:graphicFrame>
      <p:sp>
        <p:nvSpPr>
          <p:cNvPr id="6" name="Shape 3"/>
          <p:cNvSpPr/>
          <p:nvPr/>
        </p:nvSpPr>
        <p:spPr>
          <a:xfrm>
            <a:off x="0" y="4800600"/>
            <a:ext cx="9144000" cy="342900"/>
          </a:xfrm>
          <a:prstGeom prst="rect">
            <a:avLst/>
          </a:prstGeom>
          <a:solidFill>
            <a:srgbClr val="071020"/>
          </a:solidFill>
          <a:ln w="12700">
            <a:solidFill>
              <a:srgbClr val="071020"/>
            </a:solidFill>
            <a:prstDash val="solid"/>
          </a:ln>
        </p:spPr>
      </p:sp>
      <p:sp>
        <p:nvSpPr>
          <p:cNvPr id="7" name="Shape 4"/>
          <p:cNvSpPr/>
          <p:nvPr/>
        </p:nvSpPr>
        <p:spPr>
          <a:xfrm>
            <a:off x="0" y="4796028"/>
            <a:ext cx="9144000" cy="13716"/>
          </a:xfrm>
          <a:prstGeom prst="rect">
            <a:avLst/>
          </a:prstGeom>
          <a:solidFill>
            <a:srgbClr val="0891B2"/>
          </a:solidFill>
          <a:ln w="12700">
            <a:solidFill>
              <a:srgbClr val="0891B2"/>
            </a:solidFill>
            <a:prstDash val="solid"/>
          </a:ln>
        </p:spPr>
      </p:sp>
      <p:sp>
        <p:nvSpPr>
          <p:cNvPr id="8" name="Text 5"/>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9" name="Text 6"/>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223760" y="457200"/>
            <a:ext cx="1371600" cy="1371600"/>
          </a:xfrm>
          <a:prstGeom prst="rect">
            <a:avLst/>
          </a:prstGeom>
        </p:spPr>
      </p:pic>
      <p:sp>
        <p:nvSpPr>
          <p:cNvPr id="4" name="Text 1"/>
          <p:cNvSpPr/>
          <p:nvPr/>
        </p:nvSpPr>
        <p:spPr>
          <a:xfrm>
            <a:off x="457200" y="201168"/>
            <a:ext cx="65836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2"/>
          <p:cNvSpPr/>
          <p:nvPr/>
        </p:nvSpPr>
        <p:spPr>
          <a:xfrm>
            <a:off x="457200" y="822960"/>
            <a:ext cx="6217920" cy="914400"/>
          </a:xfrm>
          <a:prstGeom prst="rect">
            <a:avLst/>
          </a:prstGeom>
          <a:solidFill>
            <a:srgbClr val="0D1F3C"/>
          </a:solidFill>
          <a:ln w="12700">
            <a:solidFill>
              <a:srgbClr val="1E3A5F"/>
            </a:solidFill>
            <a:prstDash val="solid"/>
          </a:ln>
          <a:effectLst>
            <a:outerShdw blurRad="101600" dist="38100" dir="2700000" algn="bl" rotWithShape="0">
              <a:srgbClr val="000000">
                <a:alpha val="25000"/>
              </a:srgbClr>
            </a:outerShdw>
          </a:effectLst>
        </p:spPr>
      </p:sp>
      <p:sp>
        <p:nvSpPr>
          <p:cNvPr id="6" name="Text 3"/>
          <p:cNvSpPr/>
          <p:nvPr/>
        </p:nvSpPr>
        <p:spPr>
          <a:xfrm>
            <a:off x="594360" y="868680"/>
            <a:ext cx="5943600" cy="822960"/>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PRIVATE SHIELD delivers a mathematically rigorous, edge-native alternative to centralized IDS — combining Federated Learning, Differential Privacy, adversarial robustness, real-time SOC visualization, and LLM forensic intelligence into a single unified architecture.</a:t>
            </a:r>
            <a:endParaRPr lang="en-US" sz="1100" dirty="0"/>
          </a:p>
        </p:txBody>
      </p:sp>
      <p:sp>
        <p:nvSpPr>
          <p:cNvPr id="7" name="Shape 4"/>
          <p:cNvSpPr/>
          <p:nvPr/>
        </p:nvSpPr>
        <p:spPr>
          <a:xfrm>
            <a:off x="475488" y="1920240"/>
            <a:ext cx="347472" cy="347472"/>
          </a:xfrm>
          <a:prstGeom prst="ellipse">
            <a:avLst/>
          </a:prstGeom>
          <a:solidFill>
            <a:srgbClr val="0891B2">
              <a:alpha val="75000"/>
            </a:srgbClr>
          </a:solidFill>
          <a:ln w="12700">
            <a:solidFill>
              <a:srgbClr val="0891B2"/>
            </a:solidFill>
            <a:prstDash val="solid"/>
          </a:ln>
        </p:spPr>
      </p:sp>
      <p:sp>
        <p:nvSpPr>
          <p:cNvPr id="8" name="Text 5"/>
          <p:cNvSpPr/>
          <p:nvPr/>
        </p:nvSpPr>
        <p:spPr>
          <a:xfrm>
            <a:off x="475488" y="192024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mbria" pitchFamily="34" charset="0"/>
                <a:ea typeface="Cambria" pitchFamily="34" charset="-122"/>
                <a:cs typeface="Cambria" pitchFamily="34" charset="-120"/>
              </a:rPr>
              <a:t>01</a:t>
            </a:r>
            <a:endParaRPr lang="en-US" sz="900" dirty="0"/>
          </a:p>
        </p:txBody>
      </p:sp>
      <p:sp>
        <p:nvSpPr>
          <p:cNvPr id="9" name="Text 6"/>
          <p:cNvSpPr/>
          <p:nvPr/>
        </p:nvSpPr>
        <p:spPr>
          <a:xfrm>
            <a:off x="932688" y="1929384"/>
            <a:ext cx="5715000" cy="329184"/>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Edge-native FL eliminates raw data exfiltration — privacy by architecture, not policy</a:t>
            </a:r>
            <a:endParaRPr lang="en-US" sz="1100" dirty="0"/>
          </a:p>
        </p:txBody>
      </p:sp>
      <p:sp>
        <p:nvSpPr>
          <p:cNvPr id="10" name="Shape 7"/>
          <p:cNvSpPr/>
          <p:nvPr/>
        </p:nvSpPr>
        <p:spPr>
          <a:xfrm>
            <a:off x="475488" y="2432304"/>
            <a:ext cx="347472" cy="347472"/>
          </a:xfrm>
          <a:prstGeom prst="ellipse">
            <a:avLst/>
          </a:prstGeom>
          <a:solidFill>
            <a:srgbClr val="00D4FF">
              <a:alpha val="75000"/>
            </a:srgbClr>
          </a:solidFill>
          <a:ln w="12700">
            <a:solidFill>
              <a:srgbClr val="00D4FF"/>
            </a:solidFill>
            <a:prstDash val="solid"/>
          </a:ln>
        </p:spPr>
      </p:sp>
      <p:sp>
        <p:nvSpPr>
          <p:cNvPr id="11" name="Text 8"/>
          <p:cNvSpPr/>
          <p:nvPr/>
        </p:nvSpPr>
        <p:spPr>
          <a:xfrm>
            <a:off x="475488" y="2432304"/>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mbria" pitchFamily="34" charset="0"/>
                <a:ea typeface="Cambria" pitchFamily="34" charset="-122"/>
                <a:cs typeface="Cambria" pitchFamily="34" charset="-120"/>
              </a:rPr>
              <a:t>02</a:t>
            </a:r>
            <a:endParaRPr lang="en-US" sz="900" dirty="0"/>
          </a:p>
        </p:txBody>
      </p:sp>
      <p:sp>
        <p:nvSpPr>
          <p:cNvPr id="12" name="Text 9"/>
          <p:cNvSpPr/>
          <p:nvPr/>
        </p:nvSpPr>
        <p:spPr>
          <a:xfrm>
            <a:off x="932688" y="2441448"/>
            <a:ext cx="5715000" cy="329184"/>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Formal (ε, δ)-DP via Opacus guarantees mathematical anonymity on gradient updates</a:t>
            </a:r>
            <a:endParaRPr lang="en-US" sz="1100" dirty="0"/>
          </a:p>
        </p:txBody>
      </p:sp>
      <p:sp>
        <p:nvSpPr>
          <p:cNvPr id="13" name="Shape 10"/>
          <p:cNvSpPr/>
          <p:nvPr/>
        </p:nvSpPr>
        <p:spPr>
          <a:xfrm>
            <a:off x="475488" y="2944368"/>
            <a:ext cx="347472" cy="347472"/>
          </a:xfrm>
          <a:prstGeom prst="ellipse">
            <a:avLst/>
          </a:prstGeom>
          <a:solidFill>
            <a:srgbClr val="10B981">
              <a:alpha val="75000"/>
            </a:srgbClr>
          </a:solidFill>
          <a:ln w="12700">
            <a:solidFill>
              <a:srgbClr val="10B981"/>
            </a:solidFill>
            <a:prstDash val="solid"/>
          </a:ln>
        </p:spPr>
      </p:sp>
      <p:sp>
        <p:nvSpPr>
          <p:cNvPr id="14" name="Text 11"/>
          <p:cNvSpPr/>
          <p:nvPr/>
        </p:nvSpPr>
        <p:spPr>
          <a:xfrm>
            <a:off x="475488" y="2944368"/>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mbria" pitchFamily="34" charset="0"/>
                <a:ea typeface="Cambria" pitchFamily="34" charset="-122"/>
                <a:cs typeface="Cambria" pitchFamily="34" charset="-120"/>
              </a:rPr>
              <a:t>03</a:t>
            </a:r>
            <a:endParaRPr lang="en-US" sz="900" dirty="0"/>
          </a:p>
        </p:txBody>
      </p:sp>
      <p:sp>
        <p:nvSpPr>
          <p:cNvPr id="15" name="Text 12"/>
          <p:cNvSpPr/>
          <p:nvPr/>
        </p:nvSpPr>
        <p:spPr>
          <a:xfrm>
            <a:off x="932688" y="2953512"/>
            <a:ext cx="5715000" cy="329184"/>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Active adversarial evaluation (poisoning, free-rider, inference) builds provable resilience</a:t>
            </a:r>
            <a:endParaRPr lang="en-US" sz="1100" dirty="0"/>
          </a:p>
        </p:txBody>
      </p:sp>
      <p:sp>
        <p:nvSpPr>
          <p:cNvPr id="16" name="Shape 13"/>
          <p:cNvSpPr/>
          <p:nvPr/>
        </p:nvSpPr>
        <p:spPr>
          <a:xfrm>
            <a:off x="475488" y="3456432"/>
            <a:ext cx="347472" cy="347472"/>
          </a:xfrm>
          <a:prstGeom prst="ellipse">
            <a:avLst/>
          </a:prstGeom>
          <a:solidFill>
            <a:srgbClr val="F59E0B">
              <a:alpha val="75000"/>
            </a:srgbClr>
          </a:solidFill>
          <a:ln w="12700">
            <a:solidFill>
              <a:srgbClr val="F59E0B"/>
            </a:solidFill>
            <a:prstDash val="solid"/>
          </a:ln>
        </p:spPr>
      </p:sp>
      <p:sp>
        <p:nvSpPr>
          <p:cNvPr id="17" name="Text 14"/>
          <p:cNvSpPr/>
          <p:nvPr/>
        </p:nvSpPr>
        <p:spPr>
          <a:xfrm>
            <a:off x="475488" y="3456432"/>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mbria" pitchFamily="34" charset="0"/>
                <a:ea typeface="Cambria" pitchFamily="34" charset="-122"/>
                <a:cs typeface="Cambria" pitchFamily="34" charset="-120"/>
              </a:rPr>
              <a:t>04</a:t>
            </a:r>
            <a:endParaRPr lang="en-US" sz="900" dirty="0"/>
          </a:p>
        </p:txBody>
      </p:sp>
      <p:sp>
        <p:nvSpPr>
          <p:cNvPr id="18" name="Text 15"/>
          <p:cNvSpPr/>
          <p:nvPr/>
        </p:nvSpPr>
        <p:spPr>
          <a:xfrm>
            <a:off x="932688" y="3465576"/>
            <a:ext cx="5715000" cy="329184"/>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React SOC + WebSocket dashboard provides sub-200ms real-time threat visibility</a:t>
            </a:r>
            <a:endParaRPr lang="en-US" sz="1100" dirty="0"/>
          </a:p>
        </p:txBody>
      </p:sp>
      <p:sp>
        <p:nvSpPr>
          <p:cNvPr id="19" name="Shape 16"/>
          <p:cNvSpPr/>
          <p:nvPr/>
        </p:nvSpPr>
        <p:spPr>
          <a:xfrm>
            <a:off x="475488" y="3968496"/>
            <a:ext cx="347472" cy="347472"/>
          </a:xfrm>
          <a:prstGeom prst="ellipse">
            <a:avLst/>
          </a:prstGeom>
          <a:solidFill>
            <a:srgbClr val="A78BFA">
              <a:alpha val="75000"/>
            </a:srgbClr>
          </a:solidFill>
          <a:ln w="12700">
            <a:solidFill>
              <a:srgbClr val="A78BFA"/>
            </a:solidFill>
            <a:prstDash val="solid"/>
          </a:ln>
        </p:spPr>
      </p:sp>
      <p:sp>
        <p:nvSpPr>
          <p:cNvPr id="20" name="Text 17"/>
          <p:cNvSpPr/>
          <p:nvPr/>
        </p:nvSpPr>
        <p:spPr>
          <a:xfrm>
            <a:off x="475488" y="3968496"/>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mbria" pitchFamily="34" charset="0"/>
                <a:ea typeface="Cambria" pitchFamily="34" charset="-122"/>
                <a:cs typeface="Cambria" pitchFamily="34" charset="-120"/>
              </a:rPr>
              <a:t>05</a:t>
            </a:r>
            <a:endParaRPr lang="en-US" sz="900" dirty="0"/>
          </a:p>
        </p:txBody>
      </p:sp>
      <p:sp>
        <p:nvSpPr>
          <p:cNvPr id="21" name="Text 18"/>
          <p:cNvSpPr/>
          <p:nvPr/>
        </p:nvSpPr>
        <p:spPr>
          <a:xfrm>
            <a:off x="932688" y="3977640"/>
            <a:ext cx="5715000" cy="329184"/>
          </a:xfrm>
          <a:prstGeom prst="rect">
            <a:avLst/>
          </a:prstGeom>
          <a:noFill/>
          <a:ln/>
        </p:spPr>
        <p:txBody>
          <a:bodyPr wrap="square" lIns="0" tIns="0" rIns="0" bIns="0" rtlCol="0" anchor="ctr"/>
          <a:lstStyle/>
          <a:p>
            <a:pPr marL="0" indent="0" algn="l">
              <a:buNone/>
            </a:pPr>
            <a:r>
              <a:rPr lang="en-US" sz="1100" dirty="0">
                <a:solidFill>
                  <a:srgbClr val="E2E8F0"/>
                </a:solidFill>
                <a:latin typeface="Calibri" pitchFamily="34" charset="0"/>
                <a:ea typeface="Calibri" pitchFamily="34" charset="-122"/>
                <a:cs typeface="Calibri" pitchFamily="34" charset="-120"/>
              </a:rPr>
              <a:t>Claude API LLM integration automates forensic analysis — first-of-its-kind in edge IDS</a:t>
            </a:r>
            <a:endParaRPr lang="en-US" sz="1100" dirty="0"/>
          </a:p>
        </p:txBody>
      </p:sp>
      <p:sp>
        <p:nvSpPr>
          <p:cNvPr id="22" name="Shape 19"/>
          <p:cNvSpPr/>
          <p:nvPr/>
        </p:nvSpPr>
        <p:spPr>
          <a:xfrm>
            <a:off x="457200" y="4434840"/>
            <a:ext cx="8275320" cy="292608"/>
          </a:xfrm>
          <a:prstGeom prst="rect">
            <a:avLst/>
          </a:prstGeom>
          <a:solidFill>
            <a:srgbClr val="071020"/>
          </a:solidFill>
          <a:ln w="12700">
            <a:solidFill>
              <a:srgbClr val="00D4FF"/>
            </a:solidFill>
            <a:prstDash val="solid"/>
          </a:ln>
          <a:effectLst>
            <a:outerShdw blurRad="101600" dist="38100" dir="2700000" algn="bl" rotWithShape="0">
              <a:srgbClr val="000000">
                <a:alpha val="25000"/>
              </a:srgbClr>
            </a:outerShdw>
          </a:effectLst>
        </p:spPr>
      </p:sp>
      <p:sp>
        <p:nvSpPr>
          <p:cNvPr id="23" name="Text 20"/>
          <p:cNvSpPr/>
          <p:nvPr/>
        </p:nvSpPr>
        <p:spPr>
          <a:xfrm>
            <a:off x="594360" y="4462272"/>
            <a:ext cx="8001000" cy="237744"/>
          </a:xfrm>
          <a:prstGeom prst="rect">
            <a:avLst/>
          </a:prstGeom>
          <a:noFill/>
          <a:ln/>
        </p:spPr>
        <p:txBody>
          <a:bodyPr wrap="square" lIns="0" tIns="0" rIns="0" bIns="0" rtlCol="0" anchor="ctr"/>
          <a:lstStyle/>
          <a:p>
            <a:pPr marL="0" indent="0" algn="ctr">
              <a:buNone/>
            </a:pPr>
            <a:r>
              <a:rPr lang="en-US" sz="1100" b="1" dirty="0">
                <a:solidFill>
                  <a:srgbClr val="00D4FF"/>
                </a:solidFill>
                <a:latin typeface="Calibri" pitchFamily="34" charset="0"/>
                <a:ea typeface="Calibri" pitchFamily="34" charset="-122"/>
                <a:cs typeface="Calibri" pitchFamily="34" charset="-120"/>
              </a:rPr>
              <a:t>Thank You  ·  Questions Welcome  ·  Group 06  ·  CSE 499A  ·  North South University</a:t>
            </a:r>
            <a:endParaRPr lang="en-US" sz="1100" dirty="0"/>
          </a:p>
        </p:txBody>
      </p:sp>
      <p:sp>
        <p:nvSpPr>
          <p:cNvPr id="24" name="Shape 21"/>
          <p:cNvSpPr/>
          <p:nvPr/>
        </p:nvSpPr>
        <p:spPr>
          <a:xfrm>
            <a:off x="0" y="4800600"/>
            <a:ext cx="9144000" cy="342900"/>
          </a:xfrm>
          <a:prstGeom prst="rect">
            <a:avLst/>
          </a:prstGeom>
          <a:solidFill>
            <a:srgbClr val="071020"/>
          </a:solidFill>
          <a:ln w="12700">
            <a:solidFill>
              <a:srgbClr val="071020"/>
            </a:solidFill>
            <a:prstDash val="solid"/>
          </a:ln>
        </p:spPr>
      </p:sp>
      <p:sp>
        <p:nvSpPr>
          <p:cNvPr id="25" name="Shape 22"/>
          <p:cNvSpPr/>
          <p:nvPr/>
        </p:nvSpPr>
        <p:spPr>
          <a:xfrm>
            <a:off x="0" y="4796028"/>
            <a:ext cx="9144000" cy="13716"/>
          </a:xfrm>
          <a:prstGeom prst="rect">
            <a:avLst/>
          </a:prstGeom>
          <a:solidFill>
            <a:srgbClr val="0891B2"/>
          </a:solidFill>
          <a:ln w="12700">
            <a:solidFill>
              <a:srgbClr val="0891B2"/>
            </a:solidFill>
            <a:prstDash val="solid"/>
          </a:ln>
        </p:spPr>
      </p:sp>
      <p:sp>
        <p:nvSpPr>
          <p:cNvPr id="26" name="Text 23"/>
          <p:cNvSpPr/>
          <p:nvPr/>
        </p:nvSpPr>
        <p:spPr>
          <a:xfrm>
            <a:off x="274320" y="4805172"/>
            <a:ext cx="8229600" cy="320040"/>
          </a:xfrm>
          <a:prstGeom prst="rect">
            <a:avLst/>
          </a:prstGeom>
          <a:noFill/>
          <a:ln/>
        </p:spPr>
        <p:txBody>
          <a:bodyPr wrap="square" lIns="0" tIns="0" rIns="0" bIns="0"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Group 06  |  Md. Murad Ul Momin,  Rima Saha,  Sakia Tabassum Anonna,  Ashraful Hossain Riyan</a:t>
            </a:r>
            <a:endParaRPr lang="en-US" sz="800" dirty="0"/>
          </a:p>
        </p:txBody>
      </p:sp>
      <p:sp>
        <p:nvSpPr>
          <p:cNvPr id="27" name="Text 24"/>
          <p:cNvSpPr/>
          <p:nvPr/>
        </p:nvSpPr>
        <p:spPr>
          <a:xfrm>
            <a:off x="8503920" y="4805172"/>
            <a:ext cx="548640" cy="320040"/>
          </a:xfrm>
          <a:prstGeom prst="rect">
            <a:avLst/>
          </a:prstGeom>
          <a:noFill/>
          <a:ln/>
        </p:spPr>
        <p:txBody>
          <a:bodyPr wrap="square" lIns="0" tIns="0" rIns="0" bIns="0"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2827</Words>
  <Application>Microsoft Office PowerPoint</Application>
  <PresentationFormat>On-screen Show (16:9)</PresentationFormat>
  <Paragraphs>348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PRIVATE SHIELD</dc:title>
  <dc:subject>PptxGenJS Presentation</dc:subject>
  <dc:creator>Group 06 – CSE 499A</dc:creator>
  <cp:lastModifiedBy>Murad Ul Momin</cp:lastModifiedBy>
  <cp:revision>4</cp:revision>
  <dcterms:created xsi:type="dcterms:W3CDTF">2026-06-23T18:24:07Z</dcterms:created>
  <dcterms:modified xsi:type="dcterms:W3CDTF">2026-06-24T02:50:58Z</dcterms:modified>
</cp:coreProperties>
</file>