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AF4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AF4FF"/>
          </a:solidFill>
          <a:ln w="12700">
            <a:solidFill>
              <a:srgbClr val="EAF4FF">
                <a:alpha val="0"/>
              </a:srgbClr>
            </a:solidFill>
            <a:prstDash val="solid"/>
          </a:ln>
        </p:spPr>
      </p:sp>
      <p:sp>
        <p:nvSpPr>
          <p:cNvPr id="3" name="Text 1"/>
          <p:cNvSpPr/>
          <p:nvPr/>
        </p:nvSpPr>
        <p:spPr>
          <a:xfrm>
            <a:off x="658368" y="685800"/>
            <a:ext cx="2971800" cy="310896"/>
          </a:xfrm>
          <a:prstGeom prst="rect">
            <a:avLst/>
          </a:prstGeom>
          <a:solidFill>
            <a:srgbClr val="FFFFFF"/>
          </a:solidFill>
          <a:ln>
            <a:solidFill>
              <a:srgbClr val="FFFFFF"/>
            </a:solidFill>
          </a:ln>
        </p:spPr>
        <p:txBody>
          <a:bodyPr wrap="square" lIns="508" tIns="508" rIns="508" bIns="508" rtlCol="0" anchor="ctr">
            <a:normAutofit/>
          </a:bodyPr>
          <a:lstStyle/>
          <a:p>
            <a:pPr algn="ctr" indent="0" marL="0">
              <a:buNone/>
            </a:pPr>
            <a:r>
              <a:rPr lang="en-US" sz="1200" b="1" dirty="0">
                <a:solidFill>
                  <a:srgbClr val="2563EB"/>
                </a:solidFill>
              </a:rPr>
              <a:t>Python + HTML + Localhost</a:t>
            </a:r>
            <a:endParaRPr lang="en-US" sz="1200" dirty="0"/>
          </a:p>
        </p:txBody>
      </p:sp>
      <p:sp>
        <p:nvSpPr>
          <p:cNvPr id="4" name="Text 2"/>
          <p:cNvSpPr/>
          <p:nvPr/>
        </p:nvSpPr>
        <p:spPr>
          <a:xfrm>
            <a:off x="658368" y="1234440"/>
            <a:ext cx="6217920" cy="1417320"/>
          </a:xfrm>
          <a:prstGeom prst="rect">
            <a:avLst/>
          </a:prstGeom>
          <a:noFill/>
          <a:ln/>
        </p:spPr>
        <p:txBody>
          <a:bodyPr wrap="square" lIns="0" tIns="0" rIns="0" bIns="0" rtlCol="0" anchor="ctr"/>
          <a:lstStyle/>
          <a:p>
            <a:pPr indent="0" marL="0">
              <a:buNone/>
            </a:pPr>
            <a:r>
              <a:rPr lang="en-US" sz="4000" b="1" dirty="0">
                <a:solidFill>
                  <a:srgbClr val="102A43"/>
                </a:solidFill>
                <a:latin typeface="Aptos Display" pitchFamily="34" charset="0"/>
                <a:ea typeface="Aptos Display" pitchFamily="34" charset="-122"/>
                <a:cs typeface="Aptos Display" pitchFamily="34" charset="-120"/>
              </a:rPr>
              <a:t>How I can implement</a:t>
            </a:r>
            <a:endParaRPr lang="en-US" sz="4000" dirty="0"/>
          </a:p>
          <a:p>
            <a:pPr indent="0" marL="0">
              <a:buNone/>
            </a:pPr>
            <a:r>
              <a:rPr lang="en-US" sz="4000" b="1" dirty="0">
                <a:solidFill>
                  <a:srgbClr val="102A43"/>
                </a:solidFill>
                <a:latin typeface="Aptos Display" pitchFamily="34" charset="0"/>
                <a:ea typeface="Aptos Display" pitchFamily="34" charset="-122"/>
                <a:cs typeface="Aptos Display" pitchFamily="34" charset="-120"/>
              </a:rPr>
              <a:t>the research paper</a:t>
            </a:r>
            <a:endParaRPr lang="en-US" sz="4000" dirty="0"/>
          </a:p>
        </p:txBody>
      </p:sp>
      <p:sp>
        <p:nvSpPr>
          <p:cNvPr id="5" name="Text 3"/>
          <p:cNvSpPr/>
          <p:nvPr/>
        </p:nvSpPr>
        <p:spPr>
          <a:xfrm>
            <a:off x="713232" y="2743200"/>
            <a:ext cx="6400800" cy="411480"/>
          </a:xfrm>
          <a:prstGeom prst="rect">
            <a:avLst/>
          </a:prstGeom>
          <a:noFill/>
          <a:ln/>
        </p:spPr>
        <p:txBody>
          <a:bodyPr wrap="square" lIns="0" tIns="0" rIns="0" bIns="0" rtlCol="0" anchor="ctr"/>
          <a:lstStyle/>
          <a:p>
            <a:pPr indent="0" marL="0">
              <a:buNone/>
            </a:pPr>
            <a:r>
              <a:rPr lang="en-US" sz="1800" dirty="0">
                <a:solidFill>
                  <a:srgbClr val="334155"/>
                </a:solidFill>
              </a:rPr>
              <a:t>A simple localhost demo for Collaborative IoT Intrusion Detection</a:t>
            </a:r>
            <a:endParaRPr lang="en-US" sz="1800" dirty="0"/>
          </a:p>
        </p:txBody>
      </p:sp>
      <p:sp>
        <p:nvSpPr>
          <p:cNvPr id="6" name="Text 4"/>
          <p:cNvSpPr/>
          <p:nvPr/>
        </p:nvSpPr>
        <p:spPr>
          <a:xfrm>
            <a:off x="8001000" y="1143000"/>
            <a:ext cx="1508760" cy="960120"/>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1500" b="1" dirty="0">
                <a:solidFill>
                  <a:srgbClr val="111827"/>
                </a:solidFill>
              </a:rPr>
              <a:t>IoT Devices</a:t>
            </a:r>
            <a:endParaRPr lang="en-US" sz="1500" dirty="0"/>
          </a:p>
          <a:p>
            <a:pPr algn="ctr" indent="0" marL="0">
              <a:buNone/>
            </a:pPr>
            <a:r>
              <a:rPr lang="en-US" sz="1500" b="1" dirty="0">
                <a:solidFill>
                  <a:srgbClr val="111827"/>
                </a:solidFill>
              </a:rPr>
              <a:t>make data</a:t>
            </a:r>
            <a:endParaRPr lang="en-US" sz="1500" dirty="0"/>
          </a:p>
        </p:txBody>
      </p:sp>
      <p:sp>
        <p:nvSpPr>
          <p:cNvPr id="7" name="Text 5"/>
          <p:cNvSpPr/>
          <p:nvPr/>
        </p:nvSpPr>
        <p:spPr>
          <a:xfrm>
            <a:off x="9829800" y="1143000"/>
            <a:ext cx="1417320" cy="960120"/>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1500" b="1" dirty="0">
                <a:solidFill>
                  <a:srgbClr val="111827"/>
                </a:solidFill>
              </a:rPr>
              <a:t>Local</a:t>
            </a:r>
            <a:endParaRPr lang="en-US" sz="1500" dirty="0"/>
          </a:p>
          <a:p>
            <a:pPr algn="ctr" indent="0" marL="0">
              <a:buNone/>
            </a:pPr>
            <a:r>
              <a:rPr lang="en-US" sz="1500" b="1" dirty="0">
                <a:solidFill>
                  <a:srgbClr val="111827"/>
                </a:solidFill>
              </a:rPr>
              <a:t>Learning</a:t>
            </a:r>
            <a:endParaRPr lang="en-US" sz="1500" dirty="0"/>
          </a:p>
        </p:txBody>
      </p:sp>
      <p:sp>
        <p:nvSpPr>
          <p:cNvPr id="8" name="Text 6"/>
          <p:cNvSpPr/>
          <p:nvPr/>
        </p:nvSpPr>
        <p:spPr>
          <a:xfrm>
            <a:off x="8915400" y="2788920"/>
            <a:ext cx="1508760" cy="960120"/>
          </a:xfrm>
          <a:prstGeom prst="rect">
            <a:avLst/>
          </a:prstGeom>
          <a:solidFill>
            <a:srgbClr val="FFF1C2"/>
          </a:solidFill>
          <a:ln>
            <a:solidFill>
              <a:srgbClr val="FFF1C2"/>
            </a:solidFill>
          </a:ln>
        </p:spPr>
        <p:txBody>
          <a:bodyPr wrap="square" lIns="1524" tIns="1524" rIns="1524" bIns="1524" rtlCol="0" anchor="ctr">
            <a:normAutofit/>
          </a:bodyPr>
          <a:lstStyle/>
          <a:p>
            <a:pPr algn="ctr" indent="0" marL="0">
              <a:buNone/>
            </a:pPr>
            <a:r>
              <a:rPr lang="en-US" sz="1500" b="1" dirty="0">
                <a:solidFill>
                  <a:srgbClr val="111827"/>
                </a:solidFill>
              </a:rPr>
              <a:t>Attack</a:t>
            </a:r>
            <a:endParaRPr lang="en-US" sz="1500" dirty="0"/>
          </a:p>
          <a:p>
            <a:pPr algn="ctr" indent="0" marL="0">
              <a:buNone/>
            </a:pPr>
            <a:r>
              <a:rPr lang="en-US" sz="1500" b="1" dirty="0">
                <a:solidFill>
                  <a:srgbClr val="111827"/>
                </a:solidFill>
              </a:rPr>
              <a:t>Alert</a:t>
            </a:r>
            <a:endParaRPr lang="en-US" sz="1500" dirty="0"/>
          </a:p>
        </p:txBody>
      </p:sp>
      <p:sp>
        <p:nvSpPr>
          <p:cNvPr id="9" name="Shape 7"/>
          <p:cNvSpPr/>
          <p:nvPr/>
        </p:nvSpPr>
        <p:spPr>
          <a:xfrm>
            <a:off x="9509760" y="1600200"/>
            <a:ext cx="301752" cy="0"/>
          </a:xfrm>
          <a:prstGeom prst="line">
            <a:avLst/>
          </a:prstGeom>
          <a:noFill/>
          <a:ln w="19050">
            <a:solidFill>
              <a:srgbClr val="2563EB"/>
            </a:solidFill>
            <a:prstDash val="solid"/>
            <a:headEnd type="none"/>
            <a:tailEnd type="triangle"/>
          </a:ln>
        </p:spPr>
      </p:sp>
      <p:sp>
        <p:nvSpPr>
          <p:cNvPr id="10" name="Shape 8"/>
          <p:cNvSpPr/>
          <p:nvPr/>
        </p:nvSpPr>
        <p:spPr>
          <a:xfrm>
            <a:off x="10561320" y="2103120"/>
            <a:ext cx="-822960" cy="667512"/>
          </a:xfrm>
          <a:prstGeom prst="line">
            <a:avLst/>
          </a:prstGeom>
          <a:noFill/>
          <a:ln w="19050">
            <a:solidFill>
              <a:srgbClr val="2563EB"/>
            </a:solidFill>
            <a:prstDash val="solid"/>
            <a:headEnd type="none"/>
            <a:tailEnd type="triangle"/>
          </a:ln>
        </p:spPr>
      </p:sp>
      <p:sp>
        <p:nvSpPr>
          <p:cNvPr id="11" name="Shape 9"/>
          <p:cNvSpPr/>
          <p:nvPr/>
        </p:nvSpPr>
        <p:spPr>
          <a:xfrm>
            <a:off x="8732520" y="2103120"/>
            <a:ext cx="457200" cy="667512"/>
          </a:xfrm>
          <a:prstGeom prst="line">
            <a:avLst/>
          </a:prstGeom>
          <a:noFill/>
          <a:ln w="19050">
            <a:solidFill>
              <a:srgbClr val="2563EB"/>
            </a:solidFill>
            <a:prstDash val="solid"/>
            <a:headEnd type="none"/>
            <a:tailEnd type="triangle"/>
          </a:ln>
        </p:spPr>
      </p:sp>
      <p:sp>
        <p:nvSpPr>
          <p:cNvPr id="12" name="Text 10"/>
          <p:cNvSpPr/>
          <p:nvPr/>
        </p:nvSpPr>
        <p:spPr>
          <a:xfrm>
            <a:off x="713232" y="4892040"/>
            <a:ext cx="9784080" cy="384048"/>
          </a:xfrm>
          <a:prstGeom prst="rect">
            <a:avLst/>
          </a:prstGeom>
          <a:noFill/>
          <a:ln/>
        </p:spPr>
        <p:txBody>
          <a:bodyPr wrap="square" lIns="0" tIns="0" rIns="0" bIns="0" rtlCol="0" anchor="ctr"/>
          <a:lstStyle/>
          <a:p>
            <a:pPr indent="0" marL="0">
              <a:buNone/>
            </a:pPr>
            <a:r>
              <a:rPr lang="en-US" sz="1900" b="1" dirty="0">
                <a:solidFill>
                  <a:srgbClr val="102A43"/>
                </a:solidFill>
              </a:rPr>
              <a:t>Main idea: many small devices learn together, but raw data stays local.</a:t>
            </a:r>
            <a:endParaRPr lang="en-US" sz="1900" dirty="0"/>
          </a:p>
        </p:txBody>
      </p:sp>
      <p:sp>
        <p:nvSpPr>
          <p:cNvPr id="13" name="Text 11"/>
          <p:cNvSpPr/>
          <p:nvPr/>
        </p:nvSpPr>
        <p:spPr>
          <a:xfrm>
            <a:off x="713232" y="5358384"/>
            <a:ext cx="9875520" cy="329184"/>
          </a:xfrm>
          <a:prstGeom prst="rect">
            <a:avLst/>
          </a:prstGeom>
          <a:noFill/>
          <a:ln/>
        </p:spPr>
        <p:txBody>
          <a:bodyPr wrap="square" lIns="0" tIns="0" rIns="0" bIns="0" rtlCol="0" anchor="ctr"/>
          <a:lstStyle/>
          <a:p>
            <a:pPr indent="0" marL="0">
              <a:buNone/>
            </a:pPr>
            <a:r>
              <a:rPr lang="en-US" sz="1500" dirty="0">
                <a:solidFill>
                  <a:srgbClr val="334155"/>
                </a:solidFill>
              </a:rPr>
              <a:t>This is a classroom-friendly prototype, not a full real IoT hardware deployment.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2563EB"/>
          </a:solidFill>
          <a:ln w="12700">
            <a:solidFill>
              <a:srgbClr val="2563EB">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What the paper idea becomes in my project</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I will turn the paper concepts into a small working website on my computer.</a:t>
            </a:r>
            <a:endParaRPr lang="en-US" sz="1500" dirty="0"/>
          </a:p>
        </p:txBody>
      </p:sp>
      <p:sp>
        <p:nvSpPr>
          <p:cNvPr id="7" name="Text 5"/>
          <p:cNvSpPr/>
          <p:nvPr/>
        </p:nvSpPr>
        <p:spPr>
          <a:xfrm>
            <a:off x="685800" y="1417320"/>
            <a:ext cx="5074920" cy="841248"/>
          </a:xfrm>
          <a:prstGeom prst="rect">
            <a:avLst/>
          </a:prstGeom>
          <a:solidFill>
            <a:srgbClr val="D8ECFF"/>
          </a:solidFill>
          <a:ln>
            <a:solidFill>
              <a:srgbClr val="D8ECFF">
                <a:alpha val="0"/>
              </a:srgbClr>
            </a:solidFill>
          </a:ln>
        </p:spPr>
        <p:txBody>
          <a:bodyPr wrap="square" lIns="1524" tIns="1524" rIns="1524" bIns="1524" rtlCol="0" anchor="t">
            <a:normAutofit/>
          </a:bodyPr>
          <a:lstStyle/>
          <a:p>
            <a:pPr algn="l" indent="0" marL="0">
              <a:buNone/>
            </a:pPr>
            <a:r>
              <a:rPr lang="en-US" sz="1600" dirty="0">
                <a:solidFill>
                  <a:srgbClr val="111827"/>
                </a:solidFill>
              </a:rPr>
              <a:t>Paper idea</a:t>
            </a:r>
            <a:endParaRPr lang="en-US" sz="1600" dirty="0"/>
          </a:p>
          <a:p>
            <a:pPr algn="l" indent="0" marL="0">
              <a:buNone/>
            </a:pPr>
            <a:r>
              <a:rPr lang="en-US" sz="1600" dirty="0">
                <a:solidFill>
                  <a:srgbClr val="111827"/>
                </a:solidFill>
              </a:rPr>
              <a:t>IoT devices can be weak and easy to attack.</a:t>
            </a:r>
            <a:endParaRPr lang="en-US" sz="1600" dirty="0"/>
          </a:p>
        </p:txBody>
      </p:sp>
      <p:sp>
        <p:nvSpPr>
          <p:cNvPr id="8" name="Text 6"/>
          <p:cNvSpPr/>
          <p:nvPr/>
        </p:nvSpPr>
        <p:spPr>
          <a:xfrm>
            <a:off x="6446520" y="1417320"/>
            <a:ext cx="4892040" cy="841248"/>
          </a:xfrm>
          <a:prstGeom prst="rect">
            <a:avLst/>
          </a:prstGeom>
          <a:solidFill>
            <a:srgbClr val="FFFFFF"/>
          </a:solidFill>
          <a:ln>
            <a:solidFill>
              <a:srgbClr val="E2E8F0"/>
            </a:solidFill>
          </a:ln>
        </p:spPr>
        <p:txBody>
          <a:bodyPr wrap="square" lIns="1524" tIns="1524" rIns="1524" bIns="1524" rtlCol="0" anchor="t">
            <a:normAutofit/>
          </a:bodyPr>
          <a:lstStyle/>
          <a:p>
            <a:pPr algn="l" indent="0" marL="0">
              <a:buNone/>
            </a:pPr>
            <a:r>
              <a:rPr lang="en-US" sz="1600" dirty="0">
                <a:solidFill>
                  <a:srgbClr val="111827"/>
                </a:solidFill>
              </a:rPr>
              <a:t>My code idea</a:t>
            </a:r>
            <a:endParaRPr lang="en-US" sz="1600" dirty="0"/>
          </a:p>
          <a:p>
            <a:pPr algn="l" indent="0" marL="0">
              <a:buNone/>
            </a:pPr>
            <a:r>
              <a:rPr lang="en-US" sz="1600" dirty="0">
                <a:solidFill>
                  <a:srgbClr val="111827"/>
                </a:solidFill>
              </a:rPr>
              <a:t>Make virtual IoT devices using Python.</a:t>
            </a:r>
            <a:endParaRPr lang="en-US" sz="1600" dirty="0"/>
          </a:p>
        </p:txBody>
      </p:sp>
      <p:sp>
        <p:nvSpPr>
          <p:cNvPr id="9" name="Shape 7"/>
          <p:cNvSpPr/>
          <p:nvPr/>
        </p:nvSpPr>
        <p:spPr>
          <a:xfrm>
            <a:off x="5833872" y="1837944"/>
            <a:ext cx="521208" cy="0"/>
          </a:xfrm>
          <a:prstGeom prst="line">
            <a:avLst/>
          </a:prstGeom>
          <a:noFill/>
          <a:ln w="19050">
            <a:solidFill>
              <a:srgbClr val="2563EB"/>
            </a:solidFill>
            <a:prstDash val="solid"/>
            <a:headEnd type="none"/>
            <a:tailEnd type="triangle"/>
          </a:ln>
        </p:spPr>
      </p:sp>
      <p:sp>
        <p:nvSpPr>
          <p:cNvPr id="10" name="Text 8"/>
          <p:cNvSpPr/>
          <p:nvPr/>
        </p:nvSpPr>
        <p:spPr>
          <a:xfrm>
            <a:off x="685800" y="2651760"/>
            <a:ext cx="5074920" cy="841248"/>
          </a:xfrm>
          <a:prstGeom prst="rect">
            <a:avLst/>
          </a:prstGeom>
          <a:solidFill>
            <a:srgbClr val="FCE7F3"/>
          </a:solidFill>
          <a:ln>
            <a:solidFill>
              <a:srgbClr val="FCE7F3">
                <a:alpha val="0"/>
              </a:srgbClr>
            </a:solidFill>
          </a:ln>
        </p:spPr>
        <p:txBody>
          <a:bodyPr wrap="square" lIns="1524" tIns="1524" rIns="1524" bIns="1524" rtlCol="0" anchor="t">
            <a:normAutofit/>
          </a:bodyPr>
          <a:lstStyle/>
          <a:p>
            <a:pPr algn="l" indent="0" marL="0">
              <a:buNone/>
            </a:pPr>
            <a:r>
              <a:rPr lang="en-US" sz="1600" dirty="0">
                <a:solidFill>
                  <a:srgbClr val="111827"/>
                </a:solidFill>
              </a:rPr>
              <a:t>Paper idea</a:t>
            </a:r>
            <a:endParaRPr lang="en-US" sz="1600" dirty="0"/>
          </a:p>
          <a:p>
            <a:pPr algn="l" indent="0" marL="0">
              <a:buNone/>
            </a:pPr>
            <a:r>
              <a:rPr lang="en-US" sz="1600" dirty="0">
                <a:solidFill>
                  <a:srgbClr val="111827"/>
                </a:solidFill>
              </a:rPr>
              <a:t>IDS watches traffic and finds strange behaviour.</a:t>
            </a:r>
            <a:endParaRPr lang="en-US" sz="1600" dirty="0"/>
          </a:p>
        </p:txBody>
      </p:sp>
      <p:sp>
        <p:nvSpPr>
          <p:cNvPr id="11" name="Text 9"/>
          <p:cNvSpPr/>
          <p:nvPr/>
        </p:nvSpPr>
        <p:spPr>
          <a:xfrm>
            <a:off x="6446520" y="2651760"/>
            <a:ext cx="4892040" cy="841248"/>
          </a:xfrm>
          <a:prstGeom prst="rect">
            <a:avLst/>
          </a:prstGeom>
          <a:solidFill>
            <a:srgbClr val="FFFFFF"/>
          </a:solidFill>
          <a:ln>
            <a:solidFill>
              <a:srgbClr val="E2E8F0"/>
            </a:solidFill>
          </a:ln>
        </p:spPr>
        <p:txBody>
          <a:bodyPr wrap="square" lIns="1524" tIns="1524" rIns="1524" bIns="1524" rtlCol="0" anchor="t">
            <a:normAutofit/>
          </a:bodyPr>
          <a:lstStyle/>
          <a:p>
            <a:pPr algn="l" indent="0" marL="0">
              <a:buNone/>
            </a:pPr>
            <a:r>
              <a:rPr lang="en-US" sz="1600" dirty="0">
                <a:solidFill>
                  <a:srgbClr val="111827"/>
                </a:solidFill>
              </a:rPr>
              <a:t>My code idea</a:t>
            </a:r>
            <a:endParaRPr lang="en-US" sz="1600" dirty="0"/>
          </a:p>
          <a:p>
            <a:pPr algn="l" indent="0" marL="0">
              <a:buNone/>
            </a:pPr>
            <a:r>
              <a:rPr lang="en-US" sz="1600" dirty="0">
                <a:solidFill>
                  <a:srgbClr val="111827"/>
                </a:solidFill>
              </a:rPr>
              <a:t>Python model predicts Normal or Attack.</a:t>
            </a:r>
            <a:endParaRPr lang="en-US" sz="1600" dirty="0"/>
          </a:p>
        </p:txBody>
      </p:sp>
      <p:sp>
        <p:nvSpPr>
          <p:cNvPr id="12" name="Shape 10"/>
          <p:cNvSpPr/>
          <p:nvPr/>
        </p:nvSpPr>
        <p:spPr>
          <a:xfrm>
            <a:off x="5833872" y="3072384"/>
            <a:ext cx="521208" cy="0"/>
          </a:xfrm>
          <a:prstGeom prst="line">
            <a:avLst/>
          </a:prstGeom>
          <a:noFill/>
          <a:ln w="19050">
            <a:solidFill>
              <a:srgbClr val="2563EB"/>
            </a:solidFill>
            <a:prstDash val="solid"/>
            <a:headEnd type="none"/>
            <a:tailEnd type="triangle"/>
          </a:ln>
        </p:spPr>
      </p:sp>
      <p:sp>
        <p:nvSpPr>
          <p:cNvPr id="13" name="Text 11"/>
          <p:cNvSpPr/>
          <p:nvPr/>
        </p:nvSpPr>
        <p:spPr>
          <a:xfrm>
            <a:off x="685800" y="3886200"/>
            <a:ext cx="5074920" cy="841248"/>
          </a:xfrm>
          <a:prstGeom prst="rect">
            <a:avLst/>
          </a:prstGeom>
          <a:solidFill>
            <a:srgbClr val="EDE9FE"/>
          </a:solidFill>
          <a:ln>
            <a:solidFill>
              <a:srgbClr val="EDE9FE">
                <a:alpha val="0"/>
              </a:srgbClr>
            </a:solidFill>
          </a:ln>
        </p:spPr>
        <p:txBody>
          <a:bodyPr wrap="square" lIns="1524" tIns="1524" rIns="1524" bIns="1524" rtlCol="0" anchor="t">
            <a:normAutofit/>
          </a:bodyPr>
          <a:lstStyle/>
          <a:p>
            <a:pPr algn="l" indent="0" marL="0">
              <a:buNone/>
            </a:pPr>
            <a:r>
              <a:rPr lang="en-US" sz="1600" dirty="0">
                <a:solidFill>
                  <a:srgbClr val="111827"/>
                </a:solidFill>
              </a:rPr>
              <a:t>Paper idea</a:t>
            </a:r>
            <a:endParaRPr lang="en-US" sz="1600" dirty="0"/>
          </a:p>
          <a:p>
            <a:pPr algn="l" indent="0" marL="0">
              <a:buNone/>
            </a:pPr>
            <a:r>
              <a:rPr lang="en-US" sz="1600" dirty="0">
                <a:solidFill>
                  <a:srgbClr val="111827"/>
                </a:solidFill>
              </a:rPr>
              <a:t>Federated Learning keeps raw data local.</a:t>
            </a:r>
            <a:endParaRPr lang="en-US" sz="1600" dirty="0"/>
          </a:p>
        </p:txBody>
      </p:sp>
      <p:sp>
        <p:nvSpPr>
          <p:cNvPr id="14" name="Text 12"/>
          <p:cNvSpPr/>
          <p:nvPr/>
        </p:nvSpPr>
        <p:spPr>
          <a:xfrm>
            <a:off x="6446520" y="3886200"/>
            <a:ext cx="4892040" cy="841248"/>
          </a:xfrm>
          <a:prstGeom prst="rect">
            <a:avLst/>
          </a:prstGeom>
          <a:solidFill>
            <a:srgbClr val="FFFFFF"/>
          </a:solidFill>
          <a:ln>
            <a:solidFill>
              <a:srgbClr val="E2E8F0"/>
            </a:solidFill>
          </a:ln>
        </p:spPr>
        <p:txBody>
          <a:bodyPr wrap="square" lIns="1524" tIns="1524" rIns="1524" bIns="1524" rtlCol="0" anchor="t">
            <a:normAutofit/>
          </a:bodyPr>
          <a:lstStyle/>
          <a:p>
            <a:pPr algn="l" indent="0" marL="0">
              <a:buNone/>
            </a:pPr>
            <a:r>
              <a:rPr lang="en-US" sz="1600" dirty="0">
                <a:solidFill>
                  <a:srgbClr val="111827"/>
                </a:solidFill>
              </a:rPr>
              <a:t>My code idea</a:t>
            </a:r>
            <a:endParaRPr lang="en-US" sz="1600" dirty="0"/>
          </a:p>
          <a:p>
            <a:pPr algn="l" indent="0" marL="0">
              <a:buNone/>
            </a:pPr>
            <a:r>
              <a:rPr lang="en-US" sz="1600" dirty="0">
                <a:solidFill>
                  <a:srgbClr val="111827"/>
                </a:solidFill>
              </a:rPr>
              <a:t>Each device trains locally; server averages updates.</a:t>
            </a:r>
            <a:endParaRPr lang="en-US" sz="1600" dirty="0"/>
          </a:p>
        </p:txBody>
      </p:sp>
      <p:sp>
        <p:nvSpPr>
          <p:cNvPr id="15" name="Shape 13"/>
          <p:cNvSpPr/>
          <p:nvPr/>
        </p:nvSpPr>
        <p:spPr>
          <a:xfrm>
            <a:off x="5833872" y="4306824"/>
            <a:ext cx="521208" cy="0"/>
          </a:xfrm>
          <a:prstGeom prst="line">
            <a:avLst/>
          </a:prstGeom>
          <a:noFill/>
          <a:ln w="19050">
            <a:solidFill>
              <a:srgbClr val="2563EB"/>
            </a:solidFill>
            <a:prstDash val="solid"/>
            <a:headEnd type="none"/>
            <a:tailEnd type="triangle"/>
          </a:ln>
        </p:spPr>
      </p:sp>
      <p:sp>
        <p:nvSpPr>
          <p:cNvPr id="16" name="Text 14"/>
          <p:cNvSpPr/>
          <p:nvPr/>
        </p:nvSpPr>
        <p:spPr>
          <a:xfrm>
            <a:off x="1143000" y="5513832"/>
            <a:ext cx="9875520" cy="411480"/>
          </a:xfrm>
          <a:prstGeom prst="rect">
            <a:avLst/>
          </a:prstGeom>
          <a:noFill/>
          <a:ln/>
        </p:spPr>
        <p:txBody>
          <a:bodyPr wrap="square" lIns="0" tIns="0" rIns="0" bIns="0" rtlCol="0" anchor="ctr"/>
          <a:lstStyle/>
          <a:p>
            <a:pPr algn="ctr" indent="0" marL="0">
              <a:buNone/>
            </a:pPr>
            <a:r>
              <a:rPr lang="en-US" sz="2200" b="1" dirty="0">
                <a:solidFill>
                  <a:srgbClr val="16A34A"/>
                </a:solidFill>
              </a:rPr>
              <a:t>Result: a safe simulation that shows the research idea clearly.</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16A34A"/>
          </a:solidFill>
          <a:ln w="12700">
            <a:solidFill>
              <a:srgbClr val="16A34A">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Full localhost workflow</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Everything runs on one computer using Python and browser pages.</a:t>
            </a:r>
            <a:endParaRPr lang="en-US" sz="1500" dirty="0"/>
          </a:p>
        </p:txBody>
      </p:sp>
      <p:sp>
        <p:nvSpPr>
          <p:cNvPr id="7" name="Shape 5"/>
          <p:cNvSpPr/>
          <p:nvPr/>
        </p:nvSpPr>
        <p:spPr>
          <a:xfrm>
            <a:off x="2331720" y="2743200"/>
            <a:ext cx="704088" cy="0"/>
          </a:xfrm>
          <a:prstGeom prst="line">
            <a:avLst/>
          </a:prstGeom>
          <a:noFill/>
          <a:ln w="19050">
            <a:solidFill>
              <a:srgbClr val="2563EB"/>
            </a:solidFill>
            <a:prstDash val="solid"/>
            <a:headEnd type="none"/>
            <a:tailEnd type="triangle"/>
          </a:ln>
        </p:spPr>
      </p:sp>
      <p:sp>
        <p:nvSpPr>
          <p:cNvPr id="8" name="Shape 6"/>
          <p:cNvSpPr/>
          <p:nvPr/>
        </p:nvSpPr>
        <p:spPr>
          <a:xfrm>
            <a:off x="4370832" y="2743200"/>
            <a:ext cx="704088" cy="0"/>
          </a:xfrm>
          <a:prstGeom prst="line">
            <a:avLst/>
          </a:prstGeom>
          <a:noFill/>
          <a:ln w="19050">
            <a:solidFill>
              <a:srgbClr val="2563EB"/>
            </a:solidFill>
            <a:prstDash val="solid"/>
            <a:headEnd type="none"/>
            <a:tailEnd type="triangle"/>
          </a:ln>
        </p:spPr>
      </p:sp>
      <p:sp>
        <p:nvSpPr>
          <p:cNvPr id="9" name="Shape 7"/>
          <p:cNvSpPr/>
          <p:nvPr/>
        </p:nvSpPr>
        <p:spPr>
          <a:xfrm>
            <a:off x="6400800" y="2743200"/>
            <a:ext cx="704088" cy="0"/>
          </a:xfrm>
          <a:prstGeom prst="line">
            <a:avLst/>
          </a:prstGeom>
          <a:noFill/>
          <a:ln w="19050">
            <a:solidFill>
              <a:srgbClr val="2563EB"/>
            </a:solidFill>
            <a:prstDash val="solid"/>
            <a:headEnd type="none"/>
            <a:tailEnd type="triangle"/>
          </a:ln>
        </p:spPr>
      </p:sp>
      <p:sp>
        <p:nvSpPr>
          <p:cNvPr id="10" name="Shape 8"/>
          <p:cNvSpPr/>
          <p:nvPr/>
        </p:nvSpPr>
        <p:spPr>
          <a:xfrm>
            <a:off x="8430768" y="2743200"/>
            <a:ext cx="713232" cy="0"/>
          </a:xfrm>
          <a:prstGeom prst="line">
            <a:avLst/>
          </a:prstGeom>
          <a:noFill/>
          <a:ln w="19050">
            <a:solidFill>
              <a:srgbClr val="2563EB"/>
            </a:solidFill>
            <a:prstDash val="solid"/>
            <a:headEnd type="none"/>
            <a:tailEnd type="triangle"/>
          </a:ln>
        </p:spPr>
      </p:sp>
      <p:sp>
        <p:nvSpPr>
          <p:cNvPr id="11" name="Text 9"/>
          <p:cNvSpPr/>
          <p:nvPr/>
        </p:nvSpPr>
        <p:spPr>
          <a:xfrm>
            <a:off x="685800" y="1965960"/>
            <a:ext cx="1691640" cy="1554480"/>
          </a:xfrm>
          <a:prstGeom prst="rect">
            <a:avLst/>
          </a:prstGeom>
          <a:solidFill>
            <a:srgbClr val="D8ECFF"/>
          </a:solidFill>
          <a:ln>
            <a:solidFill>
              <a:srgbClr val="D8ECFF"/>
            </a:solidFill>
          </a:ln>
        </p:spPr>
        <p:txBody>
          <a:bodyPr wrap="square" lIns="1524" tIns="1524" rIns="1524" bIns="1524" rtlCol="0" anchor="ctr">
            <a:normAutofit/>
          </a:bodyPr>
          <a:lstStyle/>
          <a:p>
            <a:pPr algn="ctr" indent="0" marL="0">
              <a:buNone/>
            </a:pPr>
            <a:r>
              <a:rPr lang="en-US" sz="1800" b="1" dirty="0">
                <a:solidFill>
                  <a:srgbClr val="111827"/>
                </a:solidFill>
              </a:rPr>
              <a:t>1</a:t>
            </a:r>
            <a:endParaRPr lang="en-US" sz="1800" dirty="0"/>
          </a:p>
          <a:p>
            <a:pPr algn="ctr" indent="0" marL="0">
              <a:buNone/>
            </a:pPr>
            <a:r>
              <a:rPr lang="en-US" sz="1800" b="1" dirty="0">
                <a:solidFill>
                  <a:srgbClr val="111827"/>
                </a:solidFill>
              </a:rPr>
              <a:t>Virtual</a:t>
            </a:r>
            <a:endParaRPr lang="en-US" sz="1800" dirty="0"/>
          </a:p>
          <a:p>
            <a:pPr algn="ctr" indent="0" marL="0">
              <a:buNone/>
            </a:pPr>
            <a:r>
              <a:rPr lang="en-US" sz="1800" b="1" dirty="0">
                <a:solidFill>
                  <a:srgbClr val="111827"/>
                </a:solidFill>
              </a:rPr>
              <a:t>IoT Devices</a:t>
            </a:r>
            <a:endParaRPr lang="en-US" sz="1800" dirty="0"/>
          </a:p>
        </p:txBody>
      </p:sp>
      <p:sp>
        <p:nvSpPr>
          <p:cNvPr id="12" name="Text 10"/>
          <p:cNvSpPr/>
          <p:nvPr/>
        </p:nvSpPr>
        <p:spPr>
          <a:xfrm>
            <a:off x="3063240" y="1965960"/>
            <a:ext cx="1691640" cy="1554480"/>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1800" b="1" dirty="0">
                <a:solidFill>
                  <a:srgbClr val="111827"/>
                </a:solidFill>
              </a:rPr>
              <a:t>2</a:t>
            </a:r>
            <a:endParaRPr lang="en-US" sz="1800" dirty="0"/>
          </a:p>
          <a:p>
            <a:pPr algn="ctr" indent="0" marL="0">
              <a:buNone/>
            </a:pPr>
            <a:r>
              <a:rPr lang="en-US" sz="1800" b="1" dirty="0">
                <a:solidFill>
                  <a:srgbClr val="111827"/>
                </a:solidFill>
              </a:rPr>
              <a:t>Generate</a:t>
            </a:r>
            <a:endParaRPr lang="en-US" sz="1800" dirty="0"/>
          </a:p>
          <a:p>
            <a:pPr algn="ctr" indent="0" marL="0">
              <a:buNone/>
            </a:pPr>
            <a:r>
              <a:rPr lang="en-US" sz="1800" b="1" dirty="0">
                <a:solidFill>
                  <a:srgbClr val="111827"/>
                </a:solidFill>
              </a:rPr>
              <a:t>Data</a:t>
            </a:r>
            <a:endParaRPr lang="en-US" sz="1800" dirty="0"/>
          </a:p>
        </p:txBody>
      </p:sp>
      <p:sp>
        <p:nvSpPr>
          <p:cNvPr id="13" name="Text 11"/>
          <p:cNvSpPr/>
          <p:nvPr/>
        </p:nvSpPr>
        <p:spPr>
          <a:xfrm>
            <a:off x="5074920" y="1965960"/>
            <a:ext cx="1691640" cy="1554480"/>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1800" b="1" dirty="0">
                <a:solidFill>
                  <a:srgbClr val="111827"/>
                </a:solidFill>
              </a:rPr>
              <a:t>3</a:t>
            </a:r>
            <a:endParaRPr lang="en-US" sz="1800" dirty="0"/>
          </a:p>
          <a:p>
            <a:pPr algn="ctr" indent="0" marL="0">
              <a:buNone/>
            </a:pPr>
            <a:r>
              <a:rPr lang="en-US" sz="1800" b="1" dirty="0">
                <a:solidFill>
                  <a:srgbClr val="111827"/>
                </a:solidFill>
              </a:rPr>
              <a:t>Local</a:t>
            </a:r>
            <a:endParaRPr lang="en-US" sz="1800" dirty="0"/>
          </a:p>
          <a:p>
            <a:pPr algn="ctr" indent="0" marL="0">
              <a:buNone/>
            </a:pPr>
            <a:r>
              <a:rPr lang="en-US" sz="1800" b="1" dirty="0">
                <a:solidFill>
                  <a:srgbClr val="111827"/>
                </a:solidFill>
              </a:rPr>
              <a:t>Training</a:t>
            </a:r>
            <a:endParaRPr lang="en-US" sz="1800" dirty="0"/>
          </a:p>
        </p:txBody>
      </p:sp>
      <p:sp>
        <p:nvSpPr>
          <p:cNvPr id="14" name="Text 12"/>
          <p:cNvSpPr/>
          <p:nvPr/>
        </p:nvSpPr>
        <p:spPr>
          <a:xfrm>
            <a:off x="7132320" y="1965960"/>
            <a:ext cx="1691640" cy="1554480"/>
          </a:xfrm>
          <a:prstGeom prst="rect">
            <a:avLst/>
          </a:prstGeom>
          <a:solidFill>
            <a:srgbClr val="FFF1C2"/>
          </a:solidFill>
          <a:ln>
            <a:solidFill>
              <a:srgbClr val="FFF1C2"/>
            </a:solidFill>
          </a:ln>
        </p:spPr>
        <p:txBody>
          <a:bodyPr wrap="square" lIns="1524" tIns="1524" rIns="1524" bIns="1524" rtlCol="0" anchor="ctr">
            <a:normAutofit/>
          </a:bodyPr>
          <a:lstStyle/>
          <a:p>
            <a:pPr algn="ctr" indent="0" marL="0">
              <a:buNone/>
            </a:pPr>
            <a:r>
              <a:rPr lang="en-US" sz="1800" b="1" dirty="0">
                <a:solidFill>
                  <a:srgbClr val="111827"/>
                </a:solidFill>
              </a:rPr>
              <a:t>4</a:t>
            </a:r>
            <a:endParaRPr lang="en-US" sz="1800" dirty="0"/>
          </a:p>
          <a:p>
            <a:pPr algn="ctr" indent="0" marL="0">
              <a:buNone/>
            </a:pPr>
            <a:r>
              <a:rPr lang="en-US" sz="1800" b="1" dirty="0">
                <a:solidFill>
                  <a:srgbClr val="111827"/>
                </a:solidFill>
              </a:rPr>
              <a:t>FedAvg</a:t>
            </a:r>
            <a:endParaRPr lang="en-US" sz="1800" dirty="0"/>
          </a:p>
          <a:p>
            <a:pPr algn="ctr" indent="0" marL="0">
              <a:buNone/>
            </a:pPr>
            <a:r>
              <a:rPr lang="en-US" sz="1800" b="1" dirty="0">
                <a:solidFill>
                  <a:srgbClr val="111827"/>
                </a:solidFill>
              </a:rPr>
              <a:t>Server</a:t>
            </a:r>
            <a:endParaRPr lang="en-US" sz="1800" dirty="0"/>
          </a:p>
        </p:txBody>
      </p:sp>
      <p:sp>
        <p:nvSpPr>
          <p:cNvPr id="15" name="Text 13"/>
          <p:cNvSpPr/>
          <p:nvPr/>
        </p:nvSpPr>
        <p:spPr>
          <a:xfrm>
            <a:off x="9144000" y="1965960"/>
            <a:ext cx="1691640" cy="1554480"/>
          </a:xfrm>
          <a:prstGeom prst="rect">
            <a:avLst/>
          </a:prstGeom>
          <a:solidFill>
            <a:srgbClr val="EDE9FE"/>
          </a:solidFill>
          <a:ln>
            <a:solidFill>
              <a:srgbClr val="EDE9FE"/>
            </a:solidFill>
          </a:ln>
        </p:spPr>
        <p:txBody>
          <a:bodyPr wrap="square" lIns="1524" tIns="1524" rIns="1524" bIns="1524" rtlCol="0" anchor="ctr">
            <a:normAutofit/>
          </a:bodyPr>
          <a:lstStyle/>
          <a:p>
            <a:pPr algn="ctr" indent="0" marL="0">
              <a:buNone/>
            </a:pPr>
            <a:r>
              <a:rPr lang="en-US" sz="1800" b="1" dirty="0">
                <a:solidFill>
                  <a:srgbClr val="111827"/>
                </a:solidFill>
              </a:rPr>
              <a:t>5</a:t>
            </a:r>
            <a:endParaRPr lang="en-US" sz="1800" dirty="0"/>
          </a:p>
          <a:p>
            <a:pPr algn="ctr" indent="0" marL="0">
              <a:buNone/>
            </a:pPr>
            <a:r>
              <a:rPr lang="en-US" sz="1800" b="1" dirty="0">
                <a:solidFill>
                  <a:srgbClr val="111827"/>
                </a:solidFill>
              </a:rPr>
              <a:t>HTML</a:t>
            </a:r>
            <a:endParaRPr lang="en-US" sz="1800" dirty="0"/>
          </a:p>
          <a:p>
            <a:pPr algn="ctr" indent="0" marL="0">
              <a:buNone/>
            </a:pPr>
            <a:r>
              <a:rPr lang="en-US" sz="1800" b="1" dirty="0">
                <a:solidFill>
                  <a:srgbClr val="111827"/>
                </a:solidFill>
              </a:rPr>
              <a:t>Dashboard</a:t>
            </a:r>
            <a:endParaRPr lang="en-US" sz="1800" dirty="0"/>
          </a:p>
        </p:txBody>
      </p:sp>
      <p:sp>
        <p:nvSpPr>
          <p:cNvPr id="16" name="Text 14"/>
          <p:cNvSpPr/>
          <p:nvPr/>
        </p:nvSpPr>
        <p:spPr>
          <a:xfrm>
            <a:off x="1508760" y="4069080"/>
            <a:ext cx="2560320" cy="877824"/>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1600" dirty="0">
                <a:solidFill>
                  <a:srgbClr val="111827"/>
                </a:solidFill>
              </a:rPr>
              <a:t>Normal traffic</a:t>
            </a:r>
            <a:endParaRPr lang="en-US" sz="1600" dirty="0"/>
          </a:p>
          <a:p>
            <a:pPr algn="ctr" indent="0" marL="0">
              <a:buNone/>
            </a:pPr>
            <a:r>
              <a:rPr lang="en-US" sz="1600" dirty="0">
                <a:solidFill>
                  <a:srgbClr val="111827"/>
                </a:solidFill>
              </a:rPr>
              <a:t>+</a:t>
            </a:r>
            <a:endParaRPr lang="en-US" sz="1600" dirty="0"/>
          </a:p>
          <a:p>
            <a:pPr algn="ctr" indent="0" marL="0">
              <a:buNone/>
            </a:pPr>
            <a:r>
              <a:rPr lang="en-US" sz="1600" dirty="0">
                <a:solidFill>
                  <a:srgbClr val="111827"/>
                </a:solidFill>
              </a:rPr>
              <a:t>Safe attack traffic</a:t>
            </a:r>
            <a:endParaRPr lang="en-US" sz="1600" dirty="0"/>
          </a:p>
        </p:txBody>
      </p:sp>
      <p:sp>
        <p:nvSpPr>
          <p:cNvPr id="17" name="Text 15"/>
          <p:cNvSpPr/>
          <p:nvPr/>
        </p:nvSpPr>
        <p:spPr>
          <a:xfrm>
            <a:off x="4663440" y="4069080"/>
            <a:ext cx="2743200" cy="877824"/>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1600" dirty="0">
                <a:solidFill>
                  <a:srgbClr val="111827"/>
                </a:solidFill>
              </a:rPr>
              <a:t>Model update only</a:t>
            </a:r>
            <a:endParaRPr lang="en-US" sz="1600" dirty="0"/>
          </a:p>
          <a:p>
            <a:pPr algn="ctr" indent="0" marL="0">
              <a:buNone/>
            </a:pPr>
            <a:r>
              <a:rPr lang="en-US" sz="1600" dirty="0">
                <a:solidFill>
                  <a:srgbClr val="111827"/>
                </a:solidFill>
              </a:rPr>
              <a:t>Raw data not shared</a:t>
            </a:r>
            <a:endParaRPr lang="en-US" sz="1600" dirty="0"/>
          </a:p>
        </p:txBody>
      </p:sp>
      <p:sp>
        <p:nvSpPr>
          <p:cNvPr id="18" name="Text 16"/>
          <p:cNvSpPr/>
          <p:nvPr/>
        </p:nvSpPr>
        <p:spPr>
          <a:xfrm>
            <a:off x="7909560" y="4069080"/>
            <a:ext cx="3017520" cy="877824"/>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1600" dirty="0">
                <a:solidFill>
                  <a:srgbClr val="111827"/>
                </a:solidFill>
              </a:rPr>
              <a:t>Browser shows</a:t>
            </a:r>
            <a:endParaRPr lang="en-US" sz="1600" dirty="0"/>
          </a:p>
          <a:p>
            <a:pPr algn="ctr" indent="0" marL="0">
              <a:buNone/>
            </a:pPr>
            <a:r>
              <a:rPr lang="en-US" sz="1600" dirty="0">
                <a:solidFill>
                  <a:srgbClr val="111827"/>
                </a:solidFill>
              </a:rPr>
              <a:t>devices, alerts, accuracy</a:t>
            </a:r>
            <a:endParaRPr lang="en-US" sz="1600" dirty="0"/>
          </a:p>
        </p:txBody>
      </p:sp>
      <p:sp>
        <p:nvSpPr>
          <p:cNvPr id="19" name="Shape 17"/>
          <p:cNvSpPr/>
          <p:nvPr/>
        </p:nvSpPr>
        <p:spPr>
          <a:xfrm>
            <a:off x="2788920" y="3520440"/>
            <a:ext cx="0" cy="502920"/>
          </a:xfrm>
          <a:prstGeom prst="line">
            <a:avLst/>
          </a:prstGeom>
          <a:noFill/>
          <a:ln w="19050">
            <a:solidFill>
              <a:srgbClr val="16A34A"/>
            </a:solidFill>
            <a:prstDash val="solid"/>
            <a:headEnd type="none"/>
            <a:tailEnd type="triangle"/>
          </a:ln>
        </p:spPr>
      </p:sp>
      <p:sp>
        <p:nvSpPr>
          <p:cNvPr id="20" name="Shape 18"/>
          <p:cNvSpPr/>
          <p:nvPr/>
        </p:nvSpPr>
        <p:spPr>
          <a:xfrm>
            <a:off x="6035040" y="3520440"/>
            <a:ext cx="0" cy="502920"/>
          </a:xfrm>
          <a:prstGeom prst="line">
            <a:avLst/>
          </a:prstGeom>
          <a:noFill/>
          <a:ln w="19050">
            <a:solidFill>
              <a:srgbClr val="16A34A"/>
            </a:solidFill>
            <a:prstDash val="solid"/>
            <a:headEnd type="none"/>
            <a:tailEnd type="triangle"/>
          </a:ln>
        </p:spPr>
      </p:sp>
      <p:sp>
        <p:nvSpPr>
          <p:cNvPr id="21" name="Shape 19"/>
          <p:cNvSpPr/>
          <p:nvPr/>
        </p:nvSpPr>
        <p:spPr>
          <a:xfrm>
            <a:off x="9326880" y="3520440"/>
            <a:ext cx="0" cy="502920"/>
          </a:xfrm>
          <a:prstGeom prst="line">
            <a:avLst/>
          </a:prstGeom>
          <a:noFill/>
          <a:ln w="19050">
            <a:solidFill>
              <a:srgbClr val="16A34A"/>
            </a:solidFill>
            <a:prstDash val="solid"/>
            <a:headEnd type="none"/>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7C3AED"/>
          </a:solidFill>
          <a:ln w="12700">
            <a:solidFill>
              <a:srgbClr val="7C3AED">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Whole code map</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Each file has one simple job, like students in a group project.</a:t>
            </a:r>
            <a:endParaRPr lang="en-US" sz="1500" dirty="0"/>
          </a:p>
        </p:txBody>
      </p:sp>
      <p:sp>
        <p:nvSpPr>
          <p:cNvPr id="7" name="Text 5"/>
          <p:cNvSpPr/>
          <p:nvPr/>
        </p:nvSpPr>
        <p:spPr>
          <a:xfrm>
            <a:off x="685800" y="1325880"/>
            <a:ext cx="5074920" cy="749808"/>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550" dirty="0">
                <a:solidFill>
                  <a:srgbClr val="111827"/>
                </a:solidFill>
              </a:rPr>
              <a:t>app.py</a:t>
            </a:r>
            <a:endParaRPr lang="en-US" sz="1550" dirty="0"/>
          </a:p>
          <a:p>
            <a:pPr algn="l" indent="0" marL="0">
              <a:buNone/>
            </a:pPr>
            <a:r>
              <a:rPr lang="en-US" sz="1550" dirty="0">
                <a:solidFill>
                  <a:srgbClr val="111827"/>
                </a:solidFill>
              </a:rPr>
              <a:t>Starts Flask and opens localhost pages.</a:t>
            </a:r>
            <a:endParaRPr lang="en-US" sz="1550" dirty="0"/>
          </a:p>
        </p:txBody>
      </p:sp>
      <p:sp>
        <p:nvSpPr>
          <p:cNvPr id="8" name="Text 6"/>
          <p:cNvSpPr/>
          <p:nvPr/>
        </p:nvSpPr>
        <p:spPr>
          <a:xfrm>
            <a:off x="685800" y="2258568"/>
            <a:ext cx="5074920" cy="749808"/>
          </a:xfrm>
          <a:prstGeom prst="rect">
            <a:avLst/>
          </a:prstGeom>
          <a:solidFill>
            <a:srgbClr val="F1F5F9"/>
          </a:solidFill>
          <a:ln>
            <a:solidFill>
              <a:srgbClr val="F1F5F9"/>
            </a:solidFill>
          </a:ln>
        </p:spPr>
        <p:txBody>
          <a:bodyPr wrap="square" lIns="1524" tIns="1524" rIns="1524" bIns="1524" rtlCol="0" anchor="t">
            <a:normAutofit/>
          </a:bodyPr>
          <a:lstStyle/>
          <a:p>
            <a:pPr algn="l" indent="0" marL="0">
              <a:buNone/>
            </a:pPr>
            <a:r>
              <a:rPr lang="en-US" sz="1550" dirty="0">
                <a:solidFill>
                  <a:srgbClr val="111827"/>
                </a:solidFill>
              </a:rPr>
              <a:t>device_simulator.py</a:t>
            </a:r>
            <a:endParaRPr lang="en-US" sz="1550" dirty="0"/>
          </a:p>
          <a:p>
            <a:pPr algn="l" indent="0" marL="0">
              <a:buNone/>
            </a:pPr>
            <a:r>
              <a:rPr lang="en-US" sz="1550" dirty="0">
                <a:solidFill>
                  <a:srgbClr val="111827"/>
                </a:solidFill>
              </a:rPr>
              <a:t>Makes fake IoT device data.</a:t>
            </a:r>
            <a:endParaRPr lang="en-US" sz="1550" dirty="0"/>
          </a:p>
        </p:txBody>
      </p:sp>
      <p:sp>
        <p:nvSpPr>
          <p:cNvPr id="9" name="Text 7"/>
          <p:cNvSpPr/>
          <p:nvPr/>
        </p:nvSpPr>
        <p:spPr>
          <a:xfrm>
            <a:off x="685800" y="3191256"/>
            <a:ext cx="5074920" cy="749808"/>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550" dirty="0">
                <a:solidFill>
                  <a:srgbClr val="111827"/>
                </a:solidFill>
              </a:rPr>
              <a:t>attack_simulator.py</a:t>
            </a:r>
            <a:endParaRPr lang="en-US" sz="1550" dirty="0"/>
          </a:p>
          <a:p>
            <a:pPr algn="l" indent="0" marL="0">
              <a:buNone/>
            </a:pPr>
            <a:r>
              <a:rPr lang="en-US" sz="1550" dirty="0">
                <a:solidFill>
                  <a:srgbClr val="111827"/>
                </a:solidFill>
              </a:rPr>
              <a:t>Creates safe attack-like data.</a:t>
            </a:r>
            <a:endParaRPr lang="en-US" sz="1550" dirty="0"/>
          </a:p>
        </p:txBody>
      </p:sp>
      <p:sp>
        <p:nvSpPr>
          <p:cNvPr id="10" name="Text 8"/>
          <p:cNvSpPr/>
          <p:nvPr/>
        </p:nvSpPr>
        <p:spPr>
          <a:xfrm>
            <a:off x="685800" y="4123944"/>
            <a:ext cx="5074920" cy="749808"/>
          </a:xfrm>
          <a:prstGeom prst="rect">
            <a:avLst/>
          </a:prstGeom>
          <a:solidFill>
            <a:srgbClr val="F1F5F9"/>
          </a:solidFill>
          <a:ln>
            <a:solidFill>
              <a:srgbClr val="F1F5F9"/>
            </a:solidFill>
          </a:ln>
        </p:spPr>
        <p:txBody>
          <a:bodyPr wrap="square" lIns="1524" tIns="1524" rIns="1524" bIns="1524" rtlCol="0" anchor="t">
            <a:normAutofit/>
          </a:bodyPr>
          <a:lstStyle/>
          <a:p>
            <a:pPr algn="l" indent="0" marL="0">
              <a:buNone/>
            </a:pPr>
            <a:r>
              <a:rPr lang="en-US" sz="1550" dirty="0">
                <a:solidFill>
                  <a:srgbClr val="111827"/>
                </a:solidFill>
              </a:rPr>
              <a:t>local_training.py</a:t>
            </a:r>
            <a:endParaRPr lang="en-US" sz="1550" dirty="0"/>
          </a:p>
          <a:p>
            <a:pPr algn="l" indent="0" marL="0">
              <a:buNone/>
            </a:pPr>
            <a:r>
              <a:rPr lang="en-US" sz="1550" dirty="0">
                <a:solidFill>
                  <a:srgbClr val="111827"/>
                </a:solidFill>
              </a:rPr>
              <a:t>Trains one small model per device.</a:t>
            </a:r>
            <a:endParaRPr lang="en-US" sz="1550" dirty="0"/>
          </a:p>
        </p:txBody>
      </p:sp>
      <p:sp>
        <p:nvSpPr>
          <p:cNvPr id="11" name="Text 9"/>
          <p:cNvSpPr/>
          <p:nvPr/>
        </p:nvSpPr>
        <p:spPr>
          <a:xfrm>
            <a:off x="6309360" y="1325880"/>
            <a:ext cx="5074920" cy="749808"/>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550" dirty="0">
                <a:solidFill>
                  <a:srgbClr val="111827"/>
                </a:solidFill>
              </a:rPr>
              <a:t>federated_server.py</a:t>
            </a:r>
            <a:endParaRPr lang="en-US" sz="1550" dirty="0"/>
          </a:p>
          <a:p>
            <a:pPr algn="l" indent="0" marL="0">
              <a:buNone/>
            </a:pPr>
            <a:r>
              <a:rPr lang="en-US" sz="1550" dirty="0">
                <a:solidFill>
                  <a:srgbClr val="111827"/>
                </a:solidFill>
              </a:rPr>
              <a:t>Combines local models using FedAvg.</a:t>
            </a:r>
            <a:endParaRPr lang="en-US" sz="1550" dirty="0"/>
          </a:p>
        </p:txBody>
      </p:sp>
      <p:sp>
        <p:nvSpPr>
          <p:cNvPr id="12" name="Text 10"/>
          <p:cNvSpPr/>
          <p:nvPr/>
        </p:nvSpPr>
        <p:spPr>
          <a:xfrm>
            <a:off x="6309360" y="2258568"/>
            <a:ext cx="5074920" cy="749808"/>
          </a:xfrm>
          <a:prstGeom prst="rect">
            <a:avLst/>
          </a:prstGeom>
          <a:solidFill>
            <a:srgbClr val="F1F5F9"/>
          </a:solidFill>
          <a:ln>
            <a:solidFill>
              <a:srgbClr val="F1F5F9"/>
            </a:solidFill>
          </a:ln>
        </p:spPr>
        <p:txBody>
          <a:bodyPr wrap="square" lIns="1524" tIns="1524" rIns="1524" bIns="1524" rtlCol="0" anchor="t">
            <a:normAutofit/>
          </a:bodyPr>
          <a:lstStyle/>
          <a:p>
            <a:pPr algn="l" indent="0" marL="0">
              <a:buNone/>
            </a:pPr>
            <a:r>
              <a:rPr lang="en-US" sz="1550" dirty="0">
                <a:solidFill>
                  <a:srgbClr val="111827"/>
                </a:solidFill>
              </a:rPr>
              <a:t>detector.py</a:t>
            </a:r>
            <a:endParaRPr lang="en-US" sz="1550" dirty="0"/>
          </a:p>
          <a:p>
            <a:pPr algn="l" indent="0" marL="0">
              <a:buNone/>
            </a:pPr>
            <a:r>
              <a:rPr lang="en-US" sz="1550" dirty="0">
                <a:solidFill>
                  <a:srgbClr val="111827"/>
                </a:solidFill>
              </a:rPr>
              <a:t>Checks if new data is Normal or Attack.</a:t>
            </a:r>
            <a:endParaRPr lang="en-US" sz="1550" dirty="0"/>
          </a:p>
        </p:txBody>
      </p:sp>
      <p:sp>
        <p:nvSpPr>
          <p:cNvPr id="13" name="Text 11"/>
          <p:cNvSpPr/>
          <p:nvPr/>
        </p:nvSpPr>
        <p:spPr>
          <a:xfrm>
            <a:off x="6309360" y="3191256"/>
            <a:ext cx="5074920" cy="749808"/>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550" dirty="0">
                <a:solidFill>
                  <a:srgbClr val="111827"/>
                </a:solidFill>
              </a:rPr>
              <a:t>database.py</a:t>
            </a:r>
            <a:endParaRPr lang="en-US" sz="1550" dirty="0"/>
          </a:p>
          <a:p>
            <a:pPr algn="l" indent="0" marL="0">
              <a:buNone/>
            </a:pPr>
            <a:r>
              <a:rPr lang="en-US" sz="1550" dirty="0">
                <a:solidFill>
                  <a:srgbClr val="111827"/>
                </a:solidFill>
              </a:rPr>
              <a:t>Saves logs, alerts and results.</a:t>
            </a:r>
            <a:endParaRPr lang="en-US" sz="1550" dirty="0"/>
          </a:p>
        </p:txBody>
      </p:sp>
      <p:sp>
        <p:nvSpPr>
          <p:cNvPr id="14" name="Text 12"/>
          <p:cNvSpPr/>
          <p:nvPr/>
        </p:nvSpPr>
        <p:spPr>
          <a:xfrm>
            <a:off x="6309360" y="4123944"/>
            <a:ext cx="5074920" cy="749808"/>
          </a:xfrm>
          <a:prstGeom prst="rect">
            <a:avLst/>
          </a:prstGeom>
          <a:solidFill>
            <a:srgbClr val="F1F5F9"/>
          </a:solidFill>
          <a:ln>
            <a:solidFill>
              <a:srgbClr val="F1F5F9"/>
            </a:solidFill>
          </a:ln>
        </p:spPr>
        <p:txBody>
          <a:bodyPr wrap="square" lIns="1524" tIns="1524" rIns="1524" bIns="1524" rtlCol="0" anchor="t">
            <a:normAutofit/>
          </a:bodyPr>
          <a:lstStyle/>
          <a:p>
            <a:pPr algn="l" indent="0" marL="0">
              <a:buNone/>
            </a:pPr>
            <a:r>
              <a:rPr lang="en-US" sz="1550" dirty="0">
                <a:solidFill>
                  <a:srgbClr val="111827"/>
                </a:solidFill>
              </a:rPr>
              <a:t>templates/*.html</a:t>
            </a:r>
            <a:endParaRPr lang="en-US" sz="1550" dirty="0"/>
          </a:p>
          <a:p>
            <a:pPr algn="l" indent="0" marL="0">
              <a:buNone/>
            </a:pPr>
            <a:r>
              <a:rPr lang="en-US" sz="1550" dirty="0">
                <a:solidFill>
                  <a:srgbClr val="111827"/>
                </a:solidFill>
              </a:rPr>
              <a:t>Shows everything in the browser.</a:t>
            </a:r>
            <a:endParaRPr lang="en-US" sz="1550" dirty="0"/>
          </a:p>
        </p:txBody>
      </p:sp>
      <p:sp>
        <p:nvSpPr>
          <p:cNvPr id="15" name="Text 13"/>
          <p:cNvSpPr/>
          <p:nvPr/>
        </p:nvSpPr>
        <p:spPr>
          <a:xfrm>
            <a:off x="777240" y="5504688"/>
            <a:ext cx="10698480" cy="384048"/>
          </a:xfrm>
          <a:prstGeom prst="rect">
            <a:avLst/>
          </a:prstGeom>
          <a:noFill/>
          <a:ln/>
        </p:spPr>
        <p:txBody>
          <a:bodyPr wrap="square" lIns="0" tIns="0" rIns="0" bIns="0" rtlCol="0" anchor="ctr"/>
          <a:lstStyle/>
          <a:p>
            <a:pPr algn="ctr" indent="0" marL="0">
              <a:buNone/>
            </a:pPr>
            <a:r>
              <a:rPr lang="en-US" sz="1900" b="1" dirty="0">
                <a:solidFill>
                  <a:srgbClr val="102A43"/>
                </a:solidFill>
              </a:rPr>
              <a:t>Easy sentence: “My project separates the paper idea into small Python files and HTML pages.”</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2563EB"/>
          </a:solidFill>
          <a:ln w="12700">
            <a:solidFill>
              <a:srgbClr val="2563EB">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Code Step 1 — Make virtual IoT devices</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No hardware is needed. Python pretends that devices are sending data.</a:t>
            </a:r>
            <a:endParaRPr lang="en-US" sz="1500" dirty="0"/>
          </a:p>
        </p:txBody>
      </p:sp>
      <p:sp>
        <p:nvSpPr>
          <p:cNvPr id="7" name="Text 5"/>
          <p:cNvSpPr/>
          <p:nvPr/>
        </p:nvSpPr>
        <p:spPr>
          <a:xfrm>
            <a:off x="685800" y="1371600"/>
            <a:ext cx="5212080" cy="1965960"/>
          </a:xfrm>
          <a:prstGeom prst="rect">
            <a:avLst/>
          </a:prstGeom>
          <a:solidFill>
            <a:srgbClr val="F1F5F9"/>
          </a:solidFill>
          <a:ln>
            <a:solidFill>
              <a:srgbClr val="CBD5E1"/>
            </a:solidFill>
          </a:ln>
        </p:spPr>
        <p:txBody>
          <a:bodyPr wrap="square" lIns="1524" tIns="1524" rIns="1524" bIns="1524" rtlCol="0" anchor="ctr">
            <a:normAutofit/>
          </a:bodyPr>
          <a:lstStyle/>
          <a:p>
            <a:pPr indent="0" marL="0">
              <a:buNone/>
            </a:pPr>
            <a:r>
              <a:rPr lang="en-US" sz="1220" dirty="0">
                <a:solidFill>
                  <a:srgbClr val="102A43"/>
                </a:solidFill>
                <a:latin typeface="Consolas" pitchFamily="34" charset="0"/>
                <a:ea typeface="Consolas" pitchFamily="34" charset="-122"/>
                <a:cs typeface="Consolas" pitchFamily="34" charset="-120"/>
              </a:rPr>
              <a:t>device = "Smart Camera 1"</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packets_per_sec = random number</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packet_size = random number</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failed_connections = random number</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save row in device_1.csv</a:t>
            </a:r>
            <a:endParaRPr lang="en-US" sz="1220" dirty="0"/>
          </a:p>
        </p:txBody>
      </p:sp>
      <p:sp>
        <p:nvSpPr>
          <p:cNvPr id="8" name="Text 6"/>
          <p:cNvSpPr/>
          <p:nvPr/>
        </p:nvSpPr>
        <p:spPr>
          <a:xfrm>
            <a:off x="6400800" y="1353312"/>
            <a:ext cx="4983480" cy="411480"/>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1900" b="1" dirty="0">
                <a:solidFill>
                  <a:srgbClr val="111827"/>
                </a:solidFill>
              </a:rPr>
              <a:t>What this code means:</a:t>
            </a:r>
            <a:endParaRPr lang="en-US" sz="1900" dirty="0"/>
          </a:p>
        </p:txBody>
      </p:sp>
      <p:sp>
        <p:nvSpPr>
          <p:cNvPr id="9" name="Text 7"/>
          <p:cNvSpPr/>
          <p:nvPr/>
        </p:nvSpPr>
        <p:spPr>
          <a:xfrm>
            <a:off x="6400800" y="1965960"/>
            <a:ext cx="4983480" cy="1463040"/>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800" dirty="0">
                <a:solidFill>
                  <a:srgbClr val="111827"/>
                </a:solidFill>
              </a:rPr>
              <a:t>• A device is like a small smart object.</a:t>
            </a:r>
            <a:endParaRPr lang="en-US" sz="1800" dirty="0"/>
          </a:p>
          <a:p>
            <a:pPr algn="l" indent="0" marL="0">
              <a:buNone/>
            </a:pPr>
            <a:r>
              <a:rPr lang="en-US" sz="1800" dirty="0">
                <a:solidFill>
                  <a:srgbClr val="111827"/>
                </a:solidFill>
              </a:rPr>
              <a:t>• It makes numbers that look like network activity.</a:t>
            </a:r>
            <a:endParaRPr lang="en-US" sz="1800" dirty="0"/>
          </a:p>
          <a:p>
            <a:pPr algn="l" indent="0" marL="0">
              <a:buNone/>
            </a:pPr>
            <a:r>
              <a:rPr lang="en-US" sz="1800" dirty="0">
                <a:solidFill>
                  <a:srgbClr val="111827"/>
                </a:solidFill>
              </a:rPr>
              <a:t>• These numbers become the dataset.</a:t>
            </a:r>
            <a:endParaRPr lang="en-US" sz="1800" dirty="0"/>
          </a:p>
          <a:p>
            <a:pPr algn="l" indent="0" marL="0">
              <a:buNone/>
            </a:pPr>
            <a:r>
              <a:rPr lang="en-US" sz="1800" dirty="0">
                <a:solidFill>
                  <a:srgbClr val="111827"/>
                </a:solidFill>
              </a:rPr>
              <a:t>• The data stays inside that device file.</a:t>
            </a:r>
            <a:endParaRPr lang="en-US" sz="1800" dirty="0"/>
          </a:p>
        </p:txBody>
      </p:sp>
      <p:sp>
        <p:nvSpPr>
          <p:cNvPr id="10" name="Text 8"/>
          <p:cNvSpPr/>
          <p:nvPr/>
        </p:nvSpPr>
        <p:spPr>
          <a:xfrm>
            <a:off x="685800" y="3977640"/>
            <a:ext cx="1920240" cy="384048"/>
          </a:xfrm>
          <a:prstGeom prst="rect">
            <a:avLst/>
          </a:prstGeom>
          <a:solidFill>
            <a:srgbClr val="FFF1C2"/>
          </a:solidFill>
          <a:ln>
            <a:solidFill>
              <a:srgbClr val="FFF1C2"/>
            </a:solidFill>
          </a:ln>
        </p:spPr>
        <p:txBody>
          <a:bodyPr wrap="square" lIns="1524" tIns="1524" rIns="1524" bIns="1524" rtlCol="0" anchor="ctr">
            <a:normAutofit/>
          </a:bodyPr>
          <a:lstStyle/>
          <a:p>
            <a:pPr algn="ctr" indent="0" marL="0">
              <a:buNone/>
            </a:pPr>
            <a:r>
              <a:rPr lang="en-US" sz="1600" b="1" dirty="0">
                <a:solidFill>
                  <a:srgbClr val="111827"/>
                </a:solidFill>
              </a:rPr>
              <a:t>Example data row</a:t>
            </a:r>
            <a:endParaRPr lang="en-US" sz="1600" dirty="0"/>
          </a:p>
        </p:txBody>
      </p:sp>
      <p:sp>
        <p:nvSpPr>
          <p:cNvPr id="11" name="Text 9"/>
          <p:cNvSpPr/>
          <p:nvPr/>
        </p:nvSpPr>
        <p:spPr>
          <a:xfrm>
            <a:off x="2834640" y="3886200"/>
            <a:ext cx="5623560" cy="749808"/>
          </a:xfrm>
          <a:prstGeom prst="rect">
            <a:avLst/>
          </a:prstGeom>
          <a:solidFill>
            <a:srgbClr val="F1F5F9"/>
          </a:solidFill>
          <a:ln>
            <a:solidFill>
              <a:srgbClr val="CBD5E1"/>
            </a:solidFill>
          </a:ln>
        </p:spPr>
        <p:txBody>
          <a:bodyPr wrap="square" lIns="1524" tIns="1524" rIns="1524" bIns="1524" rtlCol="0" anchor="ctr">
            <a:normAutofit/>
          </a:bodyPr>
          <a:lstStyle/>
          <a:p>
            <a:pPr indent="0" marL="0">
              <a:buNone/>
            </a:pPr>
            <a:r>
              <a:rPr lang="en-US" sz="1220" dirty="0">
                <a:solidFill>
                  <a:srgbClr val="102A43"/>
                </a:solidFill>
                <a:latin typeface="Consolas" pitchFamily="34" charset="0"/>
                <a:ea typeface="Consolas" pitchFamily="34" charset="-122"/>
                <a:cs typeface="Consolas" pitchFamily="34" charset="-120"/>
              </a:rPr>
              <a:t>device, packets, size, failed, label</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camera_1, 40, 512, 1, normal</a:t>
            </a:r>
            <a:endParaRPr lang="en-US" sz="1220" dirty="0"/>
          </a:p>
        </p:txBody>
      </p:sp>
      <p:sp>
        <p:nvSpPr>
          <p:cNvPr id="12" name="Text 10"/>
          <p:cNvSpPr/>
          <p:nvPr/>
        </p:nvSpPr>
        <p:spPr>
          <a:xfrm>
            <a:off x="8732520" y="3822192"/>
            <a:ext cx="2423160" cy="868680"/>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1700" dirty="0">
                <a:solidFill>
                  <a:srgbClr val="111827"/>
                </a:solidFill>
              </a:rPr>
              <a:t>label = answer</a:t>
            </a:r>
            <a:endParaRPr lang="en-US" sz="1700" dirty="0"/>
          </a:p>
          <a:p>
            <a:pPr algn="ctr" indent="0" marL="0">
              <a:buNone/>
            </a:pPr>
            <a:r>
              <a:rPr lang="en-US" sz="1700" dirty="0">
                <a:solidFill>
                  <a:srgbClr val="111827"/>
                </a:solidFill>
              </a:rPr>
              <a:t>normal or attack</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F97316"/>
          </a:solidFill>
          <a:ln w="12700">
            <a:solidFill>
              <a:srgbClr val="F97316">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Code Step 2 — Create safe attacks and detect them</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The project does not attack any real website or real device. It only creates test numbers.</a:t>
            </a:r>
            <a:endParaRPr lang="en-US" sz="1500" dirty="0"/>
          </a:p>
        </p:txBody>
      </p:sp>
      <p:sp>
        <p:nvSpPr>
          <p:cNvPr id="7" name="Text 5"/>
          <p:cNvSpPr/>
          <p:nvPr/>
        </p:nvSpPr>
        <p:spPr>
          <a:xfrm>
            <a:off x="685800" y="1325880"/>
            <a:ext cx="2468880" cy="384048"/>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1800" b="1" dirty="0">
                <a:solidFill>
                  <a:srgbClr val="111827"/>
                </a:solidFill>
              </a:rPr>
              <a:t>Normal example</a:t>
            </a:r>
            <a:endParaRPr lang="en-US" sz="1800" dirty="0"/>
          </a:p>
        </p:txBody>
      </p:sp>
      <p:sp>
        <p:nvSpPr>
          <p:cNvPr id="8" name="Text 6"/>
          <p:cNvSpPr/>
          <p:nvPr/>
        </p:nvSpPr>
        <p:spPr>
          <a:xfrm>
            <a:off x="685800" y="1828800"/>
            <a:ext cx="2697480" cy="1097280"/>
          </a:xfrm>
          <a:prstGeom prst="rect">
            <a:avLst/>
          </a:prstGeom>
          <a:solidFill>
            <a:srgbClr val="F1F5F9"/>
          </a:solidFill>
          <a:ln>
            <a:solidFill>
              <a:srgbClr val="CBD5E1"/>
            </a:solidFill>
          </a:ln>
        </p:spPr>
        <p:txBody>
          <a:bodyPr wrap="square" lIns="1524" tIns="1524" rIns="1524" bIns="1524" rtlCol="0" anchor="ctr">
            <a:normAutofit/>
          </a:bodyPr>
          <a:lstStyle/>
          <a:p>
            <a:pPr indent="0" marL="0">
              <a:buNone/>
            </a:pPr>
            <a:r>
              <a:rPr lang="en-US" sz="1220" dirty="0">
                <a:solidFill>
                  <a:srgbClr val="102A43"/>
                </a:solidFill>
                <a:latin typeface="Consolas" pitchFamily="34" charset="0"/>
                <a:ea typeface="Consolas" pitchFamily="34" charset="-122"/>
                <a:cs typeface="Consolas" pitchFamily="34" charset="-120"/>
              </a:rPr>
              <a:t>packets_per_sec = 35</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failed_connections = 0</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label = normal</a:t>
            </a:r>
            <a:endParaRPr lang="en-US" sz="1220" dirty="0"/>
          </a:p>
        </p:txBody>
      </p:sp>
      <p:sp>
        <p:nvSpPr>
          <p:cNvPr id="9" name="Text 7"/>
          <p:cNvSpPr/>
          <p:nvPr/>
        </p:nvSpPr>
        <p:spPr>
          <a:xfrm>
            <a:off x="3840480" y="1325880"/>
            <a:ext cx="2743200" cy="384048"/>
          </a:xfrm>
          <a:prstGeom prst="rect">
            <a:avLst/>
          </a:prstGeom>
          <a:solidFill>
            <a:srgbClr val="FCE7F3"/>
          </a:solidFill>
          <a:ln>
            <a:solidFill>
              <a:srgbClr val="FCE7F3"/>
            </a:solidFill>
          </a:ln>
        </p:spPr>
        <p:txBody>
          <a:bodyPr wrap="square" lIns="1524" tIns="1524" rIns="1524" bIns="1524" rtlCol="0" anchor="ctr">
            <a:normAutofit/>
          </a:bodyPr>
          <a:lstStyle/>
          <a:p>
            <a:pPr algn="ctr" indent="0" marL="0">
              <a:buNone/>
            </a:pPr>
            <a:r>
              <a:rPr lang="en-US" sz="1800" b="1" dirty="0">
                <a:solidFill>
                  <a:srgbClr val="111827"/>
                </a:solidFill>
              </a:rPr>
              <a:t>Attack-like example</a:t>
            </a:r>
            <a:endParaRPr lang="en-US" sz="1800" dirty="0"/>
          </a:p>
        </p:txBody>
      </p:sp>
      <p:sp>
        <p:nvSpPr>
          <p:cNvPr id="10" name="Text 8"/>
          <p:cNvSpPr/>
          <p:nvPr/>
        </p:nvSpPr>
        <p:spPr>
          <a:xfrm>
            <a:off x="3840480" y="1828800"/>
            <a:ext cx="2971800" cy="1097280"/>
          </a:xfrm>
          <a:prstGeom prst="rect">
            <a:avLst/>
          </a:prstGeom>
          <a:solidFill>
            <a:srgbClr val="F1F5F9"/>
          </a:solidFill>
          <a:ln>
            <a:solidFill>
              <a:srgbClr val="CBD5E1"/>
            </a:solidFill>
          </a:ln>
        </p:spPr>
        <p:txBody>
          <a:bodyPr wrap="square" lIns="1524" tIns="1524" rIns="1524" bIns="1524" rtlCol="0" anchor="ctr">
            <a:normAutofit/>
          </a:bodyPr>
          <a:lstStyle/>
          <a:p>
            <a:pPr indent="0" marL="0">
              <a:buNone/>
            </a:pPr>
            <a:r>
              <a:rPr lang="en-US" sz="1220" dirty="0">
                <a:solidFill>
                  <a:srgbClr val="102A43"/>
                </a:solidFill>
                <a:latin typeface="Consolas" pitchFamily="34" charset="0"/>
                <a:ea typeface="Consolas" pitchFamily="34" charset="-122"/>
                <a:cs typeface="Consolas" pitchFamily="34" charset="-120"/>
              </a:rPr>
              <a:t>packets_per_sec = 9000</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failed_connections = 450</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label = attack</a:t>
            </a:r>
            <a:endParaRPr lang="en-US" sz="1220" dirty="0"/>
          </a:p>
        </p:txBody>
      </p:sp>
      <p:sp>
        <p:nvSpPr>
          <p:cNvPr id="11" name="Text 9"/>
          <p:cNvSpPr/>
          <p:nvPr/>
        </p:nvSpPr>
        <p:spPr>
          <a:xfrm>
            <a:off x="7315200" y="1325880"/>
            <a:ext cx="2560320" cy="384048"/>
          </a:xfrm>
          <a:prstGeom prst="rect">
            <a:avLst/>
          </a:prstGeom>
          <a:solidFill>
            <a:srgbClr val="D8ECFF"/>
          </a:solidFill>
          <a:ln>
            <a:solidFill>
              <a:srgbClr val="D8ECFF"/>
            </a:solidFill>
          </a:ln>
        </p:spPr>
        <p:txBody>
          <a:bodyPr wrap="square" lIns="1524" tIns="1524" rIns="1524" bIns="1524" rtlCol="0" anchor="ctr">
            <a:normAutofit/>
          </a:bodyPr>
          <a:lstStyle/>
          <a:p>
            <a:pPr algn="ctr" indent="0" marL="0">
              <a:buNone/>
            </a:pPr>
            <a:r>
              <a:rPr lang="en-US" sz="1800" b="1" dirty="0">
                <a:solidFill>
                  <a:srgbClr val="111827"/>
                </a:solidFill>
              </a:rPr>
              <a:t>detector.py</a:t>
            </a:r>
            <a:endParaRPr lang="en-US" sz="1800" dirty="0"/>
          </a:p>
        </p:txBody>
      </p:sp>
      <p:sp>
        <p:nvSpPr>
          <p:cNvPr id="12" name="Text 10"/>
          <p:cNvSpPr/>
          <p:nvPr/>
        </p:nvSpPr>
        <p:spPr>
          <a:xfrm>
            <a:off x="7315200" y="1828800"/>
            <a:ext cx="4114800" cy="1097280"/>
          </a:xfrm>
          <a:prstGeom prst="rect">
            <a:avLst/>
          </a:prstGeom>
          <a:solidFill>
            <a:srgbClr val="F1F5F9"/>
          </a:solidFill>
          <a:ln>
            <a:solidFill>
              <a:srgbClr val="CBD5E1"/>
            </a:solidFill>
          </a:ln>
        </p:spPr>
        <p:txBody>
          <a:bodyPr wrap="square" lIns="1524" tIns="1524" rIns="1524" bIns="1524" rtlCol="0" anchor="ctr">
            <a:normAutofit/>
          </a:bodyPr>
          <a:lstStyle/>
          <a:p>
            <a:pPr indent="0" marL="0">
              <a:buNone/>
            </a:pPr>
            <a:r>
              <a:rPr lang="en-US" sz="1220" dirty="0">
                <a:solidFill>
                  <a:srgbClr val="102A43"/>
                </a:solidFill>
                <a:latin typeface="Consolas" pitchFamily="34" charset="0"/>
                <a:ea typeface="Consolas" pitchFamily="34" charset="-122"/>
                <a:cs typeface="Consolas" pitchFamily="34" charset="-120"/>
              </a:rPr>
              <a:t>prediction = model.predict(data)</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if prediction == attack:</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    show red alert</a:t>
            </a:r>
            <a:endParaRPr lang="en-US" sz="1220" dirty="0"/>
          </a:p>
        </p:txBody>
      </p:sp>
      <p:sp>
        <p:nvSpPr>
          <p:cNvPr id="13" name="Text 11"/>
          <p:cNvSpPr/>
          <p:nvPr/>
        </p:nvSpPr>
        <p:spPr>
          <a:xfrm>
            <a:off x="777240" y="3886200"/>
            <a:ext cx="1920240" cy="320040"/>
          </a:xfrm>
          <a:prstGeom prst="rect">
            <a:avLst/>
          </a:prstGeom>
          <a:noFill/>
          <a:ln/>
        </p:spPr>
        <p:txBody>
          <a:bodyPr wrap="square" lIns="0" tIns="0" rIns="0" bIns="0" rtlCol="0" anchor="ctr"/>
          <a:lstStyle/>
          <a:p>
            <a:pPr indent="0" marL="0">
              <a:buNone/>
            </a:pPr>
            <a:r>
              <a:rPr lang="en-US" sz="1800" b="1" dirty="0">
                <a:solidFill>
                  <a:srgbClr val="102A43"/>
                </a:solidFill>
              </a:rPr>
              <a:t>Simple meaning:</a:t>
            </a:r>
            <a:endParaRPr lang="en-US" sz="1800" dirty="0"/>
          </a:p>
        </p:txBody>
      </p:sp>
      <p:sp>
        <p:nvSpPr>
          <p:cNvPr id="14" name="Text 12"/>
          <p:cNvSpPr/>
          <p:nvPr/>
        </p:nvSpPr>
        <p:spPr>
          <a:xfrm>
            <a:off x="2697480" y="3703320"/>
            <a:ext cx="8138160" cy="777240"/>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2000" b="1" dirty="0">
                <a:solidFill>
                  <a:srgbClr val="111827"/>
                </a:solidFill>
              </a:rPr>
              <a:t>If the device suddenly sends too much traffic, the model marks it as suspicious and the website shows an alert.</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16A34A"/>
          </a:solidFill>
          <a:ln w="12700">
            <a:solidFill>
              <a:srgbClr val="16A34A">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Code Step 3 — Federated Learning in simple words</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Each device learns from its own data. The server only combines the learning.</a:t>
            </a:r>
            <a:endParaRPr lang="en-US" sz="1500" dirty="0"/>
          </a:p>
        </p:txBody>
      </p:sp>
      <p:pic>
        <p:nvPicPr>
          <p:cNvPr id="7" name="Image 0" descr="/mnt/data/assets/fig2_centralised.png">    </p:cNvPr>
          <p:cNvPicPr>
            <a:picLocks noChangeAspect="1"/>
          </p:cNvPicPr>
          <p:nvPr/>
        </p:nvPicPr>
        <p:blipFill>
          <a:blip r:embed="rId1"/>
          <a:srcRect l="0" r="0" t="10280" b="10280"/>
          <a:stretch/>
        </p:blipFill>
        <p:spPr>
          <a:xfrm>
            <a:off x="640080" y="1417320"/>
            <a:ext cx="3886200" cy="2834640"/>
          </a:xfrm>
          <a:prstGeom prst="rect">
            <a:avLst/>
          </a:prstGeom>
        </p:spPr>
      </p:pic>
      <p:sp>
        <p:nvSpPr>
          <p:cNvPr id="8" name="Text 5"/>
          <p:cNvSpPr/>
          <p:nvPr/>
        </p:nvSpPr>
        <p:spPr>
          <a:xfrm>
            <a:off x="658368" y="4370832"/>
            <a:ext cx="3840480" cy="411480"/>
          </a:xfrm>
          <a:prstGeom prst="rect">
            <a:avLst/>
          </a:prstGeom>
          <a:noFill/>
          <a:ln/>
        </p:spPr>
        <p:txBody>
          <a:bodyPr wrap="square" lIns="0" tIns="0" rIns="0" bIns="0" rtlCol="0" anchor="ctr"/>
          <a:lstStyle/>
          <a:p>
            <a:pPr algn="ctr" indent="0" marL="0">
              <a:buNone/>
            </a:pPr>
            <a:r>
              <a:rPr lang="en-US" sz="1300" dirty="0">
                <a:solidFill>
                  <a:srgbClr val="334155"/>
                </a:solidFill>
              </a:rPr>
              <a:t>Paper figure idea: devices send model updates to a central server</a:t>
            </a:r>
            <a:endParaRPr lang="en-US" sz="1300" dirty="0"/>
          </a:p>
        </p:txBody>
      </p:sp>
      <p:sp>
        <p:nvSpPr>
          <p:cNvPr id="9" name="Text 6"/>
          <p:cNvSpPr/>
          <p:nvPr/>
        </p:nvSpPr>
        <p:spPr>
          <a:xfrm>
            <a:off x="4983480" y="1508760"/>
            <a:ext cx="3291840" cy="2148840"/>
          </a:xfrm>
          <a:prstGeom prst="rect">
            <a:avLst/>
          </a:prstGeom>
          <a:solidFill>
            <a:srgbClr val="F1F5F9"/>
          </a:solidFill>
          <a:ln>
            <a:solidFill>
              <a:srgbClr val="CBD5E1"/>
            </a:solidFill>
          </a:ln>
        </p:spPr>
        <p:txBody>
          <a:bodyPr wrap="square" lIns="1524" tIns="1524" rIns="1524" bIns="1524" rtlCol="0" anchor="ctr">
            <a:normAutofit/>
          </a:bodyPr>
          <a:lstStyle/>
          <a:p>
            <a:pPr indent="0" marL="0">
              <a:buNone/>
            </a:pPr>
            <a:r>
              <a:rPr lang="en-US" sz="1220" dirty="0">
                <a:solidFill>
                  <a:srgbClr val="102A43"/>
                </a:solidFill>
                <a:latin typeface="Consolas" pitchFamily="34" charset="0"/>
                <a:ea typeface="Consolas" pitchFamily="34" charset="-122"/>
                <a:cs typeface="Consolas" pitchFamily="34" charset="-120"/>
              </a:rPr>
              <a:t>for each device:</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    local_model = train(device_data)</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    send local_model weights</a:t>
            </a:r>
            <a:endParaRPr lang="en-US" sz="1220" dirty="0"/>
          </a:p>
          <a:p>
            <a:pPr indent="0" marL="0">
              <a:buNone/>
            </a:pP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global_model = average(all_weights)</a:t>
            </a:r>
            <a:endParaRPr lang="en-US" sz="1220" dirty="0"/>
          </a:p>
        </p:txBody>
      </p:sp>
      <p:sp>
        <p:nvSpPr>
          <p:cNvPr id="10" name="Text 7"/>
          <p:cNvSpPr/>
          <p:nvPr/>
        </p:nvSpPr>
        <p:spPr>
          <a:xfrm>
            <a:off x="8641080" y="1481328"/>
            <a:ext cx="2468880" cy="411480"/>
          </a:xfrm>
          <a:prstGeom prst="rect">
            <a:avLst/>
          </a:prstGeom>
          <a:solidFill>
            <a:srgbClr val="FFF1C2"/>
          </a:solidFill>
          <a:ln>
            <a:solidFill>
              <a:srgbClr val="FFF1C2"/>
            </a:solidFill>
          </a:ln>
        </p:spPr>
        <p:txBody>
          <a:bodyPr wrap="square" lIns="1524" tIns="1524" rIns="1524" bIns="1524" rtlCol="0" anchor="ctr">
            <a:normAutofit/>
          </a:bodyPr>
          <a:lstStyle/>
          <a:p>
            <a:pPr algn="ctr" indent="0" marL="0">
              <a:buNone/>
            </a:pPr>
            <a:r>
              <a:rPr lang="en-US" sz="1800" b="1" dirty="0">
                <a:solidFill>
                  <a:srgbClr val="111827"/>
                </a:solidFill>
              </a:rPr>
              <a:t>Why this matches the paper</a:t>
            </a:r>
            <a:endParaRPr lang="en-US" sz="1800" dirty="0"/>
          </a:p>
        </p:txBody>
      </p:sp>
      <p:sp>
        <p:nvSpPr>
          <p:cNvPr id="11" name="Text 8"/>
          <p:cNvSpPr/>
          <p:nvPr/>
        </p:nvSpPr>
        <p:spPr>
          <a:xfrm>
            <a:off x="8458200" y="2057400"/>
            <a:ext cx="2880360" cy="1828800"/>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750" dirty="0">
                <a:solidFill>
                  <a:srgbClr val="111827"/>
                </a:solidFill>
              </a:rPr>
              <a:t>• Data stays with the device.</a:t>
            </a:r>
            <a:endParaRPr lang="en-US" sz="1750" dirty="0"/>
          </a:p>
          <a:p>
            <a:pPr algn="l" indent="0" marL="0">
              <a:buNone/>
            </a:pPr>
            <a:r>
              <a:rPr lang="en-US" sz="1750" dirty="0">
                <a:solidFill>
                  <a:srgbClr val="111827"/>
                </a:solidFill>
              </a:rPr>
              <a:t>• Only learning updates are shared.</a:t>
            </a:r>
            <a:endParaRPr lang="en-US" sz="1750" dirty="0"/>
          </a:p>
          <a:p>
            <a:pPr algn="l" indent="0" marL="0">
              <a:buNone/>
            </a:pPr>
            <a:r>
              <a:rPr lang="en-US" sz="1750" dirty="0">
                <a:solidFill>
                  <a:srgbClr val="111827"/>
                </a:solidFill>
              </a:rPr>
              <a:t>• The global model improves slowly.</a:t>
            </a:r>
            <a:endParaRPr lang="en-US" sz="1750" dirty="0"/>
          </a:p>
          <a:p>
            <a:pPr algn="l" indent="0" marL="0">
              <a:buNone/>
            </a:pPr>
            <a:r>
              <a:rPr lang="en-US" sz="1750" dirty="0">
                <a:solidFill>
                  <a:srgbClr val="111827"/>
                </a:solidFill>
              </a:rPr>
              <a:t>• This is called FedAvg.</a:t>
            </a:r>
            <a:endParaRPr lang="en-US" sz="1750" dirty="0"/>
          </a:p>
        </p:txBody>
      </p:sp>
      <p:sp>
        <p:nvSpPr>
          <p:cNvPr id="12" name="Text 9"/>
          <p:cNvSpPr/>
          <p:nvPr/>
        </p:nvSpPr>
        <p:spPr>
          <a:xfrm>
            <a:off x="1417320" y="5212080"/>
            <a:ext cx="9235440" cy="502920"/>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2000" b="1" dirty="0">
                <a:solidFill>
                  <a:srgbClr val="111827"/>
                </a:solidFill>
              </a:rPr>
              <a:t>Easy example: 3 students solve a small part, then the teacher combines their answers.</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7C3AED"/>
          </a:solidFill>
          <a:ln w="12700">
            <a:solidFill>
              <a:srgbClr val="7C3AED">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Code Step 4 — Show everything on localhost</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Flask connects Python code with HTML pages in the browser.</a:t>
            </a:r>
            <a:endParaRPr lang="en-US" sz="1500" dirty="0"/>
          </a:p>
        </p:txBody>
      </p:sp>
      <p:sp>
        <p:nvSpPr>
          <p:cNvPr id="7" name="Text 5"/>
          <p:cNvSpPr/>
          <p:nvPr/>
        </p:nvSpPr>
        <p:spPr>
          <a:xfrm>
            <a:off x="685800" y="1298448"/>
            <a:ext cx="1920240" cy="402336"/>
          </a:xfrm>
          <a:prstGeom prst="rect">
            <a:avLst/>
          </a:prstGeom>
          <a:solidFill>
            <a:srgbClr val="D8ECFF"/>
          </a:solidFill>
          <a:ln>
            <a:solidFill>
              <a:srgbClr val="D8ECFF"/>
            </a:solidFill>
          </a:ln>
        </p:spPr>
        <p:txBody>
          <a:bodyPr wrap="square" lIns="1524" tIns="1524" rIns="1524" bIns="1524" rtlCol="0" anchor="ctr">
            <a:normAutofit/>
          </a:bodyPr>
          <a:lstStyle/>
          <a:p>
            <a:pPr algn="ctr" indent="0" marL="0">
              <a:buNone/>
            </a:pPr>
            <a:r>
              <a:rPr lang="en-US" sz="1800" b="1" dirty="0">
                <a:solidFill>
                  <a:srgbClr val="111827"/>
                </a:solidFill>
              </a:rPr>
              <a:t>app.py</a:t>
            </a:r>
            <a:endParaRPr lang="en-US" sz="1800" dirty="0"/>
          </a:p>
        </p:txBody>
      </p:sp>
      <p:sp>
        <p:nvSpPr>
          <p:cNvPr id="8" name="Text 6"/>
          <p:cNvSpPr/>
          <p:nvPr/>
        </p:nvSpPr>
        <p:spPr>
          <a:xfrm>
            <a:off x="685800" y="1828800"/>
            <a:ext cx="3794760" cy="2240280"/>
          </a:xfrm>
          <a:prstGeom prst="rect">
            <a:avLst/>
          </a:prstGeom>
          <a:solidFill>
            <a:srgbClr val="F1F5F9"/>
          </a:solidFill>
          <a:ln>
            <a:solidFill>
              <a:srgbClr val="CBD5E1"/>
            </a:solidFill>
          </a:ln>
        </p:spPr>
        <p:txBody>
          <a:bodyPr wrap="square" lIns="1524" tIns="1524" rIns="1524" bIns="1524" rtlCol="0" anchor="ctr">
            <a:normAutofit/>
          </a:bodyPr>
          <a:lstStyle/>
          <a:p>
            <a:pPr indent="0" marL="0">
              <a:buNone/>
            </a:pPr>
            <a:r>
              <a:rPr lang="en-US" sz="1220" dirty="0">
                <a:solidFill>
                  <a:srgbClr val="102A43"/>
                </a:solidFill>
                <a:latin typeface="Consolas" pitchFamily="34" charset="0"/>
                <a:ea typeface="Consolas" pitchFamily="34" charset="-122"/>
                <a:cs typeface="Consolas" pitchFamily="34" charset="-120"/>
              </a:rPr>
              <a:t>app = Flask(__name__)</a:t>
            </a:r>
            <a:endParaRPr lang="en-US" sz="1220" dirty="0"/>
          </a:p>
          <a:p>
            <a:pPr indent="0" marL="0">
              <a:buNone/>
            </a:pP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@app.route("/")</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def home():</a:t>
            </a: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    return render_template("index.html")</a:t>
            </a:r>
            <a:endParaRPr lang="en-US" sz="1220" dirty="0"/>
          </a:p>
          <a:p>
            <a:pPr indent="0" marL="0">
              <a:buNone/>
            </a:pPr>
            <a:endParaRPr lang="en-US" sz="1220" dirty="0"/>
          </a:p>
          <a:p>
            <a:pPr indent="0" marL="0">
              <a:buNone/>
            </a:pPr>
            <a:r>
              <a:rPr lang="en-US" sz="1220" dirty="0">
                <a:solidFill>
                  <a:srgbClr val="102A43"/>
                </a:solidFill>
                <a:latin typeface="Consolas" pitchFamily="34" charset="0"/>
                <a:ea typeface="Consolas" pitchFamily="34" charset="-122"/>
                <a:cs typeface="Consolas" pitchFamily="34" charset="-120"/>
              </a:rPr>
              <a:t>app.run(debug=True)</a:t>
            </a:r>
            <a:endParaRPr lang="en-US" sz="1220" dirty="0"/>
          </a:p>
        </p:txBody>
      </p:sp>
      <p:sp>
        <p:nvSpPr>
          <p:cNvPr id="9" name="Text 7"/>
          <p:cNvSpPr/>
          <p:nvPr/>
        </p:nvSpPr>
        <p:spPr>
          <a:xfrm>
            <a:off x="4892040" y="1298448"/>
            <a:ext cx="2377440" cy="402336"/>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1800" b="1" dirty="0">
                <a:solidFill>
                  <a:srgbClr val="111827"/>
                </a:solidFill>
              </a:rPr>
              <a:t>Browser pages</a:t>
            </a:r>
            <a:endParaRPr lang="en-US" sz="1800" dirty="0"/>
          </a:p>
        </p:txBody>
      </p:sp>
      <p:sp>
        <p:nvSpPr>
          <p:cNvPr id="10" name="Text 8"/>
          <p:cNvSpPr/>
          <p:nvPr/>
        </p:nvSpPr>
        <p:spPr>
          <a:xfrm>
            <a:off x="4892040" y="1828800"/>
            <a:ext cx="2377440" cy="2240280"/>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1750" dirty="0">
                <a:solidFill>
                  <a:srgbClr val="111827"/>
                </a:solidFill>
              </a:rPr>
              <a:t>Home page</a:t>
            </a:r>
            <a:endParaRPr lang="en-US" sz="1750" dirty="0"/>
          </a:p>
          <a:p>
            <a:pPr algn="ctr" indent="0" marL="0">
              <a:buNone/>
            </a:pPr>
            <a:r>
              <a:rPr lang="en-US" sz="1750" dirty="0">
                <a:solidFill>
                  <a:srgbClr val="111827"/>
                </a:solidFill>
              </a:rPr>
              <a:t>Devices page</a:t>
            </a:r>
            <a:endParaRPr lang="en-US" sz="1750" dirty="0"/>
          </a:p>
          <a:p>
            <a:pPr algn="ctr" indent="0" marL="0">
              <a:buNone/>
            </a:pPr>
            <a:r>
              <a:rPr lang="en-US" sz="1750" dirty="0">
                <a:solidFill>
                  <a:srgbClr val="111827"/>
                </a:solidFill>
              </a:rPr>
              <a:t>Attack simulator page</a:t>
            </a:r>
            <a:endParaRPr lang="en-US" sz="1750" dirty="0"/>
          </a:p>
          <a:p>
            <a:pPr algn="ctr" indent="0" marL="0">
              <a:buNone/>
            </a:pPr>
            <a:r>
              <a:rPr lang="en-US" sz="1750" dirty="0">
                <a:solidFill>
                  <a:srgbClr val="111827"/>
                </a:solidFill>
              </a:rPr>
              <a:t>Training page</a:t>
            </a:r>
            <a:endParaRPr lang="en-US" sz="1750" dirty="0"/>
          </a:p>
          <a:p>
            <a:pPr algn="ctr" indent="0" marL="0">
              <a:buNone/>
            </a:pPr>
            <a:r>
              <a:rPr lang="en-US" sz="1750" dirty="0">
                <a:solidFill>
                  <a:srgbClr val="111827"/>
                </a:solidFill>
              </a:rPr>
              <a:t>Detection page</a:t>
            </a:r>
            <a:endParaRPr lang="en-US" sz="1750" dirty="0"/>
          </a:p>
          <a:p>
            <a:pPr algn="ctr" indent="0" marL="0">
              <a:buNone/>
            </a:pPr>
            <a:r>
              <a:rPr lang="en-US" sz="1750" dirty="0">
                <a:solidFill>
                  <a:srgbClr val="111827"/>
                </a:solidFill>
              </a:rPr>
              <a:t>Results page</a:t>
            </a:r>
            <a:endParaRPr lang="en-US" sz="1750" dirty="0"/>
          </a:p>
        </p:txBody>
      </p:sp>
      <p:sp>
        <p:nvSpPr>
          <p:cNvPr id="11" name="Text 9"/>
          <p:cNvSpPr/>
          <p:nvPr/>
        </p:nvSpPr>
        <p:spPr>
          <a:xfrm>
            <a:off x="7772400" y="1298448"/>
            <a:ext cx="2743200" cy="402336"/>
          </a:xfrm>
          <a:prstGeom prst="rect">
            <a:avLst/>
          </a:prstGeom>
          <a:solidFill>
            <a:srgbClr val="FFF1C2"/>
          </a:solidFill>
          <a:ln>
            <a:solidFill>
              <a:srgbClr val="FFF1C2"/>
            </a:solidFill>
          </a:ln>
        </p:spPr>
        <p:txBody>
          <a:bodyPr wrap="square" lIns="1524" tIns="1524" rIns="1524" bIns="1524" rtlCol="0" anchor="ctr">
            <a:normAutofit/>
          </a:bodyPr>
          <a:lstStyle/>
          <a:p>
            <a:pPr algn="ctr" indent="0" marL="0">
              <a:buNone/>
            </a:pPr>
            <a:r>
              <a:rPr lang="en-US" sz="1800" b="1" dirty="0">
                <a:solidFill>
                  <a:srgbClr val="111827"/>
                </a:solidFill>
              </a:rPr>
              <a:t>What the user sees</a:t>
            </a:r>
            <a:endParaRPr lang="en-US" sz="1800" dirty="0"/>
          </a:p>
        </p:txBody>
      </p:sp>
      <p:sp>
        <p:nvSpPr>
          <p:cNvPr id="12" name="Text 10"/>
          <p:cNvSpPr/>
          <p:nvPr/>
        </p:nvSpPr>
        <p:spPr>
          <a:xfrm>
            <a:off x="7772400" y="1828800"/>
            <a:ext cx="3337560" cy="2240280"/>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1750" dirty="0">
                <a:solidFill>
                  <a:srgbClr val="111827"/>
                </a:solidFill>
              </a:rPr>
              <a:t>localhost:5000</a:t>
            </a:r>
            <a:endParaRPr lang="en-US" sz="1750" dirty="0"/>
          </a:p>
          <a:p>
            <a:pPr algn="ctr" indent="0" marL="0">
              <a:buNone/>
            </a:pPr>
            <a:endParaRPr lang="en-US" sz="1750" dirty="0"/>
          </a:p>
          <a:p>
            <a:pPr algn="ctr" indent="0" marL="0">
              <a:buNone/>
            </a:pPr>
            <a:r>
              <a:rPr lang="en-US" sz="1750" dirty="0">
                <a:solidFill>
                  <a:srgbClr val="111827"/>
                </a:solidFill>
              </a:rPr>
              <a:t>Devices online: 3</a:t>
            </a:r>
            <a:endParaRPr lang="en-US" sz="1750" dirty="0"/>
          </a:p>
          <a:p>
            <a:pPr algn="ctr" indent="0" marL="0">
              <a:buNone/>
            </a:pPr>
            <a:r>
              <a:rPr lang="en-US" sz="1750" dirty="0">
                <a:solidFill>
                  <a:srgbClr val="111827"/>
                </a:solidFill>
              </a:rPr>
              <a:t>Current alert: DoS-like</a:t>
            </a:r>
            <a:endParaRPr lang="en-US" sz="1750" dirty="0"/>
          </a:p>
          <a:p>
            <a:pPr algn="ctr" indent="0" marL="0">
              <a:buNone/>
            </a:pPr>
            <a:r>
              <a:rPr lang="en-US" sz="1750" dirty="0">
                <a:solidFill>
                  <a:srgbClr val="111827"/>
                </a:solidFill>
              </a:rPr>
              <a:t>Accuracy: 94%</a:t>
            </a:r>
            <a:endParaRPr lang="en-US" sz="1750" dirty="0"/>
          </a:p>
          <a:p>
            <a:pPr algn="ctr" indent="0" marL="0">
              <a:buNone/>
            </a:pPr>
            <a:r>
              <a:rPr lang="en-US" sz="1750" dirty="0">
                <a:solidFill>
                  <a:srgbClr val="111827"/>
                </a:solidFill>
              </a:rPr>
              <a:t>Raw data shared: No</a:t>
            </a:r>
            <a:endParaRPr lang="en-US" sz="1750" dirty="0"/>
          </a:p>
        </p:txBody>
      </p:sp>
      <p:sp>
        <p:nvSpPr>
          <p:cNvPr id="13" name="Text 11"/>
          <p:cNvSpPr/>
          <p:nvPr/>
        </p:nvSpPr>
        <p:spPr>
          <a:xfrm>
            <a:off x="1097280" y="5120640"/>
            <a:ext cx="9875520" cy="457200"/>
          </a:xfrm>
          <a:prstGeom prst="rect">
            <a:avLst/>
          </a:prstGeom>
          <a:noFill/>
          <a:ln/>
        </p:spPr>
        <p:txBody>
          <a:bodyPr wrap="square" lIns="0" tIns="0" rIns="0" bIns="0" rtlCol="0" anchor="ctr"/>
          <a:lstStyle/>
          <a:p>
            <a:pPr algn="ctr" indent="0" marL="0">
              <a:buNone/>
            </a:pPr>
            <a:r>
              <a:rPr lang="en-US" sz="2200" b="1" dirty="0">
                <a:solidFill>
                  <a:srgbClr val="102A43"/>
                </a:solidFill>
              </a:rPr>
              <a:t>Simple meaning: Python does the work, HTML shows the result.</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2563EB"/>
          </a:solidFill>
          <a:ln w="12700">
            <a:solidFill>
              <a:srgbClr val="2563EB">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Demo path during presentation</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This is the order I can show to my teacher.</a:t>
            </a:r>
            <a:endParaRPr lang="en-US" sz="1500" dirty="0"/>
          </a:p>
        </p:txBody>
      </p:sp>
      <p:sp>
        <p:nvSpPr>
          <p:cNvPr id="7" name="Text 5"/>
          <p:cNvSpPr/>
          <p:nvPr/>
        </p:nvSpPr>
        <p:spPr>
          <a:xfrm>
            <a:off x="685800" y="1417320"/>
            <a:ext cx="502920" cy="502920"/>
          </a:xfrm>
          <a:prstGeom prst="rect">
            <a:avLst/>
          </a:prstGeom>
          <a:solidFill>
            <a:srgbClr val="102A43"/>
          </a:solidFill>
          <a:ln>
            <a:solidFill>
              <a:srgbClr val="102A43"/>
            </a:solidFill>
          </a:ln>
        </p:spPr>
        <p:txBody>
          <a:bodyPr wrap="square" lIns="1524" tIns="1524" rIns="1524" bIns="1524" rtlCol="0" anchor="ctr">
            <a:normAutofit/>
          </a:bodyPr>
          <a:lstStyle/>
          <a:p>
            <a:pPr algn="ctr" indent="0" marL="0">
              <a:buNone/>
            </a:pPr>
            <a:r>
              <a:rPr lang="en-US" sz="1800" b="1" dirty="0">
                <a:solidFill>
                  <a:srgbClr val="FFFFFF"/>
                </a:solidFill>
              </a:rPr>
              <a:t>1</a:t>
            </a:r>
            <a:endParaRPr lang="en-US" sz="1800" dirty="0"/>
          </a:p>
        </p:txBody>
      </p:sp>
      <p:sp>
        <p:nvSpPr>
          <p:cNvPr id="8" name="Text 6"/>
          <p:cNvSpPr/>
          <p:nvPr/>
        </p:nvSpPr>
        <p:spPr>
          <a:xfrm>
            <a:off x="1344168" y="1417320"/>
            <a:ext cx="2788920" cy="822960"/>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700" dirty="0">
                <a:solidFill>
                  <a:srgbClr val="111827"/>
                </a:solidFill>
              </a:rPr>
              <a:t>Run project</a:t>
            </a:r>
            <a:endParaRPr lang="en-US" sz="1700" dirty="0"/>
          </a:p>
          <a:p>
            <a:pPr algn="l" indent="0" marL="0">
              <a:buNone/>
            </a:pPr>
            <a:r>
              <a:rPr lang="en-US" sz="1700" dirty="0">
                <a:solidFill>
                  <a:srgbClr val="111827"/>
                </a:solidFill>
              </a:rPr>
              <a:t>python app.py</a:t>
            </a:r>
            <a:endParaRPr lang="en-US" sz="1700" dirty="0"/>
          </a:p>
        </p:txBody>
      </p:sp>
      <p:sp>
        <p:nvSpPr>
          <p:cNvPr id="9" name="Text 7"/>
          <p:cNvSpPr/>
          <p:nvPr/>
        </p:nvSpPr>
        <p:spPr>
          <a:xfrm>
            <a:off x="4343400" y="1417320"/>
            <a:ext cx="502920" cy="502920"/>
          </a:xfrm>
          <a:prstGeom prst="rect">
            <a:avLst/>
          </a:prstGeom>
          <a:solidFill>
            <a:srgbClr val="102A43"/>
          </a:solidFill>
          <a:ln>
            <a:solidFill>
              <a:srgbClr val="102A43"/>
            </a:solidFill>
          </a:ln>
        </p:spPr>
        <p:txBody>
          <a:bodyPr wrap="square" lIns="1524" tIns="1524" rIns="1524" bIns="1524" rtlCol="0" anchor="ctr">
            <a:normAutofit/>
          </a:bodyPr>
          <a:lstStyle/>
          <a:p>
            <a:pPr algn="ctr" indent="0" marL="0">
              <a:buNone/>
            </a:pPr>
            <a:r>
              <a:rPr lang="en-US" sz="1800" b="1" dirty="0">
                <a:solidFill>
                  <a:srgbClr val="FFFFFF"/>
                </a:solidFill>
              </a:rPr>
              <a:t>2</a:t>
            </a:r>
            <a:endParaRPr lang="en-US" sz="1800" dirty="0"/>
          </a:p>
        </p:txBody>
      </p:sp>
      <p:sp>
        <p:nvSpPr>
          <p:cNvPr id="10" name="Text 8"/>
          <p:cNvSpPr/>
          <p:nvPr/>
        </p:nvSpPr>
        <p:spPr>
          <a:xfrm>
            <a:off x="5001768" y="1417320"/>
            <a:ext cx="2788920" cy="822960"/>
          </a:xfrm>
          <a:prstGeom prst="rect">
            <a:avLst/>
          </a:prstGeom>
          <a:solidFill>
            <a:srgbClr val="F1F5F9"/>
          </a:solidFill>
          <a:ln>
            <a:solidFill>
              <a:srgbClr val="F1F5F9"/>
            </a:solidFill>
          </a:ln>
        </p:spPr>
        <p:txBody>
          <a:bodyPr wrap="square" lIns="1524" tIns="1524" rIns="1524" bIns="1524" rtlCol="0" anchor="t">
            <a:normAutofit/>
          </a:bodyPr>
          <a:lstStyle/>
          <a:p>
            <a:pPr algn="l" indent="0" marL="0">
              <a:buNone/>
            </a:pPr>
            <a:r>
              <a:rPr lang="en-US" sz="1700" dirty="0">
                <a:solidFill>
                  <a:srgbClr val="111827"/>
                </a:solidFill>
              </a:rPr>
              <a:t>Open browser</a:t>
            </a:r>
            <a:endParaRPr lang="en-US" sz="1700" dirty="0"/>
          </a:p>
          <a:p>
            <a:pPr algn="l" indent="0" marL="0">
              <a:buNone/>
            </a:pPr>
            <a:r>
              <a:rPr lang="en-US" sz="1700" dirty="0">
                <a:solidFill>
                  <a:srgbClr val="111827"/>
                </a:solidFill>
              </a:rPr>
              <a:t>localhost:5000</a:t>
            </a:r>
            <a:endParaRPr lang="en-US" sz="1700" dirty="0"/>
          </a:p>
        </p:txBody>
      </p:sp>
      <p:sp>
        <p:nvSpPr>
          <p:cNvPr id="11" name="Text 9"/>
          <p:cNvSpPr/>
          <p:nvPr/>
        </p:nvSpPr>
        <p:spPr>
          <a:xfrm>
            <a:off x="8001000" y="1417320"/>
            <a:ext cx="502920" cy="502920"/>
          </a:xfrm>
          <a:prstGeom prst="rect">
            <a:avLst/>
          </a:prstGeom>
          <a:solidFill>
            <a:srgbClr val="102A43"/>
          </a:solidFill>
          <a:ln>
            <a:solidFill>
              <a:srgbClr val="102A43"/>
            </a:solidFill>
          </a:ln>
        </p:spPr>
        <p:txBody>
          <a:bodyPr wrap="square" lIns="1524" tIns="1524" rIns="1524" bIns="1524" rtlCol="0" anchor="ctr">
            <a:normAutofit/>
          </a:bodyPr>
          <a:lstStyle/>
          <a:p>
            <a:pPr algn="ctr" indent="0" marL="0">
              <a:buNone/>
            </a:pPr>
            <a:r>
              <a:rPr lang="en-US" sz="1800" b="1" dirty="0">
                <a:solidFill>
                  <a:srgbClr val="FFFFFF"/>
                </a:solidFill>
              </a:rPr>
              <a:t>3</a:t>
            </a:r>
            <a:endParaRPr lang="en-US" sz="1800" dirty="0"/>
          </a:p>
        </p:txBody>
      </p:sp>
      <p:sp>
        <p:nvSpPr>
          <p:cNvPr id="12" name="Text 10"/>
          <p:cNvSpPr/>
          <p:nvPr/>
        </p:nvSpPr>
        <p:spPr>
          <a:xfrm>
            <a:off x="8659368" y="1417320"/>
            <a:ext cx="2788920" cy="822960"/>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700" dirty="0">
                <a:solidFill>
                  <a:srgbClr val="111827"/>
                </a:solidFill>
              </a:rPr>
              <a:t>Generate data</a:t>
            </a:r>
            <a:endParaRPr lang="en-US" sz="1700" dirty="0"/>
          </a:p>
          <a:p>
            <a:pPr algn="l" indent="0" marL="0">
              <a:buNone/>
            </a:pPr>
            <a:r>
              <a:rPr lang="en-US" sz="1700" dirty="0">
                <a:solidFill>
                  <a:srgbClr val="111827"/>
                </a:solidFill>
              </a:rPr>
              <a:t>normal + attack rows</a:t>
            </a:r>
            <a:endParaRPr lang="en-US" sz="1700" dirty="0"/>
          </a:p>
        </p:txBody>
      </p:sp>
      <p:sp>
        <p:nvSpPr>
          <p:cNvPr id="13" name="Text 11"/>
          <p:cNvSpPr/>
          <p:nvPr/>
        </p:nvSpPr>
        <p:spPr>
          <a:xfrm>
            <a:off x="685800" y="3840480"/>
            <a:ext cx="502920" cy="502920"/>
          </a:xfrm>
          <a:prstGeom prst="rect">
            <a:avLst/>
          </a:prstGeom>
          <a:solidFill>
            <a:srgbClr val="102A43"/>
          </a:solidFill>
          <a:ln>
            <a:solidFill>
              <a:srgbClr val="102A43"/>
            </a:solidFill>
          </a:ln>
        </p:spPr>
        <p:txBody>
          <a:bodyPr wrap="square" lIns="1524" tIns="1524" rIns="1524" bIns="1524" rtlCol="0" anchor="ctr">
            <a:normAutofit/>
          </a:bodyPr>
          <a:lstStyle/>
          <a:p>
            <a:pPr algn="ctr" indent="0" marL="0">
              <a:buNone/>
            </a:pPr>
            <a:r>
              <a:rPr lang="en-US" sz="1800" b="1" dirty="0">
                <a:solidFill>
                  <a:srgbClr val="FFFFFF"/>
                </a:solidFill>
              </a:rPr>
              <a:t>4</a:t>
            </a:r>
            <a:endParaRPr lang="en-US" sz="1800" dirty="0"/>
          </a:p>
        </p:txBody>
      </p:sp>
      <p:sp>
        <p:nvSpPr>
          <p:cNvPr id="14" name="Text 12"/>
          <p:cNvSpPr/>
          <p:nvPr/>
        </p:nvSpPr>
        <p:spPr>
          <a:xfrm>
            <a:off x="1344168" y="3840480"/>
            <a:ext cx="2788920" cy="822960"/>
          </a:xfrm>
          <a:prstGeom prst="rect">
            <a:avLst/>
          </a:prstGeom>
          <a:solidFill>
            <a:srgbClr val="F1F5F9"/>
          </a:solidFill>
          <a:ln>
            <a:solidFill>
              <a:srgbClr val="F1F5F9"/>
            </a:solidFill>
          </a:ln>
        </p:spPr>
        <p:txBody>
          <a:bodyPr wrap="square" lIns="1524" tIns="1524" rIns="1524" bIns="1524" rtlCol="0" anchor="t">
            <a:normAutofit/>
          </a:bodyPr>
          <a:lstStyle/>
          <a:p>
            <a:pPr algn="l" indent="0" marL="0">
              <a:buNone/>
            </a:pPr>
            <a:r>
              <a:rPr lang="en-US" sz="1700" dirty="0">
                <a:solidFill>
                  <a:srgbClr val="111827"/>
                </a:solidFill>
              </a:rPr>
              <a:t>Train locally</a:t>
            </a:r>
            <a:endParaRPr lang="en-US" sz="1700" dirty="0"/>
          </a:p>
          <a:p>
            <a:pPr algn="l" indent="0" marL="0">
              <a:buNone/>
            </a:pPr>
            <a:r>
              <a:rPr lang="en-US" sz="1700" dirty="0">
                <a:solidFill>
                  <a:srgbClr val="111827"/>
                </a:solidFill>
              </a:rPr>
              <a:t>each device learns</a:t>
            </a:r>
            <a:endParaRPr lang="en-US" sz="1700" dirty="0"/>
          </a:p>
        </p:txBody>
      </p:sp>
      <p:sp>
        <p:nvSpPr>
          <p:cNvPr id="15" name="Text 13"/>
          <p:cNvSpPr/>
          <p:nvPr/>
        </p:nvSpPr>
        <p:spPr>
          <a:xfrm>
            <a:off x="4343400" y="3840480"/>
            <a:ext cx="502920" cy="502920"/>
          </a:xfrm>
          <a:prstGeom prst="rect">
            <a:avLst/>
          </a:prstGeom>
          <a:solidFill>
            <a:srgbClr val="102A43"/>
          </a:solidFill>
          <a:ln>
            <a:solidFill>
              <a:srgbClr val="102A43"/>
            </a:solidFill>
          </a:ln>
        </p:spPr>
        <p:txBody>
          <a:bodyPr wrap="square" lIns="1524" tIns="1524" rIns="1524" bIns="1524" rtlCol="0" anchor="ctr">
            <a:normAutofit/>
          </a:bodyPr>
          <a:lstStyle/>
          <a:p>
            <a:pPr algn="ctr" indent="0" marL="0">
              <a:buNone/>
            </a:pPr>
            <a:r>
              <a:rPr lang="en-US" sz="1800" b="1" dirty="0">
                <a:solidFill>
                  <a:srgbClr val="FFFFFF"/>
                </a:solidFill>
              </a:rPr>
              <a:t>5</a:t>
            </a:r>
            <a:endParaRPr lang="en-US" sz="1800" dirty="0"/>
          </a:p>
        </p:txBody>
      </p:sp>
      <p:sp>
        <p:nvSpPr>
          <p:cNvPr id="16" name="Text 14"/>
          <p:cNvSpPr/>
          <p:nvPr/>
        </p:nvSpPr>
        <p:spPr>
          <a:xfrm>
            <a:off x="5001768" y="3840480"/>
            <a:ext cx="2788920" cy="822960"/>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700" dirty="0">
                <a:solidFill>
                  <a:srgbClr val="111827"/>
                </a:solidFill>
              </a:rPr>
              <a:t>Average updates</a:t>
            </a:r>
            <a:endParaRPr lang="en-US" sz="1700" dirty="0"/>
          </a:p>
          <a:p>
            <a:pPr algn="l" indent="0" marL="0">
              <a:buNone/>
            </a:pPr>
            <a:r>
              <a:rPr lang="en-US" sz="1700" dirty="0">
                <a:solidFill>
                  <a:srgbClr val="111827"/>
                </a:solidFill>
              </a:rPr>
              <a:t>FedAvg creates global model</a:t>
            </a:r>
            <a:endParaRPr lang="en-US" sz="1700" dirty="0"/>
          </a:p>
        </p:txBody>
      </p:sp>
      <p:sp>
        <p:nvSpPr>
          <p:cNvPr id="17" name="Text 15"/>
          <p:cNvSpPr/>
          <p:nvPr/>
        </p:nvSpPr>
        <p:spPr>
          <a:xfrm>
            <a:off x="8001000" y="3840480"/>
            <a:ext cx="502920" cy="502920"/>
          </a:xfrm>
          <a:prstGeom prst="rect">
            <a:avLst/>
          </a:prstGeom>
          <a:solidFill>
            <a:srgbClr val="102A43"/>
          </a:solidFill>
          <a:ln>
            <a:solidFill>
              <a:srgbClr val="102A43"/>
            </a:solidFill>
          </a:ln>
        </p:spPr>
        <p:txBody>
          <a:bodyPr wrap="square" lIns="1524" tIns="1524" rIns="1524" bIns="1524" rtlCol="0" anchor="ctr">
            <a:normAutofit/>
          </a:bodyPr>
          <a:lstStyle/>
          <a:p>
            <a:pPr algn="ctr" indent="0" marL="0">
              <a:buNone/>
            </a:pPr>
            <a:r>
              <a:rPr lang="en-US" sz="1800" b="1" dirty="0">
                <a:solidFill>
                  <a:srgbClr val="FFFFFF"/>
                </a:solidFill>
              </a:rPr>
              <a:t>6</a:t>
            </a:r>
            <a:endParaRPr lang="en-US" sz="1800" dirty="0"/>
          </a:p>
        </p:txBody>
      </p:sp>
      <p:sp>
        <p:nvSpPr>
          <p:cNvPr id="18" name="Text 16"/>
          <p:cNvSpPr/>
          <p:nvPr/>
        </p:nvSpPr>
        <p:spPr>
          <a:xfrm>
            <a:off x="8659368" y="3840480"/>
            <a:ext cx="2788920" cy="822960"/>
          </a:xfrm>
          <a:prstGeom prst="rect">
            <a:avLst/>
          </a:prstGeom>
          <a:solidFill>
            <a:srgbClr val="F1F5F9"/>
          </a:solidFill>
          <a:ln>
            <a:solidFill>
              <a:srgbClr val="F1F5F9"/>
            </a:solidFill>
          </a:ln>
        </p:spPr>
        <p:txBody>
          <a:bodyPr wrap="square" lIns="1524" tIns="1524" rIns="1524" bIns="1524" rtlCol="0" anchor="t">
            <a:normAutofit/>
          </a:bodyPr>
          <a:lstStyle/>
          <a:p>
            <a:pPr algn="l" indent="0" marL="0">
              <a:buNone/>
            </a:pPr>
            <a:r>
              <a:rPr lang="en-US" sz="1700" dirty="0">
                <a:solidFill>
                  <a:srgbClr val="111827"/>
                </a:solidFill>
              </a:rPr>
              <a:t>Show alerts</a:t>
            </a:r>
            <a:endParaRPr lang="en-US" sz="1700" dirty="0"/>
          </a:p>
          <a:p>
            <a:pPr algn="l" indent="0" marL="0">
              <a:buNone/>
            </a:pPr>
            <a:r>
              <a:rPr lang="en-US" sz="1700" dirty="0">
                <a:solidFill>
                  <a:srgbClr val="111827"/>
                </a:solidFill>
              </a:rPr>
              <a:t>Normal or Attack appears</a:t>
            </a:r>
            <a:endParaRPr lang="en-US" sz="1700" dirty="0"/>
          </a:p>
        </p:txBody>
      </p:sp>
      <p:sp>
        <p:nvSpPr>
          <p:cNvPr id="19" name="Shape 17"/>
          <p:cNvSpPr/>
          <p:nvPr/>
        </p:nvSpPr>
        <p:spPr>
          <a:xfrm>
            <a:off x="3822192" y="1810512"/>
            <a:ext cx="475488" cy="0"/>
          </a:xfrm>
          <a:prstGeom prst="line">
            <a:avLst/>
          </a:prstGeom>
          <a:noFill/>
          <a:ln w="19050">
            <a:solidFill>
              <a:srgbClr val="2563EB"/>
            </a:solidFill>
            <a:prstDash val="solid"/>
            <a:headEnd type="none"/>
            <a:tailEnd type="triangle"/>
          </a:ln>
        </p:spPr>
      </p:sp>
      <p:sp>
        <p:nvSpPr>
          <p:cNvPr id="20" name="Shape 18"/>
          <p:cNvSpPr/>
          <p:nvPr/>
        </p:nvSpPr>
        <p:spPr>
          <a:xfrm>
            <a:off x="7479792" y="1810512"/>
            <a:ext cx="475488" cy="0"/>
          </a:xfrm>
          <a:prstGeom prst="line">
            <a:avLst/>
          </a:prstGeom>
          <a:noFill/>
          <a:ln w="19050">
            <a:solidFill>
              <a:srgbClr val="2563EB"/>
            </a:solidFill>
            <a:prstDash val="solid"/>
            <a:headEnd type="none"/>
            <a:tailEnd type="triangle"/>
          </a:ln>
        </p:spPr>
      </p:sp>
      <p:sp>
        <p:nvSpPr>
          <p:cNvPr id="21" name="Shape 19"/>
          <p:cNvSpPr/>
          <p:nvPr/>
        </p:nvSpPr>
        <p:spPr>
          <a:xfrm>
            <a:off x="2423160" y="2286000"/>
            <a:ext cx="0" cy="1508760"/>
          </a:xfrm>
          <a:prstGeom prst="line">
            <a:avLst/>
          </a:prstGeom>
          <a:noFill/>
          <a:ln w="19050">
            <a:solidFill>
              <a:srgbClr val="2563EB"/>
            </a:solidFill>
            <a:prstDash val="solid"/>
            <a:headEnd type="none"/>
            <a:tailEnd type="triangle"/>
          </a:ln>
        </p:spPr>
      </p:sp>
      <p:sp>
        <p:nvSpPr>
          <p:cNvPr id="22" name="Shape 20"/>
          <p:cNvSpPr/>
          <p:nvPr/>
        </p:nvSpPr>
        <p:spPr>
          <a:xfrm>
            <a:off x="3822192" y="4233672"/>
            <a:ext cx="475488" cy="0"/>
          </a:xfrm>
          <a:prstGeom prst="line">
            <a:avLst/>
          </a:prstGeom>
          <a:noFill/>
          <a:ln w="19050">
            <a:solidFill>
              <a:srgbClr val="2563EB"/>
            </a:solidFill>
            <a:prstDash val="solid"/>
            <a:headEnd type="none"/>
            <a:tailEnd type="triangle"/>
          </a:ln>
        </p:spPr>
      </p:sp>
      <p:sp>
        <p:nvSpPr>
          <p:cNvPr id="23" name="Shape 21"/>
          <p:cNvSpPr/>
          <p:nvPr/>
        </p:nvSpPr>
        <p:spPr>
          <a:xfrm>
            <a:off x="7479792" y="4233672"/>
            <a:ext cx="475488" cy="0"/>
          </a:xfrm>
          <a:prstGeom prst="line">
            <a:avLst/>
          </a:prstGeom>
          <a:noFill/>
          <a:ln w="19050">
            <a:solidFill>
              <a:srgbClr val="2563EB"/>
            </a:solidFill>
            <a:prstDash val="solid"/>
            <a:headEnd type="none"/>
            <a:tailEnd type="triangle"/>
          </a:ln>
        </p:spPr>
      </p:sp>
      <p:sp>
        <p:nvSpPr>
          <p:cNvPr id="24" name="Text 22"/>
          <p:cNvSpPr/>
          <p:nvPr/>
        </p:nvSpPr>
        <p:spPr>
          <a:xfrm>
            <a:off x="1005840" y="5486400"/>
            <a:ext cx="10149840" cy="502920"/>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1900" b="1" dirty="0">
                <a:solidFill>
                  <a:srgbClr val="111827"/>
                </a:solidFill>
              </a:rPr>
              <a:t>Final message: “This localhost system demonstrates the paper’s idea using safe simulated IoT data.”</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F97316"/>
          </a:solidFill>
          <a:ln w="12700">
            <a:solidFill>
              <a:srgbClr val="F97316">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What I can honestly claim</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This slide protects you during viva/presentation.</a:t>
            </a:r>
            <a:endParaRPr lang="en-US" sz="1500" dirty="0"/>
          </a:p>
        </p:txBody>
      </p:sp>
      <p:sp>
        <p:nvSpPr>
          <p:cNvPr id="7" name="Text 5"/>
          <p:cNvSpPr/>
          <p:nvPr/>
        </p:nvSpPr>
        <p:spPr>
          <a:xfrm>
            <a:off x="822960" y="1325880"/>
            <a:ext cx="4800600" cy="420624"/>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1800" b="1" dirty="0">
                <a:solidFill>
                  <a:srgbClr val="111827"/>
                </a:solidFill>
              </a:rPr>
              <a:t>Implemented / shown in localhost</a:t>
            </a:r>
            <a:endParaRPr lang="en-US" sz="1800" dirty="0"/>
          </a:p>
        </p:txBody>
      </p:sp>
      <p:sp>
        <p:nvSpPr>
          <p:cNvPr id="8" name="Text 6"/>
          <p:cNvSpPr/>
          <p:nvPr/>
        </p:nvSpPr>
        <p:spPr>
          <a:xfrm>
            <a:off x="822960" y="1965960"/>
            <a:ext cx="4800600" cy="2331720"/>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800" dirty="0">
                <a:solidFill>
                  <a:srgbClr val="111827"/>
                </a:solidFill>
              </a:rPr>
              <a:t>• Virtual IoT devices</a:t>
            </a:r>
            <a:endParaRPr lang="en-US" sz="1800" dirty="0"/>
          </a:p>
          <a:p>
            <a:pPr algn="l" indent="0" marL="0">
              <a:buNone/>
            </a:pPr>
            <a:r>
              <a:rPr lang="en-US" sz="1800" dirty="0">
                <a:solidFill>
                  <a:srgbClr val="111827"/>
                </a:solidFill>
              </a:rPr>
              <a:t>• Normal and attack-like data</a:t>
            </a:r>
            <a:endParaRPr lang="en-US" sz="1800" dirty="0"/>
          </a:p>
          <a:p>
            <a:pPr algn="l" indent="0" marL="0">
              <a:buNone/>
            </a:pPr>
            <a:r>
              <a:rPr lang="en-US" sz="1800" dirty="0">
                <a:solidFill>
                  <a:srgbClr val="111827"/>
                </a:solidFill>
              </a:rPr>
              <a:t>• Local training per device</a:t>
            </a:r>
            <a:endParaRPr lang="en-US" sz="1800" dirty="0"/>
          </a:p>
          <a:p>
            <a:pPr algn="l" indent="0" marL="0">
              <a:buNone/>
            </a:pPr>
            <a:r>
              <a:rPr lang="en-US" sz="1800" dirty="0">
                <a:solidFill>
                  <a:srgbClr val="111827"/>
                </a:solidFill>
              </a:rPr>
              <a:t>• Federated averaging idea</a:t>
            </a:r>
            <a:endParaRPr lang="en-US" sz="1800" dirty="0"/>
          </a:p>
          <a:p>
            <a:pPr algn="l" indent="0" marL="0">
              <a:buNone/>
            </a:pPr>
            <a:r>
              <a:rPr lang="en-US" sz="1800" dirty="0">
                <a:solidFill>
                  <a:srgbClr val="111827"/>
                </a:solidFill>
              </a:rPr>
              <a:t>• Normal/Attack prediction</a:t>
            </a:r>
            <a:endParaRPr lang="en-US" sz="1800" dirty="0"/>
          </a:p>
          <a:p>
            <a:pPr algn="l" indent="0" marL="0">
              <a:buNone/>
            </a:pPr>
            <a:r>
              <a:rPr lang="en-US" sz="1800" dirty="0">
                <a:solidFill>
                  <a:srgbClr val="111827"/>
                </a:solidFill>
              </a:rPr>
              <a:t>• Dashboard with alerts and results</a:t>
            </a:r>
            <a:endParaRPr lang="en-US" sz="1800" dirty="0"/>
          </a:p>
        </p:txBody>
      </p:sp>
      <p:sp>
        <p:nvSpPr>
          <p:cNvPr id="9" name="Text 7"/>
          <p:cNvSpPr/>
          <p:nvPr/>
        </p:nvSpPr>
        <p:spPr>
          <a:xfrm>
            <a:off x="6446520" y="1325880"/>
            <a:ext cx="4800600" cy="420624"/>
          </a:xfrm>
          <a:prstGeom prst="rect">
            <a:avLst/>
          </a:prstGeom>
          <a:solidFill>
            <a:srgbClr val="FCE7F3"/>
          </a:solidFill>
          <a:ln>
            <a:solidFill>
              <a:srgbClr val="FCE7F3"/>
            </a:solidFill>
          </a:ln>
        </p:spPr>
        <p:txBody>
          <a:bodyPr wrap="square" lIns="1524" tIns="1524" rIns="1524" bIns="1524" rtlCol="0" anchor="ctr">
            <a:normAutofit/>
          </a:bodyPr>
          <a:lstStyle/>
          <a:p>
            <a:pPr algn="ctr" indent="0" marL="0">
              <a:buNone/>
            </a:pPr>
            <a:r>
              <a:rPr lang="en-US" sz="1800" b="1" dirty="0">
                <a:solidFill>
                  <a:srgbClr val="111827"/>
                </a:solidFill>
              </a:rPr>
              <a:t>Not fully implemented</a:t>
            </a:r>
            <a:endParaRPr lang="en-US" sz="1800" dirty="0"/>
          </a:p>
        </p:txBody>
      </p:sp>
      <p:sp>
        <p:nvSpPr>
          <p:cNvPr id="10" name="Text 8"/>
          <p:cNvSpPr/>
          <p:nvPr/>
        </p:nvSpPr>
        <p:spPr>
          <a:xfrm>
            <a:off x="6446520" y="1965960"/>
            <a:ext cx="4800600" cy="2331720"/>
          </a:xfrm>
          <a:prstGeom prst="rect">
            <a:avLst/>
          </a:prstGeom>
          <a:solidFill>
            <a:srgbClr val="FFFFFF"/>
          </a:solidFill>
          <a:ln>
            <a:solidFill>
              <a:srgbClr val="FFFFFF"/>
            </a:solidFill>
          </a:ln>
        </p:spPr>
        <p:txBody>
          <a:bodyPr wrap="square" lIns="1524" tIns="1524" rIns="1524" bIns="1524" rtlCol="0" anchor="t">
            <a:normAutofit/>
          </a:bodyPr>
          <a:lstStyle/>
          <a:p>
            <a:pPr algn="l" indent="0" marL="0">
              <a:buNone/>
            </a:pPr>
            <a:r>
              <a:rPr lang="en-US" sz="1800" dirty="0">
                <a:solidFill>
                  <a:srgbClr val="111827"/>
                </a:solidFill>
              </a:rPr>
              <a:t>• Real microcontroller deployment</a:t>
            </a:r>
            <a:endParaRPr lang="en-US" sz="1800" dirty="0"/>
          </a:p>
          <a:p>
            <a:pPr algn="l" indent="0" marL="0">
              <a:buNone/>
            </a:pPr>
            <a:r>
              <a:rPr lang="en-US" sz="1800" dirty="0">
                <a:solidFill>
                  <a:srgbClr val="111827"/>
                </a:solidFill>
              </a:rPr>
              <a:t>• Real battery/power testing</a:t>
            </a:r>
            <a:endParaRPr lang="en-US" sz="1800" dirty="0"/>
          </a:p>
          <a:p>
            <a:pPr algn="l" indent="0" marL="0">
              <a:buNone/>
            </a:pPr>
            <a:r>
              <a:rPr lang="en-US" sz="1800" dirty="0">
                <a:solidFill>
                  <a:srgbClr val="111827"/>
                </a:solidFill>
              </a:rPr>
              <a:t>• Real Wi-Fi/Bluetooth attack testing</a:t>
            </a:r>
            <a:endParaRPr lang="en-US" sz="1800" dirty="0"/>
          </a:p>
          <a:p>
            <a:pPr algn="l" indent="0" marL="0">
              <a:buNone/>
            </a:pPr>
            <a:r>
              <a:rPr lang="en-US" sz="1800" dirty="0">
                <a:solidFill>
                  <a:srgbClr val="111827"/>
                </a:solidFill>
              </a:rPr>
              <a:t>• Real hospital/factory IoT network</a:t>
            </a:r>
            <a:endParaRPr lang="en-US" sz="1800" dirty="0"/>
          </a:p>
          <a:p>
            <a:pPr algn="l" indent="0" marL="0">
              <a:buNone/>
            </a:pPr>
            <a:r>
              <a:rPr lang="en-US" sz="1800" dirty="0">
                <a:solidFill>
                  <a:srgbClr val="111827"/>
                </a:solidFill>
              </a:rPr>
              <a:t>• Full cybersecurity production system</a:t>
            </a:r>
            <a:endParaRPr lang="en-US" sz="1800" dirty="0"/>
          </a:p>
        </p:txBody>
      </p:sp>
      <p:sp>
        <p:nvSpPr>
          <p:cNvPr id="11" name="Text 9"/>
          <p:cNvSpPr/>
          <p:nvPr/>
        </p:nvSpPr>
        <p:spPr>
          <a:xfrm>
            <a:off x="1234440" y="5212080"/>
            <a:ext cx="9829800" cy="621792"/>
          </a:xfrm>
          <a:prstGeom prst="rect">
            <a:avLst/>
          </a:prstGeom>
          <a:solidFill>
            <a:srgbClr val="FFF1C2"/>
          </a:solidFill>
          <a:ln>
            <a:solidFill>
              <a:srgbClr val="FFF1C2"/>
            </a:solidFill>
          </a:ln>
        </p:spPr>
        <p:txBody>
          <a:bodyPr wrap="square" lIns="1524" tIns="1524" rIns="1524" bIns="1524" rtlCol="0" anchor="ctr">
            <a:normAutofit/>
          </a:bodyPr>
          <a:lstStyle/>
          <a:p>
            <a:pPr algn="ctr" indent="0" marL="0">
              <a:buNone/>
            </a:pPr>
            <a:r>
              <a:rPr lang="en-US" sz="2000" b="1" dirty="0">
                <a:solidFill>
                  <a:srgbClr val="111827"/>
                </a:solidFill>
              </a:rPr>
              <a:t>Best project title: “A localhost-based educational prototype of Collaborative IoT Intrusion Detection using Federated Learning.”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2563EB"/>
          </a:solidFill>
          <a:ln w="12700">
            <a:solidFill>
              <a:srgbClr val="2563EB">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Short speech for this implementation slide</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You can say this in class in simple English.</a:t>
            </a:r>
            <a:endParaRPr lang="en-US" sz="1500" dirty="0"/>
          </a:p>
        </p:txBody>
      </p:sp>
      <p:sp>
        <p:nvSpPr>
          <p:cNvPr id="7" name="Text 5"/>
          <p:cNvSpPr/>
          <p:nvPr/>
        </p:nvSpPr>
        <p:spPr>
          <a:xfrm>
            <a:off x="822960" y="1417320"/>
            <a:ext cx="10561320" cy="2880360"/>
          </a:xfrm>
          <a:prstGeom prst="rect">
            <a:avLst/>
          </a:prstGeom>
          <a:solidFill>
            <a:srgbClr val="FFFFFF"/>
          </a:solidFill>
          <a:ln>
            <a:solidFill>
              <a:srgbClr val="FFFFFF"/>
            </a:solidFill>
          </a:ln>
        </p:spPr>
        <p:txBody>
          <a:bodyPr wrap="square" lIns="2540" tIns="2540" rIns="2540" bIns="2540" rtlCol="0" anchor="ctr">
            <a:normAutofit/>
          </a:bodyPr>
          <a:lstStyle/>
          <a:p>
            <a:pPr algn="l" indent="0" marL="0">
              <a:buNone/>
            </a:pPr>
            <a:r>
              <a:rPr lang="en-US" sz="2000" dirty="0">
                <a:solidFill>
                  <a:srgbClr val="111827"/>
                </a:solidFill>
              </a:rPr>
              <a:t>“This research paper is mainly about collaborative intrusion detection for IoT devices. I implemented the idea as a localhost prototype. In my project, Python creates virtual IoT devices and generates normal and attack-like traffic. Each device keeps its own data and trains a small local model. Then the federated server combines the local model updates using Federated Averaging. Finally, Flask and HTML show the devices, training status, predictions, and attack alerts in the browser. So my project does not fully deploy on real hardware, but it clearly demonstrates the main research idea in a safe and understandable way.”</a:t>
            </a:r>
            <a:endParaRPr lang="en-US" sz="2000" dirty="0"/>
          </a:p>
        </p:txBody>
      </p:sp>
      <p:sp>
        <p:nvSpPr>
          <p:cNvPr id="8" name="Text 6"/>
          <p:cNvSpPr/>
          <p:nvPr/>
        </p:nvSpPr>
        <p:spPr>
          <a:xfrm>
            <a:off x="1554480" y="4983480"/>
            <a:ext cx="9098280" cy="530352"/>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2000" b="1" dirty="0">
                <a:solidFill>
                  <a:srgbClr val="111827"/>
                </a:solidFill>
              </a:rPr>
              <a:t>Remember: say “prototype” or “simulation”, not “full real-world system”.</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alpha val="0"/>
              </a:srgbClr>
            </a:solidFill>
            <a:prstDash val="solid"/>
          </a:ln>
        </p:spPr>
      </p:sp>
      <p:sp>
        <p:nvSpPr>
          <p:cNvPr id="3" name="Shape 1"/>
          <p:cNvSpPr/>
          <p:nvPr/>
        </p:nvSpPr>
        <p:spPr>
          <a:xfrm>
            <a:off x="0" y="0"/>
            <a:ext cx="12191695" cy="164592"/>
          </a:xfrm>
          <a:prstGeom prst="rect">
            <a:avLst/>
          </a:prstGeom>
          <a:solidFill>
            <a:srgbClr val="7C3AED"/>
          </a:solidFill>
          <a:ln w="12700">
            <a:solidFill>
              <a:srgbClr val="7C3AED">
                <a:alpha val="0"/>
              </a:srgbClr>
            </a:solidFill>
            <a:prstDash val="solid"/>
          </a:ln>
        </p:spPr>
      </p:sp>
      <p:sp>
        <p:nvSpPr>
          <p:cNvPr id="4" name="Text 2"/>
          <p:cNvSpPr/>
          <p:nvPr/>
        </p:nvSpPr>
        <p:spPr>
          <a:xfrm>
            <a:off x="502920" y="6528816"/>
            <a:ext cx="8046720" cy="201168"/>
          </a:xfrm>
          <a:prstGeom prst="rect">
            <a:avLst/>
          </a:prstGeom>
          <a:noFill/>
          <a:ln/>
        </p:spPr>
        <p:txBody>
          <a:bodyPr wrap="square" lIns="0" tIns="0" rIns="0" bIns="0" rtlCol="0" anchor="ctr"/>
          <a:lstStyle/>
          <a:p>
            <a:pPr indent="0" marL="0">
              <a:buNone/>
            </a:pPr>
            <a:r>
              <a:rPr lang="en-US" sz="760" dirty="0">
                <a:solidFill>
                  <a:srgbClr val="64748B"/>
                </a:solidFill>
                <a:latin typeface="Aptos" pitchFamily="34" charset="0"/>
                <a:ea typeface="Aptos" pitchFamily="34" charset="-122"/>
                <a:cs typeface="Aptos" pitchFamily="34" charset="-120"/>
              </a:rPr>
              <a:t>Based on the review paper: Collaborative IDS in resource-constrained IoT environments</a:t>
            </a:r>
            <a:endParaRPr lang="en-US" sz="760" dirty="0"/>
          </a:p>
        </p:txBody>
      </p:sp>
      <p:sp>
        <p:nvSpPr>
          <p:cNvPr id="5" name="Text 3"/>
          <p:cNvSpPr/>
          <p:nvPr/>
        </p:nvSpPr>
        <p:spPr>
          <a:xfrm>
            <a:off x="502920" y="384048"/>
            <a:ext cx="11155680" cy="502920"/>
          </a:xfrm>
          <a:prstGeom prst="rect">
            <a:avLst/>
          </a:prstGeom>
          <a:noFill/>
          <a:ln/>
        </p:spPr>
        <p:txBody>
          <a:bodyPr wrap="square" lIns="0" tIns="0" rIns="0" bIns="0" rtlCol="0" anchor="ctr"/>
          <a:lstStyle/>
          <a:p>
            <a:pPr indent="0" marL="0">
              <a:buNone/>
            </a:pPr>
            <a:r>
              <a:rPr lang="en-US" sz="3100" b="1" dirty="0">
                <a:solidFill>
                  <a:srgbClr val="102A43"/>
                </a:solidFill>
                <a:latin typeface="Aptos Display" pitchFamily="34" charset="0"/>
                <a:ea typeface="Aptos Display" pitchFamily="34" charset="-122"/>
                <a:cs typeface="Aptos Display" pitchFamily="34" charset="-120"/>
              </a:rPr>
              <a:t>Final implementation summary</a:t>
            </a:r>
            <a:endParaRPr lang="en-US" sz="3100" dirty="0"/>
          </a:p>
        </p:txBody>
      </p:sp>
      <p:sp>
        <p:nvSpPr>
          <p:cNvPr id="6" name="Text 4"/>
          <p:cNvSpPr/>
          <p:nvPr/>
        </p:nvSpPr>
        <p:spPr>
          <a:xfrm>
            <a:off x="530352" y="932688"/>
            <a:ext cx="10789920" cy="320040"/>
          </a:xfrm>
          <a:prstGeom prst="rect">
            <a:avLst/>
          </a:prstGeom>
          <a:noFill/>
          <a:ln/>
        </p:spPr>
        <p:txBody>
          <a:bodyPr wrap="square" lIns="0" tIns="0" rIns="0" bIns="0" rtlCol="0" anchor="ctr"/>
          <a:lstStyle/>
          <a:p>
            <a:pPr indent="0" marL="0">
              <a:buNone/>
            </a:pPr>
            <a:r>
              <a:rPr lang="en-US" sz="1500" dirty="0">
                <a:solidFill>
                  <a:srgbClr val="334155"/>
                </a:solidFill>
              </a:rPr>
              <a:t>One picture of the whole project.</a:t>
            </a:r>
            <a:endParaRPr lang="en-US" sz="1500" dirty="0"/>
          </a:p>
        </p:txBody>
      </p:sp>
      <p:sp>
        <p:nvSpPr>
          <p:cNvPr id="7" name="Shape 5"/>
          <p:cNvSpPr/>
          <p:nvPr/>
        </p:nvSpPr>
        <p:spPr>
          <a:xfrm>
            <a:off x="2560320" y="2148840"/>
            <a:ext cx="777240" cy="0"/>
          </a:xfrm>
          <a:prstGeom prst="line">
            <a:avLst/>
          </a:prstGeom>
          <a:noFill/>
          <a:ln w="19050">
            <a:solidFill>
              <a:srgbClr val="2563EB"/>
            </a:solidFill>
            <a:prstDash val="solid"/>
            <a:headEnd type="none"/>
            <a:tailEnd type="triangle"/>
          </a:ln>
        </p:spPr>
      </p:sp>
      <p:sp>
        <p:nvSpPr>
          <p:cNvPr id="8" name="Shape 6"/>
          <p:cNvSpPr/>
          <p:nvPr/>
        </p:nvSpPr>
        <p:spPr>
          <a:xfrm>
            <a:off x="5074920" y="2148840"/>
            <a:ext cx="731520" cy="0"/>
          </a:xfrm>
          <a:prstGeom prst="line">
            <a:avLst/>
          </a:prstGeom>
          <a:noFill/>
          <a:ln w="19050">
            <a:solidFill>
              <a:srgbClr val="2563EB"/>
            </a:solidFill>
            <a:prstDash val="solid"/>
            <a:headEnd type="none"/>
            <a:tailEnd type="triangle"/>
          </a:ln>
        </p:spPr>
      </p:sp>
      <p:sp>
        <p:nvSpPr>
          <p:cNvPr id="9" name="Shape 7"/>
          <p:cNvSpPr/>
          <p:nvPr/>
        </p:nvSpPr>
        <p:spPr>
          <a:xfrm>
            <a:off x="7543800" y="2148840"/>
            <a:ext cx="685800" cy="0"/>
          </a:xfrm>
          <a:prstGeom prst="line">
            <a:avLst/>
          </a:prstGeom>
          <a:noFill/>
          <a:ln w="19050">
            <a:solidFill>
              <a:srgbClr val="2563EB"/>
            </a:solidFill>
            <a:prstDash val="solid"/>
            <a:headEnd type="none"/>
            <a:tailEnd type="triangle"/>
          </a:ln>
        </p:spPr>
      </p:sp>
      <p:sp>
        <p:nvSpPr>
          <p:cNvPr id="10" name="Text 8"/>
          <p:cNvSpPr/>
          <p:nvPr/>
        </p:nvSpPr>
        <p:spPr>
          <a:xfrm>
            <a:off x="731520" y="1417320"/>
            <a:ext cx="1828800" cy="1463040"/>
          </a:xfrm>
          <a:prstGeom prst="rect">
            <a:avLst/>
          </a:prstGeom>
          <a:solidFill>
            <a:srgbClr val="EDE9FE"/>
          </a:solidFill>
          <a:ln>
            <a:solidFill>
              <a:srgbClr val="EDE9FE"/>
            </a:solidFill>
          </a:ln>
        </p:spPr>
        <p:txBody>
          <a:bodyPr wrap="square" lIns="1524" tIns="1524" rIns="1524" bIns="1524" rtlCol="0" anchor="ctr">
            <a:normAutofit/>
          </a:bodyPr>
          <a:lstStyle/>
          <a:p>
            <a:pPr algn="ctr" indent="0" marL="0">
              <a:buNone/>
            </a:pPr>
            <a:r>
              <a:rPr lang="en-US" sz="1800" b="1" dirty="0">
                <a:solidFill>
                  <a:srgbClr val="111827"/>
                </a:solidFill>
              </a:rPr>
              <a:t>Research Paper</a:t>
            </a:r>
            <a:endParaRPr lang="en-US" sz="1800" dirty="0"/>
          </a:p>
          <a:p>
            <a:pPr algn="ctr" indent="0" marL="0">
              <a:buNone/>
            </a:pPr>
            <a:r>
              <a:rPr lang="en-US" sz="1800" b="1" dirty="0">
                <a:solidFill>
                  <a:srgbClr val="111827"/>
                </a:solidFill>
              </a:rPr>
              <a:t>Concepts</a:t>
            </a:r>
            <a:endParaRPr lang="en-US" sz="1800" dirty="0"/>
          </a:p>
        </p:txBody>
      </p:sp>
      <p:sp>
        <p:nvSpPr>
          <p:cNvPr id="11" name="Text 9"/>
          <p:cNvSpPr/>
          <p:nvPr/>
        </p:nvSpPr>
        <p:spPr>
          <a:xfrm>
            <a:off x="3337560" y="1417320"/>
            <a:ext cx="1737360" cy="1463040"/>
          </a:xfrm>
          <a:prstGeom prst="rect">
            <a:avLst/>
          </a:prstGeom>
          <a:solidFill>
            <a:srgbClr val="D8ECFF"/>
          </a:solidFill>
          <a:ln>
            <a:solidFill>
              <a:srgbClr val="D8ECFF"/>
            </a:solidFill>
          </a:ln>
        </p:spPr>
        <p:txBody>
          <a:bodyPr wrap="square" lIns="1524" tIns="1524" rIns="1524" bIns="1524" rtlCol="0" anchor="ctr">
            <a:normAutofit/>
          </a:bodyPr>
          <a:lstStyle/>
          <a:p>
            <a:pPr algn="ctr" indent="0" marL="0">
              <a:buNone/>
            </a:pPr>
            <a:r>
              <a:rPr lang="en-US" sz="1800" b="1" dirty="0">
                <a:solidFill>
                  <a:srgbClr val="111827"/>
                </a:solidFill>
              </a:rPr>
              <a:t>Python</a:t>
            </a:r>
            <a:endParaRPr lang="en-US" sz="1800" dirty="0"/>
          </a:p>
          <a:p>
            <a:pPr algn="ctr" indent="0" marL="0">
              <a:buNone/>
            </a:pPr>
            <a:r>
              <a:rPr lang="en-US" sz="1800" b="1" dirty="0">
                <a:solidFill>
                  <a:srgbClr val="111827"/>
                </a:solidFill>
              </a:rPr>
              <a:t>Simulation</a:t>
            </a:r>
            <a:endParaRPr lang="en-US" sz="1800" dirty="0"/>
          </a:p>
        </p:txBody>
      </p:sp>
      <p:sp>
        <p:nvSpPr>
          <p:cNvPr id="12" name="Text 10"/>
          <p:cNvSpPr/>
          <p:nvPr/>
        </p:nvSpPr>
        <p:spPr>
          <a:xfrm>
            <a:off x="5806440" y="1417320"/>
            <a:ext cx="1737360" cy="1463040"/>
          </a:xfrm>
          <a:prstGeom prst="rect">
            <a:avLst/>
          </a:prstGeom>
          <a:solidFill>
            <a:srgbClr val="DFF7EA"/>
          </a:solidFill>
          <a:ln>
            <a:solidFill>
              <a:srgbClr val="DFF7EA"/>
            </a:solidFill>
          </a:ln>
        </p:spPr>
        <p:txBody>
          <a:bodyPr wrap="square" lIns="1524" tIns="1524" rIns="1524" bIns="1524" rtlCol="0" anchor="ctr">
            <a:normAutofit/>
          </a:bodyPr>
          <a:lstStyle/>
          <a:p>
            <a:pPr algn="ctr" indent="0" marL="0">
              <a:buNone/>
            </a:pPr>
            <a:r>
              <a:rPr lang="en-US" sz="1800" b="1" dirty="0">
                <a:solidFill>
                  <a:srgbClr val="111827"/>
                </a:solidFill>
              </a:rPr>
              <a:t>Federated</a:t>
            </a:r>
            <a:endParaRPr lang="en-US" sz="1800" dirty="0"/>
          </a:p>
          <a:p>
            <a:pPr algn="ctr" indent="0" marL="0">
              <a:buNone/>
            </a:pPr>
            <a:r>
              <a:rPr lang="en-US" sz="1800" b="1" dirty="0">
                <a:solidFill>
                  <a:srgbClr val="111827"/>
                </a:solidFill>
              </a:rPr>
              <a:t>Learning</a:t>
            </a:r>
            <a:endParaRPr lang="en-US" sz="1800" dirty="0"/>
          </a:p>
        </p:txBody>
      </p:sp>
      <p:sp>
        <p:nvSpPr>
          <p:cNvPr id="13" name="Text 11"/>
          <p:cNvSpPr/>
          <p:nvPr/>
        </p:nvSpPr>
        <p:spPr>
          <a:xfrm>
            <a:off x="8229600" y="1417320"/>
            <a:ext cx="1965960" cy="1463040"/>
          </a:xfrm>
          <a:prstGeom prst="rect">
            <a:avLst/>
          </a:prstGeom>
          <a:solidFill>
            <a:srgbClr val="FFF1C2"/>
          </a:solidFill>
          <a:ln>
            <a:solidFill>
              <a:srgbClr val="FFF1C2"/>
            </a:solidFill>
          </a:ln>
        </p:spPr>
        <p:txBody>
          <a:bodyPr wrap="square" lIns="1524" tIns="1524" rIns="1524" bIns="1524" rtlCol="0" anchor="ctr">
            <a:normAutofit/>
          </a:bodyPr>
          <a:lstStyle/>
          <a:p>
            <a:pPr algn="ctr" indent="0" marL="0">
              <a:buNone/>
            </a:pPr>
            <a:r>
              <a:rPr lang="en-US" sz="1800" b="1" dirty="0">
                <a:solidFill>
                  <a:srgbClr val="111827"/>
                </a:solidFill>
              </a:rPr>
              <a:t>Localhost</a:t>
            </a:r>
            <a:endParaRPr lang="en-US" sz="1800" dirty="0"/>
          </a:p>
          <a:p>
            <a:pPr algn="ctr" indent="0" marL="0">
              <a:buNone/>
            </a:pPr>
            <a:r>
              <a:rPr lang="en-US" sz="1800" b="1" dirty="0">
                <a:solidFill>
                  <a:srgbClr val="111827"/>
                </a:solidFill>
              </a:rPr>
              <a:t>Dashboard</a:t>
            </a:r>
            <a:endParaRPr lang="en-US" sz="1800" dirty="0"/>
          </a:p>
        </p:txBody>
      </p:sp>
      <p:sp>
        <p:nvSpPr>
          <p:cNvPr id="14" name="Text 12"/>
          <p:cNvSpPr/>
          <p:nvPr/>
        </p:nvSpPr>
        <p:spPr>
          <a:xfrm>
            <a:off x="1051560" y="3886200"/>
            <a:ext cx="10058400" cy="1097280"/>
          </a:xfrm>
          <a:prstGeom prst="rect">
            <a:avLst/>
          </a:prstGeom>
          <a:solidFill>
            <a:srgbClr val="FFFFFF"/>
          </a:solidFill>
          <a:ln>
            <a:solidFill>
              <a:srgbClr val="FFFFFF"/>
            </a:solidFill>
          </a:ln>
        </p:spPr>
        <p:txBody>
          <a:bodyPr wrap="square" lIns="1524" tIns="1524" rIns="1524" bIns="1524" rtlCol="0" anchor="ctr">
            <a:normAutofit/>
          </a:bodyPr>
          <a:lstStyle/>
          <a:p>
            <a:pPr algn="ctr" indent="0" marL="0">
              <a:buNone/>
            </a:pPr>
            <a:r>
              <a:rPr lang="en-US" sz="1900" b="1" dirty="0">
                <a:solidFill>
                  <a:srgbClr val="111827"/>
                </a:solidFill>
              </a:rPr>
              <a:t>Codes used:</a:t>
            </a:r>
            <a:endParaRPr lang="en-US" sz="1900" dirty="0"/>
          </a:p>
          <a:p>
            <a:pPr algn="ctr" indent="0" marL="0">
              <a:buNone/>
            </a:pPr>
            <a:r>
              <a:rPr lang="en-US" sz="1900" b="1" dirty="0">
                <a:solidFill>
                  <a:srgbClr val="111827"/>
                </a:solidFill>
              </a:rPr>
              <a:t>app.py  •  device_simulator.py  •  attack_simulator.py  •  local_training.py</a:t>
            </a:r>
            <a:endParaRPr lang="en-US" sz="1900" dirty="0"/>
          </a:p>
          <a:p>
            <a:pPr algn="ctr" indent="0" marL="0">
              <a:buNone/>
            </a:pPr>
            <a:r>
              <a:rPr lang="en-US" sz="1900" b="1" dirty="0">
                <a:solidFill>
                  <a:srgbClr val="111827"/>
                </a:solidFill>
              </a:rPr>
              <a:t>federated_server.py  •  detector.py  •  database.py  •  HTML templates</a:t>
            </a:r>
            <a:endParaRPr lang="en-US" sz="1900" dirty="0"/>
          </a:p>
        </p:txBody>
      </p:sp>
      <p:sp>
        <p:nvSpPr>
          <p:cNvPr id="15" name="Text 13"/>
          <p:cNvSpPr/>
          <p:nvPr/>
        </p:nvSpPr>
        <p:spPr>
          <a:xfrm>
            <a:off x="4297680" y="5486400"/>
            <a:ext cx="3657600" cy="457200"/>
          </a:xfrm>
          <a:prstGeom prst="rect">
            <a:avLst/>
          </a:prstGeom>
          <a:noFill/>
          <a:ln/>
        </p:spPr>
        <p:txBody>
          <a:bodyPr wrap="square" lIns="0" tIns="0" rIns="0" bIns="0" rtlCol="0" anchor="ctr"/>
          <a:lstStyle/>
          <a:p>
            <a:pPr algn="ctr" indent="0" marL="0">
              <a:buNone/>
            </a:pPr>
            <a:r>
              <a:rPr lang="en-US" sz="3400" b="1" dirty="0">
                <a:solidFill>
                  <a:srgbClr val="102A43"/>
                </a:solidFill>
                <a:latin typeface="Aptos Display" pitchFamily="34" charset="0"/>
                <a:ea typeface="Aptos Display" pitchFamily="34" charset="-122"/>
                <a:cs typeface="Aptos Display" pitchFamily="34" charset="-120"/>
              </a:rPr>
              <a:t>Thank you</a:t>
            </a:r>
            <a:endParaRPr lang="en-US" sz="3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the Research Paper with Python + HTML</dc:title>
  <dc:subject>Implementation plan for collaborative IoT IDS research paper</dc:subject>
  <dc:creator>OpenAI</dc:creator>
  <cp:lastModifiedBy>OpenAI</cp:lastModifiedBy>
  <cp:revision>1</cp:revision>
  <dcterms:created xsi:type="dcterms:W3CDTF">2026-07-21T17:31:14Z</dcterms:created>
  <dcterms:modified xsi:type="dcterms:W3CDTF">2026-07-21T17:31:14Z</dcterms:modified>
</cp:coreProperties>
</file>