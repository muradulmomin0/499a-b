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Aptos"/>
              </a:rPr>
              <a:t>Click to move the slide</a:t>
            </a:r>
            <a:endParaRPr lang="en-US" sz="1800" b="0" u="none" strike="noStrike">
              <a:solidFill>
                <a:schemeClr val="dk1"/>
              </a:solidFill>
              <a:effectLst/>
              <a:uFillTx/>
              <a:latin typeface="Aptos"/>
            </a:endParaRPr>
          </a:p>
        </p:txBody>
      </p:sp>
      <p:sp>
        <p:nvSpPr>
          <p:cNvPr id="5"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6ED3933-E4DA-4883-BF8A-3CF5FE21085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685800" y="1143000"/>
            <a:ext cx="5485680" cy="3085560"/>
          </a:xfrm>
          <a:prstGeom prst="rect">
            <a:avLst/>
          </a:prstGeom>
          <a:ln w="0">
            <a:noFill/>
          </a:ln>
        </p:spPr>
      </p:sp>
      <p:sp>
        <p:nvSpPr>
          <p:cNvPr id="37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title slide introduces the literature review for the PRIVATE SHIELD project. The project studies privacy-preserving federated intelligence for IoT threat detection. The proposal information is copied from the uploaded project proposal, and missing fields are clearly marked as placeholders.</a:t>
            </a:r>
            <a:endParaRPr lang="en-US" sz="2000" b="0" u="none" strike="noStrike">
              <a:solidFill>
                <a:srgbClr val="000000"/>
              </a:solidFill>
              <a:effectLst/>
              <a:uFillTx/>
              <a:latin typeface="Arial"/>
            </a:endParaRPr>
          </a:p>
        </p:txBody>
      </p:sp>
      <p:sp>
        <p:nvSpPr>
          <p:cNvPr id="379"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72DB66A-CCA1-4ADE-82CB-6D7264087B9A}"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685800" y="1143000"/>
            <a:ext cx="5485680" cy="3085560"/>
          </a:xfrm>
          <a:prstGeom prst="rect">
            <a:avLst/>
          </a:prstGeom>
          <a:ln w="0">
            <a:noFill/>
          </a:ln>
        </p:spPr>
      </p:sp>
      <p:sp>
        <p:nvSpPr>
          <p:cNvPr id="38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slide gives the background. IoT devices are growing fast, but many of them are resource constrained. Traditional IDS architectures often depend on sending raw data to the cloud. Federated learning is important because it allows training without sharing raw traffic, and privacy methods protect model updates.</a:t>
            </a:r>
            <a:endParaRPr lang="en-US" sz="2000" b="0" u="none" strike="noStrike">
              <a:solidFill>
                <a:srgbClr val="000000"/>
              </a:solidFill>
              <a:effectLst/>
              <a:uFillTx/>
              <a:latin typeface="Arial"/>
            </a:endParaRPr>
          </a:p>
        </p:txBody>
      </p:sp>
      <p:sp>
        <p:nvSpPr>
          <p:cNvPr id="382"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47AA9D1-CE54-42F1-A354-7BEAE20919A4}"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685800" y="1143000"/>
            <a:ext cx="5485680" cy="3085560"/>
          </a:xfrm>
          <a:prstGeom prst="rect">
            <a:avLst/>
          </a:prstGeom>
          <a:ln w="0">
            <a:noFill/>
          </a:ln>
        </p:spPr>
      </p:sp>
      <p:sp>
        <p:nvSpPr>
          <p:cNvPr id="38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first group of studies shows that federated intrusion detection can reduce centralized data transfer. However, the literature also shows that privacy is not automatically solved because model updates can leak information. Strong privacy techniques are useful, but they may add overhead for constrained IoT devices.</a:t>
            </a:r>
            <a:endParaRPr lang="en-US" sz="2000" b="0" u="none" strike="noStrike">
              <a:solidFill>
                <a:srgbClr val="000000"/>
              </a:solidFill>
              <a:effectLst/>
              <a:uFillTx/>
              <a:latin typeface="Arial"/>
            </a:endParaRPr>
          </a:p>
        </p:txBody>
      </p:sp>
      <p:sp>
        <p:nvSpPr>
          <p:cNvPr id="385"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B8C9DC1-2F35-4A86-9A1A-8C07A8A0F45B}"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685800" y="1143000"/>
            <a:ext cx="5485680" cy="3085560"/>
          </a:xfrm>
          <a:prstGeom prst="rect">
            <a:avLst/>
          </a:prstGeom>
          <a:ln w="0">
            <a:noFill/>
          </a:ln>
        </p:spPr>
      </p:sp>
      <p:sp>
        <p:nvSpPr>
          <p:cNvPr id="38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second part of the review focuses on adversarial risks. Poisoning attacks damage the model, free-riders reduce fairness, and robust aggregation tries to filter bad updates. The main observation is that the literature often treats each defense separately, while this project needs a combined defense workflow.</a:t>
            </a:r>
            <a:endParaRPr lang="en-US" sz="2000" b="0" u="none" strike="noStrike">
              <a:solidFill>
                <a:srgbClr val="000000"/>
              </a:solidFill>
              <a:effectLst/>
              <a:uFillTx/>
              <a:latin typeface="Arial"/>
            </a:endParaRPr>
          </a:p>
        </p:txBody>
      </p:sp>
      <p:sp>
        <p:nvSpPr>
          <p:cNvPr id="388"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99D0D6E-BD57-4424-A324-929D0DD57127}"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685800" y="1143000"/>
            <a:ext cx="5485680" cy="3085560"/>
          </a:xfrm>
          <a:prstGeom prst="rect">
            <a:avLst/>
          </a:prstGeom>
          <a:ln w="0">
            <a:noFill/>
          </a:ln>
        </p:spPr>
      </p:sp>
      <p:sp>
        <p:nvSpPr>
          <p:cNvPr id="39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slide summarizes the major problems found from the literature. The problems are not invented; they come from the comparison of previous studies. The biggest issue is that each paper solves part of the challenge, but real IoT intrusion detection needs privacy, robustness, fair client participation, and usable explanation together.</a:t>
            </a:r>
            <a:endParaRPr lang="en-US" sz="2000" b="0" u="none" strike="noStrike">
              <a:solidFill>
                <a:srgbClr val="000000"/>
              </a:solidFill>
              <a:effectLst/>
              <a:uFillTx/>
              <a:latin typeface="Arial"/>
            </a:endParaRPr>
          </a:p>
        </p:txBody>
      </p:sp>
      <p:sp>
        <p:nvSpPr>
          <p:cNvPr id="391"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BDD82A2-4B5A-4E51-AEF8-0B46AA3F4C02}"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685800" y="1143000"/>
            <a:ext cx="5485680" cy="3085560"/>
          </a:xfrm>
          <a:prstGeom prst="rect">
            <a:avLst/>
          </a:prstGeom>
          <a:ln w="0">
            <a:noFill/>
          </a:ln>
        </p:spPr>
      </p:sp>
      <p:sp>
        <p:nvSpPr>
          <p:cNvPr id="39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first gap slide connects previous work to specific project responses. The main gap is the lack of a lightweight unified defense layer. PRIVATE SHIELD responds by combining federated averaging, differential privacy, gradient clipping, and update filtering in a single IoT security pipeline.</a:t>
            </a:r>
            <a:endParaRPr lang="en-US" sz="2000" b="0" u="none" strike="noStrike">
              <a:solidFill>
                <a:srgbClr val="000000"/>
              </a:solidFill>
              <a:effectLst/>
              <a:uFillTx/>
              <a:latin typeface="Arial"/>
            </a:endParaRPr>
          </a:p>
        </p:txBody>
      </p:sp>
      <p:sp>
        <p:nvSpPr>
          <p:cNvPr id="394"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0AD58D5-EAAD-4B58-827D-DFA38935662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685800" y="1143000"/>
            <a:ext cx="5485680" cy="3085560"/>
          </a:xfrm>
          <a:prstGeom prst="rect">
            <a:avLst/>
          </a:prstGeom>
          <a:ln w="0">
            <a:noFill/>
          </a:ln>
        </p:spPr>
      </p:sp>
      <p:sp>
        <p:nvSpPr>
          <p:cNvPr id="39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second gap slide focuses on operation. Previous work may test attacks or propose free-rider detection, but the project needs these ideas inside a continuous IoT IDS workflow. The project also adds a dashboard and LLM-assisted summaries to make technical alerts easier for administrators to understand.</a:t>
            </a:r>
            <a:endParaRPr lang="en-US" sz="2000" b="0" u="none" strike="noStrike">
              <a:solidFill>
                <a:srgbClr val="000000"/>
              </a:solidFill>
              <a:effectLst/>
              <a:uFillTx/>
              <a:latin typeface="Arial"/>
            </a:endParaRPr>
          </a:p>
        </p:txBody>
      </p:sp>
      <p:sp>
        <p:nvSpPr>
          <p:cNvPr id="397"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632A067-2CBF-481B-8CF7-1D988D853E12}"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685800" y="1143000"/>
            <a:ext cx="5485680" cy="3085560"/>
          </a:xfrm>
          <a:prstGeom prst="rect">
            <a:avLst/>
          </a:prstGeom>
          <a:ln w="0">
            <a:noFill/>
          </a:ln>
        </p:spPr>
      </p:sp>
      <p:sp>
        <p:nvSpPr>
          <p:cNvPr id="39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This slide makes the mapping very clear. Each project feature is connected to a research gap. For example, differential privacy addresses gradient leakage, distance filtering addresses poisoned updates, and the dashboard with LLM summaries addresses the explainability gap for security administrators.</a:t>
            </a:r>
            <a:endParaRPr lang="en-US" sz="2000" b="0" u="none" strike="noStrike">
              <a:solidFill>
                <a:srgbClr val="000000"/>
              </a:solidFill>
              <a:effectLst/>
              <a:uFillTx/>
              <a:latin typeface="Arial"/>
            </a:endParaRPr>
          </a:p>
        </p:txBody>
      </p:sp>
      <p:sp>
        <p:nvSpPr>
          <p:cNvPr id="400"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92E53DC-BA97-4B25-BDCC-36C764B90436}"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685800" y="1143000"/>
            <a:ext cx="5485680" cy="3085560"/>
          </a:xfrm>
          <a:prstGeom prst="rect">
            <a:avLst/>
          </a:prstGeom>
          <a:ln w="0">
            <a:noFill/>
          </a:ln>
        </p:spPr>
      </p:sp>
      <p:sp>
        <p:nvSpPr>
          <p:cNvPr id="40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conclusion is short. The literature shows that federated learning is promising for IoT intrusion detection, but several gaps remain. PRIVATE SHIELD is needed because it combines privacy, robustness, client validation, and explainable SOC output in one planned architecture. Future work should validate the prototype and the dashboard.</a:t>
            </a:r>
            <a:endParaRPr lang="en-US" sz="2000" b="0" u="none" strike="noStrike">
              <a:solidFill>
                <a:srgbClr val="000000"/>
              </a:solidFill>
              <a:effectLst/>
              <a:uFillTx/>
              <a:latin typeface="Arial"/>
            </a:endParaRPr>
          </a:p>
        </p:txBody>
      </p:sp>
      <p:sp>
        <p:nvSpPr>
          <p:cNvPr id="403"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D8F0C27-2A99-464C-AF39-14FE4780D03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685800" y="1143000"/>
            <a:ext cx="5485680" cy="3085560"/>
          </a:xfrm>
          <a:prstGeom prst="rect">
            <a:avLst/>
          </a:prstGeom>
          <a:ln w="0">
            <a:noFill/>
          </a:ln>
        </p:spPr>
      </p:sp>
      <p:sp>
        <p:nvSpPr>
          <p:cNvPr id="40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These are the first six references used in the presentation. They mainly cover federated intrusion detection, edge optimization, dynamic aggregation, clustering, and personalization for heterogeneous IoT environments.</a:t>
            </a:r>
            <a:endParaRPr lang="en-US" sz="2000" b="0" u="none" strike="noStrike">
              <a:solidFill>
                <a:srgbClr val="000000"/>
              </a:solidFill>
              <a:effectLst/>
              <a:uFillTx/>
              <a:latin typeface="Arial"/>
            </a:endParaRPr>
          </a:p>
        </p:txBody>
      </p:sp>
      <p:sp>
        <p:nvSpPr>
          <p:cNvPr id="406"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ACF14AF-4088-40DC-9DE1-38B8B882424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685800" y="1143000"/>
            <a:ext cx="5485680" cy="3085560"/>
          </a:xfrm>
          <a:prstGeom prst="rect">
            <a:avLst/>
          </a:prstGeom>
          <a:ln w="0">
            <a:noFill/>
          </a:ln>
        </p:spPr>
      </p:sp>
      <p:sp>
        <p:nvSpPr>
          <p:cNvPr id="4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These references support the slides on privacy preservation, poisoning prevention, robust aggregation, secure aggregation, and free-rider detection. Together, the reference list provides the evidence base for the research gaps and proposed solution mapping.</a:t>
            </a:r>
            <a:endParaRPr lang="en-US" sz="2000" b="0" u="none" strike="noStrike">
              <a:solidFill>
                <a:srgbClr val="000000"/>
              </a:solidFill>
              <a:effectLst/>
              <a:uFillTx/>
              <a:latin typeface="Arial"/>
            </a:endParaRPr>
          </a:p>
        </p:txBody>
      </p:sp>
      <p:sp>
        <p:nvSpPr>
          <p:cNvPr id="409"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7D6B0E5-9C66-40E0-B6AA-6E4911005B2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0B1020"/>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1720" cy="114444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Aptos"/>
              </a:defRPr>
            </a:lvl1pPr>
          </a:lstStyle>
          <a:p>
            <a:pPr indent="0" algn="l">
              <a:lnSpc>
                <a:spcPct val="100000"/>
              </a:lnSpc>
              <a:buNone/>
              <a:tabLst>
                <a:tab pos="0" algn="l"/>
              </a:tabLst>
            </a:pPr>
            <a:r>
              <a:rPr lang="en-US" sz="1800" b="0" u="none" strike="noStrike">
                <a:solidFill>
                  <a:schemeClr val="dk1"/>
                </a:solidFill>
                <a:effectLst/>
                <a:uFillTx/>
                <a:latin typeface="Aptos"/>
              </a:rPr>
              <a:t>Click to edit the title text format</a:t>
            </a:r>
            <a:endParaRPr lang="en-US" sz="1800" b="0" u="none" strike="noStrike">
              <a:solidFill>
                <a:schemeClr val="dk1"/>
              </a:solidFill>
              <a:effectLst/>
              <a:uFillTx/>
              <a:latin typeface="Aptos"/>
            </a:endParaRPr>
          </a:p>
        </p:txBody>
      </p:sp>
      <p:sp>
        <p:nvSpPr>
          <p:cNvPr id="3" name="PlaceHolder 2"/>
          <p:cNvSpPr>
            <a:spLocks noGrp="1"/>
          </p:cNvSpPr>
          <p:nvPr>
            <p:ph type="body"/>
          </p:nvPr>
        </p:nvSpPr>
        <p:spPr>
          <a:xfrm>
            <a:off x="609480" y="1604520"/>
            <a:ext cx="10971720" cy="3976920"/>
          </a:xfrm>
          <a:prstGeom prst="rect">
            <a:avLst/>
          </a:prstGeom>
          <a:noFill/>
          <a:ln w="0">
            <a:noFill/>
          </a:ln>
        </p:spPr>
        <p:txBody>
          <a:bodyPr lIns="0" tIns="0" rIns="0" bIns="0" anchor="t">
            <a:normAutofit/>
          </a:bodyPr>
          <a:lstStyle>
            <a:lvl1pPr algn="l">
              <a:lnSpc>
                <a:spcPct val="100000"/>
              </a:lnSpc>
              <a:spcBef>
                <a:spcPts val="1417"/>
              </a:spcBef>
              <a:buClr>
                <a:srgbClr val="FFFFFF"/>
              </a:buClr>
              <a:buSzPct val="45000"/>
              <a:buFont typeface="Wingdings" charset="2"/>
              <a:buChar char=""/>
              <a:defRPr lang="en-US" sz="3200" b="0" u="none" strike="noStrike">
                <a:solidFill>
                  <a:schemeClr val="dk1"/>
                </a:solidFill>
                <a:effectLst/>
                <a:uFillTx/>
                <a:latin typeface="Aptos"/>
              </a:defRPr>
            </a:lvl1pPr>
            <a:lvl2pPr lvl="1" algn="l">
              <a:lnSpc>
                <a:spcPct val="100000"/>
              </a:lnSpc>
              <a:spcBef>
                <a:spcPts val="1134"/>
              </a:spcBef>
              <a:buClr>
                <a:srgbClr val="FFFFFF"/>
              </a:buClr>
              <a:buSzPct val="75000"/>
              <a:buFont typeface="Symbol" charset="2"/>
              <a:buChar char=""/>
              <a:defRPr lang="en-US" sz="2400" b="0" u="none" strike="noStrike">
                <a:solidFill>
                  <a:schemeClr val="dk1"/>
                </a:solidFill>
                <a:effectLst/>
                <a:uFillTx/>
                <a:latin typeface="Aptos"/>
              </a:defRPr>
            </a:lvl2pPr>
            <a:lvl3pPr lvl="2" algn="l">
              <a:lnSpc>
                <a:spcPct val="100000"/>
              </a:lnSpc>
              <a:spcBef>
                <a:spcPts val="850"/>
              </a:spcBef>
              <a:buClr>
                <a:srgbClr val="FFFFFF"/>
              </a:buClr>
              <a:buSzPct val="45000"/>
              <a:buFont typeface="Wingdings" charset="2"/>
              <a:buChar char=""/>
              <a:defRPr lang="en-US" sz="2000" b="0" u="none" strike="noStrike">
                <a:solidFill>
                  <a:schemeClr val="dk1"/>
                </a:solidFill>
                <a:effectLst/>
                <a:uFillTx/>
                <a:latin typeface="Aptos"/>
              </a:defRPr>
            </a:lvl3pPr>
            <a:lvl4pPr lvl="3" algn="l">
              <a:lnSpc>
                <a:spcPct val="100000"/>
              </a:lnSpc>
              <a:spcBef>
                <a:spcPts val="567"/>
              </a:spcBef>
              <a:buClr>
                <a:srgbClr val="FFFFFF"/>
              </a:buClr>
              <a:buSzPct val="75000"/>
              <a:buFont typeface="Symbol" charset="2"/>
              <a:buChar char=""/>
              <a:defRPr lang="en-US" sz="2000" b="0" u="none" strike="noStrike">
                <a:solidFill>
                  <a:schemeClr val="dk1"/>
                </a:solidFill>
                <a:effectLst/>
                <a:uFillTx/>
                <a:latin typeface="Aptos"/>
              </a:defRPr>
            </a:lvl4pPr>
            <a:lvl5pPr lvl="4" algn="l">
              <a:lnSpc>
                <a:spcPct val="100000"/>
              </a:lnSpc>
              <a:spcBef>
                <a:spcPts val="283"/>
              </a:spcBef>
              <a:buClr>
                <a:srgbClr val="FFFFFF"/>
              </a:buClr>
              <a:buSzPct val="45000"/>
              <a:buFont typeface="Wingdings" charset="2"/>
              <a:buChar char=""/>
              <a:defRPr lang="en-US" sz="2000" b="0" u="none" strike="noStrike">
                <a:solidFill>
                  <a:schemeClr val="dk1"/>
                </a:solidFill>
                <a:effectLst/>
                <a:uFillTx/>
                <a:latin typeface="Aptos"/>
              </a:defRPr>
            </a:lvl5pPr>
            <a:lvl6pPr lvl="5" algn="l">
              <a:lnSpc>
                <a:spcPct val="100000"/>
              </a:lnSpc>
              <a:spcBef>
                <a:spcPts val="283"/>
              </a:spcBef>
              <a:buClr>
                <a:srgbClr val="FFFFFF"/>
              </a:buClr>
              <a:buSzPct val="45000"/>
              <a:buFont typeface="Wingdings" charset="2"/>
              <a:buChar char=""/>
              <a:defRPr lang="en-US" sz="2000" b="0" u="none" strike="noStrike">
                <a:solidFill>
                  <a:schemeClr val="dk1"/>
                </a:solidFill>
                <a:effectLst/>
                <a:uFillTx/>
                <a:latin typeface="Aptos"/>
              </a:defRPr>
            </a:lvl6pPr>
            <a:lvl7pPr lvl="6" algn="l">
              <a:lnSpc>
                <a:spcPct val="100000"/>
              </a:lnSpc>
              <a:spcBef>
                <a:spcPts val="283"/>
              </a:spcBef>
              <a:buClr>
                <a:srgbClr val="FFFFFF"/>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100000"/>
              </a:lnSpc>
              <a:spcBef>
                <a:spcPts val="1417"/>
              </a:spcBef>
              <a:buClr>
                <a:srgbClr val="FFFFFF"/>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gn="l">
              <a:lnSpc>
                <a:spcPct val="100000"/>
              </a:lnSpc>
              <a:spcBef>
                <a:spcPts val="1134"/>
              </a:spcBef>
              <a:buClr>
                <a:srgbClr val="FFFFFF"/>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a:lnSpc>
                <a:spcPct val="100000"/>
              </a:lnSpc>
              <a:spcBef>
                <a:spcPts val="850"/>
              </a:spcBef>
              <a:buClr>
                <a:srgbClr val="FFFFFF"/>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a:lnSpc>
                <a:spcPct val="100000"/>
              </a:lnSpc>
              <a:spcBef>
                <a:spcPts val="567"/>
              </a:spcBef>
              <a:buClr>
                <a:srgbClr val="FFFFFF"/>
              </a:buClr>
              <a:buSzPct val="75000"/>
              <a:buFont typeface="Symbol" charset="2"/>
              <a:buChar char=""/>
            </a:pPr>
            <a:r>
              <a:rPr lang="en-US" sz="2000" b="0" u="none" strike="noStrike">
                <a:solidFill>
                  <a:schemeClr val="dk1"/>
                </a:solidFill>
                <a:effectLst/>
                <a:uFillTx/>
                <a:latin typeface="Aptos"/>
              </a:rPr>
              <a:t>Fourth Outline Level</a:t>
            </a:r>
            <a:endParaRPr lang="en-US" sz="2000" b="0" u="none" strike="noStrike">
              <a:solidFill>
                <a:schemeClr val="dk1"/>
              </a:solidFill>
              <a:effectLst/>
              <a:uFillTx/>
              <a:latin typeface="Aptos"/>
            </a:endParaRPr>
          </a:p>
          <a:p>
            <a:pPr marL="2160000" lvl="4" indent="-216000" algn="l">
              <a:lnSpc>
                <a:spcPct val="100000"/>
              </a:lnSpc>
              <a:spcBef>
                <a:spcPts val="283"/>
              </a:spcBef>
              <a:buClr>
                <a:srgbClr val="FFFFFF"/>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lnSpc>
                <a:spcPct val="100000"/>
              </a:lnSpc>
              <a:spcBef>
                <a:spcPts val="283"/>
              </a:spcBef>
              <a:buClr>
                <a:srgbClr val="FFFFFF"/>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lnSpc>
                <a:spcPct val="100000"/>
              </a:lnSpc>
              <a:spcBef>
                <a:spcPts val="283"/>
              </a:spcBef>
              <a:buClr>
                <a:srgbClr val="FFFFFF"/>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10"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12" name="Shape 3"/>
          <p:cNvSpPr/>
          <p:nvPr/>
        </p:nvSpPr>
        <p:spPr>
          <a:xfrm>
            <a:off x="0" y="0"/>
            <a:ext cx="12191040" cy="1005120"/>
          </a:xfrm>
          <a:prstGeom prst="rect">
            <a:avLst/>
          </a:prstGeom>
          <a:solidFill>
            <a:srgbClr val="0A1628"/>
          </a:solidFill>
          <a:ln w="12700">
            <a:solidFill>
              <a:srgbClr val="0A1628"/>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 name="Text 4"/>
          <p:cNvSpPr/>
          <p:nvPr/>
        </p:nvSpPr>
        <p:spPr>
          <a:xfrm>
            <a:off x="567000" y="567000"/>
            <a:ext cx="23310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500" b="1" u="none" strike="noStrike">
                <a:solidFill>
                  <a:srgbClr val="17C9E8"/>
                </a:solidFill>
                <a:effectLst/>
                <a:uFillTx/>
                <a:latin typeface="Aptos"/>
              </a:rPr>
              <a:t>Literature Review</a:t>
            </a:r>
            <a:endParaRPr lang="en-US" sz="1500" b="0" u="none" strike="noStrike">
              <a:solidFill>
                <a:srgbClr val="FFFFFF"/>
              </a:solidFill>
              <a:effectLst/>
              <a:uFillTx/>
              <a:latin typeface="Arial"/>
            </a:endParaRPr>
          </a:p>
        </p:txBody>
      </p:sp>
      <p:sp>
        <p:nvSpPr>
          <p:cNvPr id="14" name="Text 5"/>
          <p:cNvSpPr/>
          <p:nvPr/>
        </p:nvSpPr>
        <p:spPr>
          <a:xfrm>
            <a:off x="567000" y="1143000"/>
            <a:ext cx="8137440" cy="95940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2900" b="1" u="none" strike="noStrike">
                <a:solidFill>
                  <a:srgbClr val="F8FAFC"/>
                </a:solidFill>
                <a:effectLst/>
                <a:uFillTx/>
                <a:latin typeface="Aptos Display"/>
                <a:ea typeface="Aptos Display"/>
              </a:rPr>
              <a:t>PRIVATE SHIELD: A Privacy-Preserving Federated Intelligence System for IoT Threat Detection</a:t>
            </a:r>
            <a:endParaRPr lang="en-US" sz="2900" b="0" u="none" strike="noStrike">
              <a:solidFill>
                <a:srgbClr val="FFFFFF"/>
              </a:solidFill>
              <a:effectLst/>
              <a:uFillTx/>
              <a:latin typeface="Arial"/>
            </a:endParaRPr>
          </a:p>
        </p:txBody>
      </p:sp>
      <p:sp>
        <p:nvSpPr>
          <p:cNvPr id="15" name="Shape 6"/>
          <p:cNvSpPr/>
          <p:nvPr/>
        </p:nvSpPr>
        <p:spPr>
          <a:xfrm>
            <a:off x="567000" y="2304360"/>
            <a:ext cx="1828080" cy="40320"/>
          </a:xfrm>
          <a:prstGeom prst="rect">
            <a:avLst/>
          </a:prstGeom>
          <a:solidFill>
            <a:srgbClr val="17C9E8"/>
          </a:solidFill>
          <a:ln w="12700">
            <a:solidFill>
              <a:srgbClr val="17C9E8"/>
            </a:solidFill>
            <a:round/>
          </a:ln>
        </p:spPr>
        <p:style>
          <a:lnRef idx="0"/>
          <a:fillRef idx="0"/>
          <a:effectRef idx="0"/>
          <a:fontRef idx="minor"/>
        </p:style>
        <p:txBody>
          <a:bodyPr lIns="90000" tIns="-3960" rIns="90000" bIns="-3960" anchor="t">
            <a:noAutofit/>
          </a:bodyPr>
          <a:p>
            <a:endParaRPr lang="en-US" sz="1800" b="0" u="none" strike="noStrike">
              <a:solidFill>
                <a:srgbClr val="000000"/>
              </a:solidFill>
              <a:effectLst/>
              <a:uFillTx/>
              <a:latin typeface="Arial"/>
            </a:endParaRPr>
          </a:p>
        </p:txBody>
      </p:sp>
      <p:sp>
        <p:nvSpPr>
          <p:cNvPr id="16" name="Shape 7"/>
          <p:cNvSpPr/>
          <p:nvPr/>
        </p:nvSpPr>
        <p:spPr>
          <a:xfrm>
            <a:off x="567000" y="2578680"/>
            <a:ext cx="3245400" cy="346680"/>
          </a:xfrm>
          <a:prstGeom prst="roundRect">
            <a:avLst>
              <a:gd name="adj" fmla="val 21053"/>
            </a:avLst>
          </a:prstGeom>
          <a:solidFill>
            <a:srgbClr val="14223C"/>
          </a:solidFill>
          <a:ln w="12700">
            <a:solidFill>
              <a:srgbClr val="2B3B5C">
                <a:alpha val="8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 name="Text 8"/>
          <p:cNvSpPr/>
          <p:nvPr/>
        </p:nvSpPr>
        <p:spPr>
          <a:xfrm>
            <a:off x="640080" y="2619720"/>
            <a:ext cx="3099240" cy="264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60" b="1" u="none" strike="noStrike">
                <a:solidFill>
                  <a:srgbClr val="F8FAFC"/>
                </a:solidFill>
                <a:effectLst/>
                <a:uFillTx/>
                <a:latin typeface="Aptos"/>
              </a:rPr>
              <a:t> Course Code: CSE 499A</a:t>
            </a:r>
            <a:endParaRPr lang="en-US" sz="1060" b="0" u="none" strike="noStrike">
              <a:solidFill>
                <a:srgbClr val="FFFFFF"/>
              </a:solidFill>
              <a:effectLst/>
              <a:uFillTx/>
              <a:latin typeface="Arial"/>
            </a:endParaRPr>
          </a:p>
        </p:txBody>
      </p:sp>
      <p:sp>
        <p:nvSpPr>
          <p:cNvPr id="18" name="Shape 9"/>
          <p:cNvSpPr/>
          <p:nvPr/>
        </p:nvSpPr>
        <p:spPr>
          <a:xfrm>
            <a:off x="3950280" y="2578680"/>
            <a:ext cx="1325160" cy="346680"/>
          </a:xfrm>
          <a:prstGeom prst="roundRect">
            <a:avLst>
              <a:gd name="adj" fmla="val 21053"/>
            </a:avLst>
          </a:prstGeom>
          <a:solidFill>
            <a:srgbClr val="14223C"/>
          </a:solidFill>
          <a:ln w="12700">
            <a:solidFill>
              <a:srgbClr val="2B3B5C">
                <a:alpha val="8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 name="Text 10"/>
          <p:cNvSpPr/>
          <p:nvPr/>
        </p:nvSpPr>
        <p:spPr>
          <a:xfrm>
            <a:off x="4023360" y="2619720"/>
            <a:ext cx="1179000" cy="264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60" b="1" u="none" strike="noStrike">
                <a:solidFill>
                  <a:srgbClr val="F8FAFC"/>
                </a:solidFill>
                <a:effectLst/>
                <a:uFillTx/>
                <a:latin typeface="Aptos"/>
              </a:rPr>
              <a:t>Section: 15</a:t>
            </a:r>
            <a:endParaRPr lang="en-US" sz="1060" b="0" u="none" strike="noStrike">
              <a:solidFill>
                <a:srgbClr val="FFFFFF"/>
              </a:solidFill>
              <a:effectLst/>
              <a:uFillTx/>
              <a:latin typeface="Arial"/>
            </a:endParaRPr>
          </a:p>
        </p:txBody>
      </p:sp>
      <p:sp>
        <p:nvSpPr>
          <p:cNvPr id="20" name="Shape 11"/>
          <p:cNvSpPr/>
          <p:nvPr/>
        </p:nvSpPr>
        <p:spPr>
          <a:xfrm>
            <a:off x="5413320" y="2578680"/>
            <a:ext cx="1233720" cy="346680"/>
          </a:xfrm>
          <a:prstGeom prst="roundRect">
            <a:avLst>
              <a:gd name="adj" fmla="val 21053"/>
            </a:avLst>
          </a:prstGeom>
          <a:solidFill>
            <a:srgbClr val="14223C"/>
          </a:solidFill>
          <a:ln w="12700">
            <a:solidFill>
              <a:srgbClr val="2B3B5C">
                <a:alpha val="8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 name="Text 12"/>
          <p:cNvSpPr/>
          <p:nvPr/>
        </p:nvSpPr>
        <p:spPr>
          <a:xfrm>
            <a:off x="5486400" y="2619720"/>
            <a:ext cx="1087560" cy="2646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60" b="1" u="none" strike="noStrike">
                <a:solidFill>
                  <a:srgbClr val="F8FAFC"/>
                </a:solidFill>
                <a:effectLst/>
                <a:uFillTx/>
                <a:latin typeface="Aptos"/>
              </a:rPr>
              <a:t>Group 06</a:t>
            </a:r>
            <a:endParaRPr lang="en-US" sz="1060" b="0" u="none" strike="noStrike">
              <a:solidFill>
                <a:srgbClr val="FFFFFF"/>
              </a:solidFill>
              <a:effectLst/>
              <a:uFillTx/>
              <a:latin typeface="Arial"/>
            </a:endParaRPr>
          </a:p>
        </p:txBody>
      </p:sp>
      <p:sp>
        <p:nvSpPr>
          <p:cNvPr id="22" name="Text 15"/>
          <p:cNvSpPr/>
          <p:nvPr/>
        </p:nvSpPr>
        <p:spPr>
          <a:xfrm>
            <a:off x="567000" y="3035880"/>
            <a:ext cx="4571280" cy="21888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en-US" sz="1050" b="0" u="none" strike="noStrike">
                <a:solidFill>
                  <a:srgbClr val="A8B3C7"/>
                </a:solidFill>
                <a:effectLst/>
                <a:uFillTx/>
                <a:latin typeface="Aptos"/>
              </a:rPr>
              <a:t>Faculty: Mohammad Shifat-E-Rabbi</a:t>
            </a:r>
            <a:endParaRPr lang="en-US" sz="1050" b="0" u="none" strike="noStrike">
              <a:solidFill>
                <a:srgbClr val="FFFFFF"/>
              </a:solidFill>
              <a:effectLst/>
              <a:uFillTx/>
              <a:latin typeface="Arial"/>
            </a:endParaRPr>
          </a:p>
        </p:txBody>
      </p:sp>
      <p:sp>
        <p:nvSpPr>
          <p:cNvPr id="23" name="Text 16"/>
          <p:cNvSpPr/>
          <p:nvPr/>
        </p:nvSpPr>
        <p:spPr>
          <a:xfrm>
            <a:off x="567000" y="3703320"/>
            <a:ext cx="2010960" cy="255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8FAFC"/>
                </a:solidFill>
                <a:effectLst/>
                <a:uFillTx/>
                <a:latin typeface="Aptos"/>
              </a:rPr>
              <a:t>Group Members</a:t>
            </a:r>
            <a:endParaRPr lang="en-US" sz="1600" b="0" u="none" strike="noStrike">
              <a:solidFill>
                <a:srgbClr val="FFFFFF"/>
              </a:solidFill>
              <a:effectLst/>
              <a:uFillTx/>
              <a:latin typeface="Arial"/>
            </a:endParaRPr>
          </a:p>
        </p:txBody>
      </p:sp>
      <p:sp>
        <p:nvSpPr>
          <p:cNvPr id="24" name="Shape 17"/>
          <p:cNvSpPr/>
          <p:nvPr/>
        </p:nvSpPr>
        <p:spPr>
          <a:xfrm>
            <a:off x="567000" y="4087440"/>
            <a:ext cx="4114080" cy="25524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 name="Text 18"/>
          <p:cNvSpPr/>
          <p:nvPr/>
        </p:nvSpPr>
        <p:spPr>
          <a:xfrm>
            <a:off x="603360" y="4128480"/>
            <a:ext cx="4041000" cy="173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60" b="1" u="none" strike="noStrike">
                <a:solidFill>
                  <a:srgbClr val="07111F"/>
                </a:solidFill>
                <a:effectLst/>
                <a:uFillTx/>
                <a:latin typeface="Aptos"/>
              </a:rPr>
              <a:t>Name</a:t>
            </a:r>
            <a:endParaRPr lang="en-US" sz="960" b="0" u="none" strike="noStrike">
              <a:solidFill>
                <a:srgbClr val="FFFFFF"/>
              </a:solidFill>
              <a:effectLst/>
              <a:uFillTx/>
              <a:latin typeface="Arial"/>
            </a:endParaRPr>
          </a:p>
        </p:txBody>
      </p:sp>
      <p:sp>
        <p:nvSpPr>
          <p:cNvPr id="26" name="Shape 19"/>
          <p:cNvSpPr/>
          <p:nvPr/>
        </p:nvSpPr>
        <p:spPr>
          <a:xfrm>
            <a:off x="4681800" y="4087440"/>
            <a:ext cx="2285280" cy="25524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 name="Text 20"/>
          <p:cNvSpPr/>
          <p:nvPr/>
        </p:nvSpPr>
        <p:spPr>
          <a:xfrm>
            <a:off x="4718160" y="4128480"/>
            <a:ext cx="2212200" cy="173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60" b="1" u="none" strike="noStrike">
                <a:solidFill>
                  <a:srgbClr val="07111F"/>
                </a:solidFill>
                <a:effectLst/>
                <a:uFillTx/>
                <a:latin typeface="Aptos"/>
              </a:rPr>
              <a:t>Student ID</a:t>
            </a:r>
            <a:endParaRPr lang="en-US" sz="960" b="0" u="none" strike="noStrike">
              <a:solidFill>
                <a:srgbClr val="FFFFFF"/>
              </a:solidFill>
              <a:effectLst/>
              <a:uFillTx/>
              <a:latin typeface="Arial"/>
            </a:endParaRPr>
          </a:p>
        </p:txBody>
      </p:sp>
      <p:sp>
        <p:nvSpPr>
          <p:cNvPr id="28" name="Shape 21"/>
          <p:cNvSpPr/>
          <p:nvPr/>
        </p:nvSpPr>
        <p:spPr>
          <a:xfrm>
            <a:off x="567000" y="4343400"/>
            <a:ext cx="4114080" cy="2826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 name="Text 22"/>
          <p:cNvSpPr/>
          <p:nvPr/>
        </p:nvSpPr>
        <p:spPr>
          <a:xfrm>
            <a:off x="603360" y="4384440"/>
            <a:ext cx="4041000" cy="200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39" b="0" u="none" strike="noStrike">
                <a:solidFill>
                  <a:srgbClr val="F8FAFC"/>
                </a:solidFill>
                <a:effectLst/>
                <a:uFillTx/>
                <a:latin typeface="Aptos"/>
              </a:rPr>
              <a:t>Md.Murad Ul Momin</a:t>
            </a:r>
            <a:endParaRPr lang="en-US" sz="939" b="0" u="none" strike="noStrike">
              <a:solidFill>
                <a:srgbClr val="FFFFFF"/>
              </a:solidFill>
              <a:effectLst/>
              <a:uFillTx/>
              <a:latin typeface="Arial"/>
            </a:endParaRPr>
          </a:p>
        </p:txBody>
      </p:sp>
      <p:sp>
        <p:nvSpPr>
          <p:cNvPr id="30" name="Shape 23"/>
          <p:cNvSpPr/>
          <p:nvPr/>
        </p:nvSpPr>
        <p:spPr>
          <a:xfrm>
            <a:off x="4681800" y="4343400"/>
            <a:ext cx="2285280" cy="2826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 name="Text 24"/>
          <p:cNvSpPr/>
          <p:nvPr/>
        </p:nvSpPr>
        <p:spPr>
          <a:xfrm>
            <a:off x="4718160" y="4384440"/>
            <a:ext cx="2212200" cy="200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39" b="0" u="none" strike="noStrike">
                <a:solidFill>
                  <a:srgbClr val="F8FAFC"/>
                </a:solidFill>
                <a:effectLst/>
                <a:uFillTx/>
                <a:latin typeface="Aptos"/>
              </a:rPr>
              <a:t>2232360642</a:t>
            </a:r>
            <a:endParaRPr lang="en-US" sz="939" b="0" u="none" strike="noStrike">
              <a:solidFill>
                <a:srgbClr val="FFFFFF"/>
              </a:solidFill>
              <a:effectLst/>
              <a:uFillTx/>
              <a:latin typeface="Arial"/>
            </a:endParaRPr>
          </a:p>
        </p:txBody>
      </p:sp>
      <p:sp>
        <p:nvSpPr>
          <p:cNvPr id="32" name="Shape 25"/>
          <p:cNvSpPr/>
          <p:nvPr/>
        </p:nvSpPr>
        <p:spPr>
          <a:xfrm>
            <a:off x="567000" y="4626720"/>
            <a:ext cx="4114080" cy="28260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 name="Text 26"/>
          <p:cNvSpPr/>
          <p:nvPr/>
        </p:nvSpPr>
        <p:spPr>
          <a:xfrm>
            <a:off x="603360" y="4668120"/>
            <a:ext cx="4041000" cy="200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39" b="0" u="none" strike="noStrike">
                <a:solidFill>
                  <a:srgbClr val="F8FAFC"/>
                </a:solidFill>
                <a:effectLst/>
                <a:uFillTx/>
                <a:latin typeface="Aptos"/>
              </a:rPr>
              <a:t>Rima </a:t>
            </a:r>
            <a:r>
              <a:rPr lang="en-US" sz="939" b="0" u="none" strike="noStrike">
                <a:solidFill>
                  <a:srgbClr val="F8FAFC"/>
                </a:solidFill>
                <a:effectLst/>
                <a:uFillTx/>
                <a:latin typeface="Aptos"/>
              </a:rPr>
              <a:t>Saha</a:t>
            </a:r>
            <a:endParaRPr lang="en-US" sz="939" b="0" u="none" strike="noStrike">
              <a:solidFill>
                <a:srgbClr val="FFFFFF"/>
              </a:solidFill>
              <a:effectLst/>
              <a:uFillTx/>
              <a:latin typeface="Arial"/>
            </a:endParaRPr>
          </a:p>
        </p:txBody>
      </p:sp>
      <p:sp>
        <p:nvSpPr>
          <p:cNvPr id="34" name="Shape 27"/>
          <p:cNvSpPr/>
          <p:nvPr/>
        </p:nvSpPr>
        <p:spPr>
          <a:xfrm>
            <a:off x="4681800" y="4626720"/>
            <a:ext cx="2285280" cy="28260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 name="Text 28"/>
          <p:cNvSpPr/>
          <p:nvPr/>
        </p:nvSpPr>
        <p:spPr>
          <a:xfrm>
            <a:off x="4718160" y="4668120"/>
            <a:ext cx="2212200" cy="200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39" b="0" u="none" strike="noStrike">
                <a:solidFill>
                  <a:srgbClr val="F8FAFC"/>
                </a:solidFill>
                <a:effectLst/>
                <a:uFillTx/>
                <a:latin typeface="Aptos"/>
              </a:rPr>
              <a:t>2132517042</a:t>
            </a:r>
            <a:endParaRPr lang="en-US" sz="939" b="0" u="none" strike="noStrike">
              <a:solidFill>
                <a:srgbClr val="FFFFFF"/>
              </a:solidFill>
              <a:effectLst/>
              <a:uFillTx/>
              <a:latin typeface="Arial"/>
            </a:endParaRPr>
          </a:p>
        </p:txBody>
      </p:sp>
      <p:sp>
        <p:nvSpPr>
          <p:cNvPr id="36" name="Shape 29"/>
          <p:cNvSpPr/>
          <p:nvPr/>
        </p:nvSpPr>
        <p:spPr>
          <a:xfrm>
            <a:off x="567000" y="4910400"/>
            <a:ext cx="4114080" cy="2826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 name="Text 30"/>
          <p:cNvSpPr/>
          <p:nvPr/>
        </p:nvSpPr>
        <p:spPr>
          <a:xfrm>
            <a:off x="603360" y="4951440"/>
            <a:ext cx="4041000" cy="200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39" b="0" u="none" strike="noStrike">
                <a:solidFill>
                  <a:srgbClr val="F8FAFC"/>
                </a:solidFill>
                <a:effectLst/>
                <a:uFillTx/>
                <a:latin typeface="Aptos"/>
              </a:rPr>
              <a:t>Sakia Tabassum Anonna</a:t>
            </a:r>
            <a:endParaRPr lang="en-US" sz="939" b="0" u="none" strike="noStrike">
              <a:solidFill>
                <a:srgbClr val="FFFFFF"/>
              </a:solidFill>
              <a:effectLst/>
              <a:uFillTx/>
              <a:latin typeface="Arial"/>
            </a:endParaRPr>
          </a:p>
        </p:txBody>
      </p:sp>
      <p:sp>
        <p:nvSpPr>
          <p:cNvPr id="38" name="Shape 31"/>
          <p:cNvSpPr/>
          <p:nvPr/>
        </p:nvSpPr>
        <p:spPr>
          <a:xfrm>
            <a:off x="4681800" y="4910400"/>
            <a:ext cx="2285280" cy="2826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9" name="Text 32"/>
          <p:cNvSpPr/>
          <p:nvPr/>
        </p:nvSpPr>
        <p:spPr>
          <a:xfrm>
            <a:off x="4718160" y="4951440"/>
            <a:ext cx="2212200" cy="200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39" b="0" u="none" strike="noStrike">
                <a:solidFill>
                  <a:srgbClr val="F8FAFC"/>
                </a:solidFill>
                <a:effectLst/>
                <a:uFillTx/>
                <a:latin typeface="Aptos"/>
              </a:rPr>
              <a:t>22214</a:t>
            </a:r>
            <a:r>
              <a:rPr lang="en-US" sz="939" b="0" u="none" strike="noStrike">
                <a:solidFill>
                  <a:srgbClr val="F8FAFC"/>
                </a:solidFill>
                <a:effectLst/>
                <a:uFillTx/>
                <a:latin typeface="Aptos"/>
              </a:rPr>
              <a:t>33042</a:t>
            </a:r>
            <a:endParaRPr lang="en-US" sz="939" b="0" u="none" strike="noStrike">
              <a:solidFill>
                <a:srgbClr val="FFFFFF"/>
              </a:solidFill>
              <a:effectLst/>
              <a:uFillTx/>
              <a:latin typeface="Arial"/>
            </a:endParaRPr>
          </a:p>
        </p:txBody>
      </p:sp>
      <p:sp>
        <p:nvSpPr>
          <p:cNvPr id="40" name="Shape 33"/>
          <p:cNvSpPr/>
          <p:nvPr/>
        </p:nvSpPr>
        <p:spPr>
          <a:xfrm>
            <a:off x="567000" y="5193720"/>
            <a:ext cx="4114080" cy="28260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 name="Text 34"/>
          <p:cNvSpPr/>
          <p:nvPr/>
        </p:nvSpPr>
        <p:spPr>
          <a:xfrm>
            <a:off x="603360" y="5235120"/>
            <a:ext cx="4041000" cy="200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39" b="0" u="none" strike="noStrike">
                <a:solidFill>
                  <a:srgbClr val="F8FAFC"/>
                </a:solidFill>
                <a:effectLst/>
                <a:uFillTx/>
                <a:latin typeface="Aptos"/>
              </a:rPr>
              <a:t>Ashraful Hossain Riyan</a:t>
            </a:r>
            <a:endParaRPr lang="en-US" sz="939" b="0" u="none" strike="noStrike">
              <a:solidFill>
                <a:srgbClr val="FFFFFF"/>
              </a:solidFill>
              <a:effectLst/>
              <a:uFillTx/>
              <a:latin typeface="Arial"/>
            </a:endParaRPr>
          </a:p>
        </p:txBody>
      </p:sp>
      <p:sp>
        <p:nvSpPr>
          <p:cNvPr id="42" name="Shape 35"/>
          <p:cNvSpPr/>
          <p:nvPr/>
        </p:nvSpPr>
        <p:spPr>
          <a:xfrm>
            <a:off x="4681800" y="5193720"/>
            <a:ext cx="2285280" cy="28260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 name="Text 36"/>
          <p:cNvSpPr/>
          <p:nvPr/>
        </p:nvSpPr>
        <p:spPr>
          <a:xfrm>
            <a:off x="4718160" y="5235120"/>
            <a:ext cx="2212200" cy="20052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39" b="0" u="none" strike="noStrike">
                <a:solidFill>
                  <a:srgbClr val="F8FAFC"/>
                </a:solidFill>
                <a:effectLst/>
                <a:uFillTx/>
                <a:latin typeface="Aptos"/>
              </a:rPr>
              <a:t>2232845642</a:t>
            </a:r>
            <a:endParaRPr lang="en-US" sz="939"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44" name="Shape 0"/>
          <p:cNvSpPr/>
          <p:nvPr/>
        </p:nvSpPr>
        <p:spPr>
          <a:xfrm>
            <a:off x="0" y="0"/>
            <a:ext cx="12191040" cy="6857280"/>
          </a:xfrm>
          <a:prstGeom prst="rect">
            <a:avLst/>
          </a:prstGeom>
          <a:solidFill>
            <a:srgbClr val="0B1020"/>
          </a:solidFill>
          <a:ln w="12700">
            <a:solidFill>
              <a:srgbClr val="0B1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6"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47" name="Text 3"/>
          <p:cNvSpPr/>
          <p:nvPr/>
        </p:nvSpPr>
        <p:spPr>
          <a:xfrm>
            <a:off x="502920" y="329040"/>
            <a:ext cx="9966240" cy="410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F8FAFC"/>
                </a:solidFill>
                <a:effectLst/>
                <a:uFillTx/>
                <a:latin typeface="Aptos Display"/>
                <a:ea typeface="Aptos Display"/>
              </a:rPr>
              <a:t>Research Background</a:t>
            </a:r>
            <a:endParaRPr lang="en-US" sz="2600" b="0" u="none" strike="noStrike">
              <a:solidFill>
                <a:srgbClr val="FFFFFF"/>
              </a:solidFill>
              <a:effectLst/>
              <a:uFillTx/>
              <a:latin typeface="Arial"/>
            </a:endParaRPr>
          </a:p>
        </p:txBody>
      </p:sp>
      <p:sp>
        <p:nvSpPr>
          <p:cNvPr id="48" name="Shape 4"/>
          <p:cNvSpPr/>
          <p:nvPr/>
        </p:nvSpPr>
        <p:spPr>
          <a:xfrm>
            <a:off x="502920" y="831960"/>
            <a:ext cx="1325160" cy="36000"/>
          </a:xfrm>
          <a:prstGeom prst="rect">
            <a:avLst/>
          </a:prstGeom>
          <a:solidFill>
            <a:srgbClr val="17C9E8"/>
          </a:solidFill>
          <a:ln w="12700">
            <a:solidFill>
              <a:srgbClr val="17C9E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49" name="Text 5"/>
          <p:cNvSpPr/>
          <p:nvPr/>
        </p:nvSpPr>
        <p:spPr>
          <a:xfrm>
            <a:off x="1938600" y="768240"/>
            <a:ext cx="7131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3C7"/>
                </a:solidFill>
                <a:effectLst/>
                <a:uFillTx/>
                <a:latin typeface="Aptos"/>
              </a:rPr>
              <a:t>Why this topic matters for IoT security</a:t>
            </a:r>
            <a:endParaRPr lang="en-US" sz="950" b="0" u="none" strike="noStrike">
              <a:solidFill>
                <a:srgbClr val="FFFFFF"/>
              </a:solidFill>
              <a:effectLst/>
              <a:uFillTx/>
              <a:latin typeface="Arial"/>
            </a:endParaRPr>
          </a:p>
        </p:txBody>
      </p:sp>
      <p:sp>
        <p:nvSpPr>
          <p:cNvPr id="50" name="Shape 6"/>
          <p:cNvSpPr/>
          <p:nvPr/>
        </p:nvSpPr>
        <p:spPr>
          <a:xfrm>
            <a:off x="685800" y="1234440"/>
            <a:ext cx="5302800" cy="803880"/>
          </a:xfrm>
          <a:prstGeom prst="roundRect">
            <a:avLst>
              <a:gd name="adj" fmla="val 9091"/>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1" name="Shape 7"/>
          <p:cNvSpPr/>
          <p:nvPr/>
        </p:nvSpPr>
        <p:spPr>
          <a:xfrm>
            <a:off x="850320" y="1389960"/>
            <a:ext cx="474840" cy="474840"/>
          </a:xfrm>
          <a:prstGeom prst="roundRect">
            <a:avLst>
              <a:gd name="adj" fmla="val 9615"/>
            </a:avLst>
          </a:prstGeom>
          <a:solidFill>
            <a:srgbClr val="17C9E8">
              <a:alpha val="90000"/>
            </a:srgbClr>
          </a:solidFill>
          <a:ln w="12700">
            <a:solidFill>
              <a:srgbClr val="17C9E8">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Text 8"/>
          <p:cNvSpPr/>
          <p:nvPr/>
        </p:nvSpPr>
        <p:spPr>
          <a:xfrm>
            <a:off x="905400" y="145404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1</a:t>
            </a:r>
            <a:endParaRPr lang="en-US" sz="1600" b="0" u="none" strike="noStrike">
              <a:solidFill>
                <a:srgbClr val="FFFFFF"/>
              </a:solidFill>
              <a:effectLst/>
              <a:uFillTx/>
              <a:latin typeface="Arial"/>
            </a:endParaRPr>
          </a:p>
        </p:txBody>
      </p:sp>
      <p:sp>
        <p:nvSpPr>
          <p:cNvPr id="53" name="Text 9"/>
          <p:cNvSpPr/>
          <p:nvPr/>
        </p:nvSpPr>
        <p:spPr>
          <a:xfrm>
            <a:off x="1454040" y="1380600"/>
            <a:ext cx="437004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Rapid IoT expansion</a:t>
            </a:r>
            <a:endParaRPr lang="en-US" sz="1350" b="0" u="none" strike="noStrike">
              <a:solidFill>
                <a:srgbClr val="FFFFFF"/>
              </a:solidFill>
              <a:effectLst/>
              <a:uFillTx/>
              <a:latin typeface="Arial"/>
            </a:endParaRPr>
          </a:p>
        </p:txBody>
      </p:sp>
      <p:sp>
        <p:nvSpPr>
          <p:cNvPr id="54" name="Text 10"/>
          <p:cNvSpPr/>
          <p:nvPr/>
        </p:nvSpPr>
        <p:spPr>
          <a:xfrm>
            <a:off x="1454040" y="1691640"/>
            <a:ext cx="4370040" cy="209520"/>
          </a:xfrm>
          <a:prstGeom prst="rect">
            <a:avLst/>
          </a:prstGeom>
          <a:noFill/>
          <a:ln w="0">
            <a:noFill/>
          </a:ln>
        </p:spPr>
        <p:style>
          <a:lnRef idx="0"/>
          <a:fillRef idx="0"/>
          <a:effectRef idx="0"/>
          <a:fontRef idx="minor"/>
        </p:style>
        <p:txBody>
          <a:bodyPr lIns="360" tIns="360" rIns="360" bIns="360" anchor="t">
            <a:normAutofit fontScale="77500" lnSpcReduction="19999"/>
          </a:bodyPr>
          <a:p>
            <a:pPr defTabSz="914400">
              <a:lnSpc>
                <a:spcPct val="100000"/>
              </a:lnSpc>
              <a:tabLst>
                <a:tab pos="0" algn="l"/>
              </a:tabLst>
            </a:pPr>
            <a:r>
              <a:rPr lang="en-US" sz="1030" b="0" u="none" strike="noStrike">
                <a:solidFill>
                  <a:srgbClr val="A8B3C7"/>
                </a:solidFill>
                <a:effectLst/>
                <a:uFillTx/>
                <a:latin typeface="Aptos"/>
              </a:rPr>
              <a:t>Smart homes, industrial systems and healthcare devices increase the edge attack surface.</a:t>
            </a:r>
            <a:endParaRPr lang="en-US" sz="1030" b="0" u="none" strike="noStrike">
              <a:solidFill>
                <a:srgbClr val="FFFFFF"/>
              </a:solidFill>
              <a:effectLst/>
              <a:uFillTx/>
              <a:latin typeface="Arial"/>
            </a:endParaRPr>
          </a:p>
        </p:txBody>
      </p:sp>
      <p:sp>
        <p:nvSpPr>
          <p:cNvPr id="55" name="Shape 11"/>
          <p:cNvSpPr/>
          <p:nvPr/>
        </p:nvSpPr>
        <p:spPr>
          <a:xfrm>
            <a:off x="685800" y="2212920"/>
            <a:ext cx="5302800" cy="803880"/>
          </a:xfrm>
          <a:prstGeom prst="roundRect">
            <a:avLst>
              <a:gd name="adj" fmla="val 9091"/>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6" name="Shape 12"/>
          <p:cNvSpPr/>
          <p:nvPr/>
        </p:nvSpPr>
        <p:spPr>
          <a:xfrm>
            <a:off x="850320" y="2368440"/>
            <a:ext cx="474840" cy="474840"/>
          </a:xfrm>
          <a:prstGeom prst="roundRect">
            <a:avLst>
              <a:gd name="adj" fmla="val 9615"/>
            </a:avLst>
          </a:prstGeom>
          <a:solidFill>
            <a:srgbClr val="48D597">
              <a:alpha val="90000"/>
            </a:srgbClr>
          </a:solidFill>
          <a:ln w="12700">
            <a:solidFill>
              <a:srgbClr val="48D597">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7" name="Text 13"/>
          <p:cNvSpPr/>
          <p:nvPr/>
        </p:nvSpPr>
        <p:spPr>
          <a:xfrm>
            <a:off x="905400" y="243216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2</a:t>
            </a:r>
            <a:endParaRPr lang="en-US" sz="1600" b="0" u="none" strike="noStrike">
              <a:solidFill>
                <a:srgbClr val="FFFFFF"/>
              </a:solidFill>
              <a:effectLst/>
              <a:uFillTx/>
              <a:latin typeface="Arial"/>
            </a:endParaRPr>
          </a:p>
        </p:txBody>
      </p:sp>
      <p:sp>
        <p:nvSpPr>
          <p:cNvPr id="58" name="Text 14"/>
          <p:cNvSpPr/>
          <p:nvPr/>
        </p:nvSpPr>
        <p:spPr>
          <a:xfrm>
            <a:off x="1454040" y="2359080"/>
            <a:ext cx="437004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Weak edge-device security</a:t>
            </a:r>
            <a:endParaRPr lang="en-US" sz="1350" b="0" u="none" strike="noStrike">
              <a:solidFill>
                <a:srgbClr val="FFFFFF"/>
              </a:solidFill>
              <a:effectLst/>
              <a:uFillTx/>
              <a:latin typeface="Arial"/>
            </a:endParaRPr>
          </a:p>
        </p:txBody>
      </p:sp>
      <p:sp>
        <p:nvSpPr>
          <p:cNvPr id="59" name="Text 15"/>
          <p:cNvSpPr/>
          <p:nvPr/>
        </p:nvSpPr>
        <p:spPr>
          <a:xfrm>
            <a:off x="1454040" y="2670120"/>
            <a:ext cx="4370040" cy="209520"/>
          </a:xfrm>
          <a:prstGeom prst="rect">
            <a:avLst/>
          </a:prstGeom>
          <a:noFill/>
          <a:ln w="0">
            <a:noFill/>
          </a:ln>
        </p:spPr>
        <p:style>
          <a:lnRef idx="0"/>
          <a:fillRef idx="0"/>
          <a:effectRef idx="0"/>
          <a:fontRef idx="minor"/>
        </p:style>
        <p:txBody>
          <a:bodyPr lIns="360" tIns="360" rIns="360" bIns="360" anchor="t">
            <a:normAutofit fontScale="77500" lnSpcReduction="19999"/>
          </a:bodyPr>
          <a:p>
            <a:pPr defTabSz="914400">
              <a:lnSpc>
                <a:spcPct val="100000"/>
              </a:lnSpc>
              <a:tabLst>
                <a:tab pos="0" algn="l"/>
              </a:tabLst>
            </a:pPr>
            <a:r>
              <a:rPr lang="en-US" sz="1030" b="0" u="none" strike="noStrike">
                <a:solidFill>
                  <a:srgbClr val="A8B3C7"/>
                </a:solidFill>
                <a:effectLst/>
                <a:uFillTx/>
                <a:latin typeface="Aptos"/>
              </a:rPr>
              <a:t>Many IoT nodes have limited CPU, memory and built-in protection, making them vulnerable to botnets.</a:t>
            </a:r>
            <a:endParaRPr lang="en-US" sz="1030" b="0" u="none" strike="noStrike">
              <a:solidFill>
                <a:srgbClr val="FFFFFF"/>
              </a:solidFill>
              <a:effectLst/>
              <a:uFillTx/>
              <a:latin typeface="Arial"/>
            </a:endParaRPr>
          </a:p>
        </p:txBody>
      </p:sp>
      <p:sp>
        <p:nvSpPr>
          <p:cNvPr id="60" name="Shape 16"/>
          <p:cNvSpPr/>
          <p:nvPr/>
        </p:nvSpPr>
        <p:spPr>
          <a:xfrm>
            <a:off x="685800" y="3191400"/>
            <a:ext cx="5302800" cy="803880"/>
          </a:xfrm>
          <a:prstGeom prst="roundRect">
            <a:avLst>
              <a:gd name="adj" fmla="val 9091"/>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 name="Shape 17"/>
          <p:cNvSpPr/>
          <p:nvPr/>
        </p:nvSpPr>
        <p:spPr>
          <a:xfrm>
            <a:off x="850320" y="3346560"/>
            <a:ext cx="474840" cy="474840"/>
          </a:xfrm>
          <a:prstGeom prst="roundRect">
            <a:avLst>
              <a:gd name="adj" fmla="val 9615"/>
            </a:avLst>
          </a:prstGeom>
          <a:solidFill>
            <a:srgbClr val="F4C542">
              <a:alpha val="90000"/>
            </a:srgbClr>
          </a:solidFill>
          <a:ln w="12700">
            <a:solidFill>
              <a:srgbClr val="F4C542">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62" name="Text 18"/>
          <p:cNvSpPr/>
          <p:nvPr/>
        </p:nvSpPr>
        <p:spPr>
          <a:xfrm>
            <a:off x="905400" y="341064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3</a:t>
            </a:r>
            <a:endParaRPr lang="en-US" sz="1600" b="0" u="none" strike="noStrike">
              <a:solidFill>
                <a:srgbClr val="FFFFFF"/>
              </a:solidFill>
              <a:effectLst/>
              <a:uFillTx/>
              <a:latin typeface="Arial"/>
            </a:endParaRPr>
          </a:p>
        </p:txBody>
      </p:sp>
      <p:sp>
        <p:nvSpPr>
          <p:cNvPr id="63" name="Text 19"/>
          <p:cNvSpPr/>
          <p:nvPr/>
        </p:nvSpPr>
        <p:spPr>
          <a:xfrm>
            <a:off x="1454040" y="3337560"/>
            <a:ext cx="437004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Centralized IDS limits</a:t>
            </a:r>
            <a:endParaRPr lang="en-US" sz="1350" b="0" u="none" strike="noStrike">
              <a:solidFill>
                <a:srgbClr val="FFFFFF"/>
              </a:solidFill>
              <a:effectLst/>
              <a:uFillTx/>
              <a:latin typeface="Arial"/>
            </a:endParaRPr>
          </a:p>
        </p:txBody>
      </p:sp>
      <p:sp>
        <p:nvSpPr>
          <p:cNvPr id="64" name="Text 20"/>
          <p:cNvSpPr/>
          <p:nvPr/>
        </p:nvSpPr>
        <p:spPr>
          <a:xfrm>
            <a:off x="1454040" y="3648600"/>
            <a:ext cx="4370040" cy="209520"/>
          </a:xfrm>
          <a:prstGeom prst="rect">
            <a:avLst/>
          </a:prstGeom>
          <a:noFill/>
          <a:ln w="0">
            <a:noFill/>
          </a:ln>
        </p:spPr>
        <p:style>
          <a:lnRef idx="0"/>
          <a:fillRef idx="0"/>
          <a:effectRef idx="0"/>
          <a:fontRef idx="minor"/>
        </p:style>
        <p:txBody>
          <a:bodyPr lIns="360" tIns="360" rIns="360" bIns="360" anchor="t">
            <a:normAutofit fontScale="77500" lnSpcReduction="19999"/>
          </a:bodyPr>
          <a:p>
            <a:pPr defTabSz="914400">
              <a:lnSpc>
                <a:spcPct val="100000"/>
              </a:lnSpc>
              <a:tabLst>
                <a:tab pos="0" algn="l"/>
              </a:tabLst>
            </a:pPr>
            <a:r>
              <a:rPr lang="en-US" sz="1030" b="0" u="none" strike="noStrike">
                <a:solidFill>
                  <a:srgbClr val="A8B3C7"/>
                </a:solidFill>
                <a:effectLst/>
                <a:uFillTx/>
                <a:latin typeface="Aptos"/>
              </a:rPr>
              <a:t>Cloud-based IDS requires raw telemetry transfer, creating privacy leakage, bandwidth cost and outage dependency.</a:t>
            </a:r>
            <a:endParaRPr lang="en-US" sz="1030" b="0" u="none" strike="noStrike">
              <a:solidFill>
                <a:srgbClr val="FFFFFF"/>
              </a:solidFill>
              <a:effectLst/>
              <a:uFillTx/>
              <a:latin typeface="Arial"/>
            </a:endParaRPr>
          </a:p>
        </p:txBody>
      </p:sp>
      <p:sp>
        <p:nvSpPr>
          <p:cNvPr id="65" name="Shape 21"/>
          <p:cNvSpPr/>
          <p:nvPr/>
        </p:nvSpPr>
        <p:spPr>
          <a:xfrm>
            <a:off x="685800" y="4169520"/>
            <a:ext cx="5302800" cy="803880"/>
          </a:xfrm>
          <a:prstGeom prst="roundRect">
            <a:avLst>
              <a:gd name="adj" fmla="val 9091"/>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6" name="Shape 22"/>
          <p:cNvSpPr/>
          <p:nvPr/>
        </p:nvSpPr>
        <p:spPr>
          <a:xfrm>
            <a:off x="850320" y="4325040"/>
            <a:ext cx="474840" cy="474840"/>
          </a:xfrm>
          <a:prstGeom prst="roundRect">
            <a:avLst>
              <a:gd name="adj" fmla="val 9615"/>
            </a:avLst>
          </a:prstGeom>
          <a:solidFill>
            <a:srgbClr val="A78BFA">
              <a:alpha val="90000"/>
            </a:srgbClr>
          </a:solidFill>
          <a:ln w="12700">
            <a:solidFill>
              <a:srgbClr val="A78BFA">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7" name="Text 23"/>
          <p:cNvSpPr/>
          <p:nvPr/>
        </p:nvSpPr>
        <p:spPr>
          <a:xfrm>
            <a:off x="905400" y="438912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4</a:t>
            </a:r>
            <a:endParaRPr lang="en-US" sz="1600" b="0" u="none" strike="noStrike">
              <a:solidFill>
                <a:srgbClr val="FFFFFF"/>
              </a:solidFill>
              <a:effectLst/>
              <a:uFillTx/>
              <a:latin typeface="Arial"/>
            </a:endParaRPr>
          </a:p>
        </p:txBody>
      </p:sp>
      <p:sp>
        <p:nvSpPr>
          <p:cNvPr id="68" name="Text 24"/>
          <p:cNvSpPr/>
          <p:nvPr/>
        </p:nvSpPr>
        <p:spPr>
          <a:xfrm>
            <a:off x="1454040" y="4316040"/>
            <a:ext cx="437004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Need for FL + privacy</a:t>
            </a:r>
            <a:endParaRPr lang="en-US" sz="1350" b="0" u="none" strike="noStrike">
              <a:solidFill>
                <a:srgbClr val="FFFFFF"/>
              </a:solidFill>
              <a:effectLst/>
              <a:uFillTx/>
              <a:latin typeface="Arial"/>
            </a:endParaRPr>
          </a:p>
        </p:txBody>
      </p:sp>
      <p:sp>
        <p:nvSpPr>
          <p:cNvPr id="69" name="Text 25"/>
          <p:cNvSpPr/>
          <p:nvPr/>
        </p:nvSpPr>
        <p:spPr>
          <a:xfrm>
            <a:off x="1454040" y="4626720"/>
            <a:ext cx="4370040" cy="209520"/>
          </a:xfrm>
          <a:prstGeom prst="rect">
            <a:avLst/>
          </a:prstGeom>
          <a:noFill/>
          <a:ln w="0">
            <a:noFill/>
          </a:ln>
        </p:spPr>
        <p:style>
          <a:lnRef idx="0"/>
          <a:fillRef idx="0"/>
          <a:effectRef idx="0"/>
          <a:fontRef idx="minor"/>
        </p:style>
        <p:txBody>
          <a:bodyPr lIns="360" tIns="360" rIns="360" bIns="360" anchor="t">
            <a:normAutofit fontScale="77500" lnSpcReduction="19999"/>
          </a:bodyPr>
          <a:p>
            <a:pPr defTabSz="914400">
              <a:lnSpc>
                <a:spcPct val="100000"/>
              </a:lnSpc>
              <a:tabLst>
                <a:tab pos="0" algn="l"/>
              </a:tabLst>
            </a:pPr>
            <a:r>
              <a:rPr lang="en-US" sz="1030" b="0" u="none" strike="noStrike">
                <a:solidFill>
                  <a:srgbClr val="A8B3C7"/>
                </a:solidFill>
                <a:effectLst/>
                <a:uFillTx/>
                <a:latin typeface="Aptos"/>
              </a:rPr>
              <a:t>Federated Learning keeps raw data local, while Differential Privacy reduces gradient-inference risk [7], [8].</a:t>
            </a:r>
            <a:endParaRPr lang="en-US" sz="1030" b="0" u="none" strike="noStrike">
              <a:solidFill>
                <a:srgbClr val="FFFFFF"/>
              </a:solidFill>
              <a:effectLst/>
              <a:uFillTx/>
              <a:latin typeface="Arial"/>
            </a:endParaRPr>
          </a:p>
        </p:txBody>
      </p:sp>
      <p:sp>
        <p:nvSpPr>
          <p:cNvPr id="70" name="Shape 26"/>
          <p:cNvSpPr/>
          <p:nvPr/>
        </p:nvSpPr>
        <p:spPr>
          <a:xfrm>
            <a:off x="6720840" y="1508760"/>
            <a:ext cx="1508040" cy="593640"/>
          </a:xfrm>
          <a:prstGeom prst="roundRect">
            <a:avLst>
              <a:gd name="adj" fmla="val 10769"/>
            </a:avLst>
          </a:prstGeom>
          <a:solidFill>
            <a:srgbClr val="FF6B6B">
              <a:alpha val="88000"/>
            </a:srgbClr>
          </a:solidFill>
          <a:ln w="12700">
            <a:solidFill>
              <a:srgbClr val="FF6B6B">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1" name="Text 27"/>
          <p:cNvSpPr/>
          <p:nvPr/>
        </p:nvSpPr>
        <p:spPr>
          <a:xfrm>
            <a:off x="6793920" y="1691640"/>
            <a:ext cx="1361880" cy="182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20" b="1" u="none" strike="noStrike">
                <a:solidFill>
                  <a:srgbClr val="07111F"/>
                </a:solidFill>
                <a:effectLst/>
                <a:uFillTx/>
                <a:latin typeface="Aptos"/>
              </a:rPr>
              <a:t>Raw telemetry</a:t>
            </a:r>
            <a:endParaRPr lang="en-US" sz="1020" b="0" u="none" strike="noStrike">
              <a:solidFill>
                <a:srgbClr val="FFFFFF"/>
              </a:solidFill>
              <a:effectLst/>
              <a:uFillTx/>
              <a:latin typeface="Arial"/>
            </a:endParaRPr>
          </a:p>
        </p:txBody>
      </p:sp>
      <p:sp>
        <p:nvSpPr>
          <p:cNvPr id="72" name="Shape 28"/>
          <p:cNvSpPr/>
          <p:nvPr/>
        </p:nvSpPr>
        <p:spPr>
          <a:xfrm>
            <a:off x="6720840" y="2788920"/>
            <a:ext cx="1508040" cy="593640"/>
          </a:xfrm>
          <a:prstGeom prst="roundRect">
            <a:avLst>
              <a:gd name="adj" fmla="val 10769"/>
            </a:avLst>
          </a:prstGeom>
          <a:solidFill>
            <a:srgbClr val="17C9E8">
              <a:alpha val="88000"/>
            </a:srgbClr>
          </a:solidFill>
          <a:ln w="12700">
            <a:solidFill>
              <a:srgbClr val="17C9E8">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3" name="Text 29"/>
          <p:cNvSpPr/>
          <p:nvPr/>
        </p:nvSpPr>
        <p:spPr>
          <a:xfrm>
            <a:off x="6793920" y="2971800"/>
            <a:ext cx="1361880" cy="182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20" b="1" u="none" strike="noStrike">
                <a:solidFill>
                  <a:srgbClr val="07111F"/>
                </a:solidFill>
                <a:effectLst/>
                <a:uFillTx/>
                <a:latin typeface="Aptos"/>
              </a:rPr>
              <a:t>Local learning</a:t>
            </a:r>
            <a:endParaRPr lang="en-US" sz="1020" b="0" u="none" strike="noStrike">
              <a:solidFill>
                <a:srgbClr val="FFFFFF"/>
              </a:solidFill>
              <a:effectLst/>
              <a:uFillTx/>
              <a:latin typeface="Arial"/>
            </a:endParaRPr>
          </a:p>
        </p:txBody>
      </p:sp>
      <p:sp>
        <p:nvSpPr>
          <p:cNvPr id="74" name="Shape 30"/>
          <p:cNvSpPr/>
          <p:nvPr/>
        </p:nvSpPr>
        <p:spPr>
          <a:xfrm>
            <a:off x="8961120" y="2788920"/>
            <a:ext cx="1508040" cy="593640"/>
          </a:xfrm>
          <a:prstGeom prst="roundRect">
            <a:avLst>
              <a:gd name="adj" fmla="val 10769"/>
            </a:avLst>
          </a:prstGeom>
          <a:solidFill>
            <a:srgbClr val="A78BFA">
              <a:alpha val="88000"/>
            </a:srgbClr>
          </a:solidFill>
          <a:ln w="12700">
            <a:solidFill>
              <a:srgbClr val="A78BFA">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5" name="Text 31"/>
          <p:cNvSpPr/>
          <p:nvPr/>
        </p:nvSpPr>
        <p:spPr>
          <a:xfrm>
            <a:off x="9034200" y="2971800"/>
            <a:ext cx="1361880" cy="182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20" b="1" u="none" strike="noStrike">
                <a:solidFill>
                  <a:srgbClr val="07111F"/>
                </a:solidFill>
                <a:effectLst/>
                <a:uFillTx/>
                <a:latin typeface="Aptos"/>
              </a:rPr>
              <a:t>Private updates</a:t>
            </a:r>
            <a:endParaRPr lang="en-US" sz="1020" b="0" u="none" strike="noStrike">
              <a:solidFill>
                <a:srgbClr val="FFFFFF"/>
              </a:solidFill>
              <a:effectLst/>
              <a:uFillTx/>
              <a:latin typeface="Arial"/>
            </a:endParaRPr>
          </a:p>
        </p:txBody>
      </p:sp>
      <p:sp>
        <p:nvSpPr>
          <p:cNvPr id="76" name="Shape 32"/>
          <p:cNvSpPr/>
          <p:nvPr/>
        </p:nvSpPr>
        <p:spPr>
          <a:xfrm>
            <a:off x="8961120" y="4069080"/>
            <a:ext cx="1508040" cy="593640"/>
          </a:xfrm>
          <a:prstGeom prst="roundRect">
            <a:avLst>
              <a:gd name="adj" fmla="val 10769"/>
            </a:avLst>
          </a:prstGeom>
          <a:solidFill>
            <a:srgbClr val="48D597">
              <a:alpha val="88000"/>
            </a:srgbClr>
          </a:solidFill>
          <a:ln w="12700">
            <a:solidFill>
              <a:srgbClr val="48D597">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 name="Text 33"/>
          <p:cNvSpPr/>
          <p:nvPr/>
        </p:nvSpPr>
        <p:spPr>
          <a:xfrm>
            <a:off x="9034200" y="4251960"/>
            <a:ext cx="1361880" cy="18216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20" b="1" u="none" strike="noStrike">
                <a:solidFill>
                  <a:srgbClr val="07111F"/>
                </a:solidFill>
                <a:effectLst/>
                <a:uFillTx/>
                <a:latin typeface="Aptos"/>
              </a:rPr>
              <a:t>Threat insight</a:t>
            </a:r>
            <a:endParaRPr lang="en-US" sz="1020" b="0" u="none" strike="noStrike">
              <a:solidFill>
                <a:srgbClr val="FFFFFF"/>
              </a:solidFill>
              <a:effectLst/>
              <a:uFillTx/>
              <a:latin typeface="Arial"/>
            </a:endParaRPr>
          </a:p>
        </p:txBody>
      </p:sp>
      <p:sp>
        <p:nvSpPr>
          <p:cNvPr id="78" name="Shape 34"/>
          <p:cNvSpPr/>
          <p:nvPr/>
        </p:nvSpPr>
        <p:spPr>
          <a:xfrm>
            <a:off x="7461360" y="2103120"/>
            <a:ext cx="360" cy="621720"/>
          </a:xfrm>
          <a:prstGeom prst="line">
            <a:avLst/>
          </a:prstGeom>
          <a:ln w="19050">
            <a:solidFill>
              <a:srgbClr val="2B3B5C"/>
            </a:solidFill>
            <a:round/>
            <a:tailEnd len="med" type="triangle" w="med"/>
          </a:ln>
        </p:spPr>
        <p:style>
          <a:lnRef idx="0"/>
          <a:fillRef idx="0"/>
          <a:effectRef idx="0"/>
          <a:fontRef idx="minor"/>
        </p:style>
        <p:txBody>
          <a:bodyPr lIns="0" tIns="45000" rIns="0" bIns="45000" anchor="t" anchorCtr="1">
            <a:noAutofit/>
          </a:bodyPr>
          <a:p>
            <a:endParaRPr lang="en-US" sz="1800" b="0" u="none" strike="noStrike">
              <a:solidFill>
                <a:srgbClr val="FFFFFF"/>
              </a:solidFill>
              <a:effectLst/>
              <a:uFillTx/>
              <a:latin typeface="Arial"/>
            </a:endParaRPr>
          </a:p>
        </p:txBody>
      </p:sp>
      <p:sp>
        <p:nvSpPr>
          <p:cNvPr id="79" name="Shape 35"/>
          <p:cNvSpPr/>
          <p:nvPr/>
        </p:nvSpPr>
        <p:spPr>
          <a:xfrm>
            <a:off x="8229600" y="3081240"/>
            <a:ext cx="713160" cy="360"/>
          </a:xfrm>
          <a:prstGeom prst="line">
            <a:avLst/>
          </a:prstGeom>
          <a:ln w="19050">
            <a:solidFill>
              <a:srgbClr val="2B3B5C"/>
            </a:solidFill>
            <a:round/>
            <a:tailEnd len="med" type="triangle" w="med"/>
          </a:ln>
        </p:spPr>
        <p:style>
          <a:lnRef idx="0"/>
          <a:fillRef idx="0"/>
          <a:effectRef idx="0"/>
          <a:fontRef idx="minor"/>
        </p:style>
        <p:txBody>
          <a:bodyPr lIns="90000" tIns="-44640" rIns="90000" bIns="-44640" anchor="t" anchorCtr="1">
            <a:noAutofit/>
          </a:bodyPr>
          <a:p>
            <a:endParaRPr lang="en-US" sz="1800" b="0" u="none" strike="noStrike">
              <a:solidFill>
                <a:srgbClr val="FFFFFF"/>
              </a:solidFill>
              <a:effectLst/>
              <a:uFillTx/>
              <a:latin typeface="Arial"/>
            </a:endParaRPr>
          </a:p>
        </p:txBody>
      </p:sp>
      <p:sp>
        <p:nvSpPr>
          <p:cNvPr id="80" name="Shape 36"/>
          <p:cNvSpPr/>
          <p:nvPr/>
        </p:nvSpPr>
        <p:spPr>
          <a:xfrm>
            <a:off x="9710640" y="3383280"/>
            <a:ext cx="360" cy="621720"/>
          </a:xfrm>
          <a:prstGeom prst="line">
            <a:avLst/>
          </a:prstGeom>
          <a:ln w="19050">
            <a:solidFill>
              <a:srgbClr val="2B3B5C"/>
            </a:solidFill>
            <a:round/>
            <a:tailEnd len="med" type="triangle" w="med"/>
          </a:ln>
        </p:spPr>
        <p:style>
          <a:lnRef idx="0"/>
          <a:fillRef idx="0"/>
          <a:effectRef idx="0"/>
          <a:fontRef idx="minor"/>
        </p:style>
        <p:txBody>
          <a:bodyPr lIns="0" tIns="45000" rIns="0" bIns="45000" anchor="t" anchorCtr="1">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81" name="Shape 0"/>
          <p:cNvSpPr/>
          <p:nvPr/>
        </p:nvSpPr>
        <p:spPr>
          <a:xfrm>
            <a:off x="0" y="0"/>
            <a:ext cx="12191040" cy="6857280"/>
          </a:xfrm>
          <a:prstGeom prst="rect">
            <a:avLst/>
          </a:prstGeom>
          <a:solidFill>
            <a:srgbClr val="0B1020"/>
          </a:solidFill>
          <a:ln w="12700">
            <a:solidFill>
              <a:srgbClr val="0B1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2"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3"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84" name="Text 3"/>
          <p:cNvSpPr/>
          <p:nvPr/>
        </p:nvSpPr>
        <p:spPr>
          <a:xfrm>
            <a:off x="502920" y="329040"/>
            <a:ext cx="9966240" cy="410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F8FAFC"/>
                </a:solidFill>
                <a:effectLst/>
                <a:uFillTx/>
                <a:latin typeface="Aptos Display"/>
                <a:ea typeface="Aptos Display"/>
              </a:rPr>
              <a:t>Review of Existing Studies I</a:t>
            </a:r>
            <a:endParaRPr lang="en-US" sz="2600" b="0" u="none" strike="noStrike">
              <a:solidFill>
                <a:srgbClr val="FFFFFF"/>
              </a:solidFill>
              <a:effectLst/>
              <a:uFillTx/>
              <a:latin typeface="Arial"/>
            </a:endParaRPr>
          </a:p>
        </p:txBody>
      </p:sp>
      <p:sp>
        <p:nvSpPr>
          <p:cNvPr id="85" name="Shape 4"/>
          <p:cNvSpPr/>
          <p:nvPr/>
        </p:nvSpPr>
        <p:spPr>
          <a:xfrm>
            <a:off x="502920" y="831960"/>
            <a:ext cx="1325160" cy="36000"/>
          </a:xfrm>
          <a:prstGeom prst="rect">
            <a:avLst/>
          </a:prstGeom>
          <a:solidFill>
            <a:srgbClr val="17C9E8"/>
          </a:solidFill>
          <a:ln w="12700">
            <a:solidFill>
              <a:srgbClr val="17C9E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86" name="Text 5"/>
          <p:cNvSpPr/>
          <p:nvPr/>
        </p:nvSpPr>
        <p:spPr>
          <a:xfrm>
            <a:off x="1938600" y="768240"/>
            <a:ext cx="7131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3C7"/>
                </a:solidFill>
                <a:effectLst/>
                <a:uFillTx/>
                <a:latin typeface="Aptos"/>
              </a:rPr>
              <a:t>Federated IDS, edge optimization, and privacy preservation</a:t>
            </a:r>
            <a:endParaRPr lang="en-US" sz="950" b="0" u="none" strike="noStrike">
              <a:solidFill>
                <a:srgbClr val="FFFFFF"/>
              </a:solidFill>
              <a:effectLst/>
              <a:uFillTx/>
              <a:latin typeface="Arial"/>
            </a:endParaRPr>
          </a:p>
        </p:txBody>
      </p:sp>
      <p:sp>
        <p:nvSpPr>
          <p:cNvPr id="87" name="Shape 6"/>
          <p:cNvSpPr/>
          <p:nvPr/>
        </p:nvSpPr>
        <p:spPr>
          <a:xfrm>
            <a:off x="640080" y="1143000"/>
            <a:ext cx="3474000" cy="959400"/>
          </a:xfrm>
          <a:prstGeom prst="roundRect">
            <a:avLst>
              <a:gd name="adj" fmla="val 7619"/>
            </a:avLst>
          </a:prstGeom>
          <a:solidFill>
            <a:srgbClr val="101B31"/>
          </a:solidFill>
          <a:ln w="12700">
            <a:solidFill>
              <a:srgbClr val="17C9E8">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8" name="Shape 7"/>
          <p:cNvSpPr/>
          <p:nvPr/>
        </p:nvSpPr>
        <p:spPr>
          <a:xfrm>
            <a:off x="640080" y="1143000"/>
            <a:ext cx="54000" cy="959400"/>
          </a:xfrm>
          <a:prstGeom prst="rect">
            <a:avLst/>
          </a:prstGeom>
          <a:solidFill>
            <a:srgbClr val="17C9E8"/>
          </a:solidFill>
          <a:ln w="12700">
            <a:solidFill>
              <a:srgbClr val="17C9E8"/>
            </a:solidFill>
            <a:round/>
          </a:ln>
        </p:spPr>
        <p:style>
          <a:lnRef idx="0"/>
          <a:fillRef idx="0"/>
          <a:effectRef idx="0"/>
          <a:fontRef idx="minor"/>
        </p:style>
        <p:txBody>
          <a:bodyPr lIns="27000" tIns="45000" rIns="27000" bIns="45000" anchor="t">
            <a:noAutofit/>
          </a:bodyPr>
          <a:p>
            <a:endParaRPr lang="en-US" sz="1800" b="0" u="none" strike="noStrike">
              <a:solidFill>
                <a:srgbClr val="000000"/>
              </a:solidFill>
              <a:effectLst/>
              <a:uFillTx/>
              <a:latin typeface="Arial"/>
            </a:endParaRPr>
          </a:p>
        </p:txBody>
      </p:sp>
      <p:sp>
        <p:nvSpPr>
          <p:cNvPr id="89" name="Text 8"/>
          <p:cNvSpPr/>
          <p:nvPr/>
        </p:nvSpPr>
        <p:spPr>
          <a:xfrm>
            <a:off x="822960" y="1252800"/>
            <a:ext cx="3199680" cy="236880"/>
          </a:xfrm>
          <a:prstGeom prst="rect">
            <a:avLst/>
          </a:prstGeom>
          <a:noFill/>
          <a:ln w="0">
            <a:noFill/>
          </a:ln>
        </p:spPr>
        <p:style>
          <a:lnRef idx="0"/>
          <a:fillRef idx="0"/>
          <a:effectRef idx="0"/>
          <a:fontRef idx="minor"/>
        </p:style>
        <p:txBody>
          <a:bodyPr lIns="0" tIns="0" rIns="0" bIns="0" anchor="ctr">
            <a:normAutofit fontScale="92500" lnSpcReduction="9999"/>
          </a:bodyPr>
          <a:p>
            <a:pPr defTabSz="914400">
              <a:lnSpc>
                <a:spcPct val="100000"/>
              </a:lnSpc>
              <a:tabLst>
                <a:tab pos="0" algn="l"/>
              </a:tabLst>
            </a:pPr>
            <a:r>
              <a:rPr lang="en-US" sz="1300" b="1" u="none" strike="noStrike">
                <a:solidFill>
                  <a:srgbClr val="F8FAFC"/>
                </a:solidFill>
                <a:effectLst/>
                <a:uFillTx/>
                <a:latin typeface="Aptos"/>
              </a:rPr>
              <a:t>Theme 1 — Federated intrusion detection</a:t>
            </a:r>
            <a:endParaRPr lang="en-US" sz="1300" b="0" u="none" strike="noStrike">
              <a:solidFill>
                <a:srgbClr val="FFFFFF"/>
              </a:solidFill>
              <a:effectLst/>
              <a:uFillTx/>
              <a:latin typeface="Arial"/>
            </a:endParaRPr>
          </a:p>
        </p:txBody>
      </p:sp>
      <p:sp>
        <p:nvSpPr>
          <p:cNvPr id="90" name="Text 9"/>
          <p:cNvSpPr/>
          <p:nvPr/>
        </p:nvSpPr>
        <p:spPr>
          <a:xfrm>
            <a:off x="822960" y="1554480"/>
            <a:ext cx="3199680" cy="4564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70" b="0" u="none" strike="noStrike">
                <a:solidFill>
                  <a:srgbClr val="A8B3C7"/>
                </a:solidFill>
                <a:effectLst/>
                <a:uFillTx/>
                <a:latin typeface="Aptos"/>
              </a:rPr>
              <a:t>Recent FL IDS papers reduce the need for centralized raw traffic transfer and address non-IID IoT data [1]–[6].</a:t>
            </a:r>
            <a:endParaRPr lang="en-US" sz="970" b="0" u="none" strike="noStrike">
              <a:solidFill>
                <a:srgbClr val="FFFFFF"/>
              </a:solidFill>
              <a:effectLst/>
              <a:uFillTx/>
              <a:latin typeface="Arial"/>
            </a:endParaRPr>
          </a:p>
        </p:txBody>
      </p:sp>
      <p:sp>
        <p:nvSpPr>
          <p:cNvPr id="91" name="Shape 10"/>
          <p:cNvSpPr/>
          <p:nvPr/>
        </p:nvSpPr>
        <p:spPr>
          <a:xfrm>
            <a:off x="640080" y="2331720"/>
            <a:ext cx="3474000" cy="959400"/>
          </a:xfrm>
          <a:prstGeom prst="roundRect">
            <a:avLst>
              <a:gd name="adj" fmla="val 7619"/>
            </a:avLst>
          </a:prstGeom>
          <a:solidFill>
            <a:srgbClr val="101B31"/>
          </a:solidFill>
          <a:ln w="12700">
            <a:solidFill>
              <a:srgbClr val="48D597">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2" name="Shape 11"/>
          <p:cNvSpPr/>
          <p:nvPr/>
        </p:nvSpPr>
        <p:spPr>
          <a:xfrm>
            <a:off x="640080" y="2331720"/>
            <a:ext cx="54000" cy="959400"/>
          </a:xfrm>
          <a:prstGeom prst="rect">
            <a:avLst/>
          </a:prstGeom>
          <a:solidFill>
            <a:srgbClr val="48D597"/>
          </a:solidFill>
          <a:ln w="12700">
            <a:solidFill>
              <a:srgbClr val="48D597"/>
            </a:solidFill>
            <a:round/>
          </a:ln>
        </p:spPr>
        <p:style>
          <a:lnRef idx="0"/>
          <a:fillRef idx="0"/>
          <a:effectRef idx="0"/>
          <a:fontRef idx="minor"/>
        </p:style>
        <p:txBody>
          <a:bodyPr lIns="27000" tIns="45000" rIns="27000" bIns="45000" anchor="t">
            <a:noAutofit/>
          </a:bodyPr>
          <a:p>
            <a:endParaRPr lang="en-US" sz="1800" b="0" u="none" strike="noStrike">
              <a:solidFill>
                <a:srgbClr val="000000"/>
              </a:solidFill>
              <a:effectLst/>
              <a:uFillTx/>
              <a:latin typeface="Arial"/>
            </a:endParaRPr>
          </a:p>
        </p:txBody>
      </p:sp>
      <p:sp>
        <p:nvSpPr>
          <p:cNvPr id="93" name="Text 12"/>
          <p:cNvSpPr/>
          <p:nvPr/>
        </p:nvSpPr>
        <p:spPr>
          <a:xfrm>
            <a:off x="822960" y="2441520"/>
            <a:ext cx="319968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F8FAFC"/>
                </a:solidFill>
                <a:effectLst/>
                <a:uFillTx/>
                <a:latin typeface="Aptos"/>
              </a:rPr>
              <a:t>Methods used</a:t>
            </a:r>
            <a:endParaRPr lang="en-US" sz="1300" b="0" u="none" strike="noStrike">
              <a:solidFill>
                <a:srgbClr val="FFFFFF"/>
              </a:solidFill>
              <a:effectLst/>
              <a:uFillTx/>
              <a:latin typeface="Arial"/>
            </a:endParaRPr>
          </a:p>
        </p:txBody>
      </p:sp>
      <p:sp>
        <p:nvSpPr>
          <p:cNvPr id="94" name="Text 13"/>
          <p:cNvSpPr/>
          <p:nvPr/>
        </p:nvSpPr>
        <p:spPr>
          <a:xfrm>
            <a:off x="822960" y="2743200"/>
            <a:ext cx="3199680" cy="4564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70" b="0" u="none" strike="noStrike">
                <a:solidFill>
                  <a:srgbClr val="A8B3C7"/>
                </a:solidFill>
                <a:effectLst/>
                <a:uFillTx/>
                <a:latin typeface="Aptos"/>
              </a:rPr>
              <a:t>Dynamic aggregation, adaptive client weighting, clustering, knowledge distillation, and lightweight models [2]–[6].</a:t>
            </a:r>
            <a:endParaRPr lang="en-US" sz="970" b="0" u="none" strike="noStrike">
              <a:solidFill>
                <a:srgbClr val="FFFFFF"/>
              </a:solidFill>
              <a:effectLst/>
              <a:uFillTx/>
              <a:latin typeface="Arial"/>
            </a:endParaRPr>
          </a:p>
        </p:txBody>
      </p:sp>
      <p:sp>
        <p:nvSpPr>
          <p:cNvPr id="95" name="Shape 14"/>
          <p:cNvSpPr/>
          <p:nvPr/>
        </p:nvSpPr>
        <p:spPr>
          <a:xfrm>
            <a:off x="640080" y="3520440"/>
            <a:ext cx="3474000" cy="1096560"/>
          </a:xfrm>
          <a:prstGeom prst="roundRect">
            <a:avLst>
              <a:gd name="adj" fmla="val 6667"/>
            </a:avLst>
          </a:prstGeom>
          <a:solidFill>
            <a:srgbClr val="101B31"/>
          </a:solidFill>
          <a:ln w="12700">
            <a:solidFill>
              <a:srgbClr val="F4C542">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6" name="Shape 15"/>
          <p:cNvSpPr/>
          <p:nvPr/>
        </p:nvSpPr>
        <p:spPr>
          <a:xfrm>
            <a:off x="640080" y="3520440"/>
            <a:ext cx="54000" cy="1096560"/>
          </a:xfrm>
          <a:prstGeom prst="rect">
            <a:avLst/>
          </a:prstGeom>
          <a:solidFill>
            <a:srgbClr val="F4C542"/>
          </a:solidFill>
          <a:ln w="12700">
            <a:solidFill>
              <a:srgbClr val="F4C542"/>
            </a:solidFill>
            <a:round/>
          </a:ln>
        </p:spPr>
        <p:style>
          <a:lnRef idx="0"/>
          <a:fillRef idx="0"/>
          <a:effectRef idx="0"/>
          <a:fontRef idx="minor"/>
        </p:style>
        <p:txBody>
          <a:bodyPr lIns="27000" tIns="45000" rIns="27000" bIns="45000" anchor="t">
            <a:noAutofit/>
          </a:bodyPr>
          <a:p>
            <a:endParaRPr lang="en-US" sz="1800" b="0" u="none" strike="noStrike">
              <a:solidFill>
                <a:srgbClr val="000000"/>
              </a:solidFill>
              <a:effectLst/>
              <a:uFillTx/>
              <a:latin typeface="Arial"/>
            </a:endParaRPr>
          </a:p>
        </p:txBody>
      </p:sp>
      <p:sp>
        <p:nvSpPr>
          <p:cNvPr id="97" name="Text 16"/>
          <p:cNvSpPr/>
          <p:nvPr/>
        </p:nvSpPr>
        <p:spPr>
          <a:xfrm>
            <a:off x="822960" y="3630240"/>
            <a:ext cx="319968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F8FAFC"/>
                </a:solidFill>
                <a:effectLst/>
                <a:uFillTx/>
                <a:latin typeface="Aptos"/>
              </a:rPr>
              <a:t>Main limitation</a:t>
            </a:r>
            <a:endParaRPr lang="en-US" sz="1300" b="0" u="none" strike="noStrike">
              <a:solidFill>
                <a:srgbClr val="FFFFFF"/>
              </a:solidFill>
              <a:effectLst/>
              <a:uFillTx/>
              <a:latin typeface="Arial"/>
            </a:endParaRPr>
          </a:p>
        </p:txBody>
      </p:sp>
      <p:sp>
        <p:nvSpPr>
          <p:cNvPr id="98" name="Text 17"/>
          <p:cNvSpPr/>
          <p:nvPr/>
        </p:nvSpPr>
        <p:spPr>
          <a:xfrm>
            <a:off x="822960" y="3931920"/>
            <a:ext cx="3199680" cy="593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70" b="0" u="none" strike="noStrike">
                <a:solidFill>
                  <a:srgbClr val="A8B3C7"/>
                </a:solidFill>
                <a:effectLst/>
                <a:uFillTx/>
                <a:latin typeface="Aptos"/>
              </a:rPr>
              <a:t>Many studies are simulation-focused and do not combine privacy, poisoning defense, free-rider control, and SOC explanation in one edge workflow.</a:t>
            </a:r>
            <a:endParaRPr lang="en-US" sz="970" b="0" u="none" strike="noStrike">
              <a:solidFill>
                <a:srgbClr val="FFFFFF"/>
              </a:solidFill>
              <a:effectLst/>
              <a:uFillTx/>
              <a:latin typeface="Arial"/>
            </a:endParaRPr>
          </a:p>
        </p:txBody>
      </p:sp>
      <p:sp>
        <p:nvSpPr>
          <p:cNvPr id="99" name="Shape 18"/>
          <p:cNvSpPr/>
          <p:nvPr/>
        </p:nvSpPr>
        <p:spPr>
          <a:xfrm>
            <a:off x="4617720" y="1143000"/>
            <a:ext cx="3336840" cy="1096560"/>
          </a:xfrm>
          <a:prstGeom prst="roundRect">
            <a:avLst>
              <a:gd name="adj" fmla="val 6667"/>
            </a:avLst>
          </a:prstGeom>
          <a:solidFill>
            <a:srgbClr val="101B31"/>
          </a:solidFill>
          <a:ln w="12700">
            <a:solidFill>
              <a:srgbClr val="A78BFA">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 name="Shape 19"/>
          <p:cNvSpPr/>
          <p:nvPr/>
        </p:nvSpPr>
        <p:spPr>
          <a:xfrm>
            <a:off x="4617720" y="1143000"/>
            <a:ext cx="54000" cy="1096560"/>
          </a:xfrm>
          <a:prstGeom prst="rect">
            <a:avLst/>
          </a:prstGeom>
          <a:solidFill>
            <a:srgbClr val="A78BFA"/>
          </a:solidFill>
          <a:ln w="12700">
            <a:solidFill>
              <a:srgbClr val="A78BFA"/>
            </a:solidFill>
            <a:round/>
          </a:ln>
        </p:spPr>
        <p:style>
          <a:lnRef idx="0"/>
          <a:fillRef idx="0"/>
          <a:effectRef idx="0"/>
          <a:fontRef idx="minor"/>
        </p:style>
        <p:txBody>
          <a:bodyPr lIns="27000" tIns="45000" rIns="27000" bIns="45000" anchor="t">
            <a:noAutofit/>
          </a:bodyPr>
          <a:p>
            <a:endParaRPr lang="en-US" sz="1800" b="0" u="none" strike="noStrike">
              <a:solidFill>
                <a:srgbClr val="FFFFFF"/>
              </a:solidFill>
              <a:effectLst/>
              <a:uFillTx/>
              <a:latin typeface="Arial"/>
            </a:endParaRPr>
          </a:p>
        </p:txBody>
      </p:sp>
      <p:sp>
        <p:nvSpPr>
          <p:cNvPr id="101" name="Text 20"/>
          <p:cNvSpPr/>
          <p:nvPr/>
        </p:nvSpPr>
        <p:spPr>
          <a:xfrm>
            <a:off x="4800600" y="1252800"/>
            <a:ext cx="306252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F8FAFC"/>
                </a:solidFill>
                <a:effectLst/>
                <a:uFillTx/>
                <a:latin typeface="Aptos"/>
              </a:rPr>
              <a:t>Theme 2 — Privacy preservation</a:t>
            </a:r>
            <a:endParaRPr lang="en-US" sz="1300" b="0" u="none" strike="noStrike">
              <a:solidFill>
                <a:srgbClr val="FFFFFF"/>
              </a:solidFill>
              <a:effectLst/>
              <a:uFillTx/>
              <a:latin typeface="Arial"/>
            </a:endParaRPr>
          </a:p>
        </p:txBody>
      </p:sp>
      <p:sp>
        <p:nvSpPr>
          <p:cNvPr id="102" name="Text 21"/>
          <p:cNvSpPr/>
          <p:nvPr/>
        </p:nvSpPr>
        <p:spPr>
          <a:xfrm>
            <a:off x="4800600" y="1554480"/>
            <a:ext cx="3062520" cy="59364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70" b="0" u="none" strike="noStrike">
                <a:solidFill>
                  <a:srgbClr val="A8B3C7"/>
                </a:solidFill>
                <a:effectLst/>
                <a:uFillTx/>
                <a:latin typeface="Aptos"/>
              </a:rPr>
              <a:t>FL protects raw data, but gradients may still leak private information; DP and secure aggregation are common defenses [7], [8], [10].</a:t>
            </a:r>
            <a:endParaRPr lang="en-US" sz="970" b="0" u="none" strike="noStrike">
              <a:solidFill>
                <a:srgbClr val="FFFFFF"/>
              </a:solidFill>
              <a:effectLst/>
              <a:uFillTx/>
              <a:latin typeface="Arial"/>
            </a:endParaRPr>
          </a:p>
        </p:txBody>
      </p:sp>
      <p:sp>
        <p:nvSpPr>
          <p:cNvPr id="103" name="Shape 22"/>
          <p:cNvSpPr/>
          <p:nvPr/>
        </p:nvSpPr>
        <p:spPr>
          <a:xfrm>
            <a:off x="4617720" y="2468880"/>
            <a:ext cx="3336840" cy="959400"/>
          </a:xfrm>
          <a:prstGeom prst="roundRect">
            <a:avLst>
              <a:gd name="adj" fmla="val 7619"/>
            </a:avLst>
          </a:prstGeom>
          <a:solidFill>
            <a:srgbClr val="101B31"/>
          </a:solidFill>
          <a:ln w="12700">
            <a:solidFill>
              <a:srgbClr val="17C9E8">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4" name="Shape 23"/>
          <p:cNvSpPr/>
          <p:nvPr/>
        </p:nvSpPr>
        <p:spPr>
          <a:xfrm>
            <a:off x="4617720" y="2468880"/>
            <a:ext cx="54000" cy="959400"/>
          </a:xfrm>
          <a:prstGeom prst="rect">
            <a:avLst/>
          </a:prstGeom>
          <a:solidFill>
            <a:srgbClr val="17C9E8"/>
          </a:solidFill>
          <a:ln w="12700">
            <a:solidFill>
              <a:srgbClr val="17C9E8"/>
            </a:solidFill>
            <a:round/>
          </a:ln>
        </p:spPr>
        <p:style>
          <a:lnRef idx="0"/>
          <a:fillRef idx="0"/>
          <a:effectRef idx="0"/>
          <a:fontRef idx="minor"/>
        </p:style>
        <p:txBody>
          <a:bodyPr lIns="27000" tIns="45000" rIns="27000" bIns="45000" anchor="t">
            <a:noAutofit/>
          </a:bodyPr>
          <a:p>
            <a:endParaRPr lang="en-US" sz="1800" b="0" u="none" strike="noStrike">
              <a:solidFill>
                <a:srgbClr val="000000"/>
              </a:solidFill>
              <a:effectLst/>
              <a:uFillTx/>
              <a:latin typeface="Arial"/>
            </a:endParaRPr>
          </a:p>
        </p:txBody>
      </p:sp>
      <p:sp>
        <p:nvSpPr>
          <p:cNvPr id="105" name="Text 24"/>
          <p:cNvSpPr/>
          <p:nvPr/>
        </p:nvSpPr>
        <p:spPr>
          <a:xfrm>
            <a:off x="4800600" y="2578680"/>
            <a:ext cx="306252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F8FAFC"/>
                </a:solidFill>
                <a:effectLst/>
                <a:uFillTx/>
                <a:latin typeface="Aptos"/>
              </a:rPr>
              <a:t>Methods used</a:t>
            </a:r>
            <a:endParaRPr lang="en-US" sz="1300" b="0" u="none" strike="noStrike">
              <a:solidFill>
                <a:srgbClr val="FFFFFF"/>
              </a:solidFill>
              <a:effectLst/>
              <a:uFillTx/>
              <a:latin typeface="Arial"/>
            </a:endParaRPr>
          </a:p>
        </p:txBody>
      </p:sp>
      <p:sp>
        <p:nvSpPr>
          <p:cNvPr id="106" name="Text 25"/>
          <p:cNvSpPr/>
          <p:nvPr/>
        </p:nvSpPr>
        <p:spPr>
          <a:xfrm>
            <a:off x="4800600" y="2880360"/>
            <a:ext cx="3062520" cy="4564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70" b="0" u="none" strike="noStrike">
                <a:solidFill>
                  <a:srgbClr val="A8B3C7"/>
                </a:solidFill>
                <a:effectLst/>
                <a:uFillTx/>
                <a:latin typeface="Aptos"/>
              </a:rPr>
              <a:t>Differential Privacy, secure aggregation, stateful proof of execution, and controlled noise mechanisms [7], [8], [10].</a:t>
            </a:r>
            <a:endParaRPr lang="en-US" sz="970" b="0" u="none" strike="noStrike">
              <a:solidFill>
                <a:srgbClr val="FFFFFF"/>
              </a:solidFill>
              <a:effectLst/>
              <a:uFillTx/>
              <a:latin typeface="Arial"/>
            </a:endParaRPr>
          </a:p>
        </p:txBody>
      </p:sp>
      <p:sp>
        <p:nvSpPr>
          <p:cNvPr id="107" name="Shape 26"/>
          <p:cNvSpPr/>
          <p:nvPr/>
        </p:nvSpPr>
        <p:spPr>
          <a:xfrm>
            <a:off x="4617720" y="3657600"/>
            <a:ext cx="3336840" cy="959400"/>
          </a:xfrm>
          <a:prstGeom prst="roundRect">
            <a:avLst>
              <a:gd name="adj" fmla="val 7619"/>
            </a:avLst>
          </a:prstGeom>
          <a:solidFill>
            <a:srgbClr val="101B31"/>
          </a:solidFill>
          <a:ln w="12700">
            <a:solidFill>
              <a:srgbClr val="FF6B6B">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8" name="Shape 27"/>
          <p:cNvSpPr/>
          <p:nvPr/>
        </p:nvSpPr>
        <p:spPr>
          <a:xfrm>
            <a:off x="4617720" y="3657600"/>
            <a:ext cx="54000" cy="959400"/>
          </a:xfrm>
          <a:prstGeom prst="rect">
            <a:avLst/>
          </a:prstGeom>
          <a:solidFill>
            <a:srgbClr val="FF6B6B"/>
          </a:solidFill>
          <a:ln w="12700">
            <a:solidFill>
              <a:srgbClr val="FF6B6B"/>
            </a:solidFill>
            <a:round/>
          </a:ln>
        </p:spPr>
        <p:style>
          <a:lnRef idx="0"/>
          <a:fillRef idx="0"/>
          <a:effectRef idx="0"/>
          <a:fontRef idx="minor"/>
        </p:style>
        <p:txBody>
          <a:bodyPr lIns="27000" tIns="45000" rIns="27000" bIns="45000" anchor="t">
            <a:noAutofit/>
          </a:bodyPr>
          <a:p>
            <a:endParaRPr lang="en-US" sz="1800" b="0" u="none" strike="noStrike">
              <a:solidFill>
                <a:srgbClr val="FFFFFF"/>
              </a:solidFill>
              <a:effectLst/>
              <a:uFillTx/>
              <a:latin typeface="Arial"/>
            </a:endParaRPr>
          </a:p>
        </p:txBody>
      </p:sp>
      <p:sp>
        <p:nvSpPr>
          <p:cNvPr id="109" name="Text 28"/>
          <p:cNvSpPr/>
          <p:nvPr/>
        </p:nvSpPr>
        <p:spPr>
          <a:xfrm>
            <a:off x="4800600" y="3767400"/>
            <a:ext cx="306252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F8FAFC"/>
                </a:solidFill>
                <a:effectLst/>
                <a:uFillTx/>
                <a:latin typeface="Aptos"/>
              </a:rPr>
              <a:t>Main limitation</a:t>
            </a:r>
            <a:endParaRPr lang="en-US" sz="1300" b="0" u="none" strike="noStrike">
              <a:solidFill>
                <a:srgbClr val="FFFFFF"/>
              </a:solidFill>
              <a:effectLst/>
              <a:uFillTx/>
              <a:latin typeface="Arial"/>
            </a:endParaRPr>
          </a:p>
        </p:txBody>
      </p:sp>
      <p:sp>
        <p:nvSpPr>
          <p:cNvPr id="110" name="Text 29"/>
          <p:cNvSpPr/>
          <p:nvPr/>
        </p:nvSpPr>
        <p:spPr>
          <a:xfrm>
            <a:off x="4800600" y="4069080"/>
            <a:ext cx="3062520" cy="45648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70" b="0" u="none" strike="noStrike">
                <a:solidFill>
                  <a:srgbClr val="A8B3C7"/>
                </a:solidFill>
                <a:effectLst/>
                <a:uFillTx/>
                <a:latin typeface="Aptos"/>
              </a:rPr>
              <a:t>Strong privacy mechanisms can increase communication or compute overhead for small IoT nodes [7], [10].</a:t>
            </a:r>
            <a:endParaRPr lang="en-US" sz="970" b="0" u="none" strike="noStrike">
              <a:solidFill>
                <a:srgbClr val="FFFFFF"/>
              </a:solidFill>
              <a:effectLst/>
              <a:uFillTx/>
              <a:latin typeface="Arial"/>
            </a:endParaRPr>
          </a:p>
        </p:txBody>
      </p:sp>
      <p:sp>
        <p:nvSpPr>
          <p:cNvPr id="111" name="Shape 30"/>
          <p:cNvSpPr/>
          <p:nvPr/>
        </p:nvSpPr>
        <p:spPr>
          <a:xfrm>
            <a:off x="8458200" y="1325880"/>
            <a:ext cx="2696760" cy="3336840"/>
          </a:xfrm>
          <a:prstGeom prst="roundRect">
            <a:avLst>
              <a:gd name="adj" fmla="val 3390"/>
            </a:avLst>
          </a:prstGeom>
          <a:solidFill>
            <a:srgbClr val="14223C"/>
          </a:solidFill>
          <a:ln w="12700">
            <a:solidFill>
              <a:srgbClr val="17C9E8">
                <a:alpha val="5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2" name="Text 31"/>
          <p:cNvSpPr/>
          <p:nvPr/>
        </p:nvSpPr>
        <p:spPr>
          <a:xfrm>
            <a:off x="8732520" y="1600200"/>
            <a:ext cx="2148120" cy="2552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700" b="1" u="none" strike="noStrike">
                <a:solidFill>
                  <a:srgbClr val="F8FAFC"/>
                </a:solidFill>
                <a:effectLst/>
                <a:uFillTx/>
                <a:latin typeface="Aptos"/>
              </a:rPr>
              <a:t>Key pattern</a:t>
            </a:r>
            <a:endParaRPr lang="en-US" sz="1700" b="0" u="none" strike="noStrike">
              <a:solidFill>
                <a:srgbClr val="FFFFFF"/>
              </a:solidFill>
              <a:effectLst/>
              <a:uFillTx/>
              <a:latin typeface="Arial"/>
            </a:endParaRPr>
          </a:p>
        </p:txBody>
      </p:sp>
      <p:sp>
        <p:nvSpPr>
          <p:cNvPr id="113" name="Shape 32"/>
          <p:cNvSpPr/>
          <p:nvPr/>
        </p:nvSpPr>
        <p:spPr>
          <a:xfrm>
            <a:off x="8732520" y="2103120"/>
            <a:ext cx="2148120" cy="328320"/>
          </a:xfrm>
          <a:prstGeom prst="roundRect">
            <a:avLst>
              <a:gd name="adj" fmla="val 22222"/>
            </a:avLst>
          </a:prstGeom>
          <a:solidFill>
            <a:srgbClr val="48D597"/>
          </a:solidFill>
          <a:ln w="12700">
            <a:solidFill>
              <a:srgbClr val="2B3B5C">
                <a:alpha val="8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4" name="Text 33"/>
          <p:cNvSpPr/>
          <p:nvPr/>
        </p:nvSpPr>
        <p:spPr>
          <a:xfrm>
            <a:off x="8805600" y="2144160"/>
            <a:ext cx="2001960" cy="2462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50" b="1" u="none" strike="noStrike">
                <a:solidFill>
                  <a:srgbClr val="07111F"/>
                </a:solidFill>
                <a:effectLst/>
                <a:uFillTx/>
                <a:latin typeface="Aptos"/>
              </a:rPr>
              <a:t>Local data stays local</a:t>
            </a:r>
            <a:endParaRPr lang="en-US" sz="1050" b="0" u="none" strike="noStrike">
              <a:solidFill>
                <a:srgbClr val="FFFFFF"/>
              </a:solidFill>
              <a:effectLst/>
              <a:uFillTx/>
              <a:latin typeface="Arial"/>
            </a:endParaRPr>
          </a:p>
        </p:txBody>
      </p:sp>
      <p:sp>
        <p:nvSpPr>
          <p:cNvPr id="115" name="Shape 34"/>
          <p:cNvSpPr/>
          <p:nvPr/>
        </p:nvSpPr>
        <p:spPr>
          <a:xfrm>
            <a:off x="8732520" y="2670120"/>
            <a:ext cx="2148120" cy="328320"/>
          </a:xfrm>
          <a:prstGeom prst="roundRect">
            <a:avLst>
              <a:gd name="adj" fmla="val 22222"/>
            </a:avLst>
          </a:prstGeom>
          <a:solidFill>
            <a:srgbClr val="17C9E8"/>
          </a:solidFill>
          <a:ln w="12700">
            <a:solidFill>
              <a:srgbClr val="2B3B5C">
                <a:alpha val="8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6" name="Text 35"/>
          <p:cNvSpPr/>
          <p:nvPr/>
        </p:nvSpPr>
        <p:spPr>
          <a:xfrm>
            <a:off x="8805600" y="2711160"/>
            <a:ext cx="2001960" cy="2462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50" b="1" u="none" strike="noStrike">
                <a:solidFill>
                  <a:srgbClr val="07111F"/>
                </a:solidFill>
                <a:effectLst/>
                <a:uFillTx/>
                <a:latin typeface="Aptos"/>
              </a:rPr>
              <a:t>Only updates are shared</a:t>
            </a:r>
            <a:endParaRPr lang="en-US" sz="1050" b="0" u="none" strike="noStrike">
              <a:solidFill>
                <a:srgbClr val="FFFFFF"/>
              </a:solidFill>
              <a:effectLst/>
              <a:uFillTx/>
              <a:latin typeface="Arial"/>
            </a:endParaRPr>
          </a:p>
        </p:txBody>
      </p:sp>
      <p:sp>
        <p:nvSpPr>
          <p:cNvPr id="117" name="Shape 36"/>
          <p:cNvSpPr/>
          <p:nvPr/>
        </p:nvSpPr>
        <p:spPr>
          <a:xfrm>
            <a:off x="8732520" y="3237120"/>
            <a:ext cx="2148120" cy="328320"/>
          </a:xfrm>
          <a:prstGeom prst="roundRect">
            <a:avLst>
              <a:gd name="adj" fmla="val 22222"/>
            </a:avLst>
          </a:prstGeom>
          <a:solidFill>
            <a:srgbClr val="F4C542"/>
          </a:solidFill>
          <a:ln w="12700">
            <a:solidFill>
              <a:srgbClr val="2B3B5C">
                <a:alpha val="8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8" name="Text 37"/>
          <p:cNvSpPr/>
          <p:nvPr/>
        </p:nvSpPr>
        <p:spPr>
          <a:xfrm>
            <a:off x="8805600" y="3278160"/>
            <a:ext cx="2001960" cy="2462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50" b="1" u="none" strike="noStrike">
                <a:solidFill>
                  <a:srgbClr val="07111F"/>
                </a:solidFill>
                <a:effectLst/>
                <a:uFillTx/>
                <a:latin typeface="Aptos"/>
              </a:rPr>
              <a:t>Updates still need defense</a:t>
            </a:r>
            <a:endParaRPr lang="en-US" sz="1050" b="0" u="none" strike="noStrike">
              <a:solidFill>
                <a:srgbClr val="FFFFFF"/>
              </a:solidFill>
              <a:effectLst/>
              <a:uFillTx/>
              <a:latin typeface="Arial"/>
            </a:endParaRPr>
          </a:p>
        </p:txBody>
      </p:sp>
      <p:sp>
        <p:nvSpPr>
          <p:cNvPr id="119" name="Shape 38"/>
          <p:cNvSpPr/>
          <p:nvPr/>
        </p:nvSpPr>
        <p:spPr>
          <a:xfrm>
            <a:off x="8732520" y="3803760"/>
            <a:ext cx="2148120" cy="328320"/>
          </a:xfrm>
          <a:prstGeom prst="roundRect">
            <a:avLst>
              <a:gd name="adj" fmla="val 22222"/>
            </a:avLst>
          </a:prstGeom>
          <a:solidFill>
            <a:srgbClr val="A78BFA"/>
          </a:solidFill>
          <a:ln w="12700">
            <a:solidFill>
              <a:srgbClr val="2B3B5C">
                <a:alpha val="8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0" name="Text 39"/>
          <p:cNvSpPr/>
          <p:nvPr/>
        </p:nvSpPr>
        <p:spPr>
          <a:xfrm>
            <a:off x="8805600" y="3845160"/>
            <a:ext cx="2001960" cy="24624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1050" b="1" u="none" strike="noStrike">
                <a:solidFill>
                  <a:srgbClr val="07111F"/>
                </a:solidFill>
                <a:effectLst/>
                <a:uFillTx/>
                <a:latin typeface="Aptos"/>
              </a:rPr>
              <a:t>Admin needs readable alerts</a:t>
            </a:r>
            <a:endParaRPr lang="en-US" sz="10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121" name="Shape 0"/>
          <p:cNvSpPr/>
          <p:nvPr/>
        </p:nvSpPr>
        <p:spPr>
          <a:xfrm>
            <a:off x="0" y="0"/>
            <a:ext cx="12191040" cy="6857280"/>
          </a:xfrm>
          <a:prstGeom prst="rect">
            <a:avLst/>
          </a:prstGeom>
          <a:solidFill>
            <a:srgbClr val="0B1020"/>
          </a:solidFill>
          <a:ln w="12700">
            <a:solidFill>
              <a:srgbClr val="0B1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2"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3"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124" name="Text 3"/>
          <p:cNvSpPr/>
          <p:nvPr/>
        </p:nvSpPr>
        <p:spPr>
          <a:xfrm>
            <a:off x="502920" y="329040"/>
            <a:ext cx="9966240" cy="410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F8FAFC"/>
                </a:solidFill>
                <a:effectLst/>
                <a:uFillTx/>
                <a:latin typeface="Aptos Display"/>
                <a:ea typeface="Aptos Display"/>
              </a:rPr>
              <a:t>Review of Existing Studies II</a:t>
            </a:r>
            <a:endParaRPr lang="en-US" sz="2600" b="0" u="none" strike="noStrike">
              <a:solidFill>
                <a:srgbClr val="FFFFFF"/>
              </a:solidFill>
              <a:effectLst/>
              <a:uFillTx/>
              <a:latin typeface="Arial"/>
            </a:endParaRPr>
          </a:p>
        </p:txBody>
      </p:sp>
      <p:sp>
        <p:nvSpPr>
          <p:cNvPr id="125" name="Shape 4"/>
          <p:cNvSpPr/>
          <p:nvPr/>
        </p:nvSpPr>
        <p:spPr>
          <a:xfrm>
            <a:off x="502920" y="831960"/>
            <a:ext cx="1325160" cy="36000"/>
          </a:xfrm>
          <a:prstGeom prst="rect">
            <a:avLst/>
          </a:prstGeom>
          <a:solidFill>
            <a:srgbClr val="17C9E8"/>
          </a:solidFill>
          <a:ln w="12700">
            <a:solidFill>
              <a:srgbClr val="17C9E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126" name="Text 5"/>
          <p:cNvSpPr/>
          <p:nvPr/>
        </p:nvSpPr>
        <p:spPr>
          <a:xfrm>
            <a:off x="1938600" y="768240"/>
            <a:ext cx="7131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3C7"/>
                </a:solidFill>
                <a:effectLst/>
                <a:uFillTx/>
                <a:latin typeface="Aptos"/>
              </a:rPr>
              <a:t>Poisoning, free-rider behavior, and robust aggregation</a:t>
            </a:r>
            <a:endParaRPr lang="en-US" sz="950" b="0" u="none" strike="noStrike">
              <a:solidFill>
                <a:srgbClr val="FFFFFF"/>
              </a:solidFill>
              <a:effectLst/>
              <a:uFillTx/>
              <a:latin typeface="Arial"/>
            </a:endParaRPr>
          </a:p>
        </p:txBody>
      </p:sp>
      <p:sp>
        <p:nvSpPr>
          <p:cNvPr id="127" name="Shape 6"/>
          <p:cNvSpPr/>
          <p:nvPr/>
        </p:nvSpPr>
        <p:spPr>
          <a:xfrm>
            <a:off x="640080" y="1124640"/>
            <a:ext cx="5257080" cy="867960"/>
          </a:xfrm>
          <a:prstGeom prst="roundRect">
            <a:avLst>
              <a:gd name="adj" fmla="val 8421"/>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8" name="Shape 7"/>
          <p:cNvSpPr/>
          <p:nvPr/>
        </p:nvSpPr>
        <p:spPr>
          <a:xfrm>
            <a:off x="804600" y="1280160"/>
            <a:ext cx="474840" cy="474840"/>
          </a:xfrm>
          <a:prstGeom prst="roundRect">
            <a:avLst>
              <a:gd name="adj" fmla="val 9615"/>
            </a:avLst>
          </a:prstGeom>
          <a:solidFill>
            <a:srgbClr val="FF6B6B">
              <a:alpha val="90000"/>
            </a:srgbClr>
          </a:solidFill>
          <a:ln w="12700">
            <a:solidFill>
              <a:srgbClr val="FF6B6B">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9" name="Text 8"/>
          <p:cNvSpPr/>
          <p:nvPr/>
        </p:nvSpPr>
        <p:spPr>
          <a:xfrm>
            <a:off x="859680" y="134424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A</a:t>
            </a:r>
            <a:endParaRPr lang="en-US" sz="1600" b="0" u="none" strike="noStrike">
              <a:solidFill>
                <a:srgbClr val="FFFFFF"/>
              </a:solidFill>
              <a:effectLst/>
              <a:uFillTx/>
              <a:latin typeface="Arial"/>
            </a:endParaRPr>
          </a:p>
        </p:txBody>
      </p:sp>
      <p:sp>
        <p:nvSpPr>
          <p:cNvPr id="130" name="Text 9"/>
          <p:cNvSpPr/>
          <p:nvPr/>
        </p:nvSpPr>
        <p:spPr>
          <a:xfrm>
            <a:off x="1408320" y="1271160"/>
            <a:ext cx="432432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Poisoning and model-update attacks</a:t>
            </a:r>
            <a:endParaRPr lang="en-US" sz="1350" b="0" u="none" strike="noStrike">
              <a:solidFill>
                <a:srgbClr val="FFFFFF"/>
              </a:solidFill>
              <a:effectLst/>
              <a:uFillTx/>
              <a:latin typeface="Arial"/>
            </a:endParaRPr>
          </a:p>
        </p:txBody>
      </p:sp>
      <p:sp>
        <p:nvSpPr>
          <p:cNvPr id="131" name="Text 10"/>
          <p:cNvSpPr/>
          <p:nvPr/>
        </p:nvSpPr>
        <p:spPr>
          <a:xfrm>
            <a:off x="1408320" y="1581840"/>
            <a:ext cx="4324320" cy="27360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030" b="0" u="none" strike="noStrike">
                <a:solidFill>
                  <a:srgbClr val="A8B3C7"/>
                </a:solidFill>
                <a:effectLst/>
                <a:uFillTx/>
                <a:latin typeface="Aptos"/>
              </a:rPr>
              <a:t>Malicious clients can submit corrupted gradients or model parameters, causing global model degradation [7], [9], [10].</a:t>
            </a:r>
            <a:endParaRPr lang="en-US" sz="1030" b="0" u="none" strike="noStrike">
              <a:solidFill>
                <a:srgbClr val="FFFFFF"/>
              </a:solidFill>
              <a:effectLst/>
              <a:uFillTx/>
              <a:latin typeface="Arial"/>
            </a:endParaRPr>
          </a:p>
        </p:txBody>
      </p:sp>
      <p:sp>
        <p:nvSpPr>
          <p:cNvPr id="132" name="Shape 11"/>
          <p:cNvSpPr/>
          <p:nvPr/>
        </p:nvSpPr>
        <p:spPr>
          <a:xfrm>
            <a:off x="640080" y="2221920"/>
            <a:ext cx="5257080" cy="867960"/>
          </a:xfrm>
          <a:prstGeom prst="roundRect">
            <a:avLst>
              <a:gd name="adj" fmla="val 8421"/>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3" name="Shape 12"/>
          <p:cNvSpPr/>
          <p:nvPr/>
        </p:nvSpPr>
        <p:spPr>
          <a:xfrm>
            <a:off x="804600" y="2377440"/>
            <a:ext cx="474840" cy="474840"/>
          </a:xfrm>
          <a:prstGeom prst="roundRect">
            <a:avLst>
              <a:gd name="adj" fmla="val 9615"/>
            </a:avLst>
          </a:prstGeom>
          <a:solidFill>
            <a:srgbClr val="17C9E8">
              <a:alpha val="90000"/>
            </a:srgbClr>
          </a:solidFill>
          <a:ln w="12700">
            <a:solidFill>
              <a:srgbClr val="17C9E8">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4" name="Text 13"/>
          <p:cNvSpPr/>
          <p:nvPr/>
        </p:nvSpPr>
        <p:spPr>
          <a:xfrm>
            <a:off x="859680" y="244152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B</a:t>
            </a:r>
            <a:endParaRPr lang="en-US" sz="1600" b="0" u="none" strike="noStrike">
              <a:solidFill>
                <a:srgbClr val="FFFFFF"/>
              </a:solidFill>
              <a:effectLst/>
              <a:uFillTx/>
              <a:latin typeface="Arial"/>
            </a:endParaRPr>
          </a:p>
        </p:txBody>
      </p:sp>
      <p:sp>
        <p:nvSpPr>
          <p:cNvPr id="135" name="Text 14"/>
          <p:cNvSpPr/>
          <p:nvPr/>
        </p:nvSpPr>
        <p:spPr>
          <a:xfrm>
            <a:off x="1408320" y="2368440"/>
            <a:ext cx="432432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Robust aggregation</a:t>
            </a:r>
            <a:endParaRPr lang="en-US" sz="1350" b="0" u="none" strike="noStrike">
              <a:solidFill>
                <a:srgbClr val="FFFFFF"/>
              </a:solidFill>
              <a:effectLst/>
              <a:uFillTx/>
              <a:latin typeface="Arial"/>
            </a:endParaRPr>
          </a:p>
        </p:txBody>
      </p:sp>
      <p:sp>
        <p:nvSpPr>
          <p:cNvPr id="136" name="Text 15"/>
          <p:cNvSpPr/>
          <p:nvPr/>
        </p:nvSpPr>
        <p:spPr>
          <a:xfrm>
            <a:off x="1408320" y="2679120"/>
            <a:ext cx="4324320" cy="27360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030" b="0" u="none" strike="noStrike">
                <a:solidFill>
                  <a:srgbClr val="A8B3C7"/>
                </a:solidFill>
                <a:effectLst/>
                <a:uFillTx/>
                <a:latin typeface="Aptos"/>
              </a:rPr>
              <a:t>Recent work filters suspicious updates using dynamic, frequency-domain, cosine-similarity, or audit-based logic [6], [9], [10].</a:t>
            </a:r>
            <a:endParaRPr lang="en-US" sz="1030" b="0" u="none" strike="noStrike">
              <a:solidFill>
                <a:srgbClr val="FFFFFF"/>
              </a:solidFill>
              <a:effectLst/>
              <a:uFillTx/>
              <a:latin typeface="Arial"/>
            </a:endParaRPr>
          </a:p>
        </p:txBody>
      </p:sp>
      <p:sp>
        <p:nvSpPr>
          <p:cNvPr id="137" name="Shape 16"/>
          <p:cNvSpPr/>
          <p:nvPr/>
        </p:nvSpPr>
        <p:spPr>
          <a:xfrm>
            <a:off x="640080" y="3319200"/>
            <a:ext cx="5257080" cy="867960"/>
          </a:xfrm>
          <a:prstGeom prst="roundRect">
            <a:avLst>
              <a:gd name="adj" fmla="val 8421"/>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8" name="Shape 17"/>
          <p:cNvSpPr/>
          <p:nvPr/>
        </p:nvSpPr>
        <p:spPr>
          <a:xfrm>
            <a:off x="804600" y="3474720"/>
            <a:ext cx="474840" cy="474840"/>
          </a:xfrm>
          <a:prstGeom prst="roundRect">
            <a:avLst>
              <a:gd name="adj" fmla="val 9615"/>
            </a:avLst>
          </a:prstGeom>
          <a:solidFill>
            <a:srgbClr val="F4C542">
              <a:alpha val="90000"/>
            </a:srgbClr>
          </a:solidFill>
          <a:ln w="12700">
            <a:solidFill>
              <a:srgbClr val="F4C542">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9" name="Text 18"/>
          <p:cNvSpPr/>
          <p:nvPr/>
        </p:nvSpPr>
        <p:spPr>
          <a:xfrm>
            <a:off x="859680" y="353880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C</a:t>
            </a:r>
            <a:endParaRPr lang="en-US" sz="1600" b="0" u="none" strike="noStrike">
              <a:solidFill>
                <a:srgbClr val="FFFFFF"/>
              </a:solidFill>
              <a:effectLst/>
              <a:uFillTx/>
              <a:latin typeface="Arial"/>
            </a:endParaRPr>
          </a:p>
        </p:txBody>
      </p:sp>
      <p:sp>
        <p:nvSpPr>
          <p:cNvPr id="140" name="Text 19"/>
          <p:cNvSpPr/>
          <p:nvPr/>
        </p:nvSpPr>
        <p:spPr>
          <a:xfrm>
            <a:off x="1408320" y="3465720"/>
            <a:ext cx="432432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Free-rider attacks</a:t>
            </a:r>
            <a:endParaRPr lang="en-US" sz="1350" b="0" u="none" strike="noStrike">
              <a:solidFill>
                <a:srgbClr val="FFFFFF"/>
              </a:solidFill>
              <a:effectLst/>
              <a:uFillTx/>
              <a:latin typeface="Arial"/>
            </a:endParaRPr>
          </a:p>
        </p:txBody>
      </p:sp>
      <p:sp>
        <p:nvSpPr>
          <p:cNvPr id="141" name="Text 20"/>
          <p:cNvSpPr/>
          <p:nvPr/>
        </p:nvSpPr>
        <p:spPr>
          <a:xfrm>
            <a:off x="1408320" y="3776400"/>
            <a:ext cx="4324320" cy="27360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030" b="0" u="none" strike="noStrike">
                <a:solidFill>
                  <a:srgbClr val="A8B3C7"/>
                </a:solidFill>
                <a:effectLst/>
                <a:uFillTx/>
                <a:latin typeface="Aptos"/>
              </a:rPr>
              <a:t>Some clients may consume global models without contributing valid local updates, creating fairness and reliability risks [11], [12].</a:t>
            </a:r>
            <a:endParaRPr lang="en-US" sz="1030" b="0" u="none" strike="noStrike">
              <a:solidFill>
                <a:srgbClr val="FFFFFF"/>
              </a:solidFill>
              <a:effectLst/>
              <a:uFillTx/>
              <a:latin typeface="Arial"/>
            </a:endParaRPr>
          </a:p>
        </p:txBody>
      </p:sp>
      <p:sp>
        <p:nvSpPr>
          <p:cNvPr id="142" name="Shape 21"/>
          <p:cNvSpPr/>
          <p:nvPr/>
        </p:nvSpPr>
        <p:spPr>
          <a:xfrm>
            <a:off x="640080" y="4416480"/>
            <a:ext cx="5257080" cy="867960"/>
          </a:xfrm>
          <a:prstGeom prst="roundRect">
            <a:avLst>
              <a:gd name="adj" fmla="val 8421"/>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3" name="Shape 22"/>
          <p:cNvSpPr/>
          <p:nvPr/>
        </p:nvSpPr>
        <p:spPr>
          <a:xfrm>
            <a:off x="804600" y="4572000"/>
            <a:ext cx="474840" cy="474840"/>
          </a:xfrm>
          <a:prstGeom prst="roundRect">
            <a:avLst>
              <a:gd name="adj" fmla="val 9615"/>
            </a:avLst>
          </a:prstGeom>
          <a:solidFill>
            <a:srgbClr val="A78BFA">
              <a:alpha val="90000"/>
            </a:srgbClr>
          </a:solidFill>
          <a:ln w="12700">
            <a:solidFill>
              <a:srgbClr val="A78BFA">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4" name="Text 23"/>
          <p:cNvSpPr/>
          <p:nvPr/>
        </p:nvSpPr>
        <p:spPr>
          <a:xfrm>
            <a:off x="859680" y="463608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D</a:t>
            </a:r>
            <a:endParaRPr lang="en-US" sz="1600" b="0" u="none" strike="noStrike">
              <a:solidFill>
                <a:srgbClr val="FFFFFF"/>
              </a:solidFill>
              <a:effectLst/>
              <a:uFillTx/>
              <a:latin typeface="Arial"/>
            </a:endParaRPr>
          </a:p>
        </p:txBody>
      </p:sp>
      <p:sp>
        <p:nvSpPr>
          <p:cNvPr id="145" name="Text 24"/>
          <p:cNvSpPr/>
          <p:nvPr/>
        </p:nvSpPr>
        <p:spPr>
          <a:xfrm>
            <a:off x="1408320" y="4563000"/>
            <a:ext cx="432432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Remaining weakness</a:t>
            </a:r>
            <a:endParaRPr lang="en-US" sz="1350" b="0" u="none" strike="noStrike">
              <a:solidFill>
                <a:srgbClr val="FFFFFF"/>
              </a:solidFill>
              <a:effectLst/>
              <a:uFillTx/>
              <a:latin typeface="Arial"/>
            </a:endParaRPr>
          </a:p>
        </p:txBody>
      </p:sp>
      <p:sp>
        <p:nvSpPr>
          <p:cNvPr id="146" name="Text 25"/>
          <p:cNvSpPr/>
          <p:nvPr/>
        </p:nvSpPr>
        <p:spPr>
          <a:xfrm>
            <a:off x="1408320" y="4873680"/>
            <a:ext cx="4324320" cy="273600"/>
          </a:xfrm>
          <a:prstGeom prst="rect">
            <a:avLst/>
          </a:prstGeom>
          <a:noFill/>
          <a:ln w="0">
            <a:noFill/>
          </a:ln>
        </p:spPr>
        <p:style>
          <a:lnRef idx="0"/>
          <a:fillRef idx="0"/>
          <a:effectRef idx="0"/>
          <a:fontRef idx="minor"/>
        </p:style>
        <p:txBody>
          <a:bodyPr lIns="360" tIns="360" rIns="360" bIns="360" anchor="t">
            <a:normAutofit fontScale="92500" lnSpcReduction="9999"/>
          </a:bodyPr>
          <a:p>
            <a:pPr defTabSz="914400">
              <a:lnSpc>
                <a:spcPct val="100000"/>
              </a:lnSpc>
              <a:tabLst>
                <a:tab pos="0" algn="l"/>
              </a:tabLst>
            </a:pPr>
            <a:r>
              <a:rPr lang="en-US" sz="1030" b="0" u="none" strike="noStrike">
                <a:solidFill>
                  <a:srgbClr val="A8B3C7"/>
                </a:solidFill>
                <a:effectLst/>
                <a:uFillTx/>
                <a:latin typeface="Aptos"/>
              </a:rPr>
              <a:t>Defenses often address one attack type only, while practical IoT security needs combined privacy, robustness, and explainability.</a:t>
            </a:r>
            <a:endParaRPr lang="en-US" sz="1030" b="0" u="none" strike="noStrike">
              <a:solidFill>
                <a:srgbClr val="FFFFFF"/>
              </a:solidFill>
              <a:effectLst/>
              <a:uFillTx/>
              <a:latin typeface="Arial"/>
            </a:endParaRPr>
          </a:p>
        </p:txBody>
      </p:sp>
      <p:sp>
        <p:nvSpPr>
          <p:cNvPr id="147" name="Text 26"/>
          <p:cNvSpPr/>
          <p:nvPr/>
        </p:nvSpPr>
        <p:spPr>
          <a:xfrm>
            <a:off x="6537960" y="1051560"/>
            <a:ext cx="4388400" cy="2736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F8FAFC"/>
                </a:solidFill>
                <a:effectLst/>
                <a:uFillTx/>
                <a:latin typeface="Aptos"/>
              </a:rPr>
              <a:t>Defense themes across literature</a:t>
            </a:r>
            <a:endParaRPr lang="en-US" sz="1600" b="0" u="none" strike="noStrike">
              <a:solidFill>
                <a:srgbClr val="FFFFFF"/>
              </a:solidFill>
              <a:effectLst/>
              <a:uFillTx/>
              <a:latin typeface="Arial"/>
            </a:endParaRPr>
          </a:p>
        </p:txBody>
      </p:sp>
      <p:sp>
        <p:nvSpPr>
          <p:cNvPr id="148" name="Shape 27"/>
          <p:cNvSpPr/>
          <p:nvPr/>
        </p:nvSpPr>
        <p:spPr>
          <a:xfrm>
            <a:off x="6583680" y="1600200"/>
            <a:ext cx="3794040" cy="511200"/>
          </a:xfrm>
          <a:prstGeom prst="chevron">
            <a:avLst>
              <a:gd name="adj" fmla="val 50000"/>
            </a:avLst>
          </a:prstGeom>
          <a:solidFill>
            <a:srgbClr val="A78BFA">
              <a:alpha val="90000"/>
            </a:srgbClr>
          </a:solidFill>
          <a:ln w="12700">
            <a:solidFill>
              <a:srgbClr val="A78BFA">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9" name="Text 28"/>
          <p:cNvSpPr/>
          <p:nvPr/>
        </p:nvSpPr>
        <p:spPr>
          <a:xfrm>
            <a:off x="6784920" y="1710000"/>
            <a:ext cx="3336840" cy="163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39" b="1" u="none" strike="noStrike">
                <a:solidFill>
                  <a:srgbClr val="07111F"/>
                </a:solidFill>
                <a:effectLst/>
                <a:uFillTx/>
                <a:latin typeface="Aptos"/>
              </a:rPr>
              <a:t>Data / gradient privacy — DP, secure aggregation</a:t>
            </a:r>
            <a:endParaRPr lang="en-US" sz="939" b="0" u="none" strike="noStrike">
              <a:solidFill>
                <a:srgbClr val="FFFFFF"/>
              </a:solidFill>
              <a:effectLst/>
              <a:uFillTx/>
              <a:latin typeface="Arial"/>
            </a:endParaRPr>
          </a:p>
        </p:txBody>
      </p:sp>
      <p:sp>
        <p:nvSpPr>
          <p:cNvPr id="150" name="Shape 29"/>
          <p:cNvSpPr/>
          <p:nvPr/>
        </p:nvSpPr>
        <p:spPr>
          <a:xfrm>
            <a:off x="6583680" y="2404800"/>
            <a:ext cx="3794040" cy="511200"/>
          </a:xfrm>
          <a:prstGeom prst="chevron">
            <a:avLst>
              <a:gd name="adj" fmla="val 50000"/>
            </a:avLst>
          </a:prstGeom>
          <a:solidFill>
            <a:srgbClr val="17C9E8">
              <a:alpha val="90000"/>
            </a:srgbClr>
          </a:solidFill>
          <a:ln w="12700">
            <a:solidFill>
              <a:srgbClr val="17C9E8">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1" name="Text 30"/>
          <p:cNvSpPr/>
          <p:nvPr/>
        </p:nvSpPr>
        <p:spPr>
          <a:xfrm>
            <a:off x="6784920" y="2514600"/>
            <a:ext cx="3336840" cy="163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39" b="1" u="none" strike="noStrike">
                <a:solidFill>
                  <a:srgbClr val="07111F"/>
                </a:solidFill>
                <a:effectLst/>
                <a:uFillTx/>
                <a:latin typeface="Aptos"/>
              </a:rPr>
              <a:t>Update integrity — proofs, auditing, filtering</a:t>
            </a:r>
            <a:endParaRPr lang="en-US" sz="939" b="0" u="none" strike="noStrike">
              <a:solidFill>
                <a:srgbClr val="FFFFFF"/>
              </a:solidFill>
              <a:effectLst/>
              <a:uFillTx/>
              <a:latin typeface="Arial"/>
            </a:endParaRPr>
          </a:p>
        </p:txBody>
      </p:sp>
      <p:sp>
        <p:nvSpPr>
          <p:cNvPr id="152" name="Shape 31"/>
          <p:cNvSpPr/>
          <p:nvPr/>
        </p:nvSpPr>
        <p:spPr>
          <a:xfrm>
            <a:off x="6583680" y="3209400"/>
            <a:ext cx="3794040" cy="511200"/>
          </a:xfrm>
          <a:prstGeom prst="chevron">
            <a:avLst>
              <a:gd name="adj" fmla="val 50000"/>
            </a:avLst>
          </a:prstGeom>
          <a:solidFill>
            <a:srgbClr val="F4C542">
              <a:alpha val="90000"/>
            </a:srgbClr>
          </a:solidFill>
          <a:ln w="12700">
            <a:solidFill>
              <a:srgbClr val="F4C542">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3" name="Text 32"/>
          <p:cNvSpPr/>
          <p:nvPr/>
        </p:nvSpPr>
        <p:spPr>
          <a:xfrm>
            <a:off x="6784920" y="3319200"/>
            <a:ext cx="3336840" cy="163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39" b="1" u="none" strike="noStrike">
                <a:solidFill>
                  <a:srgbClr val="07111F"/>
                </a:solidFill>
                <a:effectLst/>
                <a:uFillTx/>
                <a:latin typeface="Aptos"/>
              </a:rPr>
              <a:t>Client participation — free-rider detection</a:t>
            </a:r>
            <a:endParaRPr lang="en-US" sz="939" b="0" u="none" strike="noStrike">
              <a:solidFill>
                <a:srgbClr val="FFFFFF"/>
              </a:solidFill>
              <a:effectLst/>
              <a:uFillTx/>
              <a:latin typeface="Arial"/>
            </a:endParaRPr>
          </a:p>
        </p:txBody>
      </p:sp>
      <p:sp>
        <p:nvSpPr>
          <p:cNvPr id="154" name="Shape 33"/>
          <p:cNvSpPr/>
          <p:nvPr/>
        </p:nvSpPr>
        <p:spPr>
          <a:xfrm>
            <a:off x="6583680" y="4014360"/>
            <a:ext cx="3794040" cy="511200"/>
          </a:xfrm>
          <a:prstGeom prst="chevron">
            <a:avLst>
              <a:gd name="adj" fmla="val 50000"/>
            </a:avLst>
          </a:prstGeom>
          <a:solidFill>
            <a:srgbClr val="48D597">
              <a:alpha val="90000"/>
            </a:srgbClr>
          </a:solidFill>
          <a:ln w="12700">
            <a:solidFill>
              <a:srgbClr val="48D597">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5" name="Text 34"/>
          <p:cNvSpPr/>
          <p:nvPr/>
        </p:nvSpPr>
        <p:spPr>
          <a:xfrm>
            <a:off x="6784920" y="4123800"/>
            <a:ext cx="3336840" cy="16380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39" b="1" u="none" strike="noStrike">
                <a:solidFill>
                  <a:srgbClr val="07111F"/>
                </a:solidFill>
                <a:effectLst/>
                <a:uFillTx/>
                <a:latin typeface="Aptos"/>
              </a:rPr>
              <a:t>Human interpretation — dashboard + LLM notes</a:t>
            </a:r>
            <a:endParaRPr lang="en-US" sz="939" b="0" u="none" strike="noStrike">
              <a:solidFill>
                <a:srgbClr val="FFFFFF"/>
              </a:solidFill>
              <a:effectLst/>
              <a:uFillTx/>
              <a:latin typeface="Arial"/>
            </a:endParaRPr>
          </a:p>
        </p:txBody>
      </p:sp>
      <p:sp>
        <p:nvSpPr>
          <p:cNvPr id="156" name="Text 35"/>
          <p:cNvSpPr/>
          <p:nvPr/>
        </p:nvSpPr>
        <p:spPr>
          <a:xfrm>
            <a:off x="6583680" y="4983480"/>
            <a:ext cx="3885480" cy="502200"/>
          </a:xfrm>
          <a:prstGeom prst="rect">
            <a:avLst/>
          </a:prstGeom>
          <a:noFill/>
          <a:ln w="0">
            <a:noFill/>
          </a:ln>
        </p:spPr>
        <p:style>
          <a:lnRef idx="0"/>
          <a:fillRef idx="0"/>
          <a:effectRef idx="0"/>
          <a:fontRef idx="minor"/>
        </p:style>
        <p:txBody>
          <a:bodyPr lIns="360" tIns="360" rIns="360" bIns="360" anchor="ctr">
            <a:normAutofit fontScale="92500" lnSpcReduction="9999"/>
          </a:bodyPr>
          <a:p>
            <a:pPr defTabSz="914400">
              <a:lnSpc>
                <a:spcPct val="100000"/>
              </a:lnSpc>
              <a:tabLst>
                <a:tab pos="0" algn="l"/>
              </a:tabLst>
            </a:pPr>
            <a:r>
              <a:rPr lang="en-US" sz="1250" b="1" u="none" strike="noStrike">
                <a:solidFill>
                  <a:srgbClr val="F8FAFC"/>
                </a:solidFill>
                <a:effectLst/>
                <a:uFillTx/>
                <a:latin typeface="Aptos"/>
              </a:rPr>
              <a:t>PRIVATE SHIELD aims to combine these layers instead of treating them as separate research tracks.</a:t>
            </a:r>
            <a:endParaRPr lang="en-US" sz="12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157" name="Shape 0"/>
          <p:cNvSpPr/>
          <p:nvPr/>
        </p:nvSpPr>
        <p:spPr>
          <a:xfrm>
            <a:off x="0" y="0"/>
            <a:ext cx="12191040" cy="6857280"/>
          </a:xfrm>
          <a:prstGeom prst="rect">
            <a:avLst/>
          </a:prstGeom>
          <a:solidFill>
            <a:srgbClr val="0B1020"/>
          </a:solidFill>
          <a:ln w="12700">
            <a:solidFill>
              <a:srgbClr val="0B1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8"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9"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160" name="Text 3"/>
          <p:cNvSpPr/>
          <p:nvPr/>
        </p:nvSpPr>
        <p:spPr>
          <a:xfrm>
            <a:off x="502920" y="329040"/>
            <a:ext cx="9966240" cy="410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F8FAFC"/>
                </a:solidFill>
                <a:effectLst/>
                <a:uFillTx/>
                <a:latin typeface="Aptos Display"/>
                <a:ea typeface="Aptos Display"/>
              </a:rPr>
              <a:t>Major Problems in Existing Research</a:t>
            </a:r>
            <a:endParaRPr lang="en-US" sz="2600" b="0" u="none" strike="noStrike">
              <a:solidFill>
                <a:srgbClr val="FFFFFF"/>
              </a:solidFill>
              <a:effectLst/>
              <a:uFillTx/>
              <a:latin typeface="Arial"/>
            </a:endParaRPr>
          </a:p>
        </p:txBody>
      </p:sp>
      <p:sp>
        <p:nvSpPr>
          <p:cNvPr id="161" name="Shape 4"/>
          <p:cNvSpPr/>
          <p:nvPr/>
        </p:nvSpPr>
        <p:spPr>
          <a:xfrm>
            <a:off x="502920" y="831960"/>
            <a:ext cx="1325160" cy="36000"/>
          </a:xfrm>
          <a:prstGeom prst="rect">
            <a:avLst/>
          </a:prstGeom>
          <a:solidFill>
            <a:srgbClr val="17C9E8"/>
          </a:solidFill>
          <a:ln w="12700">
            <a:solidFill>
              <a:srgbClr val="17C9E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162" name="Text 5"/>
          <p:cNvSpPr/>
          <p:nvPr/>
        </p:nvSpPr>
        <p:spPr>
          <a:xfrm>
            <a:off x="1938600" y="768240"/>
            <a:ext cx="7131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3C7"/>
                </a:solidFill>
                <a:effectLst/>
                <a:uFillTx/>
                <a:latin typeface="Aptos"/>
              </a:rPr>
              <a:t>Supported problems identified from the literature review</a:t>
            </a:r>
            <a:endParaRPr lang="en-US" sz="950" b="0" u="none" strike="noStrike">
              <a:solidFill>
                <a:srgbClr val="FFFFFF"/>
              </a:solidFill>
              <a:effectLst/>
              <a:uFillTx/>
              <a:latin typeface="Arial"/>
            </a:endParaRPr>
          </a:p>
        </p:txBody>
      </p:sp>
      <p:sp>
        <p:nvSpPr>
          <p:cNvPr id="163" name="Shape 6"/>
          <p:cNvSpPr/>
          <p:nvPr/>
        </p:nvSpPr>
        <p:spPr>
          <a:xfrm>
            <a:off x="621720" y="1115640"/>
            <a:ext cx="5165640" cy="913680"/>
          </a:xfrm>
          <a:prstGeom prst="roundRect">
            <a:avLst>
              <a:gd name="adj" fmla="val 8000"/>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4" name="Shape 7"/>
          <p:cNvSpPr/>
          <p:nvPr/>
        </p:nvSpPr>
        <p:spPr>
          <a:xfrm>
            <a:off x="786240" y="1271160"/>
            <a:ext cx="474840" cy="474840"/>
          </a:xfrm>
          <a:prstGeom prst="roundRect">
            <a:avLst>
              <a:gd name="adj" fmla="val 9615"/>
            </a:avLst>
          </a:prstGeom>
          <a:solidFill>
            <a:srgbClr val="A78BFA">
              <a:alpha val="90000"/>
            </a:srgbClr>
          </a:solidFill>
          <a:ln w="12700">
            <a:solidFill>
              <a:srgbClr val="A78BFA">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5" name="Text 8"/>
          <p:cNvSpPr/>
          <p:nvPr/>
        </p:nvSpPr>
        <p:spPr>
          <a:xfrm>
            <a:off x="841320" y="133488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1</a:t>
            </a:r>
            <a:endParaRPr lang="en-US" sz="1600" b="0" u="none" strike="noStrike">
              <a:solidFill>
                <a:srgbClr val="FFFFFF"/>
              </a:solidFill>
              <a:effectLst/>
              <a:uFillTx/>
              <a:latin typeface="Arial"/>
            </a:endParaRPr>
          </a:p>
        </p:txBody>
      </p:sp>
      <p:sp>
        <p:nvSpPr>
          <p:cNvPr id="166" name="Text 9"/>
          <p:cNvSpPr/>
          <p:nvPr/>
        </p:nvSpPr>
        <p:spPr>
          <a:xfrm>
            <a:off x="1389960" y="1261800"/>
            <a:ext cx="423288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High privacy cost</a:t>
            </a:r>
            <a:endParaRPr lang="en-US" sz="1350" b="0" u="none" strike="noStrike">
              <a:solidFill>
                <a:srgbClr val="FFFFFF"/>
              </a:solidFill>
              <a:effectLst/>
              <a:uFillTx/>
              <a:latin typeface="Arial"/>
            </a:endParaRPr>
          </a:p>
        </p:txBody>
      </p:sp>
      <p:sp>
        <p:nvSpPr>
          <p:cNvPr id="167" name="Text 10"/>
          <p:cNvSpPr/>
          <p:nvPr/>
        </p:nvSpPr>
        <p:spPr>
          <a:xfrm>
            <a:off x="1389960" y="1572840"/>
            <a:ext cx="4232880" cy="3193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030" b="0" u="none" strike="noStrike">
                <a:solidFill>
                  <a:srgbClr val="A8B3C7"/>
                </a:solidFill>
                <a:effectLst/>
                <a:uFillTx/>
                <a:latin typeface="Aptos"/>
              </a:rPr>
              <a:t>Secure aggregation, proof systems, or complex crypto can be heavy for small IoT nodes [7], [10].</a:t>
            </a:r>
            <a:endParaRPr lang="en-US" sz="1030" b="0" u="none" strike="noStrike">
              <a:solidFill>
                <a:srgbClr val="FFFFFF"/>
              </a:solidFill>
              <a:effectLst/>
              <a:uFillTx/>
              <a:latin typeface="Arial"/>
            </a:endParaRPr>
          </a:p>
        </p:txBody>
      </p:sp>
      <p:sp>
        <p:nvSpPr>
          <p:cNvPr id="168" name="Shape 11"/>
          <p:cNvSpPr/>
          <p:nvPr/>
        </p:nvSpPr>
        <p:spPr>
          <a:xfrm>
            <a:off x="6245280" y="1115640"/>
            <a:ext cx="5165640" cy="913680"/>
          </a:xfrm>
          <a:prstGeom prst="roundRect">
            <a:avLst>
              <a:gd name="adj" fmla="val 8000"/>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9" name="Shape 12"/>
          <p:cNvSpPr/>
          <p:nvPr/>
        </p:nvSpPr>
        <p:spPr>
          <a:xfrm>
            <a:off x="6409800" y="1271160"/>
            <a:ext cx="474840" cy="474840"/>
          </a:xfrm>
          <a:prstGeom prst="roundRect">
            <a:avLst>
              <a:gd name="adj" fmla="val 9615"/>
            </a:avLst>
          </a:prstGeom>
          <a:solidFill>
            <a:srgbClr val="17C9E8">
              <a:alpha val="90000"/>
            </a:srgbClr>
          </a:solidFill>
          <a:ln w="12700">
            <a:solidFill>
              <a:srgbClr val="17C9E8">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0" name="Text 13"/>
          <p:cNvSpPr/>
          <p:nvPr/>
        </p:nvSpPr>
        <p:spPr>
          <a:xfrm>
            <a:off x="6464880" y="133488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2</a:t>
            </a:r>
            <a:endParaRPr lang="en-US" sz="1600" b="0" u="none" strike="noStrike">
              <a:solidFill>
                <a:srgbClr val="FFFFFF"/>
              </a:solidFill>
              <a:effectLst/>
              <a:uFillTx/>
              <a:latin typeface="Arial"/>
            </a:endParaRPr>
          </a:p>
        </p:txBody>
      </p:sp>
      <p:sp>
        <p:nvSpPr>
          <p:cNvPr id="171" name="Text 14"/>
          <p:cNvSpPr/>
          <p:nvPr/>
        </p:nvSpPr>
        <p:spPr>
          <a:xfrm>
            <a:off x="7013520" y="1261800"/>
            <a:ext cx="423288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Non-IID + imbalance</a:t>
            </a:r>
            <a:endParaRPr lang="en-US" sz="1350" b="0" u="none" strike="noStrike">
              <a:solidFill>
                <a:srgbClr val="FFFFFF"/>
              </a:solidFill>
              <a:effectLst/>
              <a:uFillTx/>
              <a:latin typeface="Arial"/>
            </a:endParaRPr>
          </a:p>
        </p:txBody>
      </p:sp>
      <p:sp>
        <p:nvSpPr>
          <p:cNvPr id="172" name="Text 15"/>
          <p:cNvSpPr/>
          <p:nvPr/>
        </p:nvSpPr>
        <p:spPr>
          <a:xfrm>
            <a:off x="7013520" y="1572840"/>
            <a:ext cx="4232880" cy="3193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030" b="0" u="none" strike="noStrike">
                <a:solidFill>
                  <a:srgbClr val="A8B3C7"/>
                </a:solidFill>
                <a:effectLst/>
                <a:uFillTx/>
                <a:latin typeface="Aptos"/>
              </a:rPr>
              <a:t>IoT traffic differs across devices, reducing standard FL convergence and minority attack detection [2], [4], [6].</a:t>
            </a:r>
            <a:endParaRPr lang="en-US" sz="1030" b="0" u="none" strike="noStrike">
              <a:solidFill>
                <a:srgbClr val="FFFFFF"/>
              </a:solidFill>
              <a:effectLst/>
              <a:uFillTx/>
              <a:latin typeface="Arial"/>
            </a:endParaRPr>
          </a:p>
        </p:txBody>
      </p:sp>
      <p:sp>
        <p:nvSpPr>
          <p:cNvPr id="173" name="Shape 16"/>
          <p:cNvSpPr/>
          <p:nvPr/>
        </p:nvSpPr>
        <p:spPr>
          <a:xfrm>
            <a:off x="621720" y="2468880"/>
            <a:ext cx="5165640" cy="913680"/>
          </a:xfrm>
          <a:prstGeom prst="roundRect">
            <a:avLst>
              <a:gd name="adj" fmla="val 8000"/>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4" name="Shape 17"/>
          <p:cNvSpPr/>
          <p:nvPr/>
        </p:nvSpPr>
        <p:spPr>
          <a:xfrm>
            <a:off x="786240" y="2624400"/>
            <a:ext cx="474840" cy="474840"/>
          </a:xfrm>
          <a:prstGeom prst="roundRect">
            <a:avLst>
              <a:gd name="adj" fmla="val 9615"/>
            </a:avLst>
          </a:prstGeom>
          <a:solidFill>
            <a:srgbClr val="48D597">
              <a:alpha val="90000"/>
            </a:srgbClr>
          </a:solidFill>
          <a:ln w="12700">
            <a:solidFill>
              <a:srgbClr val="48D597">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5" name="Text 18"/>
          <p:cNvSpPr/>
          <p:nvPr/>
        </p:nvSpPr>
        <p:spPr>
          <a:xfrm>
            <a:off x="841320" y="268848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3</a:t>
            </a:r>
            <a:endParaRPr lang="en-US" sz="1600" b="0" u="none" strike="noStrike">
              <a:solidFill>
                <a:srgbClr val="FFFFFF"/>
              </a:solidFill>
              <a:effectLst/>
              <a:uFillTx/>
              <a:latin typeface="Arial"/>
            </a:endParaRPr>
          </a:p>
        </p:txBody>
      </p:sp>
      <p:sp>
        <p:nvSpPr>
          <p:cNvPr id="176" name="Text 19"/>
          <p:cNvSpPr/>
          <p:nvPr/>
        </p:nvSpPr>
        <p:spPr>
          <a:xfrm>
            <a:off x="1389960" y="2615040"/>
            <a:ext cx="423288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Gradient privacy leakage</a:t>
            </a:r>
            <a:endParaRPr lang="en-US" sz="1350" b="0" u="none" strike="noStrike">
              <a:solidFill>
                <a:srgbClr val="FFFFFF"/>
              </a:solidFill>
              <a:effectLst/>
              <a:uFillTx/>
              <a:latin typeface="Arial"/>
            </a:endParaRPr>
          </a:p>
        </p:txBody>
      </p:sp>
      <p:sp>
        <p:nvSpPr>
          <p:cNvPr id="177" name="Text 20"/>
          <p:cNvSpPr/>
          <p:nvPr/>
        </p:nvSpPr>
        <p:spPr>
          <a:xfrm>
            <a:off x="1389960" y="2926080"/>
            <a:ext cx="4232880" cy="3193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030" b="0" u="none" strike="noStrike">
                <a:solidFill>
                  <a:srgbClr val="A8B3C7"/>
                </a:solidFill>
                <a:effectLst/>
                <a:uFillTx/>
                <a:latin typeface="Aptos"/>
              </a:rPr>
              <a:t>FL reduces raw-data sharing, but model updates can still expose private information [7], [8], [10].</a:t>
            </a:r>
            <a:endParaRPr lang="en-US" sz="1030" b="0" u="none" strike="noStrike">
              <a:solidFill>
                <a:srgbClr val="FFFFFF"/>
              </a:solidFill>
              <a:effectLst/>
              <a:uFillTx/>
              <a:latin typeface="Arial"/>
            </a:endParaRPr>
          </a:p>
        </p:txBody>
      </p:sp>
      <p:sp>
        <p:nvSpPr>
          <p:cNvPr id="178" name="Shape 21"/>
          <p:cNvSpPr/>
          <p:nvPr/>
        </p:nvSpPr>
        <p:spPr>
          <a:xfrm>
            <a:off x="6245280" y="2468880"/>
            <a:ext cx="5165640" cy="913680"/>
          </a:xfrm>
          <a:prstGeom prst="roundRect">
            <a:avLst>
              <a:gd name="adj" fmla="val 8000"/>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9" name="Shape 22"/>
          <p:cNvSpPr/>
          <p:nvPr/>
        </p:nvSpPr>
        <p:spPr>
          <a:xfrm>
            <a:off x="6409800" y="2624400"/>
            <a:ext cx="474840" cy="474840"/>
          </a:xfrm>
          <a:prstGeom prst="roundRect">
            <a:avLst>
              <a:gd name="adj" fmla="val 9615"/>
            </a:avLst>
          </a:prstGeom>
          <a:solidFill>
            <a:srgbClr val="FF6B6B">
              <a:alpha val="90000"/>
            </a:srgbClr>
          </a:solidFill>
          <a:ln w="12700">
            <a:solidFill>
              <a:srgbClr val="FF6B6B">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0" name="Text 23"/>
          <p:cNvSpPr/>
          <p:nvPr/>
        </p:nvSpPr>
        <p:spPr>
          <a:xfrm>
            <a:off x="6464880" y="268848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4</a:t>
            </a:r>
            <a:endParaRPr lang="en-US" sz="1600" b="0" u="none" strike="noStrike">
              <a:solidFill>
                <a:srgbClr val="FFFFFF"/>
              </a:solidFill>
              <a:effectLst/>
              <a:uFillTx/>
              <a:latin typeface="Arial"/>
            </a:endParaRPr>
          </a:p>
        </p:txBody>
      </p:sp>
      <p:sp>
        <p:nvSpPr>
          <p:cNvPr id="181" name="Text 24"/>
          <p:cNvSpPr/>
          <p:nvPr/>
        </p:nvSpPr>
        <p:spPr>
          <a:xfrm>
            <a:off x="7013520" y="2615040"/>
            <a:ext cx="423288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Poisoned updates</a:t>
            </a:r>
            <a:endParaRPr lang="en-US" sz="1350" b="0" u="none" strike="noStrike">
              <a:solidFill>
                <a:srgbClr val="FFFFFF"/>
              </a:solidFill>
              <a:effectLst/>
              <a:uFillTx/>
              <a:latin typeface="Arial"/>
            </a:endParaRPr>
          </a:p>
        </p:txBody>
      </p:sp>
      <p:sp>
        <p:nvSpPr>
          <p:cNvPr id="182" name="Text 25"/>
          <p:cNvSpPr/>
          <p:nvPr/>
        </p:nvSpPr>
        <p:spPr>
          <a:xfrm>
            <a:off x="7013520" y="2926080"/>
            <a:ext cx="4232880" cy="3193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030" b="0" u="none" strike="noStrike">
                <a:solidFill>
                  <a:srgbClr val="A8B3C7"/>
                </a:solidFill>
                <a:effectLst/>
                <a:uFillTx/>
                <a:latin typeface="Aptos"/>
              </a:rPr>
              <a:t>Malicious clients can corrupt global models through harmful gradients or parameters [7], [9], [10].</a:t>
            </a:r>
            <a:endParaRPr lang="en-US" sz="1030" b="0" u="none" strike="noStrike">
              <a:solidFill>
                <a:srgbClr val="FFFFFF"/>
              </a:solidFill>
              <a:effectLst/>
              <a:uFillTx/>
              <a:latin typeface="Arial"/>
            </a:endParaRPr>
          </a:p>
        </p:txBody>
      </p:sp>
      <p:sp>
        <p:nvSpPr>
          <p:cNvPr id="183" name="Shape 26"/>
          <p:cNvSpPr/>
          <p:nvPr/>
        </p:nvSpPr>
        <p:spPr>
          <a:xfrm>
            <a:off x="621720" y="3822120"/>
            <a:ext cx="5165640" cy="913680"/>
          </a:xfrm>
          <a:prstGeom prst="roundRect">
            <a:avLst>
              <a:gd name="adj" fmla="val 8000"/>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4" name="Shape 27"/>
          <p:cNvSpPr/>
          <p:nvPr/>
        </p:nvSpPr>
        <p:spPr>
          <a:xfrm>
            <a:off x="786240" y="3977640"/>
            <a:ext cx="474840" cy="474840"/>
          </a:xfrm>
          <a:prstGeom prst="roundRect">
            <a:avLst>
              <a:gd name="adj" fmla="val 9615"/>
            </a:avLst>
          </a:prstGeom>
          <a:solidFill>
            <a:srgbClr val="F4C542">
              <a:alpha val="90000"/>
            </a:srgbClr>
          </a:solidFill>
          <a:ln w="12700">
            <a:solidFill>
              <a:srgbClr val="F4C542">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5" name="Text 28"/>
          <p:cNvSpPr/>
          <p:nvPr/>
        </p:nvSpPr>
        <p:spPr>
          <a:xfrm>
            <a:off x="841320" y="404172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5</a:t>
            </a:r>
            <a:endParaRPr lang="en-US" sz="1600" b="0" u="none" strike="noStrike">
              <a:solidFill>
                <a:srgbClr val="FFFFFF"/>
              </a:solidFill>
              <a:effectLst/>
              <a:uFillTx/>
              <a:latin typeface="Arial"/>
            </a:endParaRPr>
          </a:p>
        </p:txBody>
      </p:sp>
      <p:sp>
        <p:nvSpPr>
          <p:cNvPr id="186" name="Text 29"/>
          <p:cNvSpPr/>
          <p:nvPr/>
        </p:nvSpPr>
        <p:spPr>
          <a:xfrm>
            <a:off x="1389960" y="3968640"/>
            <a:ext cx="423288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Free-rider behavior</a:t>
            </a:r>
            <a:endParaRPr lang="en-US" sz="1350" b="0" u="none" strike="noStrike">
              <a:solidFill>
                <a:srgbClr val="FFFFFF"/>
              </a:solidFill>
              <a:effectLst/>
              <a:uFillTx/>
              <a:latin typeface="Arial"/>
            </a:endParaRPr>
          </a:p>
        </p:txBody>
      </p:sp>
      <p:sp>
        <p:nvSpPr>
          <p:cNvPr id="187" name="Text 30"/>
          <p:cNvSpPr/>
          <p:nvPr/>
        </p:nvSpPr>
        <p:spPr>
          <a:xfrm>
            <a:off x="1389960" y="4279320"/>
            <a:ext cx="4232880" cy="3193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030" b="0" u="none" strike="noStrike">
                <a:solidFill>
                  <a:srgbClr val="A8B3C7"/>
                </a:solidFill>
                <a:effectLst/>
                <a:uFillTx/>
                <a:latin typeface="Aptos"/>
              </a:rPr>
              <a:t>Clients can benefit from global learning without contributing reliable updates [11], [12].</a:t>
            </a:r>
            <a:endParaRPr lang="en-US" sz="1030" b="0" u="none" strike="noStrike">
              <a:solidFill>
                <a:srgbClr val="FFFFFF"/>
              </a:solidFill>
              <a:effectLst/>
              <a:uFillTx/>
              <a:latin typeface="Arial"/>
            </a:endParaRPr>
          </a:p>
        </p:txBody>
      </p:sp>
      <p:sp>
        <p:nvSpPr>
          <p:cNvPr id="188" name="Shape 31"/>
          <p:cNvSpPr/>
          <p:nvPr/>
        </p:nvSpPr>
        <p:spPr>
          <a:xfrm>
            <a:off x="6245280" y="3822120"/>
            <a:ext cx="5165640" cy="913680"/>
          </a:xfrm>
          <a:prstGeom prst="roundRect">
            <a:avLst>
              <a:gd name="adj" fmla="val 8000"/>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9" name="Shape 32"/>
          <p:cNvSpPr/>
          <p:nvPr/>
        </p:nvSpPr>
        <p:spPr>
          <a:xfrm>
            <a:off x="6409800" y="3977640"/>
            <a:ext cx="474840" cy="474840"/>
          </a:xfrm>
          <a:prstGeom prst="roundRect">
            <a:avLst>
              <a:gd name="adj" fmla="val 9615"/>
            </a:avLst>
          </a:prstGeom>
          <a:solidFill>
            <a:srgbClr val="3B82F6">
              <a:alpha val="90000"/>
            </a:srgbClr>
          </a:solidFill>
          <a:ln w="12700">
            <a:solidFill>
              <a:srgbClr val="3B82F6">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Text 33"/>
          <p:cNvSpPr/>
          <p:nvPr/>
        </p:nvSpPr>
        <p:spPr>
          <a:xfrm>
            <a:off x="6464880" y="404172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6</a:t>
            </a:r>
            <a:endParaRPr lang="en-US" sz="1600" b="0" u="none" strike="noStrike">
              <a:solidFill>
                <a:srgbClr val="FFFFFF"/>
              </a:solidFill>
              <a:effectLst/>
              <a:uFillTx/>
              <a:latin typeface="Arial"/>
            </a:endParaRPr>
          </a:p>
        </p:txBody>
      </p:sp>
      <p:sp>
        <p:nvSpPr>
          <p:cNvPr id="191" name="Text 34"/>
          <p:cNvSpPr/>
          <p:nvPr/>
        </p:nvSpPr>
        <p:spPr>
          <a:xfrm>
            <a:off x="7013520" y="3968640"/>
            <a:ext cx="423288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Limited SOC explainability</a:t>
            </a:r>
            <a:endParaRPr lang="en-US" sz="1350" b="0" u="none" strike="noStrike">
              <a:solidFill>
                <a:srgbClr val="FFFFFF"/>
              </a:solidFill>
              <a:effectLst/>
              <a:uFillTx/>
              <a:latin typeface="Arial"/>
            </a:endParaRPr>
          </a:p>
        </p:txBody>
      </p:sp>
      <p:sp>
        <p:nvSpPr>
          <p:cNvPr id="192" name="Text 35"/>
          <p:cNvSpPr/>
          <p:nvPr/>
        </p:nvSpPr>
        <p:spPr>
          <a:xfrm>
            <a:off x="7013520" y="4279320"/>
            <a:ext cx="4232880" cy="3193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030" b="0" u="none" strike="noStrike">
                <a:solidFill>
                  <a:srgbClr val="A8B3C7"/>
                </a:solidFill>
                <a:effectLst/>
                <a:uFillTx/>
                <a:latin typeface="Aptos"/>
              </a:rPr>
              <a:t>Most works emphasize algorithmic performance, not human-readable security response workflows.</a:t>
            </a:r>
            <a:endParaRPr lang="en-US" sz="1030" b="0" u="none" strike="noStrike">
              <a:solidFill>
                <a:srgbClr val="FFFFFF"/>
              </a:solidFill>
              <a:effectLst/>
              <a:uFillTx/>
              <a:latin typeface="Arial"/>
            </a:endParaRPr>
          </a:p>
        </p:txBody>
      </p:sp>
      <p:sp>
        <p:nvSpPr>
          <p:cNvPr id="193" name="Text 36"/>
          <p:cNvSpPr/>
          <p:nvPr/>
        </p:nvSpPr>
        <p:spPr>
          <a:xfrm>
            <a:off x="914400" y="5440680"/>
            <a:ext cx="10332000" cy="383400"/>
          </a:xfrm>
          <a:prstGeom prst="rect">
            <a:avLst/>
          </a:prstGeom>
          <a:noFill/>
          <a:ln w="0">
            <a:noFill/>
          </a:ln>
        </p:spPr>
        <p:style>
          <a:lnRef idx="0"/>
          <a:fillRef idx="0"/>
          <a:effectRef idx="0"/>
          <a:fontRef idx="minor"/>
        </p:style>
        <p:txBody>
          <a:bodyPr lIns="0" tIns="0" rIns="0" bIns="0" anchor="ctr">
            <a:normAutofit lnSpcReduction="9999"/>
          </a:bodyPr>
          <a:p>
            <a:pPr algn="ctr" defTabSz="914400">
              <a:lnSpc>
                <a:spcPct val="100000"/>
              </a:lnSpc>
              <a:tabLst>
                <a:tab pos="0" algn="l"/>
              </a:tabLst>
            </a:pPr>
            <a:r>
              <a:rPr lang="en-US" sz="1350" b="1" u="none" strike="noStrike">
                <a:solidFill>
                  <a:srgbClr val="F8FAFC"/>
                </a:solidFill>
                <a:effectLst/>
                <a:uFillTx/>
                <a:latin typeface="Aptos"/>
              </a:rPr>
              <a:t>Observation: no single reviewed approach fully unifies privacy, adversarial robustness, free-rider validation, and SOC-level explanation for constrained IoT IDS.</a:t>
            </a:r>
            <a:endParaRPr lang="en-US" sz="13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194" name="Shape 0"/>
          <p:cNvSpPr/>
          <p:nvPr/>
        </p:nvSpPr>
        <p:spPr>
          <a:xfrm>
            <a:off x="0" y="0"/>
            <a:ext cx="12191040" cy="6857280"/>
          </a:xfrm>
          <a:prstGeom prst="rect">
            <a:avLst/>
          </a:prstGeom>
          <a:solidFill>
            <a:srgbClr val="0B1020"/>
          </a:solidFill>
          <a:ln w="12700">
            <a:solidFill>
              <a:srgbClr val="0B1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5"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6"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197" name="Text 3"/>
          <p:cNvSpPr/>
          <p:nvPr/>
        </p:nvSpPr>
        <p:spPr>
          <a:xfrm>
            <a:off x="502920" y="329040"/>
            <a:ext cx="9966240" cy="410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F8FAFC"/>
                </a:solidFill>
                <a:effectLst/>
                <a:uFillTx/>
                <a:latin typeface="Aptos Display"/>
                <a:ea typeface="Aptos Display"/>
              </a:rPr>
              <a:t>Research Gaps I</a:t>
            </a:r>
            <a:endParaRPr lang="en-US" sz="2600" b="0" u="none" strike="noStrike">
              <a:solidFill>
                <a:srgbClr val="FFFFFF"/>
              </a:solidFill>
              <a:effectLst/>
              <a:uFillTx/>
              <a:latin typeface="Arial"/>
            </a:endParaRPr>
          </a:p>
        </p:txBody>
      </p:sp>
      <p:sp>
        <p:nvSpPr>
          <p:cNvPr id="198" name="Shape 4"/>
          <p:cNvSpPr/>
          <p:nvPr/>
        </p:nvSpPr>
        <p:spPr>
          <a:xfrm>
            <a:off x="502920" y="831960"/>
            <a:ext cx="1325160" cy="36000"/>
          </a:xfrm>
          <a:prstGeom prst="rect">
            <a:avLst/>
          </a:prstGeom>
          <a:solidFill>
            <a:srgbClr val="17C9E8"/>
          </a:solidFill>
          <a:ln w="12700">
            <a:solidFill>
              <a:srgbClr val="17C9E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199" name="Text 5"/>
          <p:cNvSpPr/>
          <p:nvPr/>
        </p:nvSpPr>
        <p:spPr>
          <a:xfrm>
            <a:off x="1938600" y="768240"/>
            <a:ext cx="7131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3C7"/>
                </a:solidFill>
                <a:effectLst/>
                <a:uFillTx/>
                <a:latin typeface="Aptos"/>
              </a:rPr>
              <a:t>From existing research to project response</a:t>
            </a:r>
            <a:endParaRPr lang="en-US" sz="950" b="0" u="none" strike="noStrike">
              <a:solidFill>
                <a:srgbClr val="FFFFFF"/>
              </a:solidFill>
              <a:effectLst/>
              <a:uFillTx/>
              <a:latin typeface="Arial"/>
            </a:endParaRPr>
          </a:p>
        </p:txBody>
      </p:sp>
      <p:sp>
        <p:nvSpPr>
          <p:cNvPr id="200" name="Shape 6"/>
          <p:cNvSpPr/>
          <p:nvPr/>
        </p:nvSpPr>
        <p:spPr>
          <a:xfrm>
            <a:off x="502920" y="1207080"/>
            <a:ext cx="2331000" cy="39240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1" name="Text 7"/>
          <p:cNvSpPr/>
          <p:nvPr/>
        </p:nvSpPr>
        <p:spPr>
          <a:xfrm>
            <a:off x="539640" y="1248120"/>
            <a:ext cx="2257920" cy="310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1" u="none" strike="noStrike">
                <a:solidFill>
                  <a:srgbClr val="07111F"/>
                </a:solidFill>
                <a:effectLst/>
                <a:uFillTx/>
                <a:latin typeface="Aptos"/>
              </a:rPr>
              <a:t>Existing Research</a:t>
            </a:r>
            <a:endParaRPr lang="en-US" sz="850" b="0" u="none" strike="noStrike">
              <a:solidFill>
                <a:srgbClr val="FFFFFF"/>
              </a:solidFill>
              <a:effectLst/>
              <a:uFillTx/>
              <a:latin typeface="Arial"/>
            </a:endParaRPr>
          </a:p>
        </p:txBody>
      </p:sp>
      <p:sp>
        <p:nvSpPr>
          <p:cNvPr id="202" name="Shape 8"/>
          <p:cNvSpPr/>
          <p:nvPr/>
        </p:nvSpPr>
        <p:spPr>
          <a:xfrm>
            <a:off x="2834640" y="1207080"/>
            <a:ext cx="2971080" cy="39240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3" name="Text 9"/>
          <p:cNvSpPr/>
          <p:nvPr/>
        </p:nvSpPr>
        <p:spPr>
          <a:xfrm>
            <a:off x="2871360" y="1248120"/>
            <a:ext cx="2898000" cy="310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1" u="none" strike="noStrike">
                <a:solidFill>
                  <a:srgbClr val="07111F"/>
                </a:solidFill>
                <a:effectLst/>
                <a:uFillTx/>
                <a:latin typeface="Aptos"/>
              </a:rPr>
              <a:t>Identified Gap</a:t>
            </a:r>
            <a:endParaRPr lang="en-US" sz="850" b="0" u="none" strike="noStrike">
              <a:solidFill>
                <a:srgbClr val="FFFFFF"/>
              </a:solidFill>
              <a:effectLst/>
              <a:uFillTx/>
              <a:latin typeface="Arial"/>
            </a:endParaRPr>
          </a:p>
        </p:txBody>
      </p:sp>
      <p:sp>
        <p:nvSpPr>
          <p:cNvPr id="204" name="Shape 10"/>
          <p:cNvSpPr/>
          <p:nvPr/>
        </p:nvSpPr>
        <p:spPr>
          <a:xfrm>
            <a:off x="5806440" y="1207080"/>
            <a:ext cx="2148120" cy="39240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5" name="Text 11"/>
          <p:cNvSpPr/>
          <p:nvPr/>
        </p:nvSpPr>
        <p:spPr>
          <a:xfrm>
            <a:off x="5843160" y="1248120"/>
            <a:ext cx="2075040" cy="310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1" u="none" strike="noStrike">
                <a:solidFill>
                  <a:srgbClr val="07111F"/>
                </a:solidFill>
                <a:effectLst/>
                <a:uFillTx/>
                <a:latin typeface="Aptos"/>
              </a:rPr>
              <a:t>Why It Matters</a:t>
            </a:r>
            <a:endParaRPr lang="en-US" sz="850" b="0" u="none" strike="noStrike">
              <a:solidFill>
                <a:srgbClr val="FFFFFF"/>
              </a:solidFill>
              <a:effectLst/>
              <a:uFillTx/>
              <a:latin typeface="Arial"/>
            </a:endParaRPr>
          </a:p>
        </p:txBody>
      </p:sp>
      <p:sp>
        <p:nvSpPr>
          <p:cNvPr id="206" name="Shape 12"/>
          <p:cNvSpPr/>
          <p:nvPr/>
        </p:nvSpPr>
        <p:spPr>
          <a:xfrm>
            <a:off x="7955280" y="1207080"/>
            <a:ext cx="3720960" cy="39240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7" name="Text 13"/>
          <p:cNvSpPr/>
          <p:nvPr/>
        </p:nvSpPr>
        <p:spPr>
          <a:xfrm>
            <a:off x="7992000" y="1248120"/>
            <a:ext cx="3647880" cy="310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1" u="none" strike="noStrike">
                <a:solidFill>
                  <a:srgbClr val="07111F"/>
                </a:solidFill>
                <a:effectLst/>
                <a:uFillTx/>
                <a:latin typeface="Aptos"/>
              </a:rPr>
              <a:t>PRIVATE SHIELD Response</a:t>
            </a:r>
            <a:endParaRPr lang="en-US" sz="850" b="0" u="none" strike="noStrike">
              <a:solidFill>
                <a:srgbClr val="FFFFFF"/>
              </a:solidFill>
              <a:effectLst/>
              <a:uFillTx/>
              <a:latin typeface="Arial"/>
            </a:endParaRPr>
          </a:p>
        </p:txBody>
      </p:sp>
      <p:sp>
        <p:nvSpPr>
          <p:cNvPr id="208" name="Shape 14"/>
          <p:cNvSpPr/>
          <p:nvPr/>
        </p:nvSpPr>
        <p:spPr>
          <a:xfrm>
            <a:off x="502920" y="1600200"/>
            <a:ext cx="233100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9" name="Text 15"/>
          <p:cNvSpPr/>
          <p:nvPr/>
        </p:nvSpPr>
        <p:spPr>
          <a:xfrm>
            <a:off x="539640" y="1641240"/>
            <a:ext cx="225792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FL IDS reduces raw data transfer [1]–[6]</a:t>
            </a:r>
            <a:endParaRPr lang="en-US" sz="800" b="0" u="none" strike="noStrike">
              <a:solidFill>
                <a:srgbClr val="FFFFFF"/>
              </a:solidFill>
              <a:effectLst/>
              <a:uFillTx/>
              <a:latin typeface="Arial"/>
            </a:endParaRPr>
          </a:p>
        </p:txBody>
      </p:sp>
      <p:sp>
        <p:nvSpPr>
          <p:cNvPr id="210" name="Shape 16"/>
          <p:cNvSpPr/>
          <p:nvPr/>
        </p:nvSpPr>
        <p:spPr>
          <a:xfrm>
            <a:off x="2834640" y="1600200"/>
            <a:ext cx="297108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1" name="Text 17"/>
          <p:cNvSpPr/>
          <p:nvPr/>
        </p:nvSpPr>
        <p:spPr>
          <a:xfrm>
            <a:off x="2871360" y="1641240"/>
            <a:ext cx="289800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No lightweight unified privacy + adversarial-defense layer for constrained IoT</a:t>
            </a:r>
            <a:endParaRPr lang="en-US" sz="800" b="0" u="none" strike="noStrike">
              <a:solidFill>
                <a:srgbClr val="FFFFFF"/>
              </a:solidFill>
              <a:effectLst/>
              <a:uFillTx/>
              <a:latin typeface="Arial"/>
            </a:endParaRPr>
          </a:p>
        </p:txBody>
      </p:sp>
      <p:sp>
        <p:nvSpPr>
          <p:cNvPr id="212" name="Shape 18"/>
          <p:cNvSpPr/>
          <p:nvPr/>
        </p:nvSpPr>
        <p:spPr>
          <a:xfrm>
            <a:off x="5806440" y="1600200"/>
            <a:ext cx="214812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3" name="Text 19"/>
          <p:cNvSpPr/>
          <p:nvPr/>
        </p:nvSpPr>
        <p:spPr>
          <a:xfrm>
            <a:off x="5843160" y="1641240"/>
            <a:ext cx="207504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IoT nodes have limited CPU, memory and energy</a:t>
            </a:r>
            <a:endParaRPr lang="en-US" sz="800" b="0" u="none" strike="noStrike">
              <a:solidFill>
                <a:srgbClr val="FFFFFF"/>
              </a:solidFill>
              <a:effectLst/>
              <a:uFillTx/>
              <a:latin typeface="Arial"/>
            </a:endParaRPr>
          </a:p>
        </p:txBody>
      </p:sp>
      <p:sp>
        <p:nvSpPr>
          <p:cNvPr id="214" name="Shape 20"/>
          <p:cNvSpPr/>
          <p:nvPr/>
        </p:nvSpPr>
        <p:spPr>
          <a:xfrm>
            <a:off x="7955280" y="1600200"/>
            <a:ext cx="372096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5" name="Text 21"/>
          <p:cNvSpPr/>
          <p:nvPr/>
        </p:nvSpPr>
        <p:spPr>
          <a:xfrm>
            <a:off x="7992000" y="1641240"/>
            <a:ext cx="364788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Use FedAvg + Opacus DP + gradient clipping + Euclidean update filtering</a:t>
            </a:r>
            <a:endParaRPr lang="en-US" sz="800" b="0" u="none" strike="noStrike">
              <a:solidFill>
                <a:srgbClr val="FFFFFF"/>
              </a:solidFill>
              <a:effectLst/>
              <a:uFillTx/>
              <a:latin typeface="Arial"/>
            </a:endParaRPr>
          </a:p>
        </p:txBody>
      </p:sp>
      <p:sp>
        <p:nvSpPr>
          <p:cNvPr id="216" name="Shape 22"/>
          <p:cNvSpPr/>
          <p:nvPr/>
        </p:nvSpPr>
        <p:spPr>
          <a:xfrm>
            <a:off x="502920" y="2834640"/>
            <a:ext cx="2331000" cy="123372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7" name="Text 23"/>
          <p:cNvSpPr/>
          <p:nvPr/>
        </p:nvSpPr>
        <p:spPr>
          <a:xfrm>
            <a:off x="539640" y="2875680"/>
            <a:ext cx="225792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Privacy methods use DP, secure aggregation, or proofs [7], [8], [10]</a:t>
            </a:r>
            <a:endParaRPr lang="en-US" sz="800" b="0" u="none" strike="noStrike">
              <a:solidFill>
                <a:srgbClr val="FFFFFF"/>
              </a:solidFill>
              <a:effectLst/>
              <a:uFillTx/>
              <a:latin typeface="Arial"/>
            </a:endParaRPr>
          </a:p>
        </p:txBody>
      </p:sp>
      <p:sp>
        <p:nvSpPr>
          <p:cNvPr id="218" name="Shape 24"/>
          <p:cNvSpPr/>
          <p:nvPr/>
        </p:nvSpPr>
        <p:spPr>
          <a:xfrm>
            <a:off x="2834640" y="2834640"/>
            <a:ext cx="2971080" cy="123372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9" name="Text 25"/>
          <p:cNvSpPr/>
          <p:nvPr/>
        </p:nvSpPr>
        <p:spPr>
          <a:xfrm>
            <a:off x="2871360" y="2875680"/>
            <a:ext cx="289800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Privacy and poisoning defense are often treated separately</a:t>
            </a:r>
            <a:endParaRPr lang="en-US" sz="800" b="0" u="none" strike="noStrike">
              <a:solidFill>
                <a:srgbClr val="FFFFFF"/>
              </a:solidFill>
              <a:effectLst/>
              <a:uFillTx/>
              <a:latin typeface="Arial"/>
            </a:endParaRPr>
          </a:p>
        </p:txBody>
      </p:sp>
      <p:sp>
        <p:nvSpPr>
          <p:cNvPr id="220" name="Shape 26"/>
          <p:cNvSpPr/>
          <p:nvPr/>
        </p:nvSpPr>
        <p:spPr>
          <a:xfrm>
            <a:off x="5806440" y="2834640"/>
            <a:ext cx="2148120" cy="123372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1" name="Text 27"/>
          <p:cNvSpPr/>
          <p:nvPr/>
        </p:nvSpPr>
        <p:spPr>
          <a:xfrm>
            <a:off x="5843160" y="2875680"/>
            <a:ext cx="207504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A private but poisoned model is still unsafe</a:t>
            </a:r>
            <a:endParaRPr lang="en-US" sz="800" b="0" u="none" strike="noStrike">
              <a:solidFill>
                <a:srgbClr val="FFFFFF"/>
              </a:solidFill>
              <a:effectLst/>
              <a:uFillTx/>
              <a:latin typeface="Arial"/>
            </a:endParaRPr>
          </a:p>
        </p:txBody>
      </p:sp>
      <p:sp>
        <p:nvSpPr>
          <p:cNvPr id="222" name="Shape 28"/>
          <p:cNvSpPr/>
          <p:nvPr/>
        </p:nvSpPr>
        <p:spPr>
          <a:xfrm>
            <a:off x="7955280" y="2834640"/>
            <a:ext cx="3720960" cy="123372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3" name="Text 29"/>
          <p:cNvSpPr/>
          <p:nvPr/>
        </p:nvSpPr>
        <p:spPr>
          <a:xfrm>
            <a:off x="7992000" y="2875680"/>
            <a:ext cx="364788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Combine DP noise with suspicious-update validation before aggregation</a:t>
            </a:r>
            <a:endParaRPr lang="en-US" sz="800" b="0" u="none" strike="noStrike">
              <a:solidFill>
                <a:srgbClr val="FFFFFF"/>
              </a:solidFill>
              <a:effectLst/>
              <a:uFillTx/>
              <a:latin typeface="Arial"/>
            </a:endParaRPr>
          </a:p>
        </p:txBody>
      </p:sp>
      <p:sp>
        <p:nvSpPr>
          <p:cNvPr id="224" name="Shape 30"/>
          <p:cNvSpPr/>
          <p:nvPr/>
        </p:nvSpPr>
        <p:spPr>
          <a:xfrm>
            <a:off x="502920" y="4069080"/>
            <a:ext cx="233100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5" name="Text 31"/>
          <p:cNvSpPr/>
          <p:nvPr/>
        </p:nvSpPr>
        <p:spPr>
          <a:xfrm>
            <a:off x="539640" y="4110120"/>
            <a:ext cx="225792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Non-IID solutions use clustering, personalization or KD [2]–[6]</a:t>
            </a:r>
            <a:endParaRPr lang="en-US" sz="800" b="0" u="none" strike="noStrike">
              <a:solidFill>
                <a:srgbClr val="FFFFFF"/>
              </a:solidFill>
              <a:effectLst/>
              <a:uFillTx/>
              <a:latin typeface="Arial"/>
            </a:endParaRPr>
          </a:p>
        </p:txBody>
      </p:sp>
      <p:sp>
        <p:nvSpPr>
          <p:cNvPr id="226" name="Shape 32"/>
          <p:cNvSpPr/>
          <p:nvPr/>
        </p:nvSpPr>
        <p:spPr>
          <a:xfrm>
            <a:off x="2834640" y="4069080"/>
            <a:ext cx="297108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7" name="Text 33"/>
          <p:cNvSpPr/>
          <p:nvPr/>
        </p:nvSpPr>
        <p:spPr>
          <a:xfrm>
            <a:off x="2871360" y="4110120"/>
            <a:ext cx="289800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Limited handling of skewed traffic while preserving robustness</a:t>
            </a:r>
            <a:endParaRPr lang="en-US" sz="800" b="0" u="none" strike="noStrike">
              <a:solidFill>
                <a:srgbClr val="FFFFFF"/>
              </a:solidFill>
              <a:effectLst/>
              <a:uFillTx/>
              <a:latin typeface="Arial"/>
            </a:endParaRPr>
          </a:p>
        </p:txBody>
      </p:sp>
      <p:sp>
        <p:nvSpPr>
          <p:cNvPr id="228" name="Shape 34"/>
          <p:cNvSpPr/>
          <p:nvPr/>
        </p:nvSpPr>
        <p:spPr>
          <a:xfrm>
            <a:off x="5806440" y="4069080"/>
            <a:ext cx="214812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9" name="Text 35"/>
          <p:cNvSpPr/>
          <p:nvPr/>
        </p:nvSpPr>
        <p:spPr>
          <a:xfrm>
            <a:off x="5843160" y="4110120"/>
            <a:ext cx="207504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IoT devices generate very different normal/attack patterns</a:t>
            </a:r>
            <a:endParaRPr lang="en-US" sz="800" b="0" u="none" strike="noStrike">
              <a:solidFill>
                <a:srgbClr val="FFFFFF"/>
              </a:solidFill>
              <a:effectLst/>
              <a:uFillTx/>
              <a:latin typeface="Arial"/>
            </a:endParaRPr>
          </a:p>
        </p:txBody>
      </p:sp>
      <p:sp>
        <p:nvSpPr>
          <p:cNvPr id="230" name="Shape 36"/>
          <p:cNvSpPr/>
          <p:nvPr/>
        </p:nvSpPr>
        <p:spPr>
          <a:xfrm>
            <a:off x="7955280" y="4069080"/>
            <a:ext cx="372096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1" name="Text 37"/>
          <p:cNvSpPr/>
          <p:nvPr/>
        </p:nvSpPr>
        <p:spPr>
          <a:xfrm>
            <a:off x="7992000" y="4110120"/>
            <a:ext cx="364788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Use local training and validation checks to reduce harmful update drift</a:t>
            </a:r>
            <a:endParaRPr lang="en-US"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232" name="Shape 0"/>
          <p:cNvSpPr/>
          <p:nvPr/>
        </p:nvSpPr>
        <p:spPr>
          <a:xfrm>
            <a:off x="0" y="0"/>
            <a:ext cx="12191040" cy="6857280"/>
          </a:xfrm>
          <a:prstGeom prst="rect">
            <a:avLst/>
          </a:prstGeom>
          <a:solidFill>
            <a:srgbClr val="0B1020"/>
          </a:solidFill>
          <a:ln w="12700">
            <a:solidFill>
              <a:srgbClr val="0B1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3"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4"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235" name="Text 3"/>
          <p:cNvSpPr/>
          <p:nvPr/>
        </p:nvSpPr>
        <p:spPr>
          <a:xfrm>
            <a:off x="502920" y="329040"/>
            <a:ext cx="9966240" cy="410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F8FAFC"/>
                </a:solidFill>
                <a:effectLst/>
                <a:uFillTx/>
                <a:latin typeface="Aptos Display"/>
                <a:ea typeface="Aptos Display"/>
              </a:rPr>
              <a:t>Research Gaps II</a:t>
            </a:r>
            <a:endParaRPr lang="en-US" sz="2600" b="0" u="none" strike="noStrike">
              <a:solidFill>
                <a:srgbClr val="FFFFFF"/>
              </a:solidFill>
              <a:effectLst/>
              <a:uFillTx/>
              <a:latin typeface="Arial"/>
            </a:endParaRPr>
          </a:p>
        </p:txBody>
      </p:sp>
      <p:sp>
        <p:nvSpPr>
          <p:cNvPr id="236" name="Shape 4"/>
          <p:cNvSpPr/>
          <p:nvPr/>
        </p:nvSpPr>
        <p:spPr>
          <a:xfrm>
            <a:off x="502920" y="831960"/>
            <a:ext cx="1325160" cy="36000"/>
          </a:xfrm>
          <a:prstGeom prst="rect">
            <a:avLst/>
          </a:prstGeom>
          <a:solidFill>
            <a:srgbClr val="17C9E8"/>
          </a:solidFill>
          <a:ln w="12700">
            <a:solidFill>
              <a:srgbClr val="17C9E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237" name="Text 5"/>
          <p:cNvSpPr/>
          <p:nvPr/>
        </p:nvSpPr>
        <p:spPr>
          <a:xfrm>
            <a:off x="1938600" y="768240"/>
            <a:ext cx="7131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3C7"/>
                </a:solidFill>
                <a:effectLst/>
                <a:uFillTx/>
                <a:latin typeface="Aptos"/>
              </a:rPr>
              <a:t>Operational and human-response gaps</a:t>
            </a:r>
            <a:endParaRPr lang="en-US" sz="950" b="0" u="none" strike="noStrike">
              <a:solidFill>
                <a:srgbClr val="FFFFFF"/>
              </a:solidFill>
              <a:effectLst/>
              <a:uFillTx/>
              <a:latin typeface="Arial"/>
            </a:endParaRPr>
          </a:p>
        </p:txBody>
      </p:sp>
      <p:sp>
        <p:nvSpPr>
          <p:cNvPr id="238" name="Shape 6"/>
          <p:cNvSpPr/>
          <p:nvPr/>
        </p:nvSpPr>
        <p:spPr>
          <a:xfrm>
            <a:off x="502920" y="1207080"/>
            <a:ext cx="2422440" cy="39240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9" name="Text 7"/>
          <p:cNvSpPr/>
          <p:nvPr/>
        </p:nvSpPr>
        <p:spPr>
          <a:xfrm>
            <a:off x="539640" y="1248120"/>
            <a:ext cx="2349360" cy="310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1" u="none" strike="noStrike">
                <a:solidFill>
                  <a:srgbClr val="07111F"/>
                </a:solidFill>
                <a:effectLst/>
                <a:uFillTx/>
                <a:latin typeface="Aptos"/>
              </a:rPr>
              <a:t>Existing Research</a:t>
            </a:r>
            <a:endParaRPr lang="en-US" sz="850" b="0" u="none" strike="noStrike">
              <a:solidFill>
                <a:srgbClr val="FFFFFF"/>
              </a:solidFill>
              <a:effectLst/>
              <a:uFillTx/>
              <a:latin typeface="Arial"/>
            </a:endParaRPr>
          </a:p>
        </p:txBody>
      </p:sp>
      <p:sp>
        <p:nvSpPr>
          <p:cNvPr id="240" name="Shape 8"/>
          <p:cNvSpPr/>
          <p:nvPr/>
        </p:nvSpPr>
        <p:spPr>
          <a:xfrm>
            <a:off x="2926080" y="1207080"/>
            <a:ext cx="2788200" cy="39240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1" name="Text 9"/>
          <p:cNvSpPr/>
          <p:nvPr/>
        </p:nvSpPr>
        <p:spPr>
          <a:xfrm>
            <a:off x="2962800" y="1248120"/>
            <a:ext cx="2715120" cy="310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1" u="none" strike="noStrike">
                <a:solidFill>
                  <a:srgbClr val="07111F"/>
                </a:solidFill>
                <a:effectLst/>
                <a:uFillTx/>
                <a:latin typeface="Aptos"/>
              </a:rPr>
              <a:t>Identified Gap</a:t>
            </a:r>
            <a:endParaRPr lang="en-US" sz="850" b="0" u="none" strike="noStrike">
              <a:solidFill>
                <a:srgbClr val="FFFFFF"/>
              </a:solidFill>
              <a:effectLst/>
              <a:uFillTx/>
              <a:latin typeface="Arial"/>
            </a:endParaRPr>
          </a:p>
        </p:txBody>
      </p:sp>
      <p:sp>
        <p:nvSpPr>
          <p:cNvPr id="242" name="Shape 10"/>
          <p:cNvSpPr/>
          <p:nvPr/>
        </p:nvSpPr>
        <p:spPr>
          <a:xfrm>
            <a:off x="5715000" y="1207080"/>
            <a:ext cx="2285280" cy="39240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3" name="Text 11"/>
          <p:cNvSpPr/>
          <p:nvPr/>
        </p:nvSpPr>
        <p:spPr>
          <a:xfrm>
            <a:off x="5751720" y="1248120"/>
            <a:ext cx="2212200" cy="310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1" u="none" strike="noStrike">
                <a:solidFill>
                  <a:srgbClr val="07111F"/>
                </a:solidFill>
                <a:effectLst/>
                <a:uFillTx/>
                <a:latin typeface="Aptos"/>
              </a:rPr>
              <a:t>Why It Matters</a:t>
            </a:r>
            <a:endParaRPr lang="en-US" sz="850" b="0" u="none" strike="noStrike">
              <a:solidFill>
                <a:srgbClr val="FFFFFF"/>
              </a:solidFill>
              <a:effectLst/>
              <a:uFillTx/>
              <a:latin typeface="Arial"/>
            </a:endParaRPr>
          </a:p>
        </p:txBody>
      </p:sp>
      <p:sp>
        <p:nvSpPr>
          <p:cNvPr id="244" name="Shape 12"/>
          <p:cNvSpPr/>
          <p:nvPr/>
        </p:nvSpPr>
        <p:spPr>
          <a:xfrm>
            <a:off x="8001000" y="1207080"/>
            <a:ext cx="3675240" cy="39240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5" name="Text 13"/>
          <p:cNvSpPr/>
          <p:nvPr/>
        </p:nvSpPr>
        <p:spPr>
          <a:xfrm>
            <a:off x="8037720" y="1248120"/>
            <a:ext cx="3602160" cy="3103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850" b="1" u="none" strike="noStrike">
                <a:solidFill>
                  <a:srgbClr val="07111F"/>
                </a:solidFill>
                <a:effectLst/>
                <a:uFillTx/>
                <a:latin typeface="Aptos"/>
              </a:rPr>
              <a:t>PRIVATE SHIELD Response</a:t>
            </a:r>
            <a:endParaRPr lang="en-US" sz="850" b="0" u="none" strike="noStrike">
              <a:solidFill>
                <a:srgbClr val="FFFFFF"/>
              </a:solidFill>
              <a:effectLst/>
              <a:uFillTx/>
              <a:latin typeface="Arial"/>
            </a:endParaRPr>
          </a:p>
        </p:txBody>
      </p:sp>
      <p:sp>
        <p:nvSpPr>
          <p:cNvPr id="246" name="Shape 14"/>
          <p:cNvSpPr/>
          <p:nvPr/>
        </p:nvSpPr>
        <p:spPr>
          <a:xfrm>
            <a:off x="502920" y="1600200"/>
            <a:ext cx="242244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7" name="Text 15"/>
          <p:cNvSpPr/>
          <p:nvPr/>
        </p:nvSpPr>
        <p:spPr>
          <a:xfrm>
            <a:off x="539640" y="1641240"/>
            <a:ext cx="234936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Poisoning and robust aggregation studies test attacks in controlled settings [9], [10]</a:t>
            </a:r>
            <a:endParaRPr lang="en-US" sz="800" b="0" u="none" strike="noStrike">
              <a:solidFill>
                <a:srgbClr val="FFFFFF"/>
              </a:solidFill>
              <a:effectLst/>
              <a:uFillTx/>
              <a:latin typeface="Arial"/>
            </a:endParaRPr>
          </a:p>
        </p:txBody>
      </p:sp>
      <p:sp>
        <p:nvSpPr>
          <p:cNvPr id="248" name="Shape 16"/>
          <p:cNvSpPr/>
          <p:nvPr/>
        </p:nvSpPr>
        <p:spPr>
          <a:xfrm>
            <a:off x="2926080" y="1600200"/>
            <a:ext cx="278820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9" name="Text 17"/>
          <p:cNvSpPr/>
          <p:nvPr/>
        </p:nvSpPr>
        <p:spPr>
          <a:xfrm>
            <a:off x="2962800" y="1641240"/>
            <a:ext cx="271512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Lack of continuous adversarial stress testing during operation</a:t>
            </a:r>
            <a:endParaRPr lang="en-US" sz="800" b="0" u="none" strike="noStrike">
              <a:solidFill>
                <a:srgbClr val="FFFFFF"/>
              </a:solidFill>
              <a:effectLst/>
              <a:uFillTx/>
              <a:latin typeface="Arial"/>
            </a:endParaRPr>
          </a:p>
        </p:txBody>
      </p:sp>
      <p:sp>
        <p:nvSpPr>
          <p:cNvPr id="250" name="Shape 18"/>
          <p:cNvSpPr/>
          <p:nvPr/>
        </p:nvSpPr>
        <p:spPr>
          <a:xfrm>
            <a:off x="5715000" y="1600200"/>
            <a:ext cx="228528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1" name="Text 19"/>
          <p:cNvSpPr/>
          <p:nvPr/>
        </p:nvSpPr>
        <p:spPr>
          <a:xfrm>
            <a:off x="5751720" y="1641240"/>
            <a:ext cx="221220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Attack behavior changes over time and static evaluation can miss runtime failures</a:t>
            </a:r>
            <a:endParaRPr lang="en-US" sz="800" b="0" u="none" strike="noStrike">
              <a:solidFill>
                <a:srgbClr val="FFFFFF"/>
              </a:solidFill>
              <a:effectLst/>
              <a:uFillTx/>
              <a:latin typeface="Arial"/>
            </a:endParaRPr>
          </a:p>
        </p:txBody>
      </p:sp>
      <p:sp>
        <p:nvSpPr>
          <p:cNvPr id="252" name="Shape 20"/>
          <p:cNvSpPr/>
          <p:nvPr/>
        </p:nvSpPr>
        <p:spPr>
          <a:xfrm>
            <a:off x="8001000" y="1600200"/>
            <a:ext cx="367524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3" name="Text 21"/>
          <p:cNvSpPr/>
          <p:nvPr/>
        </p:nvSpPr>
        <p:spPr>
          <a:xfrm>
            <a:off x="8037720" y="1641240"/>
            <a:ext cx="360216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Run adversarial simulation loop with parameter-distance checks</a:t>
            </a:r>
            <a:endParaRPr lang="en-US" sz="800" b="0" u="none" strike="noStrike">
              <a:solidFill>
                <a:srgbClr val="FFFFFF"/>
              </a:solidFill>
              <a:effectLst/>
              <a:uFillTx/>
              <a:latin typeface="Arial"/>
            </a:endParaRPr>
          </a:p>
        </p:txBody>
      </p:sp>
      <p:sp>
        <p:nvSpPr>
          <p:cNvPr id="254" name="Shape 22"/>
          <p:cNvSpPr/>
          <p:nvPr/>
        </p:nvSpPr>
        <p:spPr>
          <a:xfrm>
            <a:off x="502920" y="2834640"/>
            <a:ext cx="2422440" cy="123372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5" name="Text 23"/>
          <p:cNvSpPr/>
          <p:nvPr/>
        </p:nvSpPr>
        <p:spPr>
          <a:xfrm>
            <a:off x="539640" y="2875680"/>
            <a:ext cx="234936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Free-rider defenses detect selfish or anonymous clients [11], [12]</a:t>
            </a:r>
            <a:endParaRPr lang="en-US" sz="800" b="0" u="none" strike="noStrike">
              <a:solidFill>
                <a:srgbClr val="FFFFFF"/>
              </a:solidFill>
              <a:effectLst/>
              <a:uFillTx/>
              <a:latin typeface="Arial"/>
            </a:endParaRPr>
          </a:p>
        </p:txBody>
      </p:sp>
      <p:sp>
        <p:nvSpPr>
          <p:cNvPr id="256" name="Shape 24"/>
          <p:cNvSpPr/>
          <p:nvPr/>
        </p:nvSpPr>
        <p:spPr>
          <a:xfrm>
            <a:off x="2926080" y="2834640"/>
            <a:ext cx="2788200" cy="123372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7" name="Text 25"/>
          <p:cNvSpPr/>
          <p:nvPr/>
        </p:nvSpPr>
        <p:spPr>
          <a:xfrm>
            <a:off x="2962800" y="2875680"/>
            <a:ext cx="271512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Limited integration of free-rider validation into IoT IDS workflow</a:t>
            </a:r>
            <a:endParaRPr lang="en-US" sz="800" b="0" u="none" strike="noStrike">
              <a:solidFill>
                <a:srgbClr val="FFFFFF"/>
              </a:solidFill>
              <a:effectLst/>
              <a:uFillTx/>
              <a:latin typeface="Arial"/>
            </a:endParaRPr>
          </a:p>
        </p:txBody>
      </p:sp>
      <p:sp>
        <p:nvSpPr>
          <p:cNvPr id="258" name="Shape 26"/>
          <p:cNvSpPr/>
          <p:nvPr/>
        </p:nvSpPr>
        <p:spPr>
          <a:xfrm>
            <a:off x="5715000" y="2834640"/>
            <a:ext cx="2285280" cy="123372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9" name="Text 27"/>
          <p:cNvSpPr/>
          <p:nvPr/>
        </p:nvSpPr>
        <p:spPr>
          <a:xfrm>
            <a:off x="5751720" y="2875680"/>
            <a:ext cx="221220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Unreliable clients can weaken global model trust</a:t>
            </a:r>
            <a:endParaRPr lang="en-US" sz="800" b="0" u="none" strike="noStrike">
              <a:solidFill>
                <a:srgbClr val="FFFFFF"/>
              </a:solidFill>
              <a:effectLst/>
              <a:uFillTx/>
              <a:latin typeface="Arial"/>
            </a:endParaRPr>
          </a:p>
        </p:txBody>
      </p:sp>
      <p:sp>
        <p:nvSpPr>
          <p:cNvPr id="260" name="Shape 28"/>
          <p:cNvSpPr/>
          <p:nvPr/>
        </p:nvSpPr>
        <p:spPr>
          <a:xfrm>
            <a:off x="8001000" y="2834640"/>
            <a:ext cx="3675240" cy="123372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1" name="Text 29"/>
          <p:cNvSpPr/>
          <p:nvPr/>
        </p:nvSpPr>
        <p:spPr>
          <a:xfrm>
            <a:off x="8037720" y="2875680"/>
            <a:ext cx="360216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Add reputation-based validation to support client reliability scoring</a:t>
            </a:r>
            <a:endParaRPr lang="en-US" sz="800" b="0" u="none" strike="noStrike">
              <a:solidFill>
                <a:srgbClr val="FFFFFF"/>
              </a:solidFill>
              <a:effectLst/>
              <a:uFillTx/>
              <a:latin typeface="Arial"/>
            </a:endParaRPr>
          </a:p>
        </p:txBody>
      </p:sp>
      <p:sp>
        <p:nvSpPr>
          <p:cNvPr id="262" name="Shape 30"/>
          <p:cNvSpPr/>
          <p:nvPr/>
        </p:nvSpPr>
        <p:spPr>
          <a:xfrm>
            <a:off x="502920" y="4069080"/>
            <a:ext cx="242244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3" name="Text 31"/>
          <p:cNvSpPr/>
          <p:nvPr/>
        </p:nvSpPr>
        <p:spPr>
          <a:xfrm>
            <a:off x="539640" y="4110120"/>
            <a:ext cx="234936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Most papers report metrics and algorithms [1]–[12]</a:t>
            </a:r>
            <a:endParaRPr lang="en-US" sz="800" b="0" u="none" strike="noStrike">
              <a:solidFill>
                <a:srgbClr val="FFFFFF"/>
              </a:solidFill>
              <a:effectLst/>
              <a:uFillTx/>
              <a:latin typeface="Arial"/>
            </a:endParaRPr>
          </a:p>
        </p:txBody>
      </p:sp>
      <p:sp>
        <p:nvSpPr>
          <p:cNvPr id="264" name="Shape 32"/>
          <p:cNvSpPr/>
          <p:nvPr/>
        </p:nvSpPr>
        <p:spPr>
          <a:xfrm>
            <a:off x="2926080" y="4069080"/>
            <a:ext cx="278820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5" name="Text 33"/>
          <p:cNvSpPr/>
          <p:nvPr/>
        </p:nvSpPr>
        <p:spPr>
          <a:xfrm>
            <a:off x="2962800" y="4110120"/>
            <a:ext cx="271512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Weak link between distributed detection and readable SOC workflows</a:t>
            </a:r>
            <a:endParaRPr lang="en-US" sz="800" b="0" u="none" strike="noStrike">
              <a:solidFill>
                <a:srgbClr val="FFFFFF"/>
              </a:solidFill>
              <a:effectLst/>
              <a:uFillTx/>
              <a:latin typeface="Arial"/>
            </a:endParaRPr>
          </a:p>
        </p:txBody>
      </p:sp>
      <p:sp>
        <p:nvSpPr>
          <p:cNvPr id="266" name="Shape 34"/>
          <p:cNvSpPr/>
          <p:nvPr/>
        </p:nvSpPr>
        <p:spPr>
          <a:xfrm>
            <a:off x="5715000" y="4069080"/>
            <a:ext cx="228528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7" name="Text 35"/>
          <p:cNvSpPr/>
          <p:nvPr/>
        </p:nvSpPr>
        <p:spPr>
          <a:xfrm>
            <a:off x="5751720" y="4110120"/>
            <a:ext cx="221220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Admins need quick explanations, not only gradients and accuracy tables</a:t>
            </a:r>
            <a:endParaRPr lang="en-US" sz="800" b="0" u="none" strike="noStrike">
              <a:solidFill>
                <a:srgbClr val="FFFFFF"/>
              </a:solidFill>
              <a:effectLst/>
              <a:uFillTx/>
              <a:latin typeface="Arial"/>
            </a:endParaRPr>
          </a:p>
        </p:txBody>
      </p:sp>
      <p:sp>
        <p:nvSpPr>
          <p:cNvPr id="268" name="Shape 36"/>
          <p:cNvSpPr/>
          <p:nvPr/>
        </p:nvSpPr>
        <p:spPr>
          <a:xfrm>
            <a:off x="8001000" y="4069080"/>
            <a:ext cx="3675240" cy="123372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69" name="Text 37"/>
          <p:cNvSpPr/>
          <p:nvPr/>
        </p:nvSpPr>
        <p:spPr>
          <a:xfrm>
            <a:off x="8037720" y="4110120"/>
            <a:ext cx="3602160" cy="11512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800" b="0" u="none" strike="noStrike">
                <a:solidFill>
                  <a:srgbClr val="F8FAFC"/>
                </a:solidFill>
                <a:effectLst/>
                <a:uFillTx/>
                <a:latin typeface="Aptos"/>
              </a:rPr>
              <a:t>React SOC dashboard + WebSockets + LLM-assisted forensic summaries</a:t>
            </a:r>
            <a:endParaRPr lang="en-US" sz="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270" name="Shape 0"/>
          <p:cNvSpPr/>
          <p:nvPr/>
        </p:nvSpPr>
        <p:spPr>
          <a:xfrm>
            <a:off x="0" y="0"/>
            <a:ext cx="12191040" cy="6857280"/>
          </a:xfrm>
          <a:prstGeom prst="rect">
            <a:avLst/>
          </a:prstGeom>
          <a:solidFill>
            <a:srgbClr val="0B1020"/>
          </a:solidFill>
          <a:ln w="12700">
            <a:solidFill>
              <a:srgbClr val="0B1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1"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72"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273" name="Text 3"/>
          <p:cNvSpPr/>
          <p:nvPr/>
        </p:nvSpPr>
        <p:spPr>
          <a:xfrm>
            <a:off x="502920" y="329040"/>
            <a:ext cx="9966240" cy="410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F8FAFC"/>
                </a:solidFill>
                <a:effectLst/>
                <a:uFillTx/>
                <a:latin typeface="Aptos Display"/>
                <a:ea typeface="Aptos Display"/>
              </a:rPr>
              <a:t>Gap-to-Solution Mapping</a:t>
            </a:r>
            <a:endParaRPr lang="en-US" sz="2600" b="0" u="none" strike="noStrike">
              <a:solidFill>
                <a:srgbClr val="FFFFFF"/>
              </a:solidFill>
              <a:effectLst/>
              <a:uFillTx/>
              <a:latin typeface="Arial"/>
            </a:endParaRPr>
          </a:p>
        </p:txBody>
      </p:sp>
      <p:sp>
        <p:nvSpPr>
          <p:cNvPr id="274" name="Shape 4"/>
          <p:cNvSpPr/>
          <p:nvPr/>
        </p:nvSpPr>
        <p:spPr>
          <a:xfrm>
            <a:off x="502920" y="831960"/>
            <a:ext cx="1325160" cy="36000"/>
          </a:xfrm>
          <a:prstGeom prst="rect">
            <a:avLst/>
          </a:prstGeom>
          <a:solidFill>
            <a:srgbClr val="17C9E8"/>
          </a:solidFill>
          <a:ln w="12700">
            <a:solidFill>
              <a:srgbClr val="17C9E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275" name="Text 5"/>
          <p:cNvSpPr/>
          <p:nvPr/>
        </p:nvSpPr>
        <p:spPr>
          <a:xfrm>
            <a:off x="1938600" y="768240"/>
            <a:ext cx="7131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3C7"/>
                </a:solidFill>
                <a:effectLst/>
                <a:uFillTx/>
                <a:latin typeface="Aptos"/>
              </a:rPr>
              <a:t>Every solution directly matches an identified gap</a:t>
            </a:r>
            <a:endParaRPr lang="en-US" sz="950" b="0" u="none" strike="noStrike">
              <a:solidFill>
                <a:srgbClr val="FFFFFF"/>
              </a:solidFill>
              <a:effectLst/>
              <a:uFillTx/>
              <a:latin typeface="Arial"/>
            </a:endParaRPr>
          </a:p>
        </p:txBody>
      </p:sp>
      <p:sp>
        <p:nvSpPr>
          <p:cNvPr id="276" name="Shape 6"/>
          <p:cNvSpPr/>
          <p:nvPr/>
        </p:nvSpPr>
        <p:spPr>
          <a:xfrm>
            <a:off x="713160" y="1234440"/>
            <a:ext cx="3108240" cy="41976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7" name="Text 7"/>
          <p:cNvSpPr/>
          <p:nvPr/>
        </p:nvSpPr>
        <p:spPr>
          <a:xfrm>
            <a:off x="749880" y="1275480"/>
            <a:ext cx="3035160" cy="3376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60" b="1" u="none" strike="noStrike">
                <a:solidFill>
                  <a:srgbClr val="07111F"/>
                </a:solidFill>
                <a:effectLst/>
                <a:uFillTx/>
                <a:latin typeface="Aptos"/>
              </a:rPr>
              <a:t>Research Gap</a:t>
            </a:r>
            <a:endParaRPr lang="en-US" sz="960" b="0" u="none" strike="noStrike">
              <a:solidFill>
                <a:srgbClr val="FFFFFF"/>
              </a:solidFill>
              <a:effectLst/>
              <a:uFillTx/>
              <a:latin typeface="Arial"/>
            </a:endParaRPr>
          </a:p>
        </p:txBody>
      </p:sp>
      <p:sp>
        <p:nvSpPr>
          <p:cNvPr id="278" name="Shape 8"/>
          <p:cNvSpPr/>
          <p:nvPr/>
        </p:nvSpPr>
        <p:spPr>
          <a:xfrm>
            <a:off x="3822120" y="1234440"/>
            <a:ext cx="3931200" cy="41976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9" name="Text 9"/>
          <p:cNvSpPr/>
          <p:nvPr/>
        </p:nvSpPr>
        <p:spPr>
          <a:xfrm>
            <a:off x="3858840" y="1275480"/>
            <a:ext cx="3858120" cy="3376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60" b="1" u="none" strike="noStrike">
                <a:solidFill>
                  <a:srgbClr val="07111F"/>
                </a:solidFill>
                <a:effectLst/>
                <a:uFillTx/>
                <a:latin typeface="Aptos"/>
              </a:rPr>
              <a:t>Proposed Solution</a:t>
            </a:r>
            <a:endParaRPr lang="en-US" sz="960" b="0" u="none" strike="noStrike">
              <a:solidFill>
                <a:srgbClr val="FFFFFF"/>
              </a:solidFill>
              <a:effectLst/>
              <a:uFillTx/>
              <a:latin typeface="Arial"/>
            </a:endParaRPr>
          </a:p>
        </p:txBody>
      </p:sp>
      <p:sp>
        <p:nvSpPr>
          <p:cNvPr id="280" name="Shape 10"/>
          <p:cNvSpPr/>
          <p:nvPr/>
        </p:nvSpPr>
        <p:spPr>
          <a:xfrm>
            <a:off x="7754040" y="1234440"/>
            <a:ext cx="3702600" cy="419760"/>
          </a:xfrm>
          <a:prstGeom prst="rect">
            <a:avLst/>
          </a:prstGeom>
          <a:solidFill>
            <a:srgbClr val="17C9E8"/>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1" name="Text 11"/>
          <p:cNvSpPr/>
          <p:nvPr/>
        </p:nvSpPr>
        <p:spPr>
          <a:xfrm>
            <a:off x="7790760" y="1275480"/>
            <a:ext cx="3629520" cy="33768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960" b="1" u="none" strike="noStrike">
                <a:solidFill>
                  <a:srgbClr val="07111F"/>
                </a:solidFill>
                <a:effectLst/>
                <a:uFillTx/>
                <a:latin typeface="Aptos"/>
              </a:rPr>
              <a:t>Expected Benefit</a:t>
            </a:r>
            <a:endParaRPr lang="en-US" sz="960" b="0" u="none" strike="noStrike">
              <a:solidFill>
                <a:srgbClr val="FFFFFF"/>
              </a:solidFill>
              <a:effectLst/>
              <a:uFillTx/>
              <a:latin typeface="Arial"/>
            </a:endParaRPr>
          </a:p>
        </p:txBody>
      </p:sp>
      <p:sp>
        <p:nvSpPr>
          <p:cNvPr id="282" name="Shape 12"/>
          <p:cNvSpPr/>
          <p:nvPr/>
        </p:nvSpPr>
        <p:spPr>
          <a:xfrm>
            <a:off x="713160" y="1654920"/>
            <a:ext cx="3108240" cy="7308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3" name="Text 13"/>
          <p:cNvSpPr/>
          <p:nvPr/>
        </p:nvSpPr>
        <p:spPr>
          <a:xfrm>
            <a:off x="749880" y="1696320"/>
            <a:ext cx="303516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Gradient privacy risk</a:t>
            </a:r>
            <a:endParaRPr lang="en-US" sz="910" b="0" u="none" strike="noStrike">
              <a:solidFill>
                <a:srgbClr val="FFFFFF"/>
              </a:solidFill>
              <a:effectLst/>
              <a:uFillTx/>
              <a:latin typeface="Arial"/>
            </a:endParaRPr>
          </a:p>
        </p:txBody>
      </p:sp>
      <p:sp>
        <p:nvSpPr>
          <p:cNvPr id="284" name="Shape 14"/>
          <p:cNvSpPr/>
          <p:nvPr/>
        </p:nvSpPr>
        <p:spPr>
          <a:xfrm>
            <a:off x="3822120" y="1654920"/>
            <a:ext cx="3931200" cy="7308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5" name="Text 15"/>
          <p:cNvSpPr/>
          <p:nvPr/>
        </p:nvSpPr>
        <p:spPr>
          <a:xfrm>
            <a:off x="3858840" y="1696320"/>
            <a:ext cx="385812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Differential Privacy + gradient clipping via Opacus</a:t>
            </a:r>
            <a:endParaRPr lang="en-US" sz="910" b="0" u="none" strike="noStrike">
              <a:solidFill>
                <a:srgbClr val="FFFFFF"/>
              </a:solidFill>
              <a:effectLst/>
              <a:uFillTx/>
              <a:latin typeface="Arial"/>
            </a:endParaRPr>
          </a:p>
        </p:txBody>
      </p:sp>
      <p:sp>
        <p:nvSpPr>
          <p:cNvPr id="286" name="Shape 16"/>
          <p:cNvSpPr/>
          <p:nvPr/>
        </p:nvSpPr>
        <p:spPr>
          <a:xfrm>
            <a:off x="7754040" y="1654920"/>
            <a:ext cx="3702600" cy="7308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7" name="Text 17"/>
          <p:cNvSpPr/>
          <p:nvPr/>
        </p:nvSpPr>
        <p:spPr>
          <a:xfrm>
            <a:off x="7790760" y="1696320"/>
            <a:ext cx="362952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Reduced information leakage from model updates</a:t>
            </a:r>
            <a:endParaRPr lang="en-US" sz="910" b="0" u="none" strike="noStrike">
              <a:solidFill>
                <a:srgbClr val="FFFFFF"/>
              </a:solidFill>
              <a:effectLst/>
              <a:uFillTx/>
              <a:latin typeface="Arial"/>
            </a:endParaRPr>
          </a:p>
        </p:txBody>
      </p:sp>
      <p:sp>
        <p:nvSpPr>
          <p:cNvPr id="288" name="Shape 18"/>
          <p:cNvSpPr/>
          <p:nvPr/>
        </p:nvSpPr>
        <p:spPr>
          <a:xfrm>
            <a:off x="713160" y="2386440"/>
            <a:ext cx="3108240" cy="73080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9" name="Text 19"/>
          <p:cNvSpPr/>
          <p:nvPr/>
        </p:nvSpPr>
        <p:spPr>
          <a:xfrm>
            <a:off x="749880" y="2427840"/>
            <a:ext cx="303516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Poisoned model updates</a:t>
            </a:r>
            <a:endParaRPr lang="en-US" sz="910" b="0" u="none" strike="noStrike">
              <a:solidFill>
                <a:srgbClr val="FFFFFF"/>
              </a:solidFill>
              <a:effectLst/>
              <a:uFillTx/>
              <a:latin typeface="Arial"/>
            </a:endParaRPr>
          </a:p>
        </p:txBody>
      </p:sp>
      <p:sp>
        <p:nvSpPr>
          <p:cNvPr id="290" name="Shape 20"/>
          <p:cNvSpPr/>
          <p:nvPr/>
        </p:nvSpPr>
        <p:spPr>
          <a:xfrm>
            <a:off x="3822120" y="2386440"/>
            <a:ext cx="3931200" cy="73080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1" name="Text 21"/>
          <p:cNvSpPr/>
          <p:nvPr/>
        </p:nvSpPr>
        <p:spPr>
          <a:xfrm>
            <a:off x="3858840" y="2427840"/>
            <a:ext cx="385812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Euclidean-distance filtering before aggregation</a:t>
            </a:r>
            <a:endParaRPr lang="en-US" sz="910" b="0" u="none" strike="noStrike">
              <a:solidFill>
                <a:srgbClr val="FFFFFF"/>
              </a:solidFill>
              <a:effectLst/>
              <a:uFillTx/>
              <a:latin typeface="Arial"/>
            </a:endParaRPr>
          </a:p>
        </p:txBody>
      </p:sp>
      <p:sp>
        <p:nvSpPr>
          <p:cNvPr id="292" name="Shape 22"/>
          <p:cNvSpPr/>
          <p:nvPr/>
        </p:nvSpPr>
        <p:spPr>
          <a:xfrm>
            <a:off x="7754040" y="2386440"/>
            <a:ext cx="3702600" cy="73080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3" name="Text 23"/>
          <p:cNvSpPr/>
          <p:nvPr/>
        </p:nvSpPr>
        <p:spPr>
          <a:xfrm>
            <a:off x="7790760" y="2427840"/>
            <a:ext cx="362952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Improved robustness of global model updates</a:t>
            </a:r>
            <a:endParaRPr lang="en-US" sz="910" b="0" u="none" strike="noStrike">
              <a:solidFill>
                <a:srgbClr val="FFFFFF"/>
              </a:solidFill>
              <a:effectLst/>
              <a:uFillTx/>
              <a:latin typeface="Arial"/>
            </a:endParaRPr>
          </a:p>
        </p:txBody>
      </p:sp>
      <p:sp>
        <p:nvSpPr>
          <p:cNvPr id="294" name="Shape 24"/>
          <p:cNvSpPr/>
          <p:nvPr/>
        </p:nvSpPr>
        <p:spPr>
          <a:xfrm>
            <a:off x="713160" y="3117960"/>
            <a:ext cx="3108240" cy="7308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5" name="Text 25"/>
          <p:cNvSpPr/>
          <p:nvPr/>
        </p:nvSpPr>
        <p:spPr>
          <a:xfrm>
            <a:off x="749880" y="3159360"/>
            <a:ext cx="303516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Free-rider behavior</a:t>
            </a:r>
            <a:endParaRPr lang="en-US" sz="910" b="0" u="none" strike="noStrike">
              <a:solidFill>
                <a:srgbClr val="FFFFFF"/>
              </a:solidFill>
              <a:effectLst/>
              <a:uFillTx/>
              <a:latin typeface="Arial"/>
            </a:endParaRPr>
          </a:p>
        </p:txBody>
      </p:sp>
      <p:sp>
        <p:nvSpPr>
          <p:cNvPr id="296" name="Shape 26"/>
          <p:cNvSpPr/>
          <p:nvPr/>
        </p:nvSpPr>
        <p:spPr>
          <a:xfrm>
            <a:off x="3822120" y="3117960"/>
            <a:ext cx="3931200" cy="7308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7" name="Text 27"/>
          <p:cNvSpPr/>
          <p:nvPr/>
        </p:nvSpPr>
        <p:spPr>
          <a:xfrm>
            <a:off x="3858840" y="3159360"/>
            <a:ext cx="385812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Reputation-based client validation</a:t>
            </a:r>
            <a:endParaRPr lang="en-US" sz="910" b="0" u="none" strike="noStrike">
              <a:solidFill>
                <a:srgbClr val="FFFFFF"/>
              </a:solidFill>
              <a:effectLst/>
              <a:uFillTx/>
              <a:latin typeface="Arial"/>
            </a:endParaRPr>
          </a:p>
        </p:txBody>
      </p:sp>
      <p:sp>
        <p:nvSpPr>
          <p:cNvPr id="298" name="Shape 28"/>
          <p:cNvSpPr/>
          <p:nvPr/>
        </p:nvSpPr>
        <p:spPr>
          <a:xfrm>
            <a:off x="7754040" y="3117960"/>
            <a:ext cx="3702600" cy="7308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9" name="Text 29"/>
          <p:cNvSpPr/>
          <p:nvPr/>
        </p:nvSpPr>
        <p:spPr>
          <a:xfrm>
            <a:off x="7790760" y="3159360"/>
            <a:ext cx="362952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More reliable client participation</a:t>
            </a:r>
            <a:endParaRPr lang="en-US" sz="910" b="0" u="none" strike="noStrike">
              <a:solidFill>
                <a:srgbClr val="FFFFFF"/>
              </a:solidFill>
              <a:effectLst/>
              <a:uFillTx/>
              <a:latin typeface="Arial"/>
            </a:endParaRPr>
          </a:p>
        </p:txBody>
      </p:sp>
      <p:sp>
        <p:nvSpPr>
          <p:cNvPr id="300" name="Shape 30"/>
          <p:cNvSpPr/>
          <p:nvPr/>
        </p:nvSpPr>
        <p:spPr>
          <a:xfrm>
            <a:off x="713160" y="3849480"/>
            <a:ext cx="3108240" cy="73080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1" name="Text 31"/>
          <p:cNvSpPr/>
          <p:nvPr/>
        </p:nvSpPr>
        <p:spPr>
          <a:xfrm>
            <a:off x="749880" y="3890880"/>
            <a:ext cx="303516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High communication overhead</a:t>
            </a:r>
            <a:endParaRPr lang="en-US" sz="910" b="0" u="none" strike="noStrike">
              <a:solidFill>
                <a:srgbClr val="FFFFFF"/>
              </a:solidFill>
              <a:effectLst/>
              <a:uFillTx/>
              <a:latin typeface="Arial"/>
            </a:endParaRPr>
          </a:p>
        </p:txBody>
      </p:sp>
      <p:sp>
        <p:nvSpPr>
          <p:cNvPr id="302" name="Shape 32"/>
          <p:cNvSpPr/>
          <p:nvPr/>
        </p:nvSpPr>
        <p:spPr>
          <a:xfrm>
            <a:off x="3822120" y="3849480"/>
            <a:ext cx="3931200" cy="73080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3" name="Text 33"/>
          <p:cNvSpPr/>
          <p:nvPr/>
        </p:nvSpPr>
        <p:spPr>
          <a:xfrm>
            <a:off x="3858840" y="3890880"/>
            <a:ext cx="385812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Local training + parameter sharing only</a:t>
            </a:r>
            <a:endParaRPr lang="en-US" sz="910" b="0" u="none" strike="noStrike">
              <a:solidFill>
                <a:srgbClr val="FFFFFF"/>
              </a:solidFill>
              <a:effectLst/>
              <a:uFillTx/>
              <a:latin typeface="Arial"/>
            </a:endParaRPr>
          </a:p>
        </p:txBody>
      </p:sp>
      <p:sp>
        <p:nvSpPr>
          <p:cNvPr id="304" name="Shape 34"/>
          <p:cNvSpPr/>
          <p:nvPr/>
        </p:nvSpPr>
        <p:spPr>
          <a:xfrm>
            <a:off x="7754040" y="3849480"/>
            <a:ext cx="3702600" cy="730800"/>
          </a:xfrm>
          <a:prstGeom prst="rect">
            <a:avLst/>
          </a:prstGeom>
          <a:solidFill>
            <a:srgbClr val="14223C"/>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5" name="Text 35"/>
          <p:cNvSpPr/>
          <p:nvPr/>
        </p:nvSpPr>
        <p:spPr>
          <a:xfrm>
            <a:off x="7790760" y="3890880"/>
            <a:ext cx="362952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Lower bandwidth use than raw telemetry streaming</a:t>
            </a:r>
            <a:endParaRPr lang="en-US" sz="910" b="0" u="none" strike="noStrike">
              <a:solidFill>
                <a:srgbClr val="FFFFFF"/>
              </a:solidFill>
              <a:effectLst/>
              <a:uFillTx/>
              <a:latin typeface="Arial"/>
            </a:endParaRPr>
          </a:p>
        </p:txBody>
      </p:sp>
      <p:sp>
        <p:nvSpPr>
          <p:cNvPr id="306" name="Shape 36"/>
          <p:cNvSpPr/>
          <p:nvPr/>
        </p:nvSpPr>
        <p:spPr>
          <a:xfrm>
            <a:off x="713160" y="4581000"/>
            <a:ext cx="3108240" cy="7308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7" name="Text 37"/>
          <p:cNvSpPr/>
          <p:nvPr/>
        </p:nvSpPr>
        <p:spPr>
          <a:xfrm>
            <a:off x="749880" y="4622400"/>
            <a:ext cx="303516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Poor admin understanding</a:t>
            </a:r>
            <a:endParaRPr lang="en-US" sz="910" b="0" u="none" strike="noStrike">
              <a:solidFill>
                <a:srgbClr val="FFFFFF"/>
              </a:solidFill>
              <a:effectLst/>
              <a:uFillTx/>
              <a:latin typeface="Arial"/>
            </a:endParaRPr>
          </a:p>
        </p:txBody>
      </p:sp>
      <p:sp>
        <p:nvSpPr>
          <p:cNvPr id="308" name="Shape 38"/>
          <p:cNvSpPr/>
          <p:nvPr/>
        </p:nvSpPr>
        <p:spPr>
          <a:xfrm>
            <a:off x="3822120" y="4581000"/>
            <a:ext cx="3931200" cy="7308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9" name="Text 39"/>
          <p:cNvSpPr/>
          <p:nvPr/>
        </p:nvSpPr>
        <p:spPr>
          <a:xfrm>
            <a:off x="3858840" y="4622400"/>
            <a:ext cx="385812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React SOC dashboard + LLM forensic summaries</a:t>
            </a:r>
            <a:endParaRPr lang="en-US" sz="910" b="0" u="none" strike="noStrike">
              <a:solidFill>
                <a:srgbClr val="FFFFFF"/>
              </a:solidFill>
              <a:effectLst/>
              <a:uFillTx/>
              <a:latin typeface="Arial"/>
            </a:endParaRPr>
          </a:p>
        </p:txBody>
      </p:sp>
      <p:sp>
        <p:nvSpPr>
          <p:cNvPr id="310" name="Shape 40"/>
          <p:cNvSpPr/>
          <p:nvPr/>
        </p:nvSpPr>
        <p:spPr>
          <a:xfrm>
            <a:off x="7754040" y="4581000"/>
            <a:ext cx="3702600" cy="730800"/>
          </a:xfrm>
          <a:prstGeom prst="rect">
            <a:avLst/>
          </a:prstGeom>
          <a:solidFill>
            <a:srgbClr val="101B31"/>
          </a:solidFill>
          <a:ln w="6985">
            <a:solidFill>
              <a:srgbClr val="2B3B5C"/>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1" name="Text 41"/>
          <p:cNvSpPr/>
          <p:nvPr/>
        </p:nvSpPr>
        <p:spPr>
          <a:xfrm>
            <a:off x="7790760" y="4622400"/>
            <a:ext cx="3629520" cy="6483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910" b="0" u="none" strike="noStrike">
                <a:solidFill>
                  <a:srgbClr val="F8FAFC"/>
                </a:solidFill>
                <a:effectLst/>
                <a:uFillTx/>
                <a:latin typeface="Aptos"/>
              </a:rPr>
              <a:t>Faster interpretation and response</a:t>
            </a:r>
            <a:endParaRPr lang="en-US" sz="91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312" name="Shape 0"/>
          <p:cNvSpPr/>
          <p:nvPr/>
        </p:nvSpPr>
        <p:spPr>
          <a:xfrm>
            <a:off x="0" y="0"/>
            <a:ext cx="12191040" cy="6857280"/>
          </a:xfrm>
          <a:prstGeom prst="rect">
            <a:avLst/>
          </a:prstGeom>
          <a:solidFill>
            <a:srgbClr val="0B1020"/>
          </a:solidFill>
          <a:ln w="12700">
            <a:solidFill>
              <a:srgbClr val="0B1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3"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4"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315" name="Text 3"/>
          <p:cNvSpPr/>
          <p:nvPr/>
        </p:nvSpPr>
        <p:spPr>
          <a:xfrm>
            <a:off x="502920" y="329040"/>
            <a:ext cx="9966240" cy="410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F8FAFC"/>
                </a:solidFill>
                <a:effectLst/>
                <a:uFillTx/>
                <a:latin typeface="Aptos Display"/>
                <a:ea typeface="Aptos Display"/>
              </a:rPr>
              <a:t>Conclusion and Future Work</a:t>
            </a:r>
            <a:endParaRPr lang="en-US" sz="2600" b="0" u="none" strike="noStrike">
              <a:solidFill>
                <a:srgbClr val="FFFFFF"/>
              </a:solidFill>
              <a:effectLst/>
              <a:uFillTx/>
              <a:latin typeface="Arial"/>
            </a:endParaRPr>
          </a:p>
        </p:txBody>
      </p:sp>
      <p:sp>
        <p:nvSpPr>
          <p:cNvPr id="316" name="Shape 4"/>
          <p:cNvSpPr/>
          <p:nvPr/>
        </p:nvSpPr>
        <p:spPr>
          <a:xfrm>
            <a:off x="502920" y="831960"/>
            <a:ext cx="1325160" cy="36000"/>
          </a:xfrm>
          <a:prstGeom prst="rect">
            <a:avLst/>
          </a:prstGeom>
          <a:solidFill>
            <a:srgbClr val="17C9E8"/>
          </a:solidFill>
          <a:ln w="12700">
            <a:solidFill>
              <a:srgbClr val="17C9E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317" name="Text 5"/>
          <p:cNvSpPr/>
          <p:nvPr/>
        </p:nvSpPr>
        <p:spPr>
          <a:xfrm>
            <a:off x="1938600" y="768240"/>
            <a:ext cx="7131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3C7"/>
                </a:solidFill>
                <a:effectLst/>
                <a:uFillTx/>
                <a:latin typeface="Aptos"/>
              </a:rPr>
              <a:t>Main takeaway from the literature review</a:t>
            </a:r>
            <a:endParaRPr lang="en-US" sz="950" b="0" u="none" strike="noStrike">
              <a:solidFill>
                <a:srgbClr val="FFFFFF"/>
              </a:solidFill>
              <a:effectLst/>
              <a:uFillTx/>
              <a:latin typeface="Arial"/>
            </a:endParaRPr>
          </a:p>
        </p:txBody>
      </p:sp>
      <p:sp>
        <p:nvSpPr>
          <p:cNvPr id="318" name="Shape 6"/>
          <p:cNvSpPr/>
          <p:nvPr/>
        </p:nvSpPr>
        <p:spPr>
          <a:xfrm>
            <a:off x="777240" y="1170360"/>
            <a:ext cx="5257080" cy="1050840"/>
          </a:xfrm>
          <a:prstGeom prst="roundRect">
            <a:avLst>
              <a:gd name="adj" fmla="val 6957"/>
            </a:avLst>
          </a:prstGeom>
          <a:solidFill>
            <a:srgbClr val="101B31"/>
          </a:solidFill>
          <a:ln w="12700">
            <a:solidFill>
              <a:srgbClr val="17C9E8">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19" name="Shape 7"/>
          <p:cNvSpPr/>
          <p:nvPr/>
        </p:nvSpPr>
        <p:spPr>
          <a:xfrm>
            <a:off x="777240" y="1170360"/>
            <a:ext cx="54000" cy="1050840"/>
          </a:xfrm>
          <a:prstGeom prst="rect">
            <a:avLst/>
          </a:prstGeom>
          <a:solidFill>
            <a:srgbClr val="17C9E8"/>
          </a:solidFill>
          <a:ln w="12700">
            <a:solidFill>
              <a:srgbClr val="17C9E8"/>
            </a:solidFill>
            <a:round/>
          </a:ln>
        </p:spPr>
        <p:style>
          <a:lnRef idx="0"/>
          <a:fillRef idx="0"/>
          <a:effectRef idx="0"/>
          <a:fontRef idx="minor"/>
        </p:style>
        <p:txBody>
          <a:bodyPr lIns="27000" tIns="45000" rIns="27000" bIns="45000" anchor="t">
            <a:noAutofit/>
          </a:bodyPr>
          <a:p>
            <a:endParaRPr lang="en-US" sz="1800" b="0" u="none" strike="noStrike">
              <a:solidFill>
                <a:srgbClr val="000000"/>
              </a:solidFill>
              <a:effectLst/>
              <a:uFillTx/>
              <a:latin typeface="Arial"/>
            </a:endParaRPr>
          </a:p>
        </p:txBody>
      </p:sp>
      <p:sp>
        <p:nvSpPr>
          <p:cNvPr id="320" name="Text 8"/>
          <p:cNvSpPr/>
          <p:nvPr/>
        </p:nvSpPr>
        <p:spPr>
          <a:xfrm>
            <a:off x="960120" y="1280160"/>
            <a:ext cx="498276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F8FAFC"/>
                </a:solidFill>
                <a:effectLst/>
                <a:uFillTx/>
                <a:latin typeface="Aptos"/>
              </a:rPr>
              <a:t>Main conclusion</a:t>
            </a:r>
            <a:endParaRPr lang="en-US" sz="1300" b="0" u="none" strike="noStrike">
              <a:solidFill>
                <a:srgbClr val="FFFFFF"/>
              </a:solidFill>
              <a:effectLst/>
              <a:uFillTx/>
              <a:latin typeface="Arial"/>
            </a:endParaRPr>
          </a:p>
        </p:txBody>
      </p:sp>
      <p:sp>
        <p:nvSpPr>
          <p:cNvPr id="321" name="Text 9"/>
          <p:cNvSpPr/>
          <p:nvPr/>
        </p:nvSpPr>
        <p:spPr>
          <a:xfrm>
            <a:off x="960120" y="1581840"/>
            <a:ext cx="49827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70" b="0" u="none" strike="noStrike">
                <a:solidFill>
                  <a:srgbClr val="A8B3C7"/>
                </a:solidFill>
                <a:effectLst/>
                <a:uFillTx/>
                <a:latin typeface="Aptos"/>
              </a:rPr>
              <a:t>Existing FL-based IoT IDS research reduces raw-data sharing but still faces privacy leakage, poisoning, free-rider, non-IID, and explainability challenges.</a:t>
            </a:r>
            <a:endParaRPr lang="en-US" sz="970" b="0" u="none" strike="noStrike">
              <a:solidFill>
                <a:srgbClr val="FFFFFF"/>
              </a:solidFill>
              <a:effectLst/>
              <a:uFillTx/>
              <a:latin typeface="Arial"/>
            </a:endParaRPr>
          </a:p>
        </p:txBody>
      </p:sp>
      <p:sp>
        <p:nvSpPr>
          <p:cNvPr id="322" name="Shape 10"/>
          <p:cNvSpPr/>
          <p:nvPr/>
        </p:nvSpPr>
        <p:spPr>
          <a:xfrm>
            <a:off x="777240" y="2496240"/>
            <a:ext cx="5257080" cy="1050840"/>
          </a:xfrm>
          <a:prstGeom prst="roundRect">
            <a:avLst>
              <a:gd name="adj" fmla="val 6957"/>
            </a:avLst>
          </a:prstGeom>
          <a:solidFill>
            <a:srgbClr val="101B31"/>
          </a:solidFill>
          <a:ln w="12700">
            <a:solidFill>
              <a:srgbClr val="48D597">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3" name="Shape 11"/>
          <p:cNvSpPr/>
          <p:nvPr/>
        </p:nvSpPr>
        <p:spPr>
          <a:xfrm>
            <a:off x="777240" y="2496240"/>
            <a:ext cx="54000" cy="1050840"/>
          </a:xfrm>
          <a:prstGeom prst="rect">
            <a:avLst/>
          </a:prstGeom>
          <a:solidFill>
            <a:srgbClr val="48D597"/>
          </a:solidFill>
          <a:ln w="12700">
            <a:solidFill>
              <a:srgbClr val="48D597"/>
            </a:solidFill>
            <a:round/>
          </a:ln>
        </p:spPr>
        <p:style>
          <a:lnRef idx="0"/>
          <a:fillRef idx="0"/>
          <a:effectRef idx="0"/>
          <a:fontRef idx="minor"/>
        </p:style>
        <p:txBody>
          <a:bodyPr lIns="27000" tIns="45000" rIns="27000" bIns="45000" anchor="t">
            <a:noAutofit/>
          </a:bodyPr>
          <a:p>
            <a:endParaRPr lang="en-US" sz="1800" b="0" u="none" strike="noStrike">
              <a:solidFill>
                <a:srgbClr val="000000"/>
              </a:solidFill>
              <a:effectLst/>
              <a:uFillTx/>
              <a:latin typeface="Arial"/>
            </a:endParaRPr>
          </a:p>
        </p:txBody>
      </p:sp>
      <p:sp>
        <p:nvSpPr>
          <p:cNvPr id="324" name="Text 12"/>
          <p:cNvSpPr/>
          <p:nvPr/>
        </p:nvSpPr>
        <p:spPr>
          <a:xfrm>
            <a:off x="960120" y="2606040"/>
            <a:ext cx="498276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F8FAFC"/>
                </a:solidFill>
                <a:effectLst/>
                <a:uFillTx/>
                <a:latin typeface="Aptos"/>
              </a:rPr>
              <a:t>Why PRIVATE SHIELD is needed</a:t>
            </a:r>
            <a:endParaRPr lang="en-US" sz="1300" b="0" u="none" strike="noStrike">
              <a:solidFill>
                <a:srgbClr val="FFFFFF"/>
              </a:solidFill>
              <a:effectLst/>
              <a:uFillTx/>
              <a:latin typeface="Arial"/>
            </a:endParaRPr>
          </a:p>
        </p:txBody>
      </p:sp>
      <p:sp>
        <p:nvSpPr>
          <p:cNvPr id="325" name="Text 13"/>
          <p:cNvSpPr/>
          <p:nvPr/>
        </p:nvSpPr>
        <p:spPr>
          <a:xfrm>
            <a:off x="960120" y="2907720"/>
            <a:ext cx="49827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70" b="0" u="none" strike="noStrike">
                <a:solidFill>
                  <a:srgbClr val="A8B3C7"/>
                </a:solidFill>
                <a:effectLst/>
                <a:uFillTx/>
                <a:latin typeface="Aptos"/>
              </a:rPr>
              <a:t>The project proposes a unified, edge-focused framework that combines FL, DP, adversarial filtering, reputation validation, and SOC visualization.</a:t>
            </a:r>
            <a:endParaRPr lang="en-US" sz="970" b="0" u="none" strike="noStrike">
              <a:solidFill>
                <a:srgbClr val="FFFFFF"/>
              </a:solidFill>
              <a:effectLst/>
              <a:uFillTx/>
              <a:latin typeface="Arial"/>
            </a:endParaRPr>
          </a:p>
        </p:txBody>
      </p:sp>
      <p:sp>
        <p:nvSpPr>
          <p:cNvPr id="326" name="Shape 14"/>
          <p:cNvSpPr/>
          <p:nvPr/>
        </p:nvSpPr>
        <p:spPr>
          <a:xfrm>
            <a:off x="777240" y="3822120"/>
            <a:ext cx="5257080" cy="1050840"/>
          </a:xfrm>
          <a:prstGeom prst="roundRect">
            <a:avLst>
              <a:gd name="adj" fmla="val 6957"/>
            </a:avLst>
          </a:prstGeom>
          <a:solidFill>
            <a:srgbClr val="101B31"/>
          </a:solidFill>
          <a:ln w="12700">
            <a:solidFill>
              <a:srgbClr val="A78BFA">
                <a:alpha val="45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7" name="Shape 15"/>
          <p:cNvSpPr/>
          <p:nvPr/>
        </p:nvSpPr>
        <p:spPr>
          <a:xfrm>
            <a:off x="777240" y="3822120"/>
            <a:ext cx="54000" cy="1050840"/>
          </a:xfrm>
          <a:prstGeom prst="rect">
            <a:avLst/>
          </a:prstGeom>
          <a:solidFill>
            <a:srgbClr val="A78BFA"/>
          </a:solidFill>
          <a:ln w="12700">
            <a:solidFill>
              <a:srgbClr val="A78BFA"/>
            </a:solidFill>
            <a:round/>
          </a:ln>
        </p:spPr>
        <p:style>
          <a:lnRef idx="0"/>
          <a:fillRef idx="0"/>
          <a:effectRef idx="0"/>
          <a:fontRef idx="minor"/>
        </p:style>
        <p:txBody>
          <a:bodyPr lIns="27000" tIns="45000" rIns="27000" bIns="45000" anchor="t">
            <a:noAutofit/>
          </a:bodyPr>
          <a:p>
            <a:endParaRPr lang="en-US" sz="1800" b="0" u="none" strike="noStrike">
              <a:solidFill>
                <a:srgbClr val="FFFFFF"/>
              </a:solidFill>
              <a:effectLst/>
              <a:uFillTx/>
              <a:latin typeface="Arial"/>
            </a:endParaRPr>
          </a:p>
        </p:txBody>
      </p:sp>
      <p:sp>
        <p:nvSpPr>
          <p:cNvPr id="328" name="Text 16"/>
          <p:cNvSpPr/>
          <p:nvPr/>
        </p:nvSpPr>
        <p:spPr>
          <a:xfrm>
            <a:off x="960120" y="3931920"/>
            <a:ext cx="498276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00" b="1" u="none" strike="noStrike">
                <a:solidFill>
                  <a:srgbClr val="F8FAFC"/>
                </a:solidFill>
                <a:effectLst/>
                <a:uFillTx/>
                <a:latin typeface="Aptos"/>
              </a:rPr>
              <a:t>Expected contribution</a:t>
            </a:r>
            <a:endParaRPr lang="en-US" sz="1300" b="0" u="none" strike="noStrike">
              <a:solidFill>
                <a:srgbClr val="FFFFFF"/>
              </a:solidFill>
              <a:effectLst/>
              <a:uFillTx/>
              <a:latin typeface="Arial"/>
            </a:endParaRPr>
          </a:p>
        </p:txBody>
      </p:sp>
      <p:sp>
        <p:nvSpPr>
          <p:cNvPr id="329" name="Text 17"/>
          <p:cNvSpPr/>
          <p:nvPr/>
        </p:nvSpPr>
        <p:spPr>
          <a:xfrm>
            <a:off x="960120" y="4233600"/>
            <a:ext cx="4982760" cy="5479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970" b="0" u="none" strike="noStrike">
                <a:solidFill>
                  <a:srgbClr val="A8B3C7"/>
                </a:solidFill>
                <a:effectLst/>
                <a:uFillTx/>
                <a:latin typeface="Aptos"/>
              </a:rPr>
              <a:t>A privacy-preserving and adversarial-aware IoT threat-detection architecture suitable for academic implementation and evaluation.</a:t>
            </a:r>
            <a:endParaRPr lang="en-US" sz="970" b="0" u="none" strike="noStrike">
              <a:solidFill>
                <a:srgbClr val="FFFFFF"/>
              </a:solidFill>
              <a:effectLst/>
              <a:uFillTx/>
              <a:latin typeface="Arial"/>
            </a:endParaRPr>
          </a:p>
        </p:txBody>
      </p:sp>
      <p:sp>
        <p:nvSpPr>
          <p:cNvPr id="330" name="Text 18"/>
          <p:cNvSpPr/>
          <p:nvPr/>
        </p:nvSpPr>
        <p:spPr>
          <a:xfrm>
            <a:off x="6629400" y="1234440"/>
            <a:ext cx="3565440" cy="328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8FAFC"/>
                </a:solidFill>
                <a:effectLst/>
                <a:uFillTx/>
                <a:latin typeface="Aptos"/>
              </a:rPr>
              <a:t>Future work</a:t>
            </a:r>
            <a:endParaRPr lang="en-US" sz="2200" b="0" u="none" strike="noStrike">
              <a:solidFill>
                <a:srgbClr val="FFFFFF"/>
              </a:solidFill>
              <a:effectLst/>
              <a:uFillTx/>
              <a:latin typeface="Arial"/>
            </a:endParaRPr>
          </a:p>
        </p:txBody>
      </p:sp>
      <p:sp>
        <p:nvSpPr>
          <p:cNvPr id="331" name="Shape 19"/>
          <p:cNvSpPr/>
          <p:nvPr/>
        </p:nvSpPr>
        <p:spPr>
          <a:xfrm>
            <a:off x="6629400" y="1874520"/>
            <a:ext cx="4315320" cy="913680"/>
          </a:xfrm>
          <a:prstGeom prst="roundRect">
            <a:avLst>
              <a:gd name="adj" fmla="val 8000"/>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2" name="Shape 20"/>
          <p:cNvSpPr/>
          <p:nvPr/>
        </p:nvSpPr>
        <p:spPr>
          <a:xfrm>
            <a:off x="6793920" y="2030040"/>
            <a:ext cx="474840" cy="474840"/>
          </a:xfrm>
          <a:prstGeom prst="roundRect">
            <a:avLst>
              <a:gd name="adj" fmla="val 9615"/>
            </a:avLst>
          </a:prstGeom>
          <a:solidFill>
            <a:srgbClr val="F4C542">
              <a:alpha val="90000"/>
            </a:srgbClr>
          </a:solidFill>
          <a:ln w="12700">
            <a:solidFill>
              <a:srgbClr val="F4C542">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3" name="Text 21"/>
          <p:cNvSpPr/>
          <p:nvPr/>
        </p:nvSpPr>
        <p:spPr>
          <a:xfrm>
            <a:off x="6849000" y="209412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1</a:t>
            </a:r>
            <a:endParaRPr lang="en-US" sz="1600" b="0" u="none" strike="noStrike">
              <a:solidFill>
                <a:srgbClr val="FFFFFF"/>
              </a:solidFill>
              <a:effectLst/>
              <a:uFillTx/>
              <a:latin typeface="Arial"/>
            </a:endParaRPr>
          </a:p>
        </p:txBody>
      </p:sp>
      <p:sp>
        <p:nvSpPr>
          <p:cNvPr id="334" name="Text 22"/>
          <p:cNvSpPr/>
          <p:nvPr/>
        </p:nvSpPr>
        <p:spPr>
          <a:xfrm>
            <a:off x="7397640" y="2020680"/>
            <a:ext cx="338256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Prototype evaluation</a:t>
            </a:r>
            <a:endParaRPr lang="en-US" sz="1350" b="0" u="none" strike="noStrike">
              <a:solidFill>
                <a:srgbClr val="FFFFFF"/>
              </a:solidFill>
              <a:effectLst/>
              <a:uFillTx/>
              <a:latin typeface="Arial"/>
            </a:endParaRPr>
          </a:p>
        </p:txBody>
      </p:sp>
      <p:sp>
        <p:nvSpPr>
          <p:cNvPr id="335" name="Text 23"/>
          <p:cNvSpPr/>
          <p:nvPr/>
        </p:nvSpPr>
        <p:spPr>
          <a:xfrm>
            <a:off x="7397640" y="2331720"/>
            <a:ext cx="3382560" cy="3193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030" b="0" u="none" strike="noStrike">
                <a:solidFill>
                  <a:srgbClr val="A8B3C7"/>
                </a:solidFill>
                <a:effectLst/>
                <a:uFillTx/>
                <a:latin typeface="Aptos"/>
              </a:rPr>
              <a:t>Test centralized versus federated models under normal, non-IID and adversarial client settings.</a:t>
            </a:r>
            <a:endParaRPr lang="en-US" sz="1030" b="0" u="none" strike="noStrike">
              <a:solidFill>
                <a:srgbClr val="FFFFFF"/>
              </a:solidFill>
              <a:effectLst/>
              <a:uFillTx/>
              <a:latin typeface="Arial"/>
            </a:endParaRPr>
          </a:p>
        </p:txBody>
      </p:sp>
      <p:sp>
        <p:nvSpPr>
          <p:cNvPr id="336" name="Shape 24"/>
          <p:cNvSpPr/>
          <p:nvPr/>
        </p:nvSpPr>
        <p:spPr>
          <a:xfrm>
            <a:off x="6629400" y="3090600"/>
            <a:ext cx="4315320" cy="913680"/>
          </a:xfrm>
          <a:prstGeom prst="roundRect">
            <a:avLst>
              <a:gd name="adj" fmla="val 8000"/>
            </a:avLst>
          </a:prstGeom>
          <a:solidFill>
            <a:srgbClr val="101B31"/>
          </a:solidFill>
          <a:ln w="12700">
            <a:solidFill>
              <a:srgbClr val="2B3B5C">
                <a:alpha val="9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7" name="Shape 25"/>
          <p:cNvSpPr/>
          <p:nvPr/>
        </p:nvSpPr>
        <p:spPr>
          <a:xfrm>
            <a:off x="6793920" y="3246120"/>
            <a:ext cx="474840" cy="474840"/>
          </a:xfrm>
          <a:prstGeom prst="roundRect">
            <a:avLst>
              <a:gd name="adj" fmla="val 9615"/>
            </a:avLst>
          </a:prstGeom>
          <a:solidFill>
            <a:srgbClr val="17C9E8">
              <a:alpha val="90000"/>
            </a:srgbClr>
          </a:solidFill>
          <a:ln w="12700">
            <a:solidFill>
              <a:srgbClr val="17C9E8">
                <a:alpha val="65000"/>
              </a:srgbClr>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8" name="Text 26"/>
          <p:cNvSpPr/>
          <p:nvPr/>
        </p:nvSpPr>
        <p:spPr>
          <a:xfrm>
            <a:off x="6849000" y="3310200"/>
            <a:ext cx="365040" cy="3466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07111F"/>
                </a:solidFill>
                <a:effectLst/>
                <a:uFillTx/>
                <a:latin typeface="Aptos"/>
              </a:rPr>
              <a:t>2</a:t>
            </a:r>
            <a:endParaRPr lang="en-US" sz="1600" b="0" u="none" strike="noStrike">
              <a:solidFill>
                <a:srgbClr val="FFFFFF"/>
              </a:solidFill>
              <a:effectLst/>
              <a:uFillTx/>
              <a:latin typeface="Arial"/>
            </a:endParaRPr>
          </a:p>
        </p:txBody>
      </p:sp>
      <p:sp>
        <p:nvSpPr>
          <p:cNvPr id="339" name="Text 27"/>
          <p:cNvSpPr/>
          <p:nvPr/>
        </p:nvSpPr>
        <p:spPr>
          <a:xfrm>
            <a:off x="7397640" y="3237120"/>
            <a:ext cx="3382560" cy="2368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350" b="1" u="none" strike="noStrike">
                <a:solidFill>
                  <a:srgbClr val="F8FAFC"/>
                </a:solidFill>
                <a:effectLst/>
                <a:uFillTx/>
                <a:latin typeface="Aptos"/>
              </a:rPr>
              <a:t>Dashboard validation</a:t>
            </a:r>
            <a:endParaRPr lang="en-US" sz="1350" b="0" u="none" strike="noStrike">
              <a:solidFill>
                <a:srgbClr val="FFFFFF"/>
              </a:solidFill>
              <a:effectLst/>
              <a:uFillTx/>
              <a:latin typeface="Arial"/>
            </a:endParaRPr>
          </a:p>
        </p:txBody>
      </p:sp>
      <p:sp>
        <p:nvSpPr>
          <p:cNvPr id="340" name="Text 28"/>
          <p:cNvSpPr/>
          <p:nvPr/>
        </p:nvSpPr>
        <p:spPr>
          <a:xfrm>
            <a:off x="7397640" y="3547800"/>
            <a:ext cx="3382560" cy="319320"/>
          </a:xfrm>
          <a:prstGeom prst="rect">
            <a:avLst/>
          </a:prstGeom>
          <a:noFill/>
          <a:ln w="0">
            <a:noFill/>
          </a:ln>
        </p:spPr>
        <p:style>
          <a:lnRef idx="0"/>
          <a:fillRef idx="0"/>
          <a:effectRef idx="0"/>
          <a:fontRef idx="minor"/>
        </p:style>
        <p:txBody>
          <a:bodyPr lIns="360" tIns="360" rIns="360" bIns="360" anchor="t">
            <a:normAutofit/>
          </a:bodyPr>
          <a:p>
            <a:pPr defTabSz="914400">
              <a:lnSpc>
                <a:spcPct val="100000"/>
              </a:lnSpc>
              <a:tabLst>
                <a:tab pos="0" algn="l"/>
              </a:tabLst>
            </a:pPr>
            <a:r>
              <a:rPr lang="en-US" sz="1030" b="0" u="none" strike="noStrike">
                <a:solidFill>
                  <a:srgbClr val="A8B3C7"/>
                </a:solidFill>
                <a:effectLst/>
                <a:uFillTx/>
                <a:latin typeface="Aptos"/>
              </a:rPr>
              <a:t>Evaluate whether LLM-generated forensic summaries help users interpret threat alerts faster.</a:t>
            </a:r>
            <a:endParaRPr lang="en-US" sz="103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341" name="Shape 0"/>
          <p:cNvSpPr/>
          <p:nvPr/>
        </p:nvSpPr>
        <p:spPr>
          <a:xfrm>
            <a:off x="0" y="0"/>
            <a:ext cx="12191040" cy="6857280"/>
          </a:xfrm>
          <a:prstGeom prst="rect">
            <a:avLst/>
          </a:prstGeom>
          <a:solidFill>
            <a:srgbClr val="0B1020"/>
          </a:solidFill>
          <a:ln w="12700">
            <a:solidFill>
              <a:srgbClr val="0B1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2"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3"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344" name="Text 3"/>
          <p:cNvSpPr/>
          <p:nvPr/>
        </p:nvSpPr>
        <p:spPr>
          <a:xfrm>
            <a:off x="502920" y="329040"/>
            <a:ext cx="9966240" cy="410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F8FAFC"/>
                </a:solidFill>
                <a:effectLst/>
                <a:uFillTx/>
                <a:latin typeface="Aptos Display"/>
                <a:ea typeface="Aptos Display"/>
              </a:rPr>
              <a:t>References I</a:t>
            </a:r>
            <a:endParaRPr lang="en-US" sz="2600" b="0" u="none" strike="noStrike">
              <a:solidFill>
                <a:srgbClr val="FFFFFF"/>
              </a:solidFill>
              <a:effectLst/>
              <a:uFillTx/>
              <a:latin typeface="Arial"/>
            </a:endParaRPr>
          </a:p>
        </p:txBody>
      </p:sp>
      <p:sp>
        <p:nvSpPr>
          <p:cNvPr id="345" name="Shape 4"/>
          <p:cNvSpPr/>
          <p:nvPr/>
        </p:nvSpPr>
        <p:spPr>
          <a:xfrm>
            <a:off x="502920" y="831960"/>
            <a:ext cx="1325160" cy="36000"/>
          </a:xfrm>
          <a:prstGeom prst="rect">
            <a:avLst/>
          </a:prstGeom>
          <a:solidFill>
            <a:srgbClr val="17C9E8"/>
          </a:solidFill>
          <a:ln w="12700">
            <a:solidFill>
              <a:srgbClr val="17C9E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346" name="Text 5"/>
          <p:cNvSpPr/>
          <p:nvPr/>
        </p:nvSpPr>
        <p:spPr>
          <a:xfrm>
            <a:off x="1938600" y="768240"/>
            <a:ext cx="7131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3C7"/>
                </a:solidFill>
                <a:effectLst/>
                <a:uFillTx/>
                <a:latin typeface="Aptos"/>
              </a:rPr>
              <a:t>IEEE-style references used in the slides</a:t>
            </a:r>
            <a:endParaRPr lang="en-US" sz="950" b="0" u="none" strike="noStrike">
              <a:solidFill>
                <a:srgbClr val="FFFFFF"/>
              </a:solidFill>
              <a:effectLst/>
              <a:uFillTx/>
              <a:latin typeface="Arial"/>
            </a:endParaRPr>
          </a:p>
        </p:txBody>
      </p:sp>
      <p:sp>
        <p:nvSpPr>
          <p:cNvPr id="347" name="Shape 6"/>
          <p:cNvSpPr/>
          <p:nvPr/>
        </p:nvSpPr>
        <p:spPr>
          <a:xfrm>
            <a:off x="658440" y="1097280"/>
            <a:ext cx="10926360" cy="639360"/>
          </a:xfrm>
          <a:prstGeom prst="roundRect">
            <a:avLst>
              <a:gd name="adj" fmla="val 5714"/>
            </a:avLst>
          </a:prstGeom>
          <a:solidFill>
            <a:srgbClr val="101B31"/>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8" name="Text 7"/>
          <p:cNvSpPr/>
          <p:nvPr/>
        </p:nvSpPr>
        <p:spPr>
          <a:xfrm>
            <a:off x="868680" y="119772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[1] I. A. Soomro, H. U. Rehman, S. J. Hussain, A. Iqbal, W. Khalid, and H. Yu, “SecureDyn-FL: A Robust Privacy-Preserving Federated Learning Framework for Intrusion Detection in IoT Networks,” arXiv:2601.06466, 2026.</a:t>
            </a:r>
            <a:endParaRPr lang="en-US" sz="839" b="0" u="none" strike="noStrike">
              <a:solidFill>
                <a:srgbClr val="FFFFFF"/>
              </a:solidFill>
              <a:effectLst/>
              <a:uFillTx/>
              <a:latin typeface="Arial"/>
            </a:endParaRPr>
          </a:p>
        </p:txBody>
      </p:sp>
      <p:sp>
        <p:nvSpPr>
          <p:cNvPr id="349" name="Shape 8"/>
          <p:cNvSpPr/>
          <p:nvPr/>
        </p:nvSpPr>
        <p:spPr>
          <a:xfrm>
            <a:off x="658440" y="1883520"/>
            <a:ext cx="10926360" cy="639360"/>
          </a:xfrm>
          <a:prstGeom prst="roundRect">
            <a:avLst>
              <a:gd name="adj" fmla="val 5714"/>
            </a:avLst>
          </a:prstGeom>
          <a:solidFill>
            <a:srgbClr val="14223C"/>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0" name="Text 9"/>
          <p:cNvSpPr/>
          <p:nvPr/>
        </p:nvSpPr>
        <p:spPr>
          <a:xfrm>
            <a:off x="868680" y="198432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[2] S. Izadi and M. Ahmadi, “Adaptive Meta-Aggregation Federated Learning for Intrusion Detection in Heterogeneous Internet of Things,” arXiv:2602.12541, 2026.</a:t>
            </a:r>
            <a:endParaRPr lang="en-US" sz="839" b="0" u="none" strike="noStrike">
              <a:solidFill>
                <a:srgbClr val="FFFFFF"/>
              </a:solidFill>
              <a:effectLst/>
              <a:uFillTx/>
              <a:latin typeface="Arial"/>
            </a:endParaRPr>
          </a:p>
        </p:txBody>
      </p:sp>
      <p:sp>
        <p:nvSpPr>
          <p:cNvPr id="351" name="Shape 10"/>
          <p:cNvSpPr/>
          <p:nvPr/>
        </p:nvSpPr>
        <p:spPr>
          <a:xfrm>
            <a:off x="658440" y="2670120"/>
            <a:ext cx="10926360" cy="639360"/>
          </a:xfrm>
          <a:prstGeom prst="roundRect">
            <a:avLst>
              <a:gd name="adj" fmla="val 5714"/>
            </a:avLst>
          </a:prstGeom>
          <a:solidFill>
            <a:srgbClr val="101B31"/>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2" name="Text 11"/>
          <p:cNvSpPr/>
          <p:nvPr/>
        </p:nvSpPr>
        <p:spPr>
          <a:xfrm>
            <a:off x="868680" y="277056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[3] S. Izadi and M. Ahmadi, “Lightweight Cluster-Based Federated Learning for Intrusion Detection in Heterogeneous IoT Networks,” arXiv:2602.12543, 2026.</a:t>
            </a:r>
            <a:endParaRPr lang="en-US" sz="839" b="0" u="none" strike="noStrike">
              <a:solidFill>
                <a:srgbClr val="FFFFFF"/>
              </a:solidFill>
              <a:effectLst/>
              <a:uFillTx/>
              <a:latin typeface="Arial"/>
            </a:endParaRPr>
          </a:p>
        </p:txBody>
      </p:sp>
      <p:sp>
        <p:nvSpPr>
          <p:cNvPr id="353" name="Shape 12"/>
          <p:cNvSpPr/>
          <p:nvPr/>
        </p:nvSpPr>
        <p:spPr>
          <a:xfrm>
            <a:off x="658440" y="3456360"/>
            <a:ext cx="10926360" cy="639360"/>
          </a:xfrm>
          <a:prstGeom prst="roundRect">
            <a:avLst>
              <a:gd name="adj" fmla="val 5714"/>
            </a:avLst>
          </a:prstGeom>
          <a:solidFill>
            <a:srgbClr val="14223C"/>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4" name="Text 13"/>
          <p:cNvSpPr/>
          <p:nvPr/>
        </p:nvSpPr>
        <p:spPr>
          <a:xfrm>
            <a:off x="868680" y="355716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[4] G. Singh, K. Sood, P. Rajalakshmi, and Y. Xiang, “Sentinel: Dynamic Knowledge Distillation for Personalized Federated Intrusion Detection in Heterogeneous IoT Networks,” arXiv:2510.23019, 2025.</a:t>
            </a:r>
            <a:endParaRPr lang="en-US" sz="839" b="0" u="none" strike="noStrike">
              <a:solidFill>
                <a:srgbClr val="FFFFFF"/>
              </a:solidFill>
              <a:effectLst/>
              <a:uFillTx/>
              <a:latin typeface="Arial"/>
            </a:endParaRPr>
          </a:p>
        </p:txBody>
      </p:sp>
      <p:sp>
        <p:nvSpPr>
          <p:cNvPr id="355" name="Shape 14"/>
          <p:cNvSpPr/>
          <p:nvPr/>
        </p:nvSpPr>
        <p:spPr>
          <a:xfrm>
            <a:off x="658440" y="4242960"/>
            <a:ext cx="10926360" cy="639360"/>
          </a:xfrm>
          <a:prstGeom prst="roundRect">
            <a:avLst>
              <a:gd name="adj" fmla="val 5714"/>
            </a:avLst>
          </a:prstGeom>
          <a:solidFill>
            <a:srgbClr val="101B31"/>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6" name="Text 15"/>
          <p:cNvSpPr/>
          <p:nvPr/>
        </p:nvSpPr>
        <p:spPr>
          <a:xfrm>
            <a:off x="868680" y="434340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[5] J. Shen, W. Yang, Z. Chu, J. Fan, D. Niyato, and K.-Y. Lam, “Effective Intrusion Detection in Heterogeneous Internet-of-Things Networks via Ensemble Knowledge Distillation-based Federated Learning,” arXiv:2401.11968, 2024.</a:t>
            </a:r>
            <a:endParaRPr lang="en-US" sz="839" b="0" u="none" strike="noStrike">
              <a:solidFill>
                <a:srgbClr val="FFFFFF"/>
              </a:solidFill>
              <a:effectLst/>
              <a:uFillTx/>
              <a:latin typeface="Arial"/>
            </a:endParaRPr>
          </a:p>
        </p:txBody>
      </p:sp>
      <p:sp>
        <p:nvSpPr>
          <p:cNvPr id="357" name="Shape 16"/>
          <p:cNvSpPr/>
          <p:nvPr/>
        </p:nvSpPr>
        <p:spPr>
          <a:xfrm>
            <a:off x="658440" y="5029200"/>
            <a:ext cx="10926360" cy="639360"/>
          </a:xfrm>
          <a:prstGeom prst="roundRect">
            <a:avLst>
              <a:gd name="adj" fmla="val 5714"/>
            </a:avLst>
          </a:prstGeom>
          <a:solidFill>
            <a:srgbClr val="14223C"/>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8" name="Text 17"/>
          <p:cNvSpPr/>
          <p:nvPr/>
        </p:nvSpPr>
        <p:spPr>
          <a:xfrm>
            <a:off x="868680" y="512964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[6] S. Sun, P. Sharma, K. Nwodo, A. Stavrou, and H. Wang, “FedMADE: Robust Federated Learning for Intrusion Detection in IoT Networks Using a Dynamic Aggregation Method,” arXiv:2408.07152, 2024.</a:t>
            </a:r>
            <a:endParaRPr lang="en-US" sz="839"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020"/>
        </a:solidFill>
      </p:bgPr>
    </p:bg>
    <p:spTree>
      <p:nvGrpSpPr>
        <p:cNvPr id="1" name=""/>
        <p:cNvGrpSpPr/>
        <p:nvPr/>
      </p:nvGrpSpPr>
      <p:grpSpPr>
        <a:xfrm>
          <a:off x="0" y="0"/>
          <a:ext cx="0" cy="0"/>
          <a:chOff x="0" y="0"/>
          <a:chExt cx="0" cy="0"/>
        </a:xfrm>
      </p:grpSpPr>
      <p:sp>
        <p:nvSpPr>
          <p:cNvPr id="359" name="Shape 0"/>
          <p:cNvSpPr/>
          <p:nvPr/>
        </p:nvSpPr>
        <p:spPr>
          <a:xfrm>
            <a:off x="0" y="0"/>
            <a:ext cx="12191040" cy="6857280"/>
          </a:xfrm>
          <a:prstGeom prst="rect">
            <a:avLst/>
          </a:prstGeom>
          <a:solidFill>
            <a:srgbClr val="0B1020"/>
          </a:solidFill>
          <a:ln w="12700">
            <a:solidFill>
              <a:srgbClr val="0B102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0" name="Shape 1"/>
          <p:cNvSpPr/>
          <p:nvPr/>
        </p:nvSpPr>
        <p:spPr>
          <a:xfrm>
            <a:off x="0" y="6364080"/>
            <a:ext cx="12191040" cy="493200"/>
          </a:xfrm>
          <a:prstGeom prst="rect">
            <a:avLst/>
          </a:prstGeom>
          <a:solidFill>
            <a:srgbClr val="08101E"/>
          </a:solidFill>
          <a:ln w="12700">
            <a:solidFill>
              <a:srgbClr val="08101E"/>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1" name="Text 2"/>
          <p:cNvSpPr/>
          <p:nvPr/>
        </p:nvSpPr>
        <p:spPr>
          <a:xfrm>
            <a:off x="365760" y="6446520"/>
            <a:ext cx="11475000" cy="200520"/>
          </a:xfrm>
          <a:prstGeom prst="rect">
            <a:avLst/>
          </a:prstGeom>
          <a:noFill/>
          <a:ln w="0">
            <a:noFill/>
          </a:ln>
        </p:spPr>
        <p:style>
          <a:lnRef idx="0"/>
          <a:fillRef idx="0"/>
          <a:effectRef idx="0"/>
          <a:fontRef idx="minor"/>
        </p:style>
        <p:txBody>
          <a:bodyPr lIns="0" tIns="0" rIns="0" bIns="0" anchor="ctr">
            <a:normAutofit/>
          </a:bodyPr>
          <a:p>
            <a:pPr algn="ctr" defTabSz="914400">
              <a:lnSpc>
                <a:spcPct val="100000"/>
              </a:lnSpc>
              <a:tabLst>
                <a:tab pos="0" algn="l"/>
              </a:tabLst>
            </a:pPr>
            <a:r>
              <a:rPr lang="en-US" sz="780" b="0" u="none" strike="noStrike">
                <a:solidFill>
                  <a:srgbClr val="A8B3C7"/>
                </a:solidFill>
                <a:effectLst/>
                <a:uFillTx/>
                <a:latin typeface="Aptos"/>
                <a:ea typeface="Aptos"/>
              </a:rPr>
              <a:t>Group 06 | Md.Murad Ul Momin | Rima Saha | Sakia Tabassum Anonna | Ashraful Hossain Riyan</a:t>
            </a:r>
            <a:endParaRPr lang="en-US" sz="780" b="0" u="none" strike="noStrike">
              <a:solidFill>
                <a:srgbClr val="FFFFFF"/>
              </a:solidFill>
              <a:effectLst/>
              <a:uFillTx/>
              <a:latin typeface="Arial"/>
            </a:endParaRPr>
          </a:p>
        </p:txBody>
      </p:sp>
      <p:sp>
        <p:nvSpPr>
          <p:cNvPr id="362" name="Text 3"/>
          <p:cNvSpPr/>
          <p:nvPr/>
        </p:nvSpPr>
        <p:spPr>
          <a:xfrm>
            <a:off x="502920" y="329040"/>
            <a:ext cx="9966240" cy="41076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2600" b="1" u="none" strike="noStrike">
                <a:solidFill>
                  <a:srgbClr val="F8FAFC"/>
                </a:solidFill>
                <a:effectLst/>
                <a:uFillTx/>
                <a:latin typeface="Aptos Display"/>
                <a:ea typeface="Aptos Display"/>
              </a:rPr>
              <a:t>References II</a:t>
            </a:r>
            <a:endParaRPr lang="en-US" sz="2600" b="0" u="none" strike="noStrike">
              <a:solidFill>
                <a:srgbClr val="FFFFFF"/>
              </a:solidFill>
              <a:effectLst/>
              <a:uFillTx/>
              <a:latin typeface="Arial"/>
            </a:endParaRPr>
          </a:p>
        </p:txBody>
      </p:sp>
      <p:sp>
        <p:nvSpPr>
          <p:cNvPr id="363" name="Shape 4"/>
          <p:cNvSpPr/>
          <p:nvPr/>
        </p:nvSpPr>
        <p:spPr>
          <a:xfrm>
            <a:off x="502920" y="831960"/>
            <a:ext cx="1325160" cy="36000"/>
          </a:xfrm>
          <a:prstGeom prst="rect">
            <a:avLst/>
          </a:prstGeom>
          <a:solidFill>
            <a:srgbClr val="17C9E8"/>
          </a:solidFill>
          <a:ln w="12700">
            <a:solidFill>
              <a:srgbClr val="17C9E8"/>
            </a:solidFill>
            <a:round/>
          </a:ln>
        </p:spPr>
        <p:style>
          <a:lnRef idx="0"/>
          <a:fillRef idx="0"/>
          <a:effectRef idx="0"/>
          <a:fontRef idx="minor"/>
        </p:style>
        <p:txBody>
          <a:bodyPr lIns="90000" tIns="-8280" rIns="90000" bIns="-8280" anchor="t">
            <a:noAutofit/>
          </a:bodyPr>
          <a:p>
            <a:endParaRPr lang="en-US" sz="1800" b="0" u="none" strike="noStrike">
              <a:solidFill>
                <a:srgbClr val="000000"/>
              </a:solidFill>
              <a:effectLst/>
              <a:uFillTx/>
              <a:latin typeface="Arial"/>
            </a:endParaRPr>
          </a:p>
        </p:txBody>
      </p:sp>
      <p:sp>
        <p:nvSpPr>
          <p:cNvPr id="364" name="Text 5"/>
          <p:cNvSpPr/>
          <p:nvPr/>
        </p:nvSpPr>
        <p:spPr>
          <a:xfrm>
            <a:off x="1938600" y="768240"/>
            <a:ext cx="7131600" cy="2005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950" b="0" u="none" strike="noStrike">
                <a:solidFill>
                  <a:srgbClr val="A8B3C7"/>
                </a:solidFill>
                <a:effectLst/>
                <a:uFillTx/>
                <a:latin typeface="Aptos"/>
              </a:rPr>
              <a:t>IEEE-style references used in the slides</a:t>
            </a:r>
            <a:endParaRPr lang="en-US" sz="950" b="0" u="none" strike="noStrike">
              <a:solidFill>
                <a:srgbClr val="FFFFFF"/>
              </a:solidFill>
              <a:effectLst/>
              <a:uFillTx/>
              <a:latin typeface="Arial"/>
            </a:endParaRPr>
          </a:p>
        </p:txBody>
      </p:sp>
      <p:sp>
        <p:nvSpPr>
          <p:cNvPr id="365" name="Shape 6"/>
          <p:cNvSpPr/>
          <p:nvPr/>
        </p:nvSpPr>
        <p:spPr>
          <a:xfrm>
            <a:off x="658440" y="1097280"/>
            <a:ext cx="10926360" cy="639360"/>
          </a:xfrm>
          <a:prstGeom prst="roundRect">
            <a:avLst>
              <a:gd name="adj" fmla="val 5714"/>
            </a:avLst>
          </a:prstGeom>
          <a:solidFill>
            <a:srgbClr val="101B31"/>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6" name="Text 7"/>
          <p:cNvSpPr/>
          <p:nvPr/>
        </p:nvSpPr>
        <p:spPr>
          <a:xfrm>
            <a:off x="868680" y="119772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[7] N. Rattanavipanon and I. De Oliveira Nunes, “Poisoning Prevention in Federated Learning and Differential Privacy via Stateful Proofs of Execution,” arXiv:2404.06721, 2024.</a:t>
            </a:r>
            <a:endParaRPr lang="en-US" sz="839" b="0" u="none" strike="noStrike">
              <a:solidFill>
                <a:srgbClr val="FFFFFF"/>
              </a:solidFill>
              <a:effectLst/>
              <a:uFillTx/>
              <a:latin typeface="Arial"/>
            </a:endParaRPr>
          </a:p>
        </p:txBody>
      </p:sp>
      <p:sp>
        <p:nvSpPr>
          <p:cNvPr id="367" name="Shape 8"/>
          <p:cNvSpPr/>
          <p:nvPr/>
        </p:nvSpPr>
        <p:spPr>
          <a:xfrm>
            <a:off x="658440" y="1883520"/>
            <a:ext cx="10926360" cy="639360"/>
          </a:xfrm>
          <a:prstGeom prst="roundRect">
            <a:avLst>
              <a:gd name="adj" fmla="val 5714"/>
            </a:avLst>
          </a:prstGeom>
          <a:solidFill>
            <a:srgbClr val="14223C"/>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8" name="Text 9"/>
          <p:cNvSpPr/>
          <p:nvPr/>
        </p:nvSpPr>
        <p:spPr>
          <a:xfrm>
            <a:off x="868680" y="198432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[8] A. ElZemity and B. Arief, “Privacy Threats and Countermeasures in Federated Learning for Internet of Things: A Systematic Review,” arXiv:2407.18096, 2024.</a:t>
            </a:r>
            <a:endParaRPr lang="en-US" sz="839" b="0" u="none" strike="noStrike">
              <a:solidFill>
                <a:srgbClr val="FFFFFF"/>
              </a:solidFill>
              <a:effectLst/>
              <a:uFillTx/>
              <a:latin typeface="Arial"/>
            </a:endParaRPr>
          </a:p>
        </p:txBody>
      </p:sp>
      <p:sp>
        <p:nvSpPr>
          <p:cNvPr id="369" name="Shape 10"/>
          <p:cNvSpPr/>
          <p:nvPr/>
        </p:nvSpPr>
        <p:spPr>
          <a:xfrm>
            <a:off x="658440" y="2670120"/>
            <a:ext cx="10926360" cy="639360"/>
          </a:xfrm>
          <a:prstGeom prst="roundRect">
            <a:avLst>
              <a:gd name="adj" fmla="val 5714"/>
            </a:avLst>
          </a:prstGeom>
          <a:solidFill>
            <a:srgbClr val="101B31"/>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0" name="Text 11"/>
          <p:cNvSpPr/>
          <p:nvPr/>
        </p:nvSpPr>
        <p:spPr>
          <a:xfrm>
            <a:off x="868680" y="277056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[9] E. Mármol Campos, A. González Vidal, J. L. Hernández Ramos, and A. Skarmeta, “FedRDF: A Robust and Dynamic Aggregation Function against Poisoning Attacks in Federated Learning,” arXiv:2402.10082, 2024.</a:t>
            </a:r>
            <a:endParaRPr lang="en-US" sz="839" b="0" u="none" strike="noStrike">
              <a:solidFill>
                <a:srgbClr val="FFFFFF"/>
              </a:solidFill>
              <a:effectLst/>
              <a:uFillTx/>
              <a:latin typeface="Arial"/>
            </a:endParaRPr>
          </a:p>
        </p:txBody>
      </p:sp>
      <p:sp>
        <p:nvSpPr>
          <p:cNvPr id="371" name="Shape 12"/>
          <p:cNvSpPr/>
          <p:nvPr/>
        </p:nvSpPr>
        <p:spPr>
          <a:xfrm>
            <a:off x="658440" y="3456360"/>
            <a:ext cx="10926360" cy="639360"/>
          </a:xfrm>
          <a:prstGeom prst="roundRect">
            <a:avLst>
              <a:gd name="adj" fmla="val 5714"/>
            </a:avLst>
          </a:prstGeom>
          <a:solidFill>
            <a:srgbClr val="14223C"/>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2" name="Text 13"/>
          <p:cNvSpPr/>
          <p:nvPr/>
        </p:nvSpPr>
        <p:spPr>
          <a:xfrm>
            <a:off x="868680" y="355716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[10] P. Mai, R. Yan, and Y. Pang, “RFLPA: A Robust Federated Learning Framework against Poisoning Attacks with Secure Aggregation,” arXiv:2405.15182, 2024.</a:t>
            </a:r>
            <a:endParaRPr lang="en-US" sz="839" b="0" u="none" strike="noStrike">
              <a:solidFill>
                <a:srgbClr val="FFFFFF"/>
              </a:solidFill>
              <a:effectLst/>
              <a:uFillTx/>
              <a:latin typeface="Arial"/>
            </a:endParaRPr>
          </a:p>
        </p:txBody>
      </p:sp>
      <p:sp>
        <p:nvSpPr>
          <p:cNvPr id="373" name="Shape 14"/>
          <p:cNvSpPr/>
          <p:nvPr/>
        </p:nvSpPr>
        <p:spPr>
          <a:xfrm>
            <a:off x="658440" y="4242960"/>
            <a:ext cx="10926360" cy="639360"/>
          </a:xfrm>
          <a:prstGeom prst="roundRect">
            <a:avLst>
              <a:gd name="adj" fmla="val 5714"/>
            </a:avLst>
          </a:prstGeom>
          <a:solidFill>
            <a:srgbClr val="101B31"/>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4" name="Text 15"/>
          <p:cNvSpPr/>
          <p:nvPr/>
        </p:nvSpPr>
        <p:spPr>
          <a:xfrm>
            <a:off x="868680" y="434340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[11] J. Wang, X. Chang, J. Mišić, V. B. Mišić, and Y. Wang, “PASS: A Parameter Audit-based Secure and Fair Federated Learning Scheme against Free-Rider Attack,” arXiv:2207.07292, 2022.</a:t>
            </a:r>
            <a:endParaRPr lang="en-US" sz="839" b="0" u="none" strike="noStrike">
              <a:solidFill>
                <a:srgbClr val="FFFFFF"/>
              </a:solidFill>
              <a:effectLst/>
              <a:uFillTx/>
              <a:latin typeface="Arial"/>
            </a:endParaRPr>
          </a:p>
        </p:txBody>
      </p:sp>
      <p:sp>
        <p:nvSpPr>
          <p:cNvPr id="375" name="Shape 16"/>
          <p:cNvSpPr/>
          <p:nvPr/>
        </p:nvSpPr>
        <p:spPr>
          <a:xfrm>
            <a:off x="658440" y="5029200"/>
            <a:ext cx="10926360" cy="639360"/>
          </a:xfrm>
          <a:prstGeom prst="roundRect">
            <a:avLst>
              <a:gd name="adj" fmla="val 5714"/>
            </a:avLst>
          </a:prstGeom>
          <a:solidFill>
            <a:srgbClr val="14223C"/>
          </a:solidFill>
          <a:ln w="12700">
            <a:solidFill>
              <a:srgbClr val="2B3B5C">
                <a:alpha val="70000"/>
              </a:srgbClr>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6" name="Text 17"/>
          <p:cNvSpPr/>
          <p:nvPr/>
        </p:nvSpPr>
        <p:spPr>
          <a:xfrm>
            <a:off x="868680" y="5129640"/>
            <a:ext cx="10496520" cy="438120"/>
          </a:xfrm>
          <a:prstGeom prst="rect">
            <a:avLst/>
          </a:prstGeom>
          <a:noFill/>
          <a:ln w="0">
            <a:noFill/>
          </a:ln>
        </p:spPr>
        <p:style>
          <a:lnRef idx="0"/>
          <a:fillRef idx="0"/>
          <a:effectRef idx="0"/>
          <a:fontRef idx="minor"/>
        </p:style>
        <p:txBody>
          <a:bodyPr lIns="360" tIns="360" rIns="360" bIns="360" anchor="ctr">
            <a:normAutofit/>
          </a:bodyPr>
          <a:p>
            <a:pPr defTabSz="914400">
              <a:lnSpc>
                <a:spcPct val="100000"/>
              </a:lnSpc>
              <a:tabLst>
                <a:tab pos="0" algn="l"/>
              </a:tabLst>
            </a:pPr>
            <a:r>
              <a:rPr lang="en-US" sz="839" b="0" u="none" strike="noStrike">
                <a:solidFill>
                  <a:srgbClr val="F8FAFC"/>
                </a:solidFill>
                <a:effectLst/>
                <a:uFillTx/>
                <a:latin typeface="Aptos"/>
              </a:rPr>
              <a:t>[12] J. Chen, M. Li, T. Liu, H. Zheng, Y. Cheng, and C. Lin, “Rethinking the Defense Against Free-rider Attack From the Perspective of Model Weight Evolving Frequency,” arXiv:2206.05406, 2022.</a:t>
            </a:r>
            <a:endParaRPr lang="en-US" sz="839"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27</TotalTime>
  <Application>LibreOffice/26.2.4.2$Linux_X86_64 LibreOffice_project/620$Build-2</Application>
  <AppVersion>15.0000</AppVersion>
  <Words>0</Words>
  <Paragraphs>0</Paragraphs>
  <Company>CSE 499A Group 06</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2026-07-14T16:55:41Z</dcterms:created>
  <dc:creator>OpenAI</dc:creator>
  <dc:description/>
  <dc:language>en-US</dc:language>
  <cp:lastModifiedBy/>
  <dcterms:modified xsi:type="dcterms:W3CDTF">2026-07-15T09:19:55Z</dcterms:modified>
  <cp:revision>3</cp:revision>
  <dc:subject>PRIVATE SHIELD Literature Review</dc:subject>
  <dc:title>PRIVATE SHIELD Literature Review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