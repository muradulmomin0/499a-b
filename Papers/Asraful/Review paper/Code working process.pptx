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Collaborative IoT Intrusion Detection</a:t>
            </a:r>
          </a:p>
        </p:txBody>
      </p:sp>
      <p:sp>
        <p:nvSpPr>
          <p:cNvPr id="3" name="TextBox 2"/>
          <p:cNvSpPr txBox="1"/>
          <p:nvPr/>
        </p:nvSpPr>
        <p:spPr>
          <a:xfrm>
            <a:off x="594360" y="960120"/>
            <a:ext cx="10789920" cy="411480"/>
          </a:xfrm>
          <a:prstGeom prst="rect">
            <a:avLst/>
          </a:prstGeom>
          <a:noFill/>
        </p:spPr>
        <p:txBody>
          <a:bodyPr wrap="none">
            <a:spAutoFit/>
          </a:bodyPr>
          <a:lstStyle/>
          <a:p>
            <a:pPr>
              <a:defRPr sz="1500">
                <a:solidFill>
                  <a:srgbClr val="5F6973"/>
                </a:solidFill>
              </a:defRPr>
            </a:pPr>
            <a:r>
              <a:t>A very simple Python + HTML demo</a:t>
            </a:r>
          </a:p>
        </p:txBody>
      </p:sp>
      <p:sp>
        <p:nvSpPr>
          <p:cNvPr id="4" name="Rounded Rectangle 3"/>
          <p:cNvSpPr/>
          <p:nvPr/>
        </p:nvSpPr>
        <p:spPr>
          <a:xfrm>
            <a:off x="914400" y="1828800"/>
            <a:ext cx="2926080" cy="18288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417DBE"/>
                </a:solidFill>
              </a:defRPr>
            </a:pPr>
            <a:r>
              <a:t>Device 1</a:t>
            </a:r>
            <a:br/>
            <a:r>
              <a:t>learns</a:t>
            </a:r>
          </a:p>
        </p:txBody>
      </p:sp>
      <p:sp>
        <p:nvSpPr>
          <p:cNvPr id="5" name="Rounded Rectangle 4"/>
          <p:cNvSpPr/>
          <p:nvPr/>
        </p:nvSpPr>
        <p:spPr>
          <a:xfrm>
            <a:off x="4617720" y="1828800"/>
            <a:ext cx="2926080" cy="18288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417DBE"/>
                </a:solidFill>
              </a:defRPr>
            </a:pPr>
            <a:r>
              <a:t>Device 2</a:t>
            </a:r>
            <a:br/>
            <a:r>
              <a:t>learns</a:t>
            </a:r>
          </a:p>
        </p:txBody>
      </p:sp>
      <p:sp>
        <p:nvSpPr>
          <p:cNvPr id="6" name="Rounded Rectangle 5"/>
          <p:cNvSpPr/>
          <p:nvPr/>
        </p:nvSpPr>
        <p:spPr>
          <a:xfrm>
            <a:off x="8321040" y="1828800"/>
            <a:ext cx="2926080" cy="18288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417DBE"/>
                </a:solidFill>
              </a:defRPr>
            </a:pPr>
            <a:r>
              <a:t>Device 3</a:t>
            </a:r>
            <a:br/>
            <a:r>
              <a:t>learns</a:t>
            </a:r>
          </a:p>
        </p:txBody>
      </p:sp>
      <p:sp>
        <p:nvSpPr>
          <p:cNvPr id="7" name="Rounded Rectangle 6"/>
          <p:cNvSpPr/>
          <p:nvPr/>
        </p:nvSpPr>
        <p:spPr>
          <a:xfrm>
            <a:off x="4023360" y="4389120"/>
            <a:ext cx="4114800" cy="1143000"/>
          </a:xfrm>
          <a:prstGeom prst="roundRect">
            <a:avLst/>
          </a:prstGeom>
          <a:solidFill>
            <a:srgbClr val="F5BE4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92D4B"/>
                </a:solidFill>
              </a:defRPr>
            </a:pPr>
            <a:r>
              <a:t>Shared Model</a:t>
            </a:r>
            <a:br/>
            <a:r>
              <a:t>SAFE or ATTACK?</a:t>
            </a:r>
          </a:p>
        </p:txBody>
      </p:sp>
      <p:sp>
        <p:nvSpPr>
          <p:cNvPr id="8" name="TextBox 7"/>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1. What is the project?</a:t>
            </a:r>
          </a:p>
        </p:txBody>
      </p:sp>
      <p:sp>
        <p:nvSpPr>
          <p:cNvPr id="3" name="TextBox 2"/>
          <p:cNvSpPr txBox="1"/>
          <p:nvPr/>
        </p:nvSpPr>
        <p:spPr>
          <a:xfrm>
            <a:off x="731520" y="1417320"/>
            <a:ext cx="10698480" cy="4480560"/>
          </a:xfrm>
          <a:prstGeom prst="rect">
            <a:avLst/>
          </a:prstGeom>
          <a:noFill/>
        </p:spPr>
        <p:txBody>
          <a:bodyPr wrap="square">
            <a:spAutoFit/>
          </a:bodyPr>
          <a:lstStyle/>
          <a:p>
            <a:pPr>
              <a:spcAft>
                <a:spcPts val="1600"/>
              </a:spcAft>
              <a:defRPr sz="2300">
                <a:solidFill>
                  <a:srgbClr val="192D4B"/>
                </a:solidFill>
              </a:defRPr>
            </a:pPr>
            <a:r>
              <a:t>• We pretend that we have 3 smart IoT devices.</a:t>
            </a:r>
          </a:p>
          <a:p>
            <a:pPr>
              <a:spcAft>
                <a:spcPts val="1600"/>
              </a:spcAft>
              <a:defRPr sz="2300">
                <a:solidFill>
                  <a:srgbClr val="192D4B"/>
                </a:solidFill>
              </a:defRPr>
            </a:pPr>
            <a:r>
              <a:t>• Each device learns what SAFE traffic and ATTACK traffic look like.</a:t>
            </a:r>
          </a:p>
          <a:p>
            <a:pPr>
              <a:spcAft>
                <a:spcPts val="1600"/>
              </a:spcAft>
              <a:defRPr sz="2300">
                <a:solidFill>
                  <a:srgbClr val="192D4B"/>
                </a:solidFill>
              </a:defRPr>
            </a:pPr>
            <a:r>
              <a:t>• The devices keep their own training data.</a:t>
            </a:r>
          </a:p>
          <a:p>
            <a:pPr>
              <a:spcAft>
                <a:spcPts val="1600"/>
              </a:spcAft>
              <a:defRPr sz="2300">
                <a:solidFill>
                  <a:srgbClr val="192D4B"/>
                </a:solidFill>
              </a:defRPr>
            </a:pPr>
            <a:r>
              <a:t>• What they learn is combined into one shared model.</a:t>
            </a:r>
          </a:p>
          <a:p>
            <a:pPr>
              <a:spcAft>
                <a:spcPts val="1600"/>
              </a:spcAft>
              <a:defRPr sz="2300">
                <a:solidFill>
                  <a:srgbClr val="192D4B"/>
                </a:solidFill>
              </a:defRPr>
            </a:pPr>
            <a:r>
              <a:t>• The website lets us test new traffic.</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2. What do 0 and 1 mean?</a:t>
            </a:r>
          </a:p>
        </p:txBody>
      </p:sp>
      <p:sp>
        <p:nvSpPr>
          <p:cNvPr id="3" name="Rounded Rectangle 2"/>
          <p:cNvSpPr/>
          <p:nvPr/>
        </p:nvSpPr>
        <p:spPr>
          <a:xfrm>
            <a:off x="1097280" y="1645920"/>
            <a:ext cx="4297680" cy="2011680"/>
          </a:xfrm>
          <a:prstGeom prst="roundRect">
            <a:avLst/>
          </a:prstGeom>
          <a:solidFill>
            <a:srgbClr val="E1F5E8"/>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400" b="1">
                <a:solidFill>
                  <a:srgbClr val="2F8C5A"/>
                </a:solidFill>
              </a:defRPr>
            </a:pPr>
            <a:r>
              <a:t>0 = SAFE</a:t>
            </a:r>
          </a:p>
        </p:txBody>
      </p:sp>
      <p:sp>
        <p:nvSpPr>
          <p:cNvPr id="4" name="Rounded Rectangle 3"/>
          <p:cNvSpPr/>
          <p:nvPr/>
        </p:nvSpPr>
        <p:spPr>
          <a:xfrm>
            <a:off x="6766560" y="1645920"/>
            <a:ext cx="4297680" cy="2011680"/>
          </a:xfrm>
          <a:prstGeom prst="roundRect">
            <a:avLst/>
          </a:prstGeom>
          <a:solidFill>
            <a:srgbClr val="FCE6E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400" b="1">
                <a:solidFill>
                  <a:srgbClr val="BE4141"/>
                </a:solidFill>
              </a:defRPr>
            </a:pPr>
            <a:r>
              <a:t>1 = ATTACK</a:t>
            </a:r>
          </a:p>
        </p:txBody>
      </p:sp>
      <p:sp>
        <p:nvSpPr>
          <p:cNvPr id="5" name="Rounded Rectangle 4"/>
          <p:cNvSpPr/>
          <p:nvPr/>
        </p:nvSpPr>
        <p:spPr>
          <a:xfrm>
            <a:off x="2103120" y="4251960"/>
            <a:ext cx="7955279" cy="105156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0">
                <a:solidFill>
                  <a:srgbClr val="192D4B"/>
                </a:solidFill>
              </a:defRPr>
            </a:pPr>
            <a:r>
              <a:t>The AI learns from examples that already have these answers.</a:t>
            </a:r>
          </a:p>
        </p:txBody>
      </p:sp>
      <p:sp>
        <p:nvSpPr>
          <p:cNvPr id="6" name="TextBox 5"/>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3. What data does each device see?</a:t>
            </a:r>
          </a:p>
        </p:txBody>
      </p:sp>
      <p:sp>
        <p:nvSpPr>
          <p:cNvPr id="3" name="Rounded Rectangle 2"/>
          <p:cNvSpPr/>
          <p:nvPr/>
        </p:nvSpPr>
        <p:spPr>
          <a:xfrm>
            <a:off x="640080" y="1417320"/>
            <a:ext cx="3383280" cy="3383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0">
                <a:solidFill>
                  <a:srgbClr val="192D4B"/>
                </a:solidFill>
              </a:defRPr>
            </a:pPr>
            <a:r>
              <a:t>Device 1</a:t>
            </a:r>
            <a:br/>
            <a:br/>
            <a:r>
              <a:t>10, 0, 100 → SAFE</a:t>
            </a:r>
            <a:br/>
            <a:r>
              <a:t>15, 0, 120 → SAFE</a:t>
            </a:r>
            <a:br/>
            <a:r>
              <a:t>80, 5, 900 → ATTACK</a:t>
            </a:r>
            <a:br/>
            <a:r>
              <a:t>95, 8, 1200 → ATTACK</a:t>
            </a:r>
          </a:p>
        </p:txBody>
      </p:sp>
      <p:sp>
        <p:nvSpPr>
          <p:cNvPr id="4" name="Rounded Rectangle 3"/>
          <p:cNvSpPr/>
          <p:nvPr/>
        </p:nvSpPr>
        <p:spPr>
          <a:xfrm>
            <a:off x="4389120" y="1417320"/>
            <a:ext cx="3383280" cy="3383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0">
                <a:solidFill>
                  <a:srgbClr val="192D4B"/>
                </a:solidFill>
              </a:defRPr>
            </a:pPr>
            <a:r>
              <a:t>Device 2</a:t>
            </a:r>
            <a:br/>
            <a:br/>
            <a:r>
              <a:t>8, 0, 90 → SAFE</a:t>
            </a:r>
            <a:br/>
            <a:r>
              <a:t>18, 1, 140 → SAFE</a:t>
            </a:r>
            <a:br/>
            <a:r>
              <a:t>75, 7, 950 → ATTACK</a:t>
            </a:r>
            <a:br/>
            <a:r>
              <a:t>88, 9, 1100 → ATTACK</a:t>
            </a:r>
          </a:p>
        </p:txBody>
      </p:sp>
      <p:sp>
        <p:nvSpPr>
          <p:cNvPr id="5" name="Rounded Rectangle 4"/>
          <p:cNvSpPr/>
          <p:nvPr/>
        </p:nvSpPr>
        <p:spPr>
          <a:xfrm>
            <a:off x="8138160" y="1417320"/>
            <a:ext cx="3383280" cy="3383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0">
                <a:solidFill>
                  <a:srgbClr val="192D4B"/>
                </a:solidFill>
              </a:defRPr>
            </a:pPr>
            <a:r>
              <a:t>Device 3</a:t>
            </a:r>
            <a:br/>
            <a:br/>
            <a:r>
              <a:t>12, 0, 110 → SAFE</a:t>
            </a:r>
            <a:br/>
            <a:r>
              <a:t>22, 1, 160 → SAFE</a:t>
            </a:r>
            <a:br/>
            <a:r>
              <a:t>72, 6, 880 → ATTACK</a:t>
            </a:r>
            <a:br/>
            <a:r>
              <a:t>90, 10, 1300 → ATTACK</a:t>
            </a:r>
          </a:p>
        </p:txBody>
      </p:sp>
      <p:sp>
        <p:nvSpPr>
          <p:cNvPr id="6" name="Rounded Rectangle 5"/>
          <p:cNvSpPr/>
          <p:nvPr/>
        </p:nvSpPr>
        <p:spPr>
          <a:xfrm>
            <a:off x="1828800" y="5212080"/>
            <a:ext cx="8503920" cy="73152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0">
                <a:solidFill>
                  <a:srgbClr val="5F6973"/>
                </a:solidFill>
              </a:defRPr>
            </a:pPr>
            <a:r>
              <a:t>Numbers mean: packets per second, failed logins, data size.</a:t>
            </a:r>
          </a:p>
        </p:txBody>
      </p:sp>
      <p:sp>
        <p:nvSpPr>
          <p:cNvPr id="7" name="TextBox 6"/>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4. How does the Python code work?</a:t>
            </a:r>
          </a:p>
        </p:txBody>
      </p:sp>
      <p:sp>
        <p:nvSpPr>
          <p:cNvPr id="3" name="Rounded Rectangle 2"/>
          <p:cNvSpPr/>
          <p:nvPr/>
        </p:nvSpPr>
        <p:spPr>
          <a:xfrm>
            <a:off x="822960" y="1325880"/>
            <a:ext cx="685800" cy="658368"/>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1</a:t>
            </a:r>
          </a:p>
        </p:txBody>
      </p:sp>
      <p:sp>
        <p:nvSpPr>
          <p:cNvPr id="4" name="Rounded Rectangle 3"/>
          <p:cNvSpPr/>
          <p:nvPr/>
        </p:nvSpPr>
        <p:spPr>
          <a:xfrm>
            <a:off x="1691640" y="1325880"/>
            <a:ext cx="9418320" cy="658368"/>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Create 3 groups of training data</a:t>
            </a:r>
          </a:p>
        </p:txBody>
      </p:sp>
      <p:sp>
        <p:nvSpPr>
          <p:cNvPr id="5" name="Rounded Rectangle 4"/>
          <p:cNvSpPr/>
          <p:nvPr/>
        </p:nvSpPr>
        <p:spPr>
          <a:xfrm>
            <a:off x="822960" y="2240280"/>
            <a:ext cx="685800" cy="658368"/>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2</a:t>
            </a:r>
          </a:p>
        </p:txBody>
      </p:sp>
      <p:sp>
        <p:nvSpPr>
          <p:cNvPr id="6" name="Rounded Rectangle 5"/>
          <p:cNvSpPr/>
          <p:nvPr/>
        </p:nvSpPr>
        <p:spPr>
          <a:xfrm>
            <a:off x="1691640" y="2240280"/>
            <a:ext cx="9418320" cy="658368"/>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Train one small AI model for each device</a:t>
            </a:r>
          </a:p>
        </p:txBody>
      </p:sp>
      <p:sp>
        <p:nvSpPr>
          <p:cNvPr id="7" name="Rounded Rectangle 6"/>
          <p:cNvSpPr/>
          <p:nvPr/>
        </p:nvSpPr>
        <p:spPr>
          <a:xfrm>
            <a:off x="822960" y="3154680"/>
            <a:ext cx="685800" cy="658368"/>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3</a:t>
            </a:r>
          </a:p>
        </p:txBody>
      </p:sp>
      <p:sp>
        <p:nvSpPr>
          <p:cNvPr id="8" name="Rounded Rectangle 7"/>
          <p:cNvSpPr/>
          <p:nvPr/>
        </p:nvSpPr>
        <p:spPr>
          <a:xfrm>
            <a:off x="1691640" y="3154680"/>
            <a:ext cx="9418320" cy="658368"/>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Take the learned weights from the 3 models</a:t>
            </a:r>
          </a:p>
        </p:txBody>
      </p:sp>
      <p:sp>
        <p:nvSpPr>
          <p:cNvPr id="9" name="Rounded Rectangle 8"/>
          <p:cNvSpPr/>
          <p:nvPr/>
        </p:nvSpPr>
        <p:spPr>
          <a:xfrm>
            <a:off x="822960" y="4069080"/>
            <a:ext cx="685800" cy="658368"/>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4</a:t>
            </a:r>
          </a:p>
        </p:txBody>
      </p:sp>
      <p:sp>
        <p:nvSpPr>
          <p:cNvPr id="10" name="Rounded Rectangle 9"/>
          <p:cNvSpPr/>
          <p:nvPr/>
        </p:nvSpPr>
        <p:spPr>
          <a:xfrm>
            <a:off x="1691640" y="4069080"/>
            <a:ext cx="9418320" cy="658368"/>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Average them to make a shared model</a:t>
            </a:r>
          </a:p>
        </p:txBody>
      </p:sp>
      <p:sp>
        <p:nvSpPr>
          <p:cNvPr id="11" name="Rounded Rectangle 10"/>
          <p:cNvSpPr/>
          <p:nvPr/>
        </p:nvSpPr>
        <p:spPr>
          <a:xfrm>
            <a:off x="822960" y="4983480"/>
            <a:ext cx="685800" cy="658368"/>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5</a:t>
            </a:r>
          </a:p>
        </p:txBody>
      </p:sp>
      <p:sp>
        <p:nvSpPr>
          <p:cNvPr id="12" name="Rounded Rectangle 11"/>
          <p:cNvSpPr/>
          <p:nvPr/>
        </p:nvSpPr>
        <p:spPr>
          <a:xfrm>
            <a:off x="1691640" y="4983480"/>
            <a:ext cx="9418320" cy="658368"/>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Use the shared model to check new traffic</a:t>
            </a:r>
          </a:p>
        </p:txBody>
      </p:sp>
      <p:sp>
        <p:nvSpPr>
          <p:cNvPr id="13" name="TextBox 12"/>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5. What does the HTML page do?</a:t>
            </a:r>
          </a:p>
        </p:txBody>
      </p:sp>
      <p:sp>
        <p:nvSpPr>
          <p:cNvPr id="3" name="Rounded Rectangle 2"/>
          <p:cNvSpPr/>
          <p:nvPr/>
        </p:nvSpPr>
        <p:spPr>
          <a:xfrm>
            <a:off x="822960" y="1325880"/>
            <a:ext cx="3108960" cy="960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92D4B"/>
                </a:solidFill>
              </a:defRPr>
            </a:pPr>
            <a:r>
              <a:t>Packets per second</a:t>
            </a:r>
          </a:p>
        </p:txBody>
      </p:sp>
      <p:sp>
        <p:nvSpPr>
          <p:cNvPr id="4" name="Rounded Rectangle 3"/>
          <p:cNvSpPr/>
          <p:nvPr/>
        </p:nvSpPr>
        <p:spPr>
          <a:xfrm>
            <a:off x="822960" y="2514600"/>
            <a:ext cx="3108960" cy="960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92D4B"/>
                </a:solidFill>
              </a:defRPr>
            </a:pPr>
            <a:r>
              <a:t>Failed login attempts</a:t>
            </a:r>
          </a:p>
        </p:txBody>
      </p:sp>
      <p:sp>
        <p:nvSpPr>
          <p:cNvPr id="5" name="Rounded Rectangle 4"/>
          <p:cNvSpPr/>
          <p:nvPr/>
        </p:nvSpPr>
        <p:spPr>
          <a:xfrm>
            <a:off x="822960" y="3703320"/>
            <a:ext cx="3108960" cy="960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92D4B"/>
                </a:solidFill>
              </a:defRPr>
            </a:pPr>
            <a:r>
              <a:t>Data size in KB</a:t>
            </a:r>
          </a:p>
        </p:txBody>
      </p:sp>
      <p:sp>
        <p:nvSpPr>
          <p:cNvPr id="6" name="Rounded Rectangle 5"/>
          <p:cNvSpPr/>
          <p:nvPr/>
        </p:nvSpPr>
        <p:spPr>
          <a:xfrm>
            <a:off x="4572000" y="2148840"/>
            <a:ext cx="2560320" cy="1280160"/>
          </a:xfrm>
          <a:prstGeom prst="roundRect">
            <a:avLst/>
          </a:prstGeom>
          <a:solidFill>
            <a:srgbClr val="417DBE"/>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Check Traffic</a:t>
            </a:r>
          </a:p>
        </p:txBody>
      </p:sp>
      <p:sp>
        <p:nvSpPr>
          <p:cNvPr id="7" name="Rounded Rectangle 6"/>
          <p:cNvSpPr/>
          <p:nvPr/>
        </p:nvSpPr>
        <p:spPr>
          <a:xfrm>
            <a:off x="7772400" y="1600200"/>
            <a:ext cx="3291840" cy="1325880"/>
          </a:xfrm>
          <a:prstGeom prst="roundRect">
            <a:avLst/>
          </a:prstGeom>
          <a:solidFill>
            <a:srgbClr val="E1F5E8"/>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2F8C5A"/>
                </a:solidFill>
              </a:defRPr>
            </a:pPr>
            <a:r>
              <a:t>SAFE TRAFFIC</a:t>
            </a:r>
          </a:p>
        </p:txBody>
      </p:sp>
      <p:sp>
        <p:nvSpPr>
          <p:cNvPr id="8" name="Rounded Rectangle 7"/>
          <p:cNvSpPr/>
          <p:nvPr/>
        </p:nvSpPr>
        <p:spPr>
          <a:xfrm>
            <a:off x="7772400" y="3429000"/>
            <a:ext cx="3291840" cy="1325880"/>
          </a:xfrm>
          <a:prstGeom prst="roundRect">
            <a:avLst/>
          </a:prstGeom>
          <a:solidFill>
            <a:srgbClr val="FCE6E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BE4141"/>
                </a:solidFill>
              </a:defRPr>
            </a:pPr>
            <a:r>
              <a:t>ATTACK DETECTED</a:t>
            </a:r>
          </a:p>
        </p:txBody>
      </p:sp>
      <p:sp>
        <p:nvSpPr>
          <p:cNvPr id="9" name="Rounded Rectangle 8"/>
          <p:cNvSpPr/>
          <p:nvPr/>
        </p:nvSpPr>
        <p:spPr>
          <a:xfrm>
            <a:off x="1828800" y="5257800"/>
            <a:ext cx="8503920" cy="68580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0">
                <a:solidFill>
                  <a:srgbClr val="192D4B"/>
                </a:solidFill>
              </a:defRPr>
            </a:pPr>
            <a:r>
              <a:t>HTML is what we see. Python does the thinking behind it.</a:t>
            </a:r>
          </a:p>
        </p:txBody>
      </p:sp>
      <p:sp>
        <p:nvSpPr>
          <p:cNvPr id="10" name="TextBox 9"/>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6. How do we show an ATTACK?</a:t>
            </a:r>
          </a:p>
        </p:txBody>
      </p:sp>
      <p:sp>
        <p:nvSpPr>
          <p:cNvPr id="3" name="Rounded Rectangle 2"/>
          <p:cNvSpPr/>
          <p:nvPr/>
        </p:nvSpPr>
        <p:spPr>
          <a:xfrm>
            <a:off x="914400" y="1417320"/>
            <a:ext cx="4023360" cy="310896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192D4B"/>
                </a:solidFill>
              </a:defRPr>
            </a:pPr>
            <a:r>
              <a:t>Enter these test values:</a:t>
            </a:r>
            <a:br/>
            <a:br/>
            <a:r>
              <a:t>Packets = 90</a:t>
            </a:r>
            <a:br/>
            <a:r>
              <a:t>Failed logins = 8</a:t>
            </a:r>
            <a:br/>
            <a:r>
              <a:t>Data size = 1100 KB</a:t>
            </a:r>
          </a:p>
        </p:txBody>
      </p:sp>
      <p:sp>
        <p:nvSpPr>
          <p:cNvPr id="4" name="Rounded Rectangle 3"/>
          <p:cNvSpPr/>
          <p:nvPr/>
        </p:nvSpPr>
        <p:spPr>
          <a:xfrm>
            <a:off x="5486400" y="1417320"/>
            <a:ext cx="5303520" cy="1051560"/>
          </a:xfrm>
          <a:prstGeom prst="roundRect">
            <a:avLst/>
          </a:prstGeom>
          <a:solidFill>
            <a:srgbClr val="FCF0D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0">
                <a:solidFill>
                  <a:srgbClr val="192D4B"/>
                </a:solidFill>
              </a:defRPr>
            </a:pPr>
            <a:r>
              <a:t>These values look like the ATTACK examples.</a:t>
            </a:r>
          </a:p>
        </p:txBody>
      </p:sp>
      <p:sp>
        <p:nvSpPr>
          <p:cNvPr id="5" name="Rounded Rectangle 4"/>
          <p:cNvSpPr/>
          <p:nvPr/>
        </p:nvSpPr>
        <p:spPr>
          <a:xfrm>
            <a:off x="5486400" y="2880360"/>
            <a:ext cx="5303520" cy="1645920"/>
          </a:xfrm>
          <a:prstGeom prst="roundRect">
            <a:avLst/>
          </a:prstGeom>
          <a:solidFill>
            <a:srgbClr val="FCE6E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b="1">
                <a:solidFill>
                  <a:srgbClr val="BE4141"/>
                </a:solidFill>
              </a:defRPr>
            </a:pPr>
            <a:r>
              <a:t>Result:</a:t>
            </a:r>
            <a:br/>
            <a:r>
              <a:t>ATTACK DETECTED</a:t>
            </a:r>
          </a:p>
        </p:txBody>
      </p:sp>
      <p:sp>
        <p:nvSpPr>
          <p:cNvPr id="6" name="Rounded Rectangle 5"/>
          <p:cNvSpPr/>
          <p:nvPr/>
        </p:nvSpPr>
        <p:spPr>
          <a:xfrm>
            <a:off x="2011680" y="5074920"/>
            <a:ext cx="8138160" cy="73152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5F6973"/>
                </a:solidFill>
              </a:defRPr>
            </a:pPr>
            <a:r>
              <a:t>This is simulated traffic. We are NOT attacking a real device.</a:t>
            </a:r>
          </a:p>
        </p:txBody>
      </p:sp>
      <p:sp>
        <p:nvSpPr>
          <p:cNvPr id="7" name="TextBox 6"/>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7. Simple code words</a:t>
            </a:r>
          </a:p>
        </p:txBody>
      </p:sp>
      <p:sp>
        <p:nvSpPr>
          <p:cNvPr id="3" name="Rounded Rectangle 2"/>
          <p:cNvSpPr/>
          <p:nvPr/>
        </p:nvSpPr>
        <p:spPr>
          <a:xfrm>
            <a:off x="731520" y="1325880"/>
            <a:ext cx="3200400" cy="1097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417DBE"/>
                </a:solidFill>
              </a:defRPr>
            </a:pPr>
            <a:r>
              <a:t>Flask</a:t>
            </a:r>
            <a:br/>
            <a:r>
              <a:t>makes the website</a:t>
            </a:r>
          </a:p>
        </p:txBody>
      </p:sp>
      <p:sp>
        <p:nvSpPr>
          <p:cNvPr id="4" name="Rounded Rectangle 3"/>
          <p:cNvSpPr/>
          <p:nvPr/>
        </p:nvSpPr>
        <p:spPr>
          <a:xfrm>
            <a:off x="4480560" y="1325880"/>
            <a:ext cx="3200400" cy="1097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417DBE"/>
                </a:solidFill>
              </a:defRPr>
            </a:pPr>
            <a:r>
              <a:t>NumPy</a:t>
            </a:r>
            <a:br/>
            <a:r>
              <a:t>works with numbers</a:t>
            </a:r>
          </a:p>
        </p:txBody>
      </p:sp>
      <p:sp>
        <p:nvSpPr>
          <p:cNvPr id="5" name="Rounded Rectangle 4"/>
          <p:cNvSpPr/>
          <p:nvPr/>
        </p:nvSpPr>
        <p:spPr>
          <a:xfrm>
            <a:off x="8229600" y="1325880"/>
            <a:ext cx="3200400" cy="10972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417DBE"/>
                </a:solidFill>
              </a:defRPr>
            </a:pPr>
            <a:r>
              <a:t>Logistic Regression</a:t>
            </a:r>
            <a:br/>
            <a:r>
              <a:t>learns SAFE / ATTACK</a:t>
            </a:r>
          </a:p>
        </p:txBody>
      </p:sp>
      <p:sp>
        <p:nvSpPr>
          <p:cNvPr id="6" name="Rounded Rectangle 5"/>
          <p:cNvSpPr/>
          <p:nvPr/>
        </p:nvSpPr>
        <p:spPr>
          <a:xfrm>
            <a:off x="731520" y="2971800"/>
            <a:ext cx="3200400" cy="109728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92D4B"/>
                </a:solidFill>
              </a:defRPr>
            </a:pPr>
            <a:r>
              <a:t>model.fit()</a:t>
            </a:r>
            <a:br/>
            <a:r>
              <a:t>teaches the AI</a:t>
            </a:r>
          </a:p>
        </p:txBody>
      </p:sp>
      <p:sp>
        <p:nvSpPr>
          <p:cNvPr id="7" name="Rounded Rectangle 6"/>
          <p:cNvSpPr/>
          <p:nvPr/>
        </p:nvSpPr>
        <p:spPr>
          <a:xfrm>
            <a:off x="4480560" y="2971800"/>
            <a:ext cx="3200400" cy="109728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192D4B"/>
                </a:solidFill>
              </a:defRPr>
            </a:pPr>
            <a:r>
              <a:t>model.predict()</a:t>
            </a:r>
            <a:br/>
            <a:r>
              <a:t>asks the AI</a:t>
            </a:r>
          </a:p>
        </p:txBody>
      </p:sp>
      <p:sp>
        <p:nvSpPr>
          <p:cNvPr id="8" name="Rounded Rectangle 7"/>
          <p:cNvSpPr/>
          <p:nvPr/>
        </p:nvSpPr>
        <p:spPr>
          <a:xfrm>
            <a:off x="8229600" y="2971800"/>
            <a:ext cx="3200400" cy="109728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92D4B"/>
                </a:solidFill>
              </a:defRPr>
            </a:pPr>
            <a:r>
              <a:t>render_template_string()</a:t>
            </a:r>
            <a:br/>
            <a:r>
              <a:t>shows HTML</a:t>
            </a:r>
          </a:p>
        </p:txBody>
      </p:sp>
      <p:sp>
        <p:nvSpPr>
          <p:cNvPr id="9" name="Rounded Rectangle 8"/>
          <p:cNvSpPr/>
          <p:nvPr/>
        </p:nvSpPr>
        <p:spPr>
          <a:xfrm>
            <a:off x="1828800" y="4892040"/>
            <a:ext cx="8503920" cy="914400"/>
          </a:xfrm>
          <a:prstGeom prst="roundRect">
            <a:avLst/>
          </a:prstGeom>
          <a:solidFill>
            <a:srgbClr val="F5BE4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92D4B"/>
                </a:solidFill>
              </a:defRPr>
            </a:pPr>
            <a:r>
              <a:t>Easy idea: DATA → LEARN → COMBINE → TEST → RESULT</a:t>
            </a:r>
          </a:p>
        </p:txBody>
      </p:sp>
      <p:sp>
        <p:nvSpPr>
          <p:cNvPr id="10" name="TextBox 9"/>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8. How is this connected to the review paper?</a:t>
            </a:r>
          </a:p>
        </p:txBody>
      </p:sp>
      <p:sp>
        <p:nvSpPr>
          <p:cNvPr id="3" name="TextBox 2"/>
          <p:cNvSpPr txBox="1"/>
          <p:nvPr/>
        </p:nvSpPr>
        <p:spPr>
          <a:xfrm>
            <a:off x="731520" y="1417320"/>
            <a:ext cx="10698480" cy="4480560"/>
          </a:xfrm>
          <a:prstGeom prst="rect">
            <a:avLst/>
          </a:prstGeom>
          <a:noFill/>
        </p:spPr>
        <p:txBody>
          <a:bodyPr wrap="square">
            <a:spAutoFit/>
          </a:bodyPr>
          <a:lstStyle/>
          <a:p>
            <a:pPr>
              <a:spcAft>
                <a:spcPts val="1600"/>
              </a:spcAft>
              <a:defRPr sz="2200">
                <a:solidFill>
                  <a:srgbClr val="192D4B"/>
                </a:solidFill>
              </a:defRPr>
            </a:pPr>
            <a:r>
              <a:t>• The paper studies collaborative intrusion detection for IoT devices.</a:t>
            </a:r>
          </a:p>
          <a:p>
            <a:pPr>
              <a:spcAft>
                <a:spcPts val="1600"/>
              </a:spcAft>
              <a:defRPr sz="2200">
                <a:solidFill>
                  <a:srgbClr val="192D4B"/>
                </a:solidFill>
              </a:defRPr>
            </a:pPr>
            <a:r>
              <a:t>• It explains that Federated Learning lets devices learn using local data.</a:t>
            </a:r>
          </a:p>
          <a:p>
            <a:pPr>
              <a:spcAft>
                <a:spcPts val="1600"/>
              </a:spcAft>
              <a:defRPr sz="2200">
                <a:solidFill>
                  <a:srgbClr val="192D4B"/>
                </a:solidFill>
              </a:defRPr>
            </a:pPr>
            <a:r>
              <a:t>• Devices can share model updates instead of sending all raw data.</a:t>
            </a:r>
          </a:p>
          <a:p>
            <a:pPr>
              <a:spcAft>
                <a:spcPts val="1600"/>
              </a:spcAft>
              <a:defRPr sz="2200">
                <a:solidFill>
                  <a:srgbClr val="192D4B"/>
                </a:solidFill>
              </a:defRPr>
            </a:pPr>
            <a:r>
              <a:t>• Our code is a small classroom demo of that idea.</a:t>
            </a:r>
          </a:p>
          <a:p>
            <a:pPr>
              <a:spcAft>
                <a:spcPts val="1600"/>
              </a:spcAft>
              <a:defRPr sz="2200">
                <a:solidFill>
                  <a:srgbClr val="192D4B"/>
                </a:solidFill>
              </a:defRPr>
            </a:pPr>
            <a:r>
              <a:t>• It is not a full real-world IoT security system.</a:t>
            </a:r>
          </a:p>
        </p:txBody>
      </p:sp>
      <p:sp>
        <p:nvSpPr>
          <p:cNvPr id="4" name="Rounded Rectangle 3"/>
          <p:cNvSpPr/>
          <p:nvPr/>
        </p:nvSpPr>
        <p:spPr>
          <a:xfrm>
            <a:off x="914400" y="5303520"/>
            <a:ext cx="10332720" cy="685800"/>
          </a:xfrm>
          <a:prstGeom prst="roundRect">
            <a:avLst/>
          </a:prstGeom>
          <a:solidFill>
            <a:srgbClr val="F2F7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0">
                <a:solidFill>
                  <a:srgbClr val="5F6973"/>
                </a:solidFill>
              </a:defRPr>
            </a:pPr>
            <a:r>
              <a:t>Paper: Collaborative intrusion detection in resource-constrained IoT environments (2025)</a:t>
            </a:r>
          </a:p>
        </p:txBody>
      </p:sp>
      <p:sp>
        <p:nvSpPr>
          <p:cNvPr id="5" name="TextBox 4"/>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85800"/>
          </a:xfrm>
          <a:prstGeom prst="rect">
            <a:avLst/>
          </a:prstGeom>
          <a:noFill/>
        </p:spPr>
        <p:txBody>
          <a:bodyPr wrap="none">
            <a:spAutoFit/>
          </a:bodyPr>
          <a:lstStyle/>
          <a:p>
            <a:pPr>
              <a:defRPr sz="2800" b="1">
                <a:solidFill>
                  <a:srgbClr val="192D4B"/>
                </a:solidFill>
              </a:defRPr>
            </a:pPr>
            <a:r>
              <a:t>9. One-minute explanation for presentation</a:t>
            </a:r>
          </a:p>
        </p:txBody>
      </p:sp>
      <p:sp>
        <p:nvSpPr>
          <p:cNvPr id="3" name="TextBox 2"/>
          <p:cNvSpPr txBox="1"/>
          <p:nvPr/>
        </p:nvSpPr>
        <p:spPr>
          <a:xfrm>
            <a:off x="914400" y="1371600"/>
            <a:ext cx="10241280" cy="4389120"/>
          </a:xfrm>
          <a:prstGeom prst="rect">
            <a:avLst/>
          </a:prstGeom>
          <a:noFill/>
        </p:spPr>
        <p:txBody>
          <a:bodyPr wrap="square">
            <a:spAutoFit/>
          </a:bodyPr>
          <a:lstStyle/>
          <a:p>
            <a:pPr>
              <a:spcAft>
                <a:spcPts val="1000"/>
              </a:spcAft>
              <a:defRPr sz="2400">
                <a:solidFill>
                  <a:srgbClr val="192D4B"/>
                </a:solidFill>
              </a:defRPr>
            </a:pPr>
            <a:r>
              <a:t>“Our project is a simple demo of collaborative IoT intrusion detection. We made three pretend IoT devices. Each device learns from its own examples of safe and attack traffic. Then we combine what the three models learned to make one shared model. On the web page, we enter packets per second, failed login attempts, and data size. Python checks these numbers and the HTML page shows SAFE or ATTACK. For example, 90 packets, 8 failed logins, and 1100 KB gives an attack-like input. This is only a simulation for learning, not a real cyber attack.”</a:t>
            </a:r>
          </a:p>
        </p:txBody>
      </p:sp>
      <p:sp>
        <p:nvSpPr>
          <p:cNvPr id="4" name="TextBox 3"/>
          <p:cNvSpPr txBox="1"/>
          <p:nvPr/>
        </p:nvSpPr>
        <p:spPr>
          <a:xfrm>
            <a:off x="11292840" y="6446520"/>
            <a:ext cx="457200" cy="228600"/>
          </a:xfrm>
          <a:prstGeom prst="rect">
            <a:avLst/>
          </a:prstGeom>
          <a:noFill/>
        </p:spPr>
        <p:txBody>
          <a:bodyPr wrap="none">
            <a:spAutoFit/>
          </a:bodyPr>
          <a:lstStyle/>
          <a:p>
            <a:pPr algn="r">
              <a:defRPr sz="1000">
                <a:solidFill>
                  <a:srgbClr val="5F6973"/>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