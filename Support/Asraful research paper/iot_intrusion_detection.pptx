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paper abstract lines 16-26; introduction lines 40-61. The paper is a review about collaborative intrusion detection for resource-constrained IoT environments.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resource-constrained devices lines 185-203 and microcontroller examples lines 193-210.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attacks section lines 211-264, covering jamming, battery depletion, botnet, and adversarial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introduction lines 40-52 mentions DoS, MITM, sniffing, hard-coded passwords, unsecured communication protocols, and Wi-Fi, Bluetooth, LoRa, Zigbee. Botnet DDoS description lines 246-253.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IDS section lines 266-283 and ML/anomaly matching lines 53-61.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contribution lines 125-139, FL frameworks lines 1317-1324, code-checking lines 1344-1347, Table 7 lines 1351-1368.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collaborative learning lines 298-314; FL local training and not sharing sensitive data lines 89-98; Fig. 2/Fig. 3 captions lines 1251-1256.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paper abstract lines 16-26, attacks lines 211-264, collaborative learning lines 298-314 and research gaps/future directions lines 1603-1661.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09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Tiny Smart Devices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9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 Teamwork to Stay Safe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30352" y="19385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6C7B"/>
                </a:solidFill>
              </a:rPr>
              <a:t>A class 4–5 friendly explanation of one research review paper</a:t>
            </a:r>
            <a:endParaRPr lang="en-US" sz="1700" dirty="0"/>
          </a:p>
        </p:txBody>
      </p:sp>
      <p:pic>
        <p:nvPicPr>
          <p:cNvPr id="4" name="Image 0" descr="/mnt/data/paper_cover_crop.png">    </p:cNvPr>
          <p:cNvPicPr>
            <a:picLocks noChangeAspect="1"/>
          </p:cNvPicPr>
          <p:nvPr/>
        </p:nvPicPr>
        <p:blipFill>
          <a:blip r:embed="rId1"/>
          <a:srcRect l="15821" r="15821" t="0" b="0"/>
          <a:stretch/>
        </p:blipFill>
        <p:spPr>
          <a:xfrm>
            <a:off x="7406640" y="685800"/>
            <a:ext cx="397764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788920"/>
            <a:ext cx="6172200" cy="749808"/>
          </a:xfrm>
          <a:prstGeom prst="rect">
            <a:avLst/>
          </a:prstGeom>
          <a:solidFill>
            <a:srgbClr val="DFF3FF"/>
          </a:solidFill>
          <a:ln w="12700">
            <a:solidFill>
              <a:srgbClr val="AFD9F1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9213B"/>
                </a:solidFill>
              </a:rPr>
              <a:t>Paper topic: Collaborative intrusion detection in small IoT devices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77240" y="3977640"/>
            <a:ext cx="57150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64A5"/>
                </a:solidFill>
              </a:rPr>
              <a:t>One simple idea: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1464A5"/>
                </a:solidFill>
              </a:rPr>
              <a:t>Devices can watch for bad behavior and learn together.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only on: Ieropoulos et al. (2025), Journal of Information Security and Applications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What are tiny smart devices?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C7B"/>
                </a:solidFill>
              </a:rPr>
              <a:t>The paper calls many of them resource-constrained IoT devices.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4663440" cy="960120"/>
          </a:xfrm>
          <a:prstGeom prst="rect">
            <a:avLst/>
          </a:prstGeom>
          <a:solidFill>
            <a:srgbClr val="FFFFFF">
              <a:alpha val="93000"/>
            </a:srgbClr>
          </a:solidFill>
          <a:ln w="15875">
            <a:solidFill>
              <a:srgbClr val="F4C36A"/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9213B"/>
                </a:solidFill>
              </a:rPr>
              <a:t>IoT means small smart things connected to a network.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9213B"/>
                </a:solidFill>
              </a:rPr>
              <a:t>They can collect and share data.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52160" y="1078992"/>
            <a:ext cx="1325880" cy="1234440"/>
          </a:xfrm>
          <a:prstGeom prst="rect">
            <a:avLst/>
          </a:prstGeom>
          <a:solidFill>
            <a:srgbClr val="DFF3FF">
              <a:alpha val="96000"/>
            </a:srgbClr>
          </a:solidFill>
          <a:ln w="15240">
            <a:solidFill>
              <a:srgbClr val="A9D3EE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52160" y="1124712"/>
            <a:ext cx="13258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07024" y="1696212"/>
            <a:ext cx="1216152" cy="51846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9213B"/>
                </a:solidFill>
              </a:rPr>
              <a:t>smart bulb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0" y="1078992"/>
            <a:ext cx="1325880" cy="1234440"/>
          </a:xfrm>
          <a:prstGeom prst="rect">
            <a:avLst/>
          </a:prstGeom>
          <a:solidFill>
            <a:srgbClr val="EAF8F0">
              <a:alpha val="96000"/>
            </a:srgbClr>
          </a:solidFill>
          <a:ln w="15240">
            <a:solidFill>
              <a:srgbClr val="A8DCB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0" y="1124712"/>
            <a:ext cx="13258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70064" y="1696212"/>
            <a:ext cx="1216152" cy="51846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9213B"/>
                </a:solidFill>
              </a:rPr>
              <a:t>door lock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78240" y="1078992"/>
            <a:ext cx="1325880" cy="1234440"/>
          </a:xfrm>
          <a:prstGeom prst="rect">
            <a:avLst/>
          </a:prstGeom>
          <a:solidFill>
            <a:srgbClr val="FFF0D8">
              <a:alpha val="96000"/>
            </a:srgbClr>
          </a:solidFill>
          <a:ln w="15240">
            <a:solidFill>
              <a:srgbClr val="F3C47A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778240" y="1124712"/>
            <a:ext cx="13258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📷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833104" y="1696212"/>
            <a:ext cx="1216152" cy="51846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9213B"/>
                </a:solidFill>
              </a:rPr>
              <a:t>camera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241280" y="1078992"/>
            <a:ext cx="1325880" cy="1234440"/>
          </a:xfrm>
          <a:prstGeom prst="rect">
            <a:avLst/>
          </a:prstGeom>
          <a:solidFill>
            <a:srgbClr val="EFEAFC">
              <a:alpha val="96000"/>
            </a:srgbClr>
          </a:solidFill>
          <a:ln w="15240">
            <a:solidFill>
              <a:srgbClr val="C4B8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241280" y="1124712"/>
            <a:ext cx="13258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🌡️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296144" y="1696212"/>
            <a:ext cx="1216152" cy="51846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9213B"/>
                </a:solidFill>
              </a:rPr>
              <a:t>sensor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2788920"/>
            <a:ext cx="4663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36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They have small memory, small power, and often run on battery.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52160" y="2788920"/>
            <a:ext cx="57150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36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213B"/>
                </a:solidFill>
              </a:rPr>
              <a:t>Examples named in the paper: Arduino, ESP8266 / ESP32, STM32, MSP430.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45720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AA86A"/>
                </a:solidFill>
              </a:rPr>
              <a:t>Easy example: like a small guard with a tiny backpack battery.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only on: Ieropoulos et al. (2025), Journal of Information Security and Applications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What is called an attack?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C7B"/>
                </a:solidFill>
              </a:rPr>
              <a:t>In the paper, attacks are bad actions that try to disturb, control, or fool the devices.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2560320" cy="1234440"/>
          </a:xfrm>
          <a:prstGeom prst="rect">
            <a:avLst/>
          </a:prstGeom>
          <a:solidFill>
            <a:srgbClr val="FFE8E4"/>
          </a:solidFill>
          <a:ln w="12700">
            <a:solidFill>
              <a:srgbClr val="F5AAA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213B"/>
                </a:solidFill>
              </a:rPr>
              <a:t>Jamming attack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9213B"/>
                </a:solidFill>
              </a:rPr>
              <a:t>Blocks wireless messages with noise.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337560" y="1325880"/>
            <a:ext cx="2743200" cy="1234440"/>
          </a:xfrm>
          <a:prstGeom prst="rect">
            <a:avLst/>
          </a:prstGeom>
          <a:solidFill>
            <a:srgbClr val="FFF0D8"/>
          </a:solidFill>
          <a:ln w="12700">
            <a:solidFill>
              <a:srgbClr val="F1BA6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213B"/>
                </a:solidFill>
              </a:rPr>
              <a:t>Battery attack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9213B"/>
                </a:solidFill>
              </a:rPr>
              <a:t>Makes the device do too much work until power drains.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1325880"/>
            <a:ext cx="2743200" cy="1234440"/>
          </a:xfrm>
          <a:prstGeom prst="rect">
            <a:avLst/>
          </a:prstGeom>
          <a:solidFill>
            <a:srgbClr val="EFEAFC"/>
          </a:solidFill>
          <a:ln w="12700">
            <a:solidFill>
              <a:srgbClr val="BFB2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213B"/>
                </a:solidFill>
              </a:rPr>
              <a:t>Botnet attack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9213B"/>
                </a:solidFill>
              </a:rPr>
              <a:t>Weak devices are infected and controlled like “zombies.”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281160" y="1325880"/>
            <a:ext cx="2377440" cy="1234440"/>
          </a:xfrm>
          <a:prstGeom prst="rect">
            <a:avLst/>
          </a:prstGeom>
          <a:solidFill>
            <a:srgbClr val="DFF3FF"/>
          </a:solidFill>
          <a:ln w="12700">
            <a:solidFill>
              <a:srgbClr val="A9D3EE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213B"/>
                </a:solidFill>
              </a:rPr>
              <a:t>Adversarial attack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9213B"/>
                </a:solidFill>
              </a:rPr>
              <a:t>Tricks the AI by giving it confusing input.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2971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📡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60520" y="2971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🔋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269480" y="2971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🧟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058400" y="2971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🎭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106070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B4C40"/>
                </a:solidFill>
              </a:rPr>
              <a:t>Think: attack = someone trying to make the smart device stop, obey them, or make a wrong decision.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only on: Ieropoulos et al. (2025), Journal of Information Security and Applications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Where can the attack come from?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C7B"/>
                </a:solidFill>
              </a:rPr>
              <a:t>The paper says connected devices can be reached through communication protocols.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57400" y="3108960"/>
            <a:ext cx="1737360" cy="0"/>
          </a:xfrm>
          <a:prstGeom prst="line">
            <a:avLst/>
          </a:prstGeom>
          <a:noFill/>
          <a:ln w="27940">
            <a:solidFill>
              <a:srgbClr val="DB4C40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800600" y="3108960"/>
            <a:ext cx="1783080" cy="0"/>
          </a:xfrm>
          <a:prstGeom prst="line">
            <a:avLst/>
          </a:prstGeom>
          <a:noFill/>
          <a:ln w="27940">
            <a:solidFill>
              <a:srgbClr val="DB4C4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635240" y="3108960"/>
            <a:ext cx="1783080" cy="0"/>
          </a:xfrm>
          <a:prstGeom prst="line">
            <a:avLst/>
          </a:prstGeom>
          <a:noFill/>
          <a:ln w="27940">
            <a:solidFill>
              <a:srgbClr val="DB4C40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48640" y="2395728"/>
            <a:ext cx="1783080" cy="1234440"/>
          </a:xfrm>
          <a:prstGeom prst="rect">
            <a:avLst/>
          </a:prstGeom>
          <a:solidFill>
            <a:srgbClr val="FFE8E4"/>
          </a:solidFill>
          <a:ln w="12700">
            <a:solidFill>
              <a:srgbClr val="F1A199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9213B"/>
                </a:solidFill>
              </a:rPr>
              <a:t>Bad actor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9213B"/>
                </a:solidFill>
              </a:rPr>
              <a:t>(threat actor)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dirty="0">
                <a:solidFill>
                  <a:srgbClr val="000000"/>
                </a:solidFill>
              </a:rPr>
              <a:t>🕵️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3657600" y="2240280"/>
            <a:ext cx="1691640" cy="1554480"/>
          </a:xfrm>
          <a:prstGeom prst="rect">
            <a:avLst/>
          </a:prstGeom>
          <a:solidFill>
            <a:srgbClr val="DFF3FF"/>
          </a:solidFill>
          <a:ln w="12700">
            <a:solidFill>
              <a:srgbClr val="A9D3EE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213B"/>
                </a:solidFill>
              </a:rPr>
              <a:t>Network path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9213B"/>
                </a:solidFill>
              </a:rPr>
              <a:t>Wi‑Fi • Bluetooth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9213B"/>
                </a:solidFill>
              </a:rPr>
              <a:t>LoRa • Zigbee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069080" y="13716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dirty="0">
                <a:solidFill>
                  <a:srgbClr val="000000"/>
                </a:solidFill>
              </a:rPr>
              <a:t>📶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583680" y="2148840"/>
            <a:ext cx="1828800" cy="1737360"/>
          </a:xfrm>
          <a:prstGeom prst="rect">
            <a:avLst/>
          </a:prstGeom>
          <a:solidFill>
            <a:srgbClr val="FFF0D8"/>
          </a:solidFill>
          <a:ln w="12700">
            <a:solidFill>
              <a:srgbClr val="F1BA6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213B"/>
                </a:solidFill>
              </a:rPr>
              <a:t>Small IoT devices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9213B"/>
                </a:solidFill>
              </a:rPr>
              <a:t>weak passwords or unsecured messages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🏠💡🔒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418320" y="2304288"/>
            <a:ext cx="1965960" cy="1417320"/>
          </a:xfrm>
          <a:prstGeom prst="rect">
            <a:avLst/>
          </a:prstGeom>
          <a:solidFill>
            <a:srgbClr val="EFEAFC"/>
          </a:solidFill>
          <a:ln w="12700">
            <a:solidFill>
              <a:srgbClr val="BFB2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9213B"/>
                </a:solidFill>
              </a:rPr>
              <a:t>Server / network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9213B"/>
                </a:solidFill>
              </a:rPr>
              <a:t>can be slowed or disturbed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921240" y="142646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47091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464A5"/>
                </a:solidFill>
              </a:rPr>
              <a:t>Simple meaning: the attack travels through the same paths normal messages use.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only on: Ieropoulos et al. (2025), Journal of Information Security and Applications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What does an IDS do?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C7B"/>
                </a:solidFill>
              </a:rPr>
              <a:t>IDS means Intrusion Detection System.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0" dirty="0">
                <a:solidFill>
                  <a:srgbClr val="000000"/>
                </a:solidFill>
              </a:rPr>
              <a:t>🛡️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920240" y="1115568"/>
            <a:ext cx="3840480" cy="1234440"/>
          </a:xfrm>
          <a:prstGeom prst="rect">
            <a:avLst/>
          </a:prstGeom>
          <a:solidFill>
            <a:srgbClr val="FFFFFF">
              <a:alpha val="93000"/>
            </a:srgbClr>
          </a:solidFill>
          <a:ln w="15875">
            <a:solidFill>
              <a:srgbClr val="F4C36A"/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9213B"/>
                </a:solidFill>
              </a:rPr>
              <a:t>An IDS is like a watchful guard.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9213B"/>
                </a:solidFill>
              </a:rPr>
              <a:t>It watches network traffic and device activity.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2468880" cy="777240"/>
          </a:xfrm>
          <a:prstGeom prst="rect">
            <a:avLst/>
          </a:prstGeom>
          <a:solidFill>
            <a:srgbClr val="DFF3FF"/>
          </a:solidFill>
          <a:ln w="12700">
            <a:solidFill>
              <a:srgbClr val="A9D3EE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It looks for patterns.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40480" y="2834640"/>
            <a:ext cx="2697480" cy="777240"/>
          </a:xfrm>
          <a:prstGeom prst="rect">
            <a:avLst/>
          </a:prstGeom>
          <a:solidFill>
            <a:srgbClr val="FFF0D8"/>
          </a:solidFill>
          <a:ln w="12700">
            <a:solidFill>
              <a:srgbClr val="F1BA6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It notices abnormal behavior.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95160" y="2834640"/>
            <a:ext cx="2606040" cy="777240"/>
          </a:xfrm>
          <a:prstGeom prst="rect">
            <a:avLst/>
          </a:prstGeom>
          <a:solidFill>
            <a:srgbClr val="EAF8F0"/>
          </a:solidFill>
          <a:ln w="12700">
            <a:solidFill>
              <a:srgbClr val="A8DCB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It can warn about attacks.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5074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36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Examples named in paper: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SNORT, ZEEK, Suricata, Kismet, OSSEC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47548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AA86A"/>
                </a:solidFill>
              </a:rPr>
              <a:t>For class 4–5: IDS = security guard for smart devices.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only on: Ieropoulos et al. (2025), Journal of Information Security and Applications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5) What did the “code/framework” part do?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C7B"/>
                </a:solidFill>
              </a:rPr>
              <a:t>The paper is a review paper. It checks existing methods and frameworks.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074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36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The authors reviewed many studies about IoT security and collaborative learning.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46520" y="1234440"/>
            <a:ext cx="4846320" cy="1051560"/>
          </a:xfrm>
          <a:prstGeom prst="rect">
            <a:avLst/>
          </a:prstGeom>
          <a:solidFill>
            <a:srgbClr val="DFF3FF"/>
          </a:solidFill>
          <a:ln w="12700">
            <a:solidFill>
              <a:srgbClr val="A9D3EE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213B"/>
                </a:solidFill>
              </a:rPr>
              <a:t>They checked Federated Learning frameworks: TFF, FedLab, Flower, FATE, OpenFL, Syft, and others.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697480" y="2487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🔍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00400" y="2788920"/>
            <a:ext cx="960120" cy="0"/>
          </a:xfrm>
          <a:prstGeom prst="line">
            <a:avLst/>
          </a:prstGeom>
          <a:noFill/>
          <a:ln w="27940">
            <a:solidFill>
              <a:srgbClr val="1464A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297680" y="2487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💻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937760" y="2788920"/>
            <a:ext cx="960120" cy="0"/>
          </a:xfrm>
          <a:prstGeom prst="line">
            <a:avLst/>
          </a:prstGeom>
          <a:noFill/>
          <a:ln w="27940">
            <a:solidFill>
              <a:srgbClr val="1464A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989320" y="2487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🔐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3337560"/>
            <a:ext cx="10195560" cy="1600200"/>
          </a:xfrm>
          <a:prstGeom prst="rect">
            <a:avLst/>
          </a:prstGeom>
          <a:solidFill>
            <a:srgbClr val="EFEAFC"/>
          </a:solidFill>
          <a:ln w="12700">
            <a:solidFill>
              <a:srgbClr val="BFB2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They checked if the framework code really had: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• authentication = only trusted devices join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• encryption = messages/models are hidden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• IoT support = can work with smart devices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5394960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B4C40"/>
                </a:solidFill>
              </a:rPr>
              <a:t>Important: the paper does not give one new program. It reviews and compares existing work.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only on: Ieropoulos et al. (2025), Journal of Information Security and Applications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6) Main idea: devices learn together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C7B"/>
                </a:solidFill>
              </a:rPr>
              <a:t>Collaborative learning means many learners work toward the same goal.</a:t>
            </a:r>
            <a:endParaRPr lang="en-US" sz="1300" dirty="0"/>
          </a:p>
        </p:txBody>
      </p:sp>
      <p:pic>
        <p:nvPicPr>
          <p:cNvPr id="4" name="Image 0" descr="/mnt/data/fl_figures_crop.png">    </p:cNvPr>
          <p:cNvPicPr>
            <a:picLocks noChangeAspect="1"/>
          </p:cNvPicPr>
          <p:nvPr/>
        </p:nvPicPr>
        <p:blipFill>
          <a:blip r:embed="rId1"/>
          <a:srcRect l="0" r="0" t="3892" b="3892"/>
          <a:stretch/>
        </p:blipFill>
        <p:spPr>
          <a:xfrm>
            <a:off x="658368" y="1115568"/>
            <a:ext cx="397764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4920" y="1234440"/>
            <a:ext cx="6263640" cy="960120"/>
          </a:xfrm>
          <a:prstGeom prst="rect">
            <a:avLst/>
          </a:prstGeom>
          <a:solidFill>
            <a:srgbClr val="FFFFFF">
              <a:alpha val="93000"/>
            </a:srgbClr>
          </a:solidFill>
          <a:ln w="15875">
            <a:solidFill>
              <a:srgbClr val="F4C36A"/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9213B"/>
                </a:solidFill>
              </a:rPr>
              <a:t>Normal way: one big place may do the checking.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9213B"/>
                </a:solidFill>
              </a:rPr>
              <a:t>Problem: if that place fails, the system suffers.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74920" y="2606040"/>
            <a:ext cx="6263640" cy="1188720"/>
          </a:xfrm>
          <a:prstGeom prst="rect">
            <a:avLst/>
          </a:prstGeom>
          <a:solidFill>
            <a:srgbClr val="FFFFFF">
              <a:alpha val="93000"/>
            </a:srgbClr>
          </a:solidFill>
          <a:ln w="15875">
            <a:solidFill>
              <a:srgbClr val="F4C36A"/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9213B"/>
                </a:solidFill>
              </a:rPr>
              <a:t>Collaborative / Federated idea: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9213B"/>
                </a:solidFill>
              </a:rPr>
              <a:t>small devices learn from their own data and share learning, not raw private data.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74920" y="4297680"/>
            <a:ext cx="6263640" cy="960120"/>
          </a:xfrm>
          <a:prstGeom prst="rect">
            <a:avLst/>
          </a:prstGeom>
          <a:solidFill>
            <a:srgbClr val="EAF8F0"/>
          </a:solidFill>
          <a:ln w="12700">
            <a:solidFill>
              <a:srgbClr val="A8DCB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Why helpful?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Better detection • less load on one device • privacy can be protected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from the same paper: centralised and decentralised Federated Learning diagrams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92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7) The easiest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C7B"/>
                </a:solidFill>
              </a:rPr>
              <a:t>One minute explanation for a beginner.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3566160" cy="960120"/>
          </a:xfrm>
          <a:prstGeom prst="rect">
            <a:avLst/>
          </a:prstGeom>
          <a:solidFill>
            <a:srgbClr val="DFF3FF"/>
          </a:solidFill>
          <a:ln w="12700">
            <a:solidFill>
              <a:srgbClr val="A9D3EE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Smart devices are useful, but they are small and weak.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26280" y="1143000"/>
            <a:ext cx="3566160" cy="960120"/>
          </a:xfrm>
          <a:prstGeom prst="rect">
            <a:avLst/>
          </a:prstGeom>
          <a:solidFill>
            <a:srgbClr val="FFE8E4"/>
          </a:solidFill>
          <a:ln w="12700">
            <a:solidFill>
              <a:srgbClr val="F5AAA4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9213B"/>
                </a:solidFill>
              </a:rPr>
              <a:t>Attackers can disturb messages, drain battery, control weak devices, or trick AI.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0" y="1143000"/>
            <a:ext cx="2971800" cy="960120"/>
          </a:xfrm>
          <a:prstGeom prst="rect">
            <a:avLst/>
          </a:prstGeom>
          <a:solidFill>
            <a:srgbClr val="FFF0D8"/>
          </a:solidFill>
          <a:ln w="12700">
            <a:solidFill>
              <a:srgbClr val="F1BA6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213B"/>
                </a:solidFill>
              </a:rPr>
              <a:t>IDS watches for bad behavior.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2971800"/>
            <a:ext cx="9738360" cy="1234440"/>
          </a:xfrm>
          <a:prstGeom prst="rect">
            <a:avLst/>
          </a:prstGeom>
          <a:solidFill>
            <a:srgbClr val="EAF8F0"/>
          </a:solidFill>
          <a:ln w="12700">
            <a:solidFill>
              <a:srgbClr val="A8DCB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9213B"/>
                </a:solidFill>
              </a:rPr>
              <a:t>The research says a good direction is teamwork: devices learn together and help detect attacks.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464A5"/>
                </a:solidFill>
              </a:rPr>
              <a:t>Takeaway: Tiny devices can be safer when they do not fight alone.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411480" y="6473952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only on: Ieropoulos et al. (2025), Journal of Information Security and Applications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Attacks and Collaborative Intrusion Detection</dc:title>
  <dc:subject>Simple class 4-5 explanation based on research paper</dc:subject>
  <dc:creator>OpenAI</dc:creator>
  <cp:lastModifiedBy>OpenAI</cp:lastModifiedBy>
  <cp:revision>1</cp:revision>
  <dcterms:created xsi:type="dcterms:W3CDTF">2026-07-21T14:18:59Z</dcterms:created>
  <dcterms:modified xsi:type="dcterms:W3CDTF">2026-07-21T14:18:59Z</dcterms:modified>
</cp:coreProperties>
</file>