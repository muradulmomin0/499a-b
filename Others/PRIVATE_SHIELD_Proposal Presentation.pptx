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panel. Briefly introduce the project title: PRIVATE SHIELD. Mention this is a CSE 499A final-year project by Group 06, Section 15. Introduce team members. State the core idea in one sentence: a federated, privacy-preserving IDS for IoT using FL + DP. Take 30–45 seconds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scale of IoT proliferation. Emphasize that existing security architectures were designed for centralized, high-bandwidth, server-grade environments — not the constrained, distributed IoT edge. The stat cards quickly convey urgency. Spend 45–60 seconds; transition into 'why centralized IDS fails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problem motivation slide. Walk through each of the four failure points. Emphasize that federated learning alone doesn't solve privacy — it introduces NEW attack surfaces. The bottom red callout is the synthesis: no current solution handles all these constraints simultaneously.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existing literature addresses one or two of these gaps at a time, but no unified, production-grade framework addresses all simultaneously. This motivates the novel integrated architecture of PRIVATE SHIELD. Mention specific gaps: no FL+DP+adversarial-robustness+SOC+LLM integration exists at the edge level.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solution overview. Explain the five pillars top-level. Key innovation: combining FL + DP + adversarial robustness + SOC + LLM into ONE coherent edge-native system. Mention the hardware: real Raspberry Pi and ESP32 nodes — not simulation.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architecture left to right: IoT devices capture packets → local model training with DP gradient clipping → Flower server aggregates via FedAvg with DP noise → SOC dashboard shows real-time alerts → LLM assistant generates forensic reports. Emphasize that raw data NEVER leaves the device. 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six-step pipeline. Key point: Step 03 (DP gradient update) is where privacy is enforced — gradients are clipped and noised BEFORE leaving the device. Step 04 aggregation never sees raw data. The FedAvg formula at the bottom ties it to the mathematical formulation in the proposal. 60–75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differential privacy intuitively: 'adding calibrated noise to make individual contributions indistinguishable.' The Opacus library from Meta provides production-grade DP training on PyTorch. Walk through the 4-step DP mechanism on the right: raw gradient → clipping → noise injection → protected transmission. Mention ε-δ notation briefly.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adversarial evaluation depth — a major novelty of this project. Most FL papers don't test all three attack vectors simultaneously. Walk through each: attack vector, then mitigation. Emphasize these are ACTIVE simulations using Scapy and injected rogue nodes, not just theoretical analysis. 60–75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breadth of the tech stack — this is a full-stack research project covering hardware, ML, privacy, backend, and frontend. Key differentiators: Opacus for DP (Meta's production library), Flower for FL orchestration (industry standard), and Claude API for LLM forensics.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EXPECTED outcomes — stress this clearly. The project is in development; these represent the target benchmarks from the proposal. Highlight the four quadrant structure: baseline benchmark, FL+DP, adversarial robustness, and SOC dashboard. The italicized third bullet in each is the quantified expected outcome.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timeline: 9 active project weeks from Week 4 to Week 12. The alternating card layout follows each week. Key submission milestones: Proposed Solution Report (Week 6), Progress Report (Week 8), Final Presentation (Week 12). This shows systematic planning and version-controlled deliverable management.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table quickly conveys the novelty of PRIVATE SHIELD over traditional centralized approaches. Walk row by row: privacy, bandwidth, adversarial defense, edge deployment, formal guarantees, forensic automation, scalability. The green column shows consistent advantages. Highlight that the combination of ALL these properties in a single edge-native system is the key contribution.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with the five key takeaways. Emphasize the novelty: no existing published framework combines FL + DP + adversarial evaluation + SOC dashboard + LLM forensics at the IoT edge. The project addresses a genuine research gap with a complete, systematic engineering approach. Invite questions. Thank the panel.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5669280" y="-1097280"/>
            <a:ext cx="5029200" cy="5029200"/>
          </a:xfrm>
          <a:prstGeom prst="ellipse">
            <a:avLst/>
          </a:prstGeom>
          <a:solidFill>
            <a:srgbClr val="0891B2">
              <a:alpha val="12000"/>
            </a:srgbClr>
          </a:solidFill>
          <a:ln w="12700">
            <a:solidFill>
              <a:srgbClr val="0891B2"/>
            </a:solidFill>
            <a:prstDash val="solid"/>
          </a:ln>
        </p:spPr>
      </p:sp>
      <p:sp>
        <p:nvSpPr>
          <p:cNvPr id="3" name="Shape 1"/>
          <p:cNvSpPr/>
          <p:nvPr/>
        </p:nvSpPr>
        <p:spPr>
          <a:xfrm>
            <a:off x="6217920" y="-640080"/>
            <a:ext cx="3840480" cy="3840480"/>
          </a:xfrm>
          <a:prstGeom prst="ellipse">
            <a:avLst/>
          </a:prstGeom>
          <a:solidFill>
            <a:srgbClr val="00D4FF">
              <a:alpha val="7000"/>
            </a:srgbClr>
          </a:solidFill>
          <a:ln w="12700">
            <a:solidFill>
              <a:srgbClr val="00D4FF"/>
            </a:solidFill>
            <a:prstDash val="solid"/>
          </a:ln>
        </p:spPr>
      </p:sp>
      <p:pic>
        <p:nvPicPr>
          <p:cNvPr id="4" name="Image 0" descr="preencoded.png">    </p:cNvPr>
          <p:cNvPicPr>
            <a:picLocks noChangeAspect="1"/>
          </p:cNvPicPr>
          <p:nvPr/>
        </p:nvPicPr>
        <p:blipFill>
          <a:blip r:embed="rId1"/>
          <a:stretch>
            <a:fillRect/>
          </a:stretch>
        </p:blipFill>
        <p:spPr>
          <a:xfrm>
            <a:off x="7132320" y="502920"/>
            <a:ext cx="1463040" cy="1463040"/>
          </a:xfrm>
          <a:prstGeom prst="rect">
            <a:avLst/>
          </a:prstGeom>
        </p:spPr>
      </p:pic>
      <p:sp>
        <p:nvSpPr>
          <p:cNvPr id="5" name="Text 2"/>
          <p:cNvSpPr/>
          <p:nvPr/>
        </p:nvSpPr>
        <p:spPr>
          <a:xfrm>
            <a:off x="457200" y="347472"/>
            <a:ext cx="6400800" cy="292608"/>
          </a:xfrm>
          <a:prstGeom prst="rect">
            <a:avLst/>
          </a:prstGeom>
          <a:noFill/>
          <a:ln/>
        </p:spPr>
        <p:txBody>
          <a:bodyPr wrap="square" lIns="0" tIns="0" rIns="0" bIns="0" rtlCol="0" anchor="ctr"/>
          <a:lstStyle/>
          <a:p>
            <a:pPr algn="l" indent="0" marL="0">
              <a:buNone/>
            </a:pPr>
            <a:r>
              <a:rPr lang="en-US" sz="1000" spc="150" kern="0" dirty="0">
                <a:solidFill>
                  <a:srgbClr val="00D4FF"/>
                </a:solidFill>
                <a:latin typeface="Calibri" pitchFamily="34" charset="0"/>
                <a:ea typeface="Calibri" pitchFamily="34" charset="-122"/>
                <a:cs typeface="Calibri" pitchFamily="34" charset="-120"/>
              </a:rPr>
              <a:t>CSE 499A  ·  Final Year Project Evaluation  ·  Section 15</a:t>
            </a:r>
            <a:endParaRPr lang="en-US" sz="1000" dirty="0"/>
          </a:p>
        </p:txBody>
      </p:sp>
      <p:sp>
        <p:nvSpPr>
          <p:cNvPr id="6" name="Text 3"/>
          <p:cNvSpPr/>
          <p:nvPr/>
        </p:nvSpPr>
        <p:spPr>
          <a:xfrm>
            <a:off x="457200" y="685800"/>
            <a:ext cx="6583680" cy="960120"/>
          </a:xfrm>
          <a:prstGeom prst="rect">
            <a:avLst/>
          </a:prstGeom>
          <a:noFill/>
          <a:ln/>
        </p:spPr>
        <p:txBody>
          <a:bodyPr wrap="square" lIns="0" tIns="0" rIns="0" bIns="0" rtlCol="0" anchor="ctr"/>
          <a:lstStyle/>
          <a:p>
            <a:pPr algn="l" indent="0" marL="0">
              <a:buNone/>
            </a:pPr>
            <a:r>
              <a:rPr lang="en-US" sz="5200" b="1" dirty="0">
                <a:solidFill>
                  <a:srgbClr val="FFFFFF"/>
                </a:solidFill>
                <a:latin typeface="Cambria" pitchFamily="34" charset="0"/>
                <a:ea typeface="Cambria" pitchFamily="34" charset="-122"/>
                <a:cs typeface="Cambria" pitchFamily="34" charset="-120"/>
              </a:rPr>
              <a:t>PRIVATE SHIELD</a:t>
            </a:r>
            <a:endParaRPr lang="en-US" sz="5200" dirty="0"/>
          </a:p>
        </p:txBody>
      </p:sp>
      <p:sp>
        <p:nvSpPr>
          <p:cNvPr id="7" name="Text 4"/>
          <p:cNvSpPr/>
          <p:nvPr/>
        </p:nvSpPr>
        <p:spPr>
          <a:xfrm>
            <a:off x="457200" y="1691640"/>
            <a:ext cx="6583680" cy="731520"/>
          </a:xfrm>
          <a:prstGeom prst="rect">
            <a:avLst/>
          </a:prstGeom>
          <a:noFill/>
          <a:ln/>
        </p:spPr>
        <p:txBody>
          <a:bodyPr wrap="square" lIns="0" tIns="0" rIns="0" bIns="0" rtlCol="0" anchor="t"/>
          <a:lstStyle/>
          <a:p>
            <a:pPr algn="l" indent="0" marL="0">
              <a:buNone/>
            </a:pPr>
            <a:r>
              <a:rPr lang="en-US" sz="1600" dirty="0">
                <a:solidFill>
                  <a:srgbClr val="00D4FF"/>
                </a:solidFill>
                <a:latin typeface="Calibri" pitchFamily="34" charset="0"/>
                <a:ea typeface="Calibri" pitchFamily="34" charset="-122"/>
                <a:cs typeface="Calibri" pitchFamily="34" charset="-120"/>
              </a:rPr>
              <a:t>A Privacy-Preserving Federated Intelligence System</a:t>
            </a:r>
            <a:endParaRPr lang="en-US" sz="1600" dirty="0"/>
          </a:p>
          <a:p>
            <a:pPr algn="l" indent="0" marL="0">
              <a:buNone/>
            </a:pPr>
            <a:r>
              <a:rPr lang="en-US" sz="1600" dirty="0">
                <a:solidFill>
                  <a:srgbClr val="00D4FF"/>
                </a:solidFill>
                <a:latin typeface="Calibri" pitchFamily="34" charset="0"/>
                <a:ea typeface="Calibri" pitchFamily="34" charset="-122"/>
                <a:cs typeface="Calibri" pitchFamily="34" charset="-120"/>
              </a:rPr>
              <a:t>for IoT Threat Detection</a:t>
            </a:r>
            <a:endParaRPr lang="en-US" sz="1600" dirty="0"/>
          </a:p>
        </p:txBody>
      </p:sp>
      <p:sp>
        <p:nvSpPr>
          <p:cNvPr id="8" name="Shape 5"/>
          <p:cNvSpPr/>
          <p:nvPr/>
        </p:nvSpPr>
        <p:spPr>
          <a:xfrm>
            <a:off x="457200" y="2487168"/>
            <a:ext cx="5943600" cy="36576"/>
          </a:xfrm>
          <a:prstGeom prst="rect">
            <a:avLst/>
          </a:prstGeom>
          <a:solidFill>
            <a:srgbClr val="0891B2"/>
          </a:solidFill>
          <a:ln w="12700">
            <a:solidFill>
              <a:srgbClr val="0891B2"/>
            </a:solidFill>
            <a:prstDash val="solid"/>
          </a:ln>
        </p:spPr>
      </p:sp>
      <p:sp>
        <p:nvSpPr>
          <p:cNvPr id="9" name="Shape 6"/>
          <p:cNvSpPr/>
          <p:nvPr/>
        </p:nvSpPr>
        <p:spPr>
          <a:xfrm>
            <a:off x="457200" y="2651760"/>
            <a:ext cx="5852160" cy="1664208"/>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sp>
        <p:nvSpPr>
          <p:cNvPr id="10" name="Text 7"/>
          <p:cNvSpPr/>
          <p:nvPr/>
        </p:nvSpPr>
        <p:spPr>
          <a:xfrm>
            <a:off x="594360" y="2724912"/>
            <a:ext cx="5577840" cy="274320"/>
          </a:xfrm>
          <a:prstGeom prst="rect">
            <a:avLst/>
          </a:prstGeom>
          <a:noFill/>
          <a:ln/>
        </p:spPr>
        <p:txBody>
          <a:bodyPr wrap="square" lIns="0" tIns="0" rIns="0" bIns="0" rtlCol="0" anchor="ctr"/>
          <a:lstStyle/>
          <a:p>
            <a:pPr algn="l" indent="0" marL="0">
              <a:buNone/>
            </a:pPr>
            <a:r>
              <a:rPr lang="en-US" sz="1100" b="1" dirty="0">
                <a:solidFill>
                  <a:srgbClr val="00D4FF"/>
                </a:solidFill>
                <a:latin typeface="Calibri" pitchFamily="34" charset="0"/>
                <a:ea typeface="Calibri" pitchFamily="34" charset="-122"/>
                <a:cs typeface="Calibri" pitchFamily="34" charset="-120"/>
              </a:rPr>
              <a:t>Group 06  ·  Project Team</a:t>
            </a:r>
            <a:endParaRPr lang="en-US" sz="1100" dirty="0"/>
          </a:p>
        </p:txBody>
      </p:sp>
      <p:sp>
        <p:nvSpPr>
          <p:cNvPr id="11" name="Text 8"/>
          <p:cNvSpPr/>
          <p:nvPr/>
        </p:nvSpPr>
        <p:spPr>
          <a:xfrm>
            <a:off x="594360" y="3035808"/>
            <a:ext cx="5577840" cy="502920"/>
          </a:xfrm>
          <a:prstGeom prst="rect">
            <a:avLst/>
          </a:prstGeom>
          <a:noFill/>
          <a:ln/>
        </p:spPr>
        <p:txBody>
          <a:bodyPr wrap="square" lIns="0" tIns="0" rIns="0" bIns="0" rtlCol="0" anchor="ctr"/>
          <a:lstStyle/>
          <a:p>
            <a:pPr algn="l" indent="0" marL="0">
              <a:buNone/>
            </a:pPr>
            <a:r>
              <a:rPr lang="en-US" sz="1250" dirty="0">
                <a:solidFill>
                  <a:srgbClr val="E2E8F0"/>
                </a:solidFill>
                <a:latin typeface="Calibri" pitchFamily="34" charset="0"/>
                <a:ea typeface="Calibri" pitchFamily="34" charset="-122"/>
                <a:cs typeface="Calibri" pitchFamily="34" charset="-120"/>
              </a:rPr>
              <a:t>Md. Murad Ul Momin  ·  Rima Saha</a:t>
            </a:r>
            <a:endParaRPr lang="en-US" sz="1250" dirty="0"/>
          </a:p>
          <a:p>
            <a:pPr algn="l" indent="0" marL="0">
              <a:buNone/>
            </a:pPr>
            <a:r>
              <a:rPr lang="en-US" sz="1250" dirty="0">
                <a:solidFill>
                  <a:srgbClr val="E2E8F0"/>
                </a:solidFill>
                <a:latin typeface="Calibri" pitchFamily="34" charset="0"/>
                <a:ea typeface="Calibri" pitchFamily="34" charset="-122"/>
                <a:cs typeface="Calibri" pitchFamily="34" charset="-120"/>
              </a:rPr>
              <a:t>Sakia Tabassum Anonna  ·  Ashraful Hossain Riyan</a:t>
            </a:r>
            <a:endParaRPr lang="en-US" sz="1250" dirty="0"/>
          </a:p>
        </p:txBody>
      </p:sp>
      <p:sp>
        <p:nvSpPr>
          <p:cNvPr id="12" name="Text 9"/>
          <p:cNvSpPr/>
          <p:nvPr/>
        </p:nvSpPr>
        <p:spPr>
          <a:xfrm>
            <a:off x="594360" y="3593592"/>
            <a:ext cx="5577840" cy="256032"/>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Supervised under CSE 499A  ·  North South University</a:t>
            </a:r>
            <a:endParaRPr lang="en-US" sz="1000" dirty="0"/>
          </a:p>
        </p:txBody>
      </p:sp>
      <p:sp>
        <p:nvSpPr>
          <p:cNvPr id="13" name="Text 10"/>
          <p:cNvSpPr/>
          <p:nvPr/>
        </p:nvSpPr>
        <p:spPr>
          <a:xfrm>
            <a:off x="457200" y="4434840"/>
            <a:ext cx="8229600" cy="274320"/>
          </a:xfrm>
          <a:prstGeom prst="rect">
            <a:avLst/>
          </a:prstGeom>
          <a:noFill/>
          <a:ln/>
        </p:spPr>
        <p:txBody>
          <a:bodyPr wrap="square" lIns="0" tIns="0" rIns="0" bIns="0" rtlCol="0" anchor="ctr"/>
          <a:lstStyle/>
          <a:p>
            <a:pPr algn="l" indent="0" marL="0">
              <a:buNone/>
            </a:pPr>
            <a:r>
              <a:rPr lang="en-US" sz="950" spc="50" kern="0" dirty="0">
                <a:solidFill>
                  <a:srgbClr val="94A3B8"/>
                </a:solidFill>
                <a:latin typeface="Calibri" pitchFamily="34" charset="0"/>
                <a:ea typeface="Calibri" pitchFamily="34" charset="-122"/>
                <a:cs typeface="Calibri" pitchFamily="34" charset="-120"/>
              </a:rPr>
              <a:t>Federated Learning  ·  Differential Privacy  ·  Adversarial Robustness  ·  IoT Edge Security</a:t>
            </a:r>
            <a:endParaRPr lang="en-US" sz="950" dirty="0"/>
          </a:p>
        </p:txBody>
      </p:sp>
      <p:sp>
        <p:nvSpPr>
          <p:cNvPr id="14" name="Shape 11"/>
          <p:cNvSpPr/>
          <p:nvPr/>
        </p:nvSpPr>
        <p:spPr>
          <a:xfrm>
            <a:off x="0" y="4800600"/>
            <a:ext cx="9144000" cy="342900"/>
          </a:xfrm>
          <a:prstGeom prst="rect">
            <a:avLst/>
          </a:prstGeom>
          <a:solidFill>
            <a:srgbClr val="071020"/>
          </a:solidFill>
          <a:ln w="12700">
            <a:solidFill>
              <a:srgbClr val="071020"/>
            </a:solidFill>
            <a:prstDash val="solid"/>
          </a:ln>
        </p:spPr>
      </p:sp>
      <p:sp>
        <p:nvSpPr>
          <p:cNvPr id="15" name="Shape 12"/>
          <p:cNvSpPr/>
          <p:nvPr/>
        </p:nvSpPr>
        <p:spPr>
          <a:xfrm>
            <a:off x="0" y="4796028"/>
            <a:ext cx="9144000" cy="13716"/>
          </a:xfrm>
          <a:prstGeom prst="rect">
            <a:avLst/>
          </a:prstGeom>
          <a:solidFill>
            <a:srgbClr val="0891B2"/>
          </a:solidFill>
          <a:ln w="12700">
            <a:solidFill>
              <a:srgbClr val="0891B2"/>
            </a:solidFill>
            <a:prstDash val="solid"/>
          </a:ln>
        </p:spPr>
      </p:sp>
      <p:sp>
        <p:nvSpPr>
          <p:cNvPr id="16" name="Text 13"/>
          <p:cNvSpPr/>
          <p:nvPr/>
        </p:nvSpPr>
        <p:spPr>
          <a:xfrm>
            <a:off x="274320" y="4805172"/>
            <a:ext cx="8229600" cy="320040"/>
          </a:xfrm>
          <a:prstGeom prst="rect">
            <a:avLst/>
          </a:prstGeom>
          <a:noFill/>
          <a:ln/>
        </p:spPr>
        <p:txBody>
          <a:bodyPr wrap="square" lIns="0" tIns="0" rIns="0" bIns="0" rtlCol="0" anchor="ctr"/>
          <a:lstStyle/>
          <a:p>
            <a:pPr algn="l" indent="0" marL="0">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17" name="Text 14"/>
          <p:cNvSpPr/>
          <p:nvPr/>
        </p:nvSpPr>
        <p:spPr>
          <a:xfrm>
            <a:off x="8503920" y="4805172"/>
            <a:ext cx="548640" cy="320040"/>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1 / 14</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11480" y="201168"/>
            <a:ext cx="8046720" cy="530352"/>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Background &amp; Motivation</a:t>
            </a:r>
            <a:endParaRPr lang="en-US" sz="2800" dirty="0"/>
          </a:p>
        </p:txBody>
      </p:sp>
      <p:sp>
        <p:nvSpPr>
          <p:cNvPr id="3" name="Text 1"/>
          <p:cNvSpPr/>
          <p:nvPr/>
        </p:nvSpPr>
        <p:spPr>
          <a:xfrm>
            <a:off x="411480" y="749808"/>
            <a:ext cx="8046720" cy="292608"/>
          </a:xfrm>
          <a:prstGeom prst="rect">
            <a:avLst/>
          </a:prstGeom>
          <a:noFill/>
          <a:ln/>
        </p:spPr>
        <p:txBody>
          <a:bodyPr wrap="square" lIns="0" tIns="0" rIns="0" bIns="0" rtlCol="0" anchor="t"/>
          <a:lstStyle/>
          <a:p>
            <a:pPr algn="l" indent="0" marL="0">
              <a:buNone/>
            </a:pPr>
            <a:r>
              <a:rPr lang="en-US" sz="1300" i="1" dirty="0">
                <a:solidFill>
                  <a:srgbClr val="00D4FF"/>
                </a:solidFill>
                <a:latin typeface="Calibri" pitchFamily="34" charset="0"/>
                <a:ea typeface="Calibri" pitchFamily="34" charset="-122"/>
                <a:cs typeface="Calibri" pitchFamily="34" charset="-120"/>
              </a:rPr>
              <a:t>The IoT Security Crisis</a:t>
            </a:r>
            <a:endParaRPr lang="en-US" sz="1300" dirty="0"/>
          </a:p>
        </p:txBody>
      </p:sp>
      <p:sp>
        <p:nvSpPr>
          <p:cNvPr id="4" name="Shape 2"/>
          <p:cNvSpPr/>
          <p:nvPr/>
        </p:nvSpPr>
        <p:spPr>
          <a:xfrm>
            <a:off x="411480" y="1005840"/>
            <a:ext cx="8321040" cy="16459"/>
          </a:xfrm>
          <a:prstGeom prst="rect">
            <a:avLst/>
          </a:prstGeom>
          <a:solidFill>
            <a:srgbClr val="0891B2">
              <a:alpha val="60000"/>
            </a:srgbClr>
          </a:solidFill>
          <a:ln w="12700">
            <a:solidFill>
              <a:srgbClr val="0891B2"/>
            </a:solidFill>
            <a:prstDash val="solid"/>
          </a:ln>
        </p:spPr>
      </p:sp>
      <p:sp>
        <p:nvSpPr>
          <p:cNvPr id="5" name="Shape 3"/>
          <p:cNvSpPr/>
          <p:nvPr/>
        </p:nvSpPr>
        <p:spPr>
          <a:xfrm>
            <a:off x="411480" y="1115568"/>
            <a:ext cx="2578608" cy="146304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pic>
        <p:nvPicPr>
          <p:cNvPr id="6" name="Image 0" descr="preencoded.png">    </p:cNvPr>
          <p:cNvPicPr>
            <a:picLocks noChangeAspect="1"/>
          </p:cNvPicPr>
          <p:nvPr/>
        </p:nvPicPr>
        <p:blipFill>
          <a:blip r:embed="rId1"/>
          <a:stretch>
            <a:fillRect/>
          </a:stretch>
        </p:blipFill>
        <p:spPr>
          <a:xfrm>
            <a:off x="521208" y="1234440"/>
            <a:ext cx="411480" cy="411480"/>
          </a:xfrm>
          <a:prstGeom prst="rect">
            <a:avLst/>
          </a:prstGeom>
        </p:spPr>
      </p:pic>
      <p:sp>
        <p:nvSpPr>
          <p:cNvPr id="7" name="Text 4"/>
          <p:cNvSpPr/>
          <p:nvPr/>
        </p:nvSpPr>
        <p:spPr>
          <a:xfrm>
            <a:off x="978408" y="1188720"/>
            <a:ext cx="1920240" cy="548640"/>
          </a:xfrm>
          <a:prstGeom prst="rect">
            <a:avLst/>
          </a:prstGeom>
          <a:noFill/>
          <a:ln/>
        </p:spPr>
        <p:txBody>
          <a:bodyPr wrap="square" lIns="0" tIns="0" rIns="0" bIns="0" rtlCol="0" anchor="ctr"/>
          <a:lstStyle/>
          <a:p>
            <a:pPr algn="l" indent="0" marL="0">
              <a:buNone/>
            </a:pPr>
            <a:r>
              <a:rPr lang="en-US" sz="3000" b="1" dirty="0">
                <a:solidFill>
                  <a:srgbClr val="00D4FF"/>
                </a:solidFill>
                <a:latin typeface="Cambria" pitchFamily="34" charset="0"/>
                <a:ea typeface="Cambria" pitchFamily="34" charset="-122"/>
                <a:cs typeface="Cambria" pitchFamily="34" charset="-120"/>
              </a:rPr>
              <a:t>15.9B+</a:t>
            </a:r>
            <a:endParaRPr lang="en-US" sz="3000" dirty="0"/>
          </a:p>
        </p:txBody>
      </p:sp>
      <p:sp>
        <p:nvSpPr>
          <p:cNvPr id="8" name="Text 5"/>
          <p:cNvSpPr/>
          <p:nvPr/>
        </p:nvSpPr>
        <p:spPr>
          <a:xfrm>
            <a:off x="521208" y="1737360"/>
            <a:ext cx="2377440" cy="457200"/>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IoT Devices Online</a:t>
            </a:r>
            <a:endParaRPr lang="en-US" sz="1000" dirty="0"/>
          </a:p>
          <a:p>
            <a:pPr algn="l" indent="0" marL="0">
              <a:buNone/>
            </a:pPr>
            <a:r>
              <a:rPr lang="en-US" sz="1000" dirty="0">
                <a:solidFill>
                  <a:srgbClr val="94A3B8"/>
                </a:solidFill>
                <a:latin typeface="Calibri" pitchFamily="34" charset="0"/>
                <a:ea typeface="Calibri" pitchFamily="34" charset="-122"/>
                <a:cs typeface="Calibri" pitchFamily="34" charset="-120"/>
              </a:rPr>
              <a:t>(2023, projected 29B by 2030)</a:t>
            </a:r>
            <a:endParaRPr lang="en-US" sz="1000" dirty="0"/>
          </a:p>
        </p:txBody>
      </p:sp>
      <p:sp>
        <p:nvSpPr>
          <p:cNvPr id="9" name="Shape 6"/>
          <p:cNvSpPr/>
          <p:nvPr/>
        </p:nvSpPr>
        <p:spPr>
          <a:xfrm>
            <a:off x="3218688" y="1115568"/>
            <a:ext cx="2578608" cy="146304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pic>
        <p:nvPicPr>
          <p:cNvPr id="10" name="Image 1" descr="preencoded.png">    </p:cNvPr>
          <p:cNvPicPr>
            <a:picLocks noChangeAspect="1"/>
          </p:cNvPicPr>
          <p:nvPr/>
        </p:nvPicPr>
        <p:blipFill>
          <a:blip r:embed="rId2"/>
          <a:stretch>
            <a:fillRect/>
          </a:stretch>
        </p:blipFill>
        <p:spPr>
          <a:xfrm>
            <a:off x="3328416" y="1234440"/>
            <a:ext cx="411480" cy="411480"/>
          </a:xfrm>
          <a:prstGeom prst="rect">
            <a:avLst/>
          </a:prstGeom>
        </p:spPr>
      </p:pic>
      <p:sp>
        <p:nvSpPr>
          <p:cNvPr id="11" name="Text 7"/>
          <p:cNvSpPr/>
          <p:nvPr/>
        </p:nvSpPr>
        <p:spPr>
          <a:xfrm>
            <a:off x="3785616" y="1188720"/>
            <a:ext cx="1920240" cy="548640"/>
          </a:xfrm>
          <a:prstGeom prst="rect">
            <a:avLst/>
          </a:prstGeom>
          <a:noFill/>
          <a:ln/>
        </p:spPr>
        <p:txBody>
          <a:bodyPr wrap="square" lIns="0" tIns="0" rIns="0" bIns="0" rtlCol="0" anchor="ctr"/>
          <a:lstStyle/>
          <a:p>
            <a:pPr algn="l" indent="0" marL="0">
              <a:buNone/>
            </a:pPr>
            <a:r>
              <a:rPr lang="en-US" sz="3000" b="1" dirty="0">
                <a:solidFill>
                  <a:srgbClr val="00D4FF"/>
                </a:solidFill>
                <a:latin typeface="Cambria" pitchFamily="34" charset="0"/>
                <a:ea typeface="Cambria" pitchFamily="34" charset="-122"/>
                <a:cs typeface="Cambria" pitchFamily="34" charset="-120"/>
              </a:rPr>
              <a:t>300%</a:t>
            </a:r>
            <a:endParaRPr lang="en-US" sz="3000" dirty="0"/>
          </a:p>
        </p:txBody>
      </p:sp>
      <p:sp>
        <p:nvSpPr>
          <p:cNvPr id="12" name="Text 8"/>
          <p:cNvSpPr/>
          <p:nvPr/>
        </p:nvSpPr>
        <p:spPr>
          <a:xfrm>
            <a:off x="3328416" y="1737360"/>
            <a:ext cx="2377440" cy="457200"/>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Increase in IoT Attacks</a:t>
            </a:r>
            <a:endParaRPr lang="en-US" sz="1000" dirty="0"/>
          </a:p>
          <a:p>
            <a:pPr algn="l" indent="0" marL="0">
              <a:buNone/>
            </a:pPr>
            <a:r>
              <a:rPr lang="en-US" sz="1000" dirty="0">
                <a:solidFill>
                  <a:srgbClr val="94A3B8"/>
                </a:solidFill>
                <a:latin typeface="Calibri" pitchFamily="34" charset="0"/>
                <a:ea typeface="Calibri" pitchFamily="34" charset="-122"/>
                <a:cs typeface="Calibri" pitchFamily="34" charset="-120"/>
              </a:rPr>
              <a:t>since 2020</a:t>
            </a:r>
            <a:endParaRPr lang="en-US" sz="1000" dirty="0"/>
          </a:p>
        </p:txBody>
      </p:sp>
      <p:sp>
        <p:nvSpPr>
          <p:cNvPr id="13" name="Shape 9"/>
          <p:cNvSpPr/>
          <p:nvPr/>
        </p:nvSpPr>
        <p:spPr>
          <a:xfrm>
            <a:off x="6025896" y="1115568"/>
            <a:ext cx="2578608" cy="146304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pic>
        <p:nvPicPr>
          <p:cNvPr id="14" name="Image 2" descr="preencoded.png">    </p:cNvPr>
          <p:cNvPicPr>
            <a:picLocks noChangeAspect="1"/>
          </p:cNvPicPr>
          <p:nvPr/>
        </p:nvPicPr>
        <p:blipFill>
          <a:blip r:embed="rId3"/>
          <a:stretch>
            <a:fillRect/>
          </a:stretch>
        </p:blipFill>
        <p:spPr>
          <a:xfrm>
            <a:off x="6135624" y="1234440"/>
            <a:ext cx="411480" cy="411480"/>
          </a:xfrm>
          <a:prstGeom prst="rect">
            <a:avLst/>
          </a:prstGeom>
        </p:spPr>
      </p:pic>
      <p:sp>
        <p:nvSpPr>
          <p:cNvPr id="15" name="Text 10"/>
          <p:cNvSpPr/>
          <p:nvPr/>
        </p:nvSpPr>
        <p:spPr>
          <a:xfrm>
            <a:off x="6592824" y="1188720"/>
            <a:ext cx="1920240" cy="548640"/>
          </a:xfrm>
          <a:prstGeom prst="rect">
            <a:avLst/>
          </a:prstGeom>
          <a:noFill/>
          <a:ln/>
        </p:spPr>
        <p:txBody>
          <a:bodyPr wrap="square" lIns="0" tIns="0" rIns="0" bIns="0" rtlCol="0" anchor="ctr"/>
          <a:lstStyle/>
          <a:p>
            <a:pPr algn="l" indent="0" marL="0">
              <a:buNone/>
            </a:pPr>
            <a:r>
              <a:rPr lang="en-US" sz="3000" b="1" dirty="0">
                <a:solidFill>
                  <a:srgbClr val="00D4FF"/>
                </a:solidFill>
                <a:latin typeface="Cambria" pitchFamily="34" charset="0"/>
                <a:ea typeface="Cambria" pitchFamily="34" charset="-122"/>
                <a:cs typeface="Cambria" pitchFamily="34" charset="-120"/>
              </a:rPr>
              <a:t>0</a:t>
            </a:r>
            <a:endParaRPr lang="en-US" sz="3000" dirty="0"/>
          </a:p>
        </p:txBody>
      </p:sp>
      <p:sp>
        <p:nvSpPr>
          <p:cNvPr id="16" name="Text 11"/>
          <p:cNvSpPr/>
          <p:nvPr/>
        </p:nvSpPr>
        <p:spPr>
          <a:xfrm>
            <a:off x="6135624" y="1737360"/>
            <a:ext cx="2377440" cy="457200"/>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Hardware Security</a:t>
            </a:r>
            <a:endParaRPr lang="en-US" sz="1000" dirty="0"/>
          </a:p>
          <a:p>
            <a:pPr algn="l" indent="0" marL="0">
              <a:buNone/>
            </a:pPr>
            <a:r>
              <a:rPr lang="en-US" sz="1000" dirty="0">
                <a:solidFill>
                  <a:srgbClr val="94A3B8"/>
                </a:solidFill>
                <a:latin typeface="Calibri" pitchFamily="34" charset="0"/>
                <a:ea typeface="Calibri" pitchFamily="34" charset="-122"/>
                <a:cs typeface="Calibri" pitchFamily="34" charset="-120"/>
              </a:rPr>
              <a:t>Modules on Budget Devices</a:t>
            </a:r>
            <a:endParaRPr lang="en-US" sz="1000" dirty="0"/>
          </a:p>
        </p:txBody>
      </p:sp>
      <p:sp>
        <p:nvSpPr>
          <p:cNvPr id="17" name="Shape 12"/>
          <p:cNvSpPr/>
          <p:nvPr/>
        </p:nvSpPr>
        <p:spPr>
          <a:xfrm>
            <a:off x="411480" y="2743200"/>
            <a:ext cx="8321040" cy="182880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sp>
        <p:nvSpPr>
          <p:cNvPr id="18" name="Text 13"/>
          <p:cNvSpPr/>
          <p:nvPr/>
        </p:nvSpPr>
        <p:spPr>
          <a:xfrm>
            <a:off x="594360" y="2816352"/>
            <a:ext cx="7955280" cy="320040"/>
          </a:xfrm>
          <a:prstGeom prst="rect">
            <a:avLst/>
          </a:prstGeom>
          <a:noFill/>
          <a:ln/>
        </p:spPr>
        <p:txBody>
          <a:bodyPr wrap="square" lIns="0" tIns="0" rIns="0" bIns="0" rtlCol="0" anchor="ctr"/>
          <a:lstStyle/>
          <a:p>
            <a:pPr algn="l" indent="0" marL="0">
              <a:buNone/>
            </a:pPr>
            <a:r>
              <a:rPr lang="en-US" sz="1300" b="1" dirty="0">
                <a:solidFill>
                  <a:srgbClr val="00D4FF"/>
                </a:solidFill>
                <a:latin typeface="Calibri" pitchFamily="34" charset="0"/>
                <a:ea typeface="Calibri" pitchFamily="34" charset="-122"/>
                <a:cs typeface="Calibri" pitchFamily="34" charset="-120"/>
              </a:rPr>
              <a:t>Why This Matters</a:t>
            </a:r>
            <a:endParaRPr lang="en-US" sz="1300" dirty="0"/>
          </a:p>
        </p:txBody>
      </p:sp>
      <p:sp>
        <p:nvSpPr>
          <p:cNvPr id="19" name="Text 14"/>
          <p:cNvSpPr/>
          <p:nvPr/>
        </p:nvSpPr>
        <p:spPr>
          <a:xfrm>
            <a:off x="594360" y="3136392"/>
            <a:ext cx="7955280" cy="13258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E2E8F0"/>
                </a:solidFill>
                <a:latin typeface="Calibri" pitchFamily="34" charset="0"/>
                <a:ea typeface="Calibri" pitchFamily="34" charset="-122"/>
                <a:cs typeface="Calibri" pitchFamily="34" charset="-120"/>
              </a:rPr>
              <a:t>Smart homes, medical, and industrial IoT devices have minimal internal security, no hardware security modules, and limited compute budgets</a:t>
            </a:r>
            <a:endParaRPr lang="en-US" sz="1200" dirty="0"/>
          </a:p>
          <a:p>
            <a:pPr marL="342900" indent="-342900">
              <a:spcAft>
                <a:spcPts val="500"/>
              </a:spcAft>
              <a:buSzPct val="100000"/>
              <a:buChar char="•"/>
            </a:pPr>
            <a:r>
              <a:rPr lang="en-US" sz="1200" dirty="0">
                <a:solidFill>
                  <a:srgbClr val="E2E8F0"/>
                </a:solidFill>
                <a:latin typeface="Calibri" pitchFamily="34" charset="0"/>
                <a:ea typeface="Calibri" pitchFamily="34" charset="-122"/>
                <a:cs typeface="Calibri" pitchFamily="34" charset="-120"/>
              </a:rPr>
              <a:t>Legacy Centralized IDS streams raw, unencrypted telemetry to cloud — creating catastrophic privacy exposure at enterprise and residential scale</a:t>
            </a:r>
            <a:endParaRPr lang="en-US" sz="1200" dirty="0"/>
          </a:p>
          <a:p>
            <a:pPr marL="342900" indent="-342900">
              <a:spcAft>
                <a:spcPts val="500"/>
              </a:spcAft>
              <a:buSzPct val="100000"/>
              <a:buChar char="•"/>
            </a:pPr>
            <a:r>
              <a:rPr lang="en-US" sz="1200" dirty="0">
                <a:solidFill>
                  <a:srgbClr val="E2E8F0"/>
                </a:solidFill>
                <a:latin typeface="Calibri" pitchFamily="34" charset="0"/>
                <a:ea typeface="Calibri" pitchFamily="34" charset="-122"/>
                <a:cs typeface="Calibri" pitchFamily="34" charset="-120"/>
              </a:rPr>
              <a:t>Network bandwidth exhaustion, cloud dependency, and real-time latency make centralized approaches structurally unviable for edge environments</a:t>
            </a:r>
            <a:endParaRPr lang="en-US" sz="1200" dirty="0"/>
          </a:p>
          <a:p>
            <a:pPr marL="342900" indent="-342900">
              <a:spcAft>
                <a:spcPts val="500"/>
              </a:spcAft>
              <a:buSzPct val="100000"/>
              <a:buChar char="•"/>
            </a:pPr>
            <a:r>
              <a:rPr lang="en-US" sz="1200" dirty="0">
                <a:solidFill>
                  <a:srgbClr val="E2E8F0"/>
                </a:solidFill>
                <a:latin typeface="Calibri" pitchFamily="34" charset="0"/>
                <a:ea typeface="Calibri" pitchFamily="34" charset="-122"/>
                <a:cs typeface="Calibri" pitchFamily="34" charset="-120"/>
              </a:rPr>
              <a:t>Coordinated botnet hijacking and zero-day exploits exploit these static, non-adaptive security architectures</a:t>
            </a:r>
            <a:endParaRPr lang="en-US" sz="1200" dirty="0"/>
          </a:p>
        </p:txBody>
      </p:sp>
      <p:sp>
        <p:nvSpPr>
          <p:cNvPr id="20" name="Shape 15"/>
          <p:cNvSpPr/>
          <p:nvPr/>
        </p:nvSpPr>
        <p:spPr>
          <a:xfrm>
            <a:off x="0" y="4800600"/>
            <a:ext cx="9144000" cy="342900"/>
          </a:xfrm>
          <a:prstGeom prst="rect">
            <a:avLst/>
          </a:prstGeom>
          <a:solidFill>
            <a:srgbClr val="071020"/>
          </a:solidFill>
          <a:ln w="12700">
            <a:solidFill>
              <a:srgbClr val="071020"/>
            </a:solidFill>
            <a:prstDash val="solid"/>
          </a:ln>
        </p:spPr>
      </p:sp>
      <p:sp>
        <p:nvSpPr>
          <p:cNvPr id="21" name="Shape 16"/>
          <p:cNvSpPr/>
          <p:nvPr/>
        </p:nvSpPr>
        <p:spPr>
          <a:xfrm>
            <a:off x="0" y="4796028"/>
            <a:ext cx="9144000" cy="13716"/>
          </a:xfrm>
          <a:prstGeom prst="rect">
            <a:avLst/>
          </a:prstGeom>
          <a:solidFill>
            <a:srgbClr val="0891B2"/>
          </a:solidFill>
          <a:ln w="12700">
            <a:solidFill>
              <a:srgbClr val="0891B2"/>
            </a:solidFill>
            <a:prstDash val="solid"/>
          </a:ln>
        </p:spPr>
      </p:sp>
      <p:sp>
        <p:nvSpPr>
          <p:cNvPr id="22" name="Text 17"/>
          <p:cNvSpPr/>
          <p:nvPr/>
        </p:nvSpPr>
        <p:spPr>
          <a:xfrm>
            <a:off x="274320" y="4805172"/>
            <a:ext cx="8229600" cy="320040"/>
          </a:xfrm>
          <a:prstGeom prst="rect">
            <a:avLst/>
          </a:prstGeom>
          <a:noFill/>
          <a:ln/>
        </p:spPr>
        <p:txBody>
          <a:bodyPr wrap="square" lIns="0" tIns="0" rIns="0" bIns="0" rtlCol="0" anchor="ctr"/>
          <a:lstStyle/>
          <a:p>
            <a:pPr algn="l" indent="0" marL="0">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23" name="Text 18"/>
          <p:cNvSpPr/>
          <p:nvPr/>
        </p:nvSpPr>
        <p:spPr>
          <a:xfrm>
            <a:off x="8503920" y="4805172"/>
            <a:ext cx="548640" cy="320040"/>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2 / 14</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11480" y="201168"/>
            <a:ext cx="8046720" cy="530352"/>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Problem Statement</a:t>
            </a:r>
            <a:endParaRPr lang="en-US" sz="2800" dirty="0"/>
          </a:p>
        </p:txBody>
      </p:sp>
      <p:sp>
        <p:nvSpPr>
          <p:cNvPr id="3" name="Text 1"/>
          <p:cNvSpPr/>
          <p:nvPr/>
        </p:nvSpPr>
        <p:spPr>
          <a:xfrm>
            <a:off x="411480" y="749808"/>
            <a:ext cx="8046720" cy="292608"/>
          </a:xfrm>
          <a:prstGeom prst="rect">
            <a:avLst/>
          </a:prstGeom>
          <a:noFill/>
          <a:ln/>
        </p:spPr>
        <p:txBody>
          <a:bodyPr wrap="square" lIns="0" tIns="0" rIns="0" bIns="0" rtlCol="0" anchor="t"/>
          <a:lstStyle/>
          <a:p>
            <a:pPr algn="l" indent="0" marL="0">
              <a:buNone/>
            </a:pPr>
            <a:r>
              <a:rPr lang="en-US" sz="1300" i="1" dirty="0">
                <a:solidFill>
                  <a:srgbClr val="00D4FF"/>
                </a:solidFill>
                <a:latin typeface="Calibri" pitchFamily="34" charset="0"/>
                <a:ea typeface="Calibri" pitchFamily="34" charset="-122"/>
                <a:cs typeface="Calibri" pitchFamily="34" charset="-120"/>
              </a:rPr>
              <a:t>Why Centralized IDS Fails at the Edge</a:t>
            </a:r>
            <a:endParaRPr lang="en-US" sz="1300" dirty="0"/>
          </a:p>
        </p:txBody>
      </p:sp>
      <p:sp>
        <p:nvSpPr>
          <p:cNvPr id="4" name="Shape 2"/>
          <p:cNvSpPr/>
          <p:nvPr/>
        </p:nvSpPr>
        <p:spPr>
          <a:xfrm>
            <a:off x="411480" y="1005840"/>
            <a:ext cx="8321040" cy="16459"/>
          </a:xfrm>
          <a:prstGeom prst="rect">
            <a:avLst/>
          </a:prstGeom>
          <a:solidFill>
            <a:srgbClr val="0891B2">
              <a:alpha val="60000"/>
            </a:srgbClr>
          </a:solidFill>
          <a:ln w="12700">
            <a:solidFill>
              <a:srgbClr val="0891B2"/>
            </a:solidFill>
            <a:prstDash val="solid"/>
          </a:ln>
        </p:spPr>
      </p:sp>
      <p:sp>
        <p:nvSpPr>
          <p:cNvPr id="5" name="Shape 3"/>
          <p:cNvSpPr/>
          <p:nvPr/>
        </p:nvSpPr>
        <p:spPr>
          <a:xfrm>
            <a:off x="411480" y="1143000"/>
            <a:ext cx="3977640" cy="150876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pic>
        <p:nvPicPr>
          <p:cNvPr id="6" name="Image 0" descr="preencoded.png">    </p:cNvPr>
          <p:cNvPicPr>
            <a:picLocks noChangeAspect="1"/>
          </p:cNvPicPr>
          <p:nvPr/>
        </p:nvPicPr>
        <p:blipFill>
          <a:blip r:embed="rId1"/>
          <a:stretch>
            <a:fillRect/>
          </a:stretch>
        </p:blipFill>
        <p:spPr>
          <a:xfrm>
            <a:off x="576072" y="1252728"/>
            <a:ext cx="384048" cy="384048"/>
          </a:xfrm>
          <a:prstGeom prst="rect">
            <a:avLst/>
          </a:prstGeom>
        </p:spPr>
      </p:pic>
      <p:sp>
        <p:nvSpPr>
          <p:cNvPr id="7" name="Text 4"/>
          <p:cNvSpPr/>
          <p:nvPr/>
        </p:nvSpPr>
        <p:spPr>
          <a:xfrm>
            <a:off x="1051560" y="1234440"/>
            <a:ext cx="3200400"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Privacy Leakage</a:t>
            </a:r>
            <a:endParaRPr lang="en-US" sz="1300" dirty="0"/>
          </a:p>
        </p:txBody>
      </p:sp>
      <p:sp>
        <p:nvSpPr>
          <p:cNvPr id="8" name="Text 5"/>
          <p:cNvSpPr/>
          <p:nvPr/>
        </p:nvSpPr>
        <p:spPr>
          <a:xfrm>
            <a:off x="576072" y="1618488"/>
            <a:ext cx="3639312" cy="868680"/>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Continuous exfiltration of raw packets exposes behavioral data, video feeds, and enterprise transactions to interception &amp; breaches</a:t>
            </a:r>
            <a:endParaRPr lang="en-US" sz="1100" dirty="0"/>
          </a:p>
        </p:txBody>
      </p:sp>
      <p:sp>
        <p:nvSpPr>
          <p:cNvPr id="9" name="Shape 6"/>
          <p:cNvSpPr/>
          <p:nvPr/>
        </p:nvSpPr>
        <p:spPr>
          <a:xfrm>
            <a:off x="411480" y="2834640"/>
            <a:ext cx="3977640" cy="150876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pic>
        <p:nvPicPr>
          <p:cNvPr id="10" name="Image 1" descr="preencoded.png">    </p:cNvPr>
          <p:cNvPicPr>
            <a:picLocks noChangeAspect="1"/>
          </p:cNvPicPr>
          <p:nvPr/>
        </p:nvPicPr>
        <p:blipFill>
          <a:blip r:embed="rId2"/>
          <a:stretch>
            <a:fillRect/>
          </a:stretch>
        </p:blipFill>
        <p:spPr>
          <a:xfrm>
            <a:off x="576072" y="2944368"/>
            <a:ext cx="384048" cy="384048"/>
          </a:xfrm>
          <a:prstGeom prst="rect">
            <a:avLst/>
          </a:prstGeom>
        </p:spPr>
      </p:pic>
      <p:sp>
        <p:nvSpPr>
          <p:cNvPr id="11" name="Text 7"/>
          <p:cNvSpPr/>
          <p:nvPr/>
        </p:nvSpPr>
        <p:spPr>
          <a:xfrm>
            <a:off x="1051560" y="2926080"/>
            <a:ext cx="3200400"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Network Overload</a:t>
            </a:r>
            <a:endParaRPr lang="en-US" sz="1300" dirty="0"/>
          </a:p>
        </p:txBody>
      </p:sp>
      <p:sp>
        <p:nvSpPr>
          <p:cNvPr id="12" name="Text 8"/>
          <p:cNvSpPr/>
          <p:nvPr/>
        </p:nvSpPr>
        <p:spPr>
          <a:xfrm>
            <a:off x="576072" y="3310128"/>
            <a:ext cx="3639312" cy="868680"/>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Billions of devices streaming telemetry cause bandwidth exhaustion, severe latency, and complete blind spots during WAN outages</a:t>
            </a:r>
            <a:endParaRPr lang="en-US" sz="1100" dirty="0"/>
          </a:p>
        </p:txBody>
      </p:sp>
      <p:sp>
        <p:nvSpPr>
          <p:cNvPr id="13" name="Shape 9"/>
          <p:cNvSpPr/>
          <p:nvPr/>
        </p:nvSpPr>
        <p:spPr>
          <a:xfrm>
            <a:off x="4663440" y="1143000"/>
            <a:ext cx="3977640" cy="150876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pic>
        <p:nvPicPr>
          <p:cNvPr id="14" name="Image 2" descr="preencoded.png">    </p:cNvPr>
          <p:cNvPicPr>
            <a:picLocks noChangeAspect="1"/>
          </p:cNvPicPr>
          <p:nvPr/>
        </p:nvPicPr>
        <p:blipFill>
          <a:blip r:embed="rId3"/>
          <a:stretch>
            <a:fillRect/>
          </a:stretch>
        </p:blipFill>
        <p:spPr>
          <a:xfrm>
            <a:off x="4828032" y="1252728"/>
            <a:ext cx="384048" cy="384048"/>
          </a:xfrm>
          <a:prstGeom prst="rect">
            <a:avLst/>
          </a:prstGeom>
        </p:spPr>
      </p:pic>
      <p:sp>
        <p:nvSpPr>
          <p:cNvPr id="15" name="Text 10"/>
          <p:cNvSpPr/>
          <p:nvPr/>
        </p:nvSpPr>
        <p:spPr>
          <a:xfrm>
            <a:off x="5303520" y="1234440"/>
            <a:ext cx="3200400"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Non-IID Heterogeneity</a:t>
            </a:r>
            <a:endParaRPr lang="en-US" sz="1300" dirty="0"/>
          </a:p>
        </p:txBody>
      </p:sp>
      <p:sp>
        <p:nvSpPr>
          <p:cNvPr id="16" name="Text 11"/>
          <p:cNvSpPr/>
          <p:nvPr/>
        </p:nvSpPr>
        <p:spPr>
          <a:xfrm>
            <a:off x="4828032" y="1618488"/>
            <a:ext cx="3639312" cy="868680"/>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Static, centralized models fail to adapt to highly heterogeneous device profiles — vulnerable to coordinated zero-day exploits</a:t>
            </a:r>
            <a:endParaRPr lang="en-US" sz="1100" dirty="0"/>
          </a:p>
        </p:txBody>
      </p:sp>
      <p:sp>
        <p:nvSpPr>
          <p:cNvPr id="17" name="Shape 12"/>
          <p:cNvSpPr/>
          <p:nvPr/>
        </p:nvSpPr>
        <p:spPr>
          <a:xfrm>
            <a:off x="4663440" y="2834640"/>
            <a:ext cx="3977640" cy="150876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pic>
        <p:nvPicPr>
          <p:cNvPr id="18" name="Image 3" descr="preencoded.png">    </p:cNvPr>
          <p:cNvPicPr>
            <a:picLocks noChangeAspect="1"/>
          </p:cNvPicPr>
          <p:nvPr/>
        </p:nvPicPr>
        <p:blipFill>
          <a:blip r:embed="rId4"/>
          <a:stretch>
            <a:fillRect/>
          </a:stretch>
        </p:blipFill>
        <p:spPr>
          <a:xfrm>
            <a:off x="4828032" y="2944368"/>
            <a:ext cx="384048" cy="384048"/>
          </a:xfrm>
          <a:prstGeom prst="rect">
            <a:avLst/>
          </a:prstGeom>
        </p:spPr>
      </p:pic>
      <p:sp>
        <p:nvSpPr>
          <p:cNvPr id="19" name="Text 13"/>
          <p:cNvSpPr/>
          <p:nvPr/>
        </p:nvSpPr>
        <p:spPr>
          <a:xfrm>
            <a:off x="5303520" y="2926080"/>
            <a:ext cx="3200400"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FL Attack Surface</a:t>
            </a:r>
            <a:endParaRPr lang="en-US" sz="1300" dirty="0"/>
          </a:p>
        </p:txBody>
      </p:sp>
      <p:sp>
        <p:nvSpPr>
          <p:cNvPr id="20" name="Text 14"/>
          <p:cNvSpPr/>
          <p:nvPr/>
        </p:nvSpPr>
        <p:spPr>
          <a:xfrm>
            <a:off x="4828032" y="3310128"/>
            <a:ext cx="3639312" cy="868680"/>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Even Federated Learning deployments face data poisoning, free-rider exploitation, and gradient inference extraction attacks</a:t>
            </a:r>
            <a:endParaRPr lang="en-US" sz="1100" dirty="0"/>
          </a:p>
        </p:txBody>
      </p:sp>
      <p:sp>
        <p:nvSpPr>
          <p:cNvPr id="21" name="Shape 15"/>
          <p:cNvSpPr/>
          <p:nvPr/>
        </p:nvSpPr>
        <p:spPr>
          <a:xfrm>
            <a:off x="411480" y="4572000"/>
            <a:ext cx="8321040" cy="164592"/>
          </a:xfrm>
          <a:prstGeom prst="rect">
            <a:avLst/>
          </a:prstGeom>
          <a:solidFill>
            <a:srgbClr val="1E0A0A"/>
          </a:solidFill>
          <a:ln w="12700">
            <a:solidFill>
              <a:srgbClr val="EF4444"/>
            </a:solidFill>
            <a:prstDash val="solid"/>
          </a:ln>
          <a:effectLst>
            <a:outerShdw sx="100000" sy="100000" kx="0" ky="0" algn="bl" rotWithShape="0" blurRad="101600" dist="38100" dir="2700000">
              <a:srgbClr val="000000">
                <a:alpha val="25000"/>
              </a:srgbClr>
            </a:outerShdw>
          </a:effectLst>
        </p:spPr>
      </p:sp>
      <p:sp>
        <p:nvSpPr>
          <p:cNvPr id="22" name="Text 16"/>
          <p:cNvSpPr/>
          <p:nvPr/>
        </p:nvSpPr>
        <p:spPr>
          <a:xfrm>
            <a:off x="548640" y="4590288"/>
            <a:ext cx="8046720" cy="128016"/>
          </a:xfrm>
          <a:prstGeom prst="rect">
            <a:avLst/>
          </a:prstGeom>
          <a:noFill/>
          <a:ln/>
        </p:spPr>
        <p:txBody>
          <a:bodyPr wrap="square" lIns="0" tIns="0" rIns="0" bIns="0" rtlCol="0" anchor="ctr"/>
          <a:lstStyle/>
          <a:p>
            <a:pPr algn="l" indent="0" marL="0">
              <a:buNone/>
            </a:pPr>
            <a:r>
              <a:rPr lang="en-US" sz="950" b="1" dirty="0">
                <a:solidFill>
                  <a:srgbClr val="FCA5A5"/>
                </a:solidFill>
                <a:latin typeface="Calibri" pitchFamily="34" charset="0"/>
                <a:ea typeface="Calibri" pitchFamily="34" charset="-122"/>
                <a:cs typeface="Calibri" pitchFamily="34" charset="-120"/>
              </a:rPr>
              <a:t>No existing solution simultaneously enforces formal cryptographic privacy, filters adversarial parameter mutations, and operates within IoT compute budgets.</a:t>
            </a:r>
            <a:endParaRPr lang="en-US" sz="950" dirty="0"/>
          </a:p>
        </p:txBody>
      </p:sp>
      <p:sp>
        <p:nvSpPr>
          <p:cNvPr id="23" name="Shape 17"/>
          <p:cNvSpPr/>
          <p:nvPr/>
        </p:nvSpPr>
        <p:spPr>
          <a:xfrm>
            <a:off x="0" y="4800600"/>
            <a:ext cx="9144000" cy="342900"/>
          </a:xfrm>
          <a:prstGeom prst="rect">
            <a:avLst/>
          </a:prstGeom>
          <a:solidFill>
            <a:srgbClr val="071020"/>
          </a:solidFill>
          <a:ln w="12700">
            <a:solidFill>
              <a:srgbClr val="071020"/>
            </a:solidFill>
            <a:prstDash val="solid"/>
          </a:ln>
        </p:spPr>
      </p:sp>
      <p:sp>
        <p:nvSpPr>
          <p:cNvPr id="24" name="Shape 18"/>
          <p:cNvSpPr/>
          <p:nvPr/>
        </p:nvSpPr>
        <p:spPr>
          <a:xfrm>
            <a:off x="0" y="4796028"/>
            <a:ext cx="9144000" cy="13716"/>
          </a:xfrm>
          <a:prstGeom prst="rect">
            <a:avLst/>
          </a:prstGeom>
          <a:solidFill>
            <a:srgbClr val="0891B2"/>
          </a:solidFill>
          <a:ln w="12700">
            <a:solidFill>
              <a:srgbClr val="0891B2"/>
            </a:solidFill>
            <a:prstDash val="solid"/>
          </a:ln>
        </p:spPr>
      </p:sp>
      <p:sp>
        <p:nvSpPr>
          <p:cNvPr id="25" name="Text 19"/>
          <p:cNvSpPr/>
          <p:nvPr/>
        </p:nvSpPr>
        <p:spPr>
          <a:xfrm>
            <a:off x="274320" y="4805172"/>
            <a:ext cx="8229600" cy="320040"/>
          </a:xfrm>
          <a:prstGeom prst="rect">
            <a:avLst/>
          </a:prstGeom>
          <a:noFill/>
          <a:ln/>
        </p:spPr>
        <p:txBody>
          <a:bodyPr wrap="square" lIns="0" tIns="0" rIns="0" bIns="0" rtlCol="0" anchor="ctr"/>
          <a:lstStyle/>
          <a:p>
            <a:pPr algn="l" indent="0" marL="0">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26" name="Text 20"/>
          <p:cNvSpPr/>
          <p:nvPr/>
        </p:nvSpPr>
        <p:spPr>
          <a:xfrm>
            <a:off x="8503920" y="4805172"/>
            <a:ext cx="548640" cy="320040"/>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3 / 14</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11480" y="201168"/>
            <a:ext cx="8046720" cy="530352"/>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Research Gap</a:t>
            </a:r>
            <a:endParaRPr lang="en-US" sz="2800" dirty="0"/>
          </a:p>
        </p:txBody>
      </p:sp>
      <p:sp>
        <p:nvSpPr>
          <p:cNvPr id="3" name="Text 1"/>
          <p:cNvSpPr/>
          <p:nvPr/>
        </p:nvSpPr>
        <p:spPr>
          <a:xfrm>
            <a:off x="411480" y="749808"/>
            <a:ext cx="8046720" cy="292608"/>
          </a:xfrm>
          <a:prstGeom prst="rect">
            <a:avLst/>
          </a:prstGeom>
          <a:noFill/>
          <a:ln/>
        </p:spPr>
        <p:txBody>
          <a:bodyPr wrap="square" lIns="0" tIns="0" rIns="0" bIns="0" rtlCol="0" anchor="t"/>
          <a:lstStyle/>
          <a:p>
            <a:pPr algn="l" indent="0" marL="0">
              <a:buNone/>
            </a:pPr>
            <a:r>
              <a:rPr lang="en-US" sz="1300" i="1" dirty="0">
                <a:solidFill>
                  <a:srgbClr val="00D4FF"/>
                </a:solidFill>
                <a:latin typeface="Calibri" pitchFamily="34" charset="0"/>
                <a:ea typeface="Calibri" pitchFamily="34" charset="-122"/>
                <a:cs typeface="Calibri" pitchFamily="34" charset="-120"/>
              </a:rPr>
              <a:t>What the Literature Is Missing</a:t>
            </a:r>
            <a:endParaRPr lang="en-US" sz="1300" dirty="0"/>
          </a:p>
        </p:txBody>
      </p:sp>
      <p:sp>
        <p:nvSpPr>
          <p:cNvPr id="4" name="Shape 2"/>
          <p:cNvSpPr/>
          <p:nvPr/>
        </p:nvSpPr>
        <p:spPr>
          <a:xfrm>
            <a:off x="411480" y="1005840"/>
            <a:ext cx="8321040" cy="16459"/>
          </a:xfrm>
          <a:prstGeom prst="rect">
            <a:avLst/>
          </a:prstGeom>
          <a:solidFill>
            <a:srgbClr val="0891B2">
              <a:alpha val="60000"/>
            </a:srgbClr>
          </a:solidFill>
          <a:ln w="12700">
            <a:solidFill>
              <a:srgbClr val="0891B2"/>
            </a:solidFill>
            <a:prstDash val="solid"/>
          </a:ln>
        </p:spPr>
      </p:sp>
      <p:sp>
        <p:nvSpPr>
          <p:cNvPr id="5" name="Shape 3"/>
          <p:cNvSpPr/>
          <p:nvPr/>
        </p:nvSpPr>
        <p:spPr>
          <a:xfrm>
            <a:off x="411480" y="1143000"/>
            <a:ext cx="3977640" cy="150876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sp>
        <p:nvSpPr>
          <p:cNvPr id="6" name="Shape 4"/>
          <p:cNvSpPr/>
          <p:nvPr/>
        </p:nvSpPr>
        <p:spPr>
          <a:xfrm>
            <a:off x="576072" y="1307592"/>
            <a:ext cx="91440" cy="804672"/>
          </a:xfrm>
          <a:prstGeom prst="rect">
            <a:avLst/>
          </a:prstGeom>
          <a:solidFill>
            <a:srgbClr val="00D4FF"/>
          </a:solidFill>
          <a:ln w="12700">
            <a:solidFill>
              <a:srgbClr val="00D4FF"/>
            </a:solidFill>
            <a:prstDash val="solid"/>
          </a:ln>
        </p:spPr>
      </p:sp>
      <p:sp>
        <p:nvSpPr>
          <p:cNvPr id="7" name="Text 5"/>
          <p:cNvSpPr/>
          <p:nvPr/>
        </p:nvSpPr>
        <p:spPr>
          <a:xfrm>
            <a:off x="777240" y="1252728"/>
            <a:ext cx="3474720" cy="347472"/>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Privacy + Accuracy Trade-off</a:t>
            </a:r>
            <a:endParaRPr lang="en-US" sz="1250" dirty="0"/>
          </a:p>
        </p:txBody>
      </p:sp>
      <p:sp>
        <p:nvSpPr>
          <p:cNvPr id="8" name="Text 6"/>
          <p:cNvSpPr/>
          <p:nvPr/>
        </p:nvSpPr>
        <p:spPr>
          <a:xfrm>
            <a:off x="777240" y="1600200"/>
            <a:ext cx="3474720" cy="868680"/>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Existing FL-based IDS systems lack formal DP guarantees — or sacrifice classification accuracy for privacy, with no balance mechanism</a:t>
            </a:r>
            <a:endParaRPr lang="en-US" sz="1100" dirty="0"/>
          </a:p>
        </p:txBody>
      </p:sp>
      <p:sp>
        <p:nvSpPr>
          <p:cNvPr id="9" name="Shape 7"/>
          <p:cNvSpPr/>
          <p:nvPr/>
        </p:nvSpPr>
        <p:spPr>
          <a:xfrm>
            <a:off x="4663440" y="1143000"/>
            <a:ext cx="3977640" cy="150876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sp>
        <p:nvSpPr>
          <p:cNvPr id="10" name="Shape 8"/>
          <p:cNvSpPr/>
          <p:nvPr/>
        </p:nvSpPr>
        <p:spPr>
          <a:xfrm>
            <a:off x="4828032" y="1307592"/>
            <a:ext cx="91440" cy="804672"/>
          </a:xfrm>
          <a:prstGeom prst="rect">
            <a:avLst/>
          </a:prstGeom>
          <a:solidFill>
            <a:srgbClr val="06B6D4"/>
          </a:solidFill>
          <a:ln w="12700">
            <a:solidFill>
              <a:srgbClr val="06B6D4"/>
            </a:solidFill>
            <a:prstDash val="solid"/>
          </a:ln>
        </p:spPr>
      </p:sp>
      <p:sp>
        <p:nvSpPr>
          <p:cNvPr id="11" name="Text 9"/>
          <p:cNvSpPr/>
          <p:nvPr/>
        </p:nvSpPr>
        <p:spPr>
          <a:xfrm>
            <a:off x="5029200" y="1252728"/>
            <a:ext cx="3474720" cy="347472"/>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Adversarial Robustness Evaluation</a:t>
            </a:r>
            <a:endParaRPr lang="en-US" sz="1250" dirty="0"/>
          </a:p>
        </p:txBody>
      </p:sp>
      <p:sp>
        <p:nvSpPr>
          <p:cNvPr id="12" name="Text 10"/>
          <p:cNvSpPr/>
          <p:nvPr/>
        </p:nvSpPr>
        <p:spPr>
          <a:xfrm>
            <a:off x="5029200" y="1600200"/>
            <a:ext cx="3474720" cy="868680"/>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Published work rarely evaluates FL threat detection under simultaneous poisoning, free-rider, and gradient inference attack vectors</a:t>
            </a:r>
            <a:endParaRPr lang="en-US" sz="1100" dirty="0"/>
          </a:p>
        </p:txBody>
      </p:sp>
      <p:sp>
        <p:nvSpPr>
          <p:cNvPr id="13" name="Shape 11"/>
          <p:cNvSpPr/>
          <p:nvPr/>
        </p:nvSpPr>
        <p:spPr>
          <a:xfrm>
            <a:off x="411480" y="2834640"/>
            <a:ext cx="3977640" cy="150876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sp>
        <p:nvSpPr>
          <p:cNvPr id="14" name="Shape 12"/>
          <p:cNvSpPr/>
          <p:nvPr/>
        </p:nvSpPr>
        <p:spPr>
          <a:xfrm>
            <a:off x="576072" y="2999232"/>
            <a:ext cx="91440" cy="804672"/>
          </a:xfrm>
          <a:prstGeom prst="rect">
            <a:avLst/>
          </a:prstGeom>
          <a:solidFill>
            <a:srgbClr val="10B981"/>
          </a:solidFill>
          <a:ln w="12700">
            <a:solidFill>
              <a:srgbClr val="10B981"/>
            </a:solidFill>
            <a:prstDash val="solid"/>
          </a:ln>
        </p:spPr>
      </p:sp>
      <p:sp>
        <p:nvSpPr>
          <p:cNvPr id="15" name="Text 13"/>
          <p:cNvSpPr/>
          <p:nvPr/>
        </p:nvSpPr>
        <p:spPr>
          <a:xfrm>
            <a:off x="777240" y="2944368"/>
            <a:ext cx="3474720" cy="347472"/>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Edge-Native Deployment</a:t>
            </a:r>
            <a:endParaRPr lang="en-US" sz="1250" dirty="0"/>
          </a:p>
        </p:txBody>
      </p:sp>
      <p:sp>
        <p:nvSpPr>
          <p:cNvPr id="16" name="Text 14"/>
          <p:cNvSpPr/>
          <p:nvPr/>
        </p:nvSpPr>
        <p:spPr>
          <a:xfrm>
            <a:off x="777240" y="3291840"/>
            <a:ext cx="3474720" cy="868680"/>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Most FL security research targets cloud infrastructure; ARM Cortex / Tensilica ESP32 edge-native deployment remains largely unaddressed</a:t>
            </a:r>
            <a:endParaRPr lang="en-US" sz="1100" dirty="0"/>
          </a:p>
        </p:txBody>
      </p:sp>
      <p:sp>
        <p:nvSpPr>
          <p:cNvPr id="17" name="Shape 15"/>
          <p:cNvSpPr/>
          <p:nvPr/>
        </p:nvSpPr>
        <p:spPr>
          <a:xfrm>
            <a:off x="4663440" y="2834640"/>
            <a:ext cx="3977640" cy="150876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sp>
        <p:nvSpPr>
          <p:cNvPr id="18" name="Shape 16"/>
          <p:cNvSpPr/>
          <p:nvPr/>
        </p:nvSpPr>
        <p:spPr>
          <a:xfrm>
            <a:off x="4828032" y="2999232"/>
            <a:ext cx="91440" cy="804672"/>
          </a:xfrm>
          <a:prstGeom prst="rect">
            <a:avLst/>
          </a:prstGeom>
          <a:solidFill>
            <a:srgbClr val="F59E0B"/>
          </a:solidFill>
          <a:ln w="12700">
            <a:solidFill>
              <a:srgbClr val="F59E0B"/>
            </a:solidFill>
            <a:prstDash val="solid"/>
          </a:ln>
        </p:spPr>
      </p:sp>
      <p:sp>
        <p:nvSpPr>
          <p:cNvPr id="19" name="Text 17"/>
          <p:cNvSpPr/>
          <p:nvPr/>
        </p:nvSpPr>
        <p:spPr>
          <a:xfrm>
            <a:off x="5029200" y="2944368"/>
            <a:ext cx="3474720" cy="347472"/>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Integrated Forensic Intelligence</a:t>
            </a:r>
            <a:endParaRPr lang="en-US" sz="1250" dirty="0"/>
          </a:p>
        </p:txBody>
      </p:sp>
      <p:sp>
        <p:nvSpPr>
          <p:cNvPr id="20" name="Text 18"/>
          <p:cNvSpPr/>
          <p:nvPr/>
        </p:nvSpPr>
        <p:spPr>
          <a:xfrm>
            <a:off x="5029200" y="3291840"/>
            <a:ext cx="3474720" cy="868680"/>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No existing framework couples live SOC dashboards with an LLM forensic assistant for automated, plain-English threat remediation logs</a:t>
            </a:r>
            <a:endParaRPr lang="en-US" sz="1100" dirty="0"/>
          </a:p>
        </p:txBody>
      </p:sp>
      <p:sp>
        <p:nvSpPr>
          <p:cNvPr id="21" name="Shape 19"/>
          <p:cNvSpPr/>
          <p:nvPr/>
        </p:nvSpPr>
        <p:spPr>
          <a:xfrm>
            <a:off x="0" y="4800600"/>
            <a:ext cx="9144000" cy="342900"/>
          </a:xfrm>
          <a:prstGeom prst="rect">
            <a:avLst/>
          </a:prstGeom>
          <a:solidFill>
            <a:srgbClr val="071020"/>
          </a:solidFill>
          <a:ln w="12700">
            <a:solidFill>
              <a:srgbClr val="071020"/>
            </a:solidFill>
            <a:prstDash val="solid"/>
          </a:ln>
        </p:spPr>
      </p:sp>
      <p:sp>
        <p:nvSpPr>
          <p:cNvPr id="22" name="Shape 20"/>
          <p:cNvSpPr/>
          <p:nvPr/>
        </p:nvSpPr>
        <p:spPr>
          <a:xfrm>
            <a:off x="0" y="4796028"/>
            <a:ext cx="9144000" cy="13716"/>
          </a:xfrm>
          <a:prstGeom prst="rect">
            <a:avLst/>
          </a:prstGeom>
          <a:solidFill>
            <a:srgbClr val="0891B2"/>
          </a:solidFill>
          <a:ln w="12700">
            <a:solidFill>
              <a:srgbClr val="0891B2"/>
            </a:solidFill>
            <a:prstDash val="solid"/>
          </a:ln>
        </p:spPr>
      </p:sp>
      <p:sp>
        <p:nvSpPr>
          <p:cNvPr id="23" name="Text 21"/>
          <p:cNvSpPr/>
          <p:nvPr/>
        </p:nvSpPr>
        <p:spPr>
          <a:xfrm>
            <a:off x="274320" y="4805172"/>
            <a:ext cx="8229600" cy="320040"/>
          </a:xfrm>
          <a:prstGeom prst="rect">
            <a:avLst/>
          </a:prstGeom>
          <a:noFill/>
          <a:ln/>
        </p:spPr>
        <p:txBody>
          <a:bodyPr wrap="square" lIns="0" tIns="0" rIns="0" bIns="0" rtlCol="0" anchor="ctr"/>
          <a:lstStyle/>
          <a:p>
            <a:pPr algn="l" indent="0" marL="0">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24" name="Text 22"/>
          <p:cNvSpPr/>
          <p:nvPr/>
        </p:nvSpPr>
        <p:spPr>
          <a:xfrm>
            <a:off x="8503920" y="4805172"/>
            <a:ext cx="548640" cy="320040"/>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4 / 14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11480" y="201168"/>
            <a:ext cx="8046720" cy="530352"/>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Proposed Solution: PRIVATE SHIELD</a:t>
            </a:r>
            <a:endParaRPr lang="en-US" sz="2800" dirty="0"/>
          </a:p>
        </p:txBody>
      </p:sp>
      <p:sp>
        <p:nvSpPr>
          <p:cNvPr id="3" name="Text 1"/>
          <p:cNvSpPr/>
          <p:nvPr/>
        </p:nvSpPr>
        <p:spPr>
          <a:xfrm>
            <a:off x="411480" y="749808"/>
            <a:ext cx="8046720" cy="292608"/>
          </a:xfrm>
          <a:prstGeom prst="rect">
            <a:avLst/>
          </a:prstGeom>
          <a:noFill/>
          <a:ln/>
        </p:spPr>
        <p:txBody>
          <a:bodyPr wrap="square" lIns="0" tIns="0" rIns="0" bIns="0" rtlCol="0" anchor="t"/>
          <a:lstStyle/>
          <a:p>
            <a:pPr algn="l" indent="0" marL="0">
              <a:buNone/>
            </a:pPr>
            <a:r>
              <a:rPr lang="en-US" sz="1300" i="1" dirty="0">
                <a:solidFill>
                  <a:srgbClr val="00D4FF"/>
                </a:solidFill>
                <a:latin typeface="Calibri" pitchFamily="34" charset="0"/>
                <a:ea typeface="Calibri" pitchFamily="34" charset="-122"/>
                <a:cs typeface="Calibri" pitchFamily="34" charset="-120"/>
              </a:rPr>
              <a:t>A Unified, Adversarial-Robust, Privacy-Preserving Federated IDS</a:t>
            </a:r>
            <a:endParaRPr lang="en-US" sz="1300" dirty="0"/>
          </a:p>
        </p:txBody>
      </p:sp>
      <p:sp>
        <p:nvSpPr>
          <p:cNvPr id="4" name="Shape 2"/>
          <p:cNvSpPr/>
          <p:nvPr/>
        </p:nvSpPr>
        <p:spPr>
          <a:xfrm>
            <a:off x="411480" y="1005840"/>
            <a:ext cx="8321040" cy="16459"/>
          </a:xfrm>
          <a:prstGeom prst="rect">
            <a:avLst/>
          </a:prstGeom>
          <a:solidFill>
            <a:srgbClr val="0891B2">
              <a:alpha val="60000"/>
            </a:srgbClr>
          </a:solidFill>
          <a:ln w="12700">
            <a:solidFill>
              <a:srgbClr val="0891B2"/>
            </a:solidFill>
            <a:prstDash val="solid"/>
          </a:ln>
        </p:spPr>
      </p:sp>
      <p:pic>
        <p:nvPicPr>
          <p:cNvPr id="5" name="Image 0" descr="preencoded.png">    </p:cNvPr>
          <p:cNvPicPr>
            <a:picLocks noChangeAspect="1"/>
          </p:cNvPicPr>
          <p:nvPr/>
        </p:nvPicPr>
        <p:blipFill>
          <a:blip r:embed="rId1"/>
          <a:stretch>
            <a:fillRect/>
          </a:stretch>
        </p:blipFill>
        <p:spPr>
          <a:xfrm>
            <a:off x="7818120" y="1115568"/>
            <a:ext cx="960120" cy="960120"/>
          </a:xfrm>
          <a:prstGeom prst="rect">
            <a:avLst/>
          </a:prstGeom>
        </p:spPr>
      </p:pic>
      <p:sp>
        <p:nvSpPr>
          <p:cNvPr id="6" name="Shape 3"/>
          <p:cNvSpPr/>
          <p:nvPr/>
        </p:nvSpPr>
        <p:spPr>
          <a:xfrm>
            <a:off x="411480" y="1115568"/>
            <a:ext cx="7223760" cy="822960"/>
          </a:xfrm>
          <a:prstGeom prst="rect">
            <a:avLst/>
          </a:prstGeom>
          <a:solidFill>
            <a:srgbClr val="091830"/>
          </a:solidFill>
          <a:ln w="12700">
            <a:solidFill>
              <a:srgbClr val="1E3A5F"/>
            </a:solidFill>
            <a:prstDash val="solid"/>
          </a:ln>
          <a:effectLst>
            <a:outerShdw sx="100000" sy="100000" kx="0" ky="0" algn="bl" rotWithShape="0" blurRad="101600" dist="38100" dir="2700000">
              <a:srgbClr val="000000">
                <a:alpha val="25000"/>
              </a:srgbClr>
            </a:outerShdw>
          </a:effectLst>
        </p:spPr>
      </p:sp>
      <p:sp>
        <p:nvSpPr>
          <p:cNvPr id="7" name="Text 4"/>
          <p:cNvSpPr/>
          <p:nvPr/>
        </p:nvSpPr>
        <p:spPr>
          <a:xfrm>
            <a:off x="548640" y="1170432"/>
            <a:ext cx="6949440" cy="713232"/>
          </a:xfrm>
          <a:prstGeom prst="rect">
            <a:avLst/>
          </a:prstGeom>
          <a:noFill/>
          <a:ln/>
        </p:spPr>
        <p:txBody>
          <a:bodyPr wrap="square" lIns="0" tIns="0" rIns="0" bIns="0" rtlCol="0" anchor="ctr"/>
          <a:lstStyle/>
          <a:p>
            <a:pPr algn="l" indent="0" marL="0">
              <a:buNone/>
            </a:pPr>
            <a:r>
              <a:rPr lang="en-US" sz="1150" dirty="0">
                <a:solidFill>
                  <a:srgbClr val="E2E8F0"/>
                </a:solidFill>
                <a:latin typeface="Calibri" pitchFamily="34" charset="0"/>
                <a:ea typeface="Calibri" pitchFamily="34" charset="-122"/>
                <a:cs typeface="Calibri" pitchFamily="34" charset="-120"/>
              </a:rPr>
              <a:t>PRIVATE SHIELD is a decentralized federated intelligence optimization loop for edge-layer IoT threat classification. It trains local models on-device, aggregates privacy-hardened gradients via FedAvg, and enforces Differential Privacy to guarantee data never leaves the edge in raw form.</a:t>
            </a:r>
            <a:endParaRPr lang="en-US" sz="1150" dirty="0"/>
          </a:p>
        </p:txBody>
      </p:sp>
      <p:sp>
        <p:nvSpPr>
          <p:cNvPr id="8" name="Shape 5"/>
          <p:cNvSpPr/>
          <p:nvPr/>
        </p:nvSpPr>
        <p:spPr>
          <a:xfrm>
            <a:off x="411480" y="2084832"/>
            <a:ext cx="1536192" cy="251460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pic>
        <p:nvPicPr>
          <p:cNvPr id="9" name="Image 1" descr="preencoded.png">    </p:cNvPr>
          <p:cNvPicPr>
            <a:picLocks noChangeAspect="1"/>
          </p:cNvPicPr>
          <p:nvPr/>
        </p:nvPicPr>
        <p:blipFill>
          <a:blip r:embed="rId2"/>
          <a:stretch>
            <a:fillRect/>
          </a:stretch>
        </p:blipFill>
        <p:spPr>
          <a:xfrm>
            <a:off x="950976" y="2212848"/>
            <a:ext cx="457200" cy="457200"/>
          </a:xfrm>
          <a:prstGeom prst="rect">
            <a:avLst/>
          </a:prstGeom>
        </p:spPr>
      </p:pic>
      <p:sp>
        <p:nvSpPr>
          <p:cNvPr id="10" name="Text 6"/>
          <p:cNvSpPr/>
          <p:nvPr/>
        </p:nvSpPr>
        <p:spPr>
          <a:xfrm>
            <a:off x="502920" y="2743200"/>
            <a:ext cx="137160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Federated Learning</a:t>
            </a:r>
            <a:endParaRPr lang="en-US" sz="1050" dirty="0"/>
          </a:p>
        </p:txBody>
      </p:sp>
      <p:sp>
        <p:nvSpPr>
          <p:cNvPr id="11" name="Text 7"/>
          <p:cNvSpPr/>
          <p:nvPr/>
        </p:nvSpPr>
        <p:spPr>
          <a:xfrm>
            <a:off x="484632" y="3218688"/>
            <a:ext cx="1408176" cy="50292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FedAvg aggregation</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over Flower runtime</a:t>
            </a:r>
            <a:endParaRPr lang="en-US" sz="950" dirty="0"/>
          </a:p>
        </p:txBody>
      </p:sp>
      <p:sp>
        <p:nvSpPr>
          <p:cNvPr id="12" name="Shape 8"/>
          <p:cNvSpPr/>
          <p:nvPr/>
        </p:nvSpPr>
        <p:spPr>
          <a:xfrm>
            <a:off x="484632" y="4407408"/>
            <a:ext cx="1417320" cy="109728"/>
          </a:xfrm>
          <a:prstGeom prst="rect">
            <a:avLst/>
          </a:prstGeom>
          <a:solidFill>
            <a:srgbClr val="00D4FF"/>
          </a:solidFill>
          <a:ln w="12700">
            <a:solidFill>
              <a:srgbClr val="00D4FF"/>
            </a:solidFill>
            <a:prstDash val="solid"/>
          </a:ln>
        </p:spPr>
      </p:sp>
      <p:sp>
        <p:nvSpPr>
          <p:cNvPr id="13" name="Shape 9"/>
          <p:cNvSpPr/>
          <p:nvPr/>
        </p:nvSpPr>
        <p:spPr>
          <a:xfrm>
            <a:off x="2084832" y="2084832"/>
            <a:ext cx="1536192" cy="251460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pic>
        <p:nvPicPr>
          <p:cNvPr id="14" name="Image 2" descr="preencoded.png">    </p:cNvPr>
          <p:cNvPicPr>
            <a:picLocks noChangeAspect="1"/>
          </p:cNvPicPr>
          <p:nvPr/>
        </p:nvPicPr>
        <p:blipFill>
          <a:blip r:embed="rId3"/>
          <a:stretch>
            <a:fillRect/>
          </a:stretch>
        </p:blipFill>
        <p:spPr>
          <a:xfrm>
            <a:off x="2624328" y="2212848"/>
            <a:ext cx="457200" cy="457200"/>
          </a:xfrm>
          <a:prstGeom prst="rect">
            <a:avLst/>
          </a:prstGeom>
        </p:spPr>
      </p:pic>
      <p:sp>
        <p:nvSpPr>
          <p:cNvPr id="15" name="Text 10"/>
          <p:cNvSpPr/>
          <p:nvPr/>
        </p:nvSpPr>
        <p:spPr>
          <a:xfrm>
            <a:off x="2176272" y="2743200"/>
            <a:ext cx="137160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Differential Privacy</a:t>
            </a:r>
            <a:endParaRPr lang="en-US" sz="1050" dirty="0"/>
          </a:p>
        </p:txBody>
      </p:sp>
      <p:sp>
        <p:nvSpPr>
          <p:cNvPr id="16" name="Text 11"/>
          <p:cNvSpPr/>
          <p:nvPr/>
        </p:nvSpPr>
        <p:spPr>
          <a:xfrm>
            <a:off x="2157984" y="3218688"/>
            <a:ext cx="1408176" cy="50292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Opacus Laplace/</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Gaussian perturbations</a:t>
            </a:r>
            <a:endParaRPr lang="en-US" sz="950" dirty="0"/>
          </a:p>
        </p:txBody>
      </p:sp>
      <p:sp>
        <p:nvSpPr>
          <p:cNvPr id="17" name="Shape 12"/>
          <p:cNvSpPr/>
          <p:nvPr/>
        </p:nvSpPr>
        <p:spPr>
          <a:xfrm>
            <a:off x="2157984" y="4407408"/>
            <a:ext cx="1417320" cy="109728"/>
          </a:xfrm>
          <a:prstGeom prst="rect">
            <a:avLst/>
          </a:prstGeom>
          <a:solidFill>
            <a:srgbClr val="06B6D4"/>
          </a:solidFill>
          <a:ln w="12700">
            <a:solidFill>
              <a:srgbClr val="06B6D4"/>
            </a:solidFill>
            <a:prstDash val="solid"/>
          </a:ln>
        </p:spPr>
      </p:sp>
      <p:sp>
        <p:nvSpPr>
          <p:cNvPr id="18" name="Shape 13"/>
          <p:cNvSpPr/>
          <p:nvPr/>
        </p:nvSpPr>
        <p:spPr>
          <a:xfrm>
            <a:off x="3758184" y="2084832"/>
            <a:ext cx="1536192" cy="251460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pic>
        <p:nvPicPr>
          <p:cNvPr id="19" name="Image 3" descr="preencoded.png">    </p:cNvPr>
          <p:cNvPicPr>
            <a:picLocks noChangeAspect="1"/>
          </p:cNvPicPr>
          <p:nvPr/>
        </p:nvPicPr>
        <p:blipFill>
          <a:blip r:embed="rId4"/>
          <a:stretch>
            <a:fillRect/>
          </a:stretch>
        </p:blipFill>
        <p:spPr>
          <a:xfrm>
            <a:off x="4297680" y="2212848"/>
            <a:ext cx="457200" cy="457200"/>
          </a:xfrm>
          <a:prstGeom prst="rect">
            <a:avLst/>
          </a:prstGeom>
        </p:spPr>
      </p:pic>
      <p:sp>
        <p:nvSpPr>
          <p:cNvPr id="20" name="Text 14"/>
          <p:cNvSpPr/>
          <p:nvPr/>
        </p:nvSpPr>
        <p:spPr>
          <a:xfrm>
            <a:off x="3849624" y="2743200"/>
            <a:ext cx="137160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Adversarial Defense</a:t>
            </a:r>
            <a:endParaRPr lang="en-US" sz="1050" dirty="0"/>
          </a:p>
        </p:txBody>
      </p:sp>
      <p:sp>
        <p:nvSpPr>
          <p:cNvPr id="21" name="Text 15"/>
          <p:cNvSpPr/>
          <p:nvPr/>
        </p:nvSpPr>
        <p:spPr>
          <a:xfrm>
            <a:off x="3831336" y="3218688"/>
            <a:ext cx="1408176" cy="50292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Poisoning, Free-Rider</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&amp; Gradient Inference</a:t>
            </a:r>
            <a:endParaRPr lang="en-US" sz="950" dirty="0"/>
          </a:p>
        </p:txBody>
      </p:sp>
      <p:sp>
        <p:nvSpPr>
          <p:cNvPr id="22" name="Shape 16"/>
          <p:cNvSpPr/>
          <p:nvPr/>
        </p:nvSpPr>
        <p:spPr>
          <a:xfrm>
            <a:off x="3831336" y="4407408"/>
            <a:ext cx="1417320" cy="109728"/>
          </a:xfrm>
          <a:prstGeom prst="rect">
            <a:avLst/>
          </a:prstGeom>
          <a:solidFill>
            <a:srgbClr val="10B981"/>
          </a:solidFill>
          <a:ln w="12700">
            <a:solidFill>
              <a:srgbClr val="10B981"/>
            </a:solidFill>
            <a:prstDash val="solid"/>
          </a:ln>
        </p:spPr>
      </p:sp>
      <p:sp>
        <p:nvSpPr>
          <p:cNvPr id="23" name="Shape 17"/>
          <p:cNvSpPr/>
          <p:nvPr/>
        </p:nvSpPr>
        <p:spPr>
          <a:xfrm>
            <a:off x="5431536" y="2084832"/>
            <a:ext cx="1536192" cy="251460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pic>
        <p:nvPicPr>
          <p:cNvPr id="24" name="Image 4" descr="preencoded.png">    </p:cNvPr>
          <p:cNvPicPr>
            <a:picLocks noChangeAspect="1"/>
          </p:cNvPicPr>
          <p:nvPr/>
        </p:nvPicPr>
        <p:blipFill>
          <a:blip r:embed="rId5"/>
          <a:stretch>
            <a:fillRect/>
          </a:stretch>
        </p:blipFill>
        <p:spPr>
          <a:xfrm>
            <a:off x="5971032" y="2212848"/>
            <a:ext cx="457200" cy="457200"/>
          </a:xfrm>
          <a:prstGeom prst="rect">
            <a:avLst/>
          </a:prstGeom>
        </p:spPr>
      </p:pic>
      <p:sp>
        <p:nvSpPr>
          <p:cNvPr id="25" name="Text 18"/>
          <p:cNvSpPr/>
          <p:nvPr/>
        </p:nvSpPr>
        <p:spPr>
          <a:xfrm>
            <a:off x="5522976" y="2743200"/>
            <a:ext cx="137160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SOC Dashboard</a:t>
            </a:r>
            <a:endParaRPr lang="en-US" sz="1050" dirty="0"/>
          </a:p>
        </p:txBody>
      </p:sp>
      <p:sp>
        <p:nvSpPr>
          <p:cNvPr id="26" name="Text 19"/>
          <p:cNvSpPr/>
          <p:nvPr/>
        </p:nvSpPr>
        <p:spPr>
          <a:xfrm>
            <a:off x="5504688" y="3218688"/>
            <a:ext cx="1408176" cy="50292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React + WebSockets</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real-time alerts</a:t>
            </a:r>
            <a:endParaRPr lang="en-US" sz="950" dirty="0"/>
          </a:p>
        </p:txBody>
      </p:sp>
      <p:sp>
        <p:nvSpPr>
          <p:cNvPr id="27" name="Shape 20"/>
          <p:cNvSpPr/>
          <p:nvPr/>
        </p:nvSpPr>
        <p:spPr>
          <a:xfrm>
            <a:off x="5504688" y="4407408"/>
            <a:ext cx="1417320" cy="109728"/>
          </a:xfrm>
          <a:prstGeom prst="rect">
            <a:avLst/>
          </a:prstGeom>
          <a:solidFill>
            <a:srgbClr val="F59E0B"/>
          </a:solidFill>
          <a:ln w="12700">
            <a:solidFill>
              <a:srgbClr val="F59E0B"/>
            </a:solidFill>
            <a:prstDash val="solid"/>
          </a:ln>
        </p:spPr>
      </p:sp>
      <p:sp>
        <p:nvSpPr>
          <p:cNvPr id="28" name="Shape 21"/>
          <p:cNvSpPr/>
          <p:nvPr/>
        </p:nvSpPr>
        <p:spPr>
          <a:xfrm>
            <a:off x="7104888" y="2084832"/>
            <a:ext cx="1536192" cy="251460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pic>
        <p:nvPicPr>
          <p:cNvPr id="29" name="Image 5" descr="preencoded.png">    </p:cNvPr>
          <p:cNvPicPr>
            <a:picLocks noChangeAspect="1"/>
          </p:cNvPicPr>
          <p:nvPr/>
        </p:nvPicPr>
        <p:blipFill>
          <a:blip r:embed="rId6"/>
          <a:stretch>
            <a:fillRect/>
          </a:stretch>
        </p:blipFill>
        <p:spPr>
          <a:xfrm>
            <a:off x="7644384" y="2212848"/>
            <a:ext cx="457200" cy="457200"/>
          </a:xfrm>
          <a:prstGeom prst="rect">
            <a:avLst/>
          </a:prstGeom>
        </p:spPr>
      </p:pic>
      <p:sp>
        <p:nvSpPr>
          <p:cNvPr id="30" name="Text 22"/>
          <p:cNvSpPr/>
          <p:nvPr/>
        </p:nvSpPr>
        <p:spPr>
          <a:xfrm>
            <a:off x="7196328" y="2743200"/>
            <a:ext cx="137160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LLM Forensics</a:t>
            </a:r>
            <a:endParaRPr lang="en-US" sz="1050" dirty="0"/>
          </a:p>
        </p:txBody>
      </p:sp>
      <p:sp>
        <p:nvSpPr>
          <p:cNvPr id="31" name="Text 23"/>
          <p:cNvSpPr/>
          <p:nvPr/>
        </p:nvSpPr>
        <p:spPr>
          <a:xfrm>
            <a:off x="7178040" y="3218688"/>
            <a:ext cx="1408176" cy="50292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Claude API automated</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remediation logs</a:t>
            </a:r>
            <a:endParaRPr lang="en-US" sz="950" dirty="0"/>
          </a:p>
        </p:txBody>
      </p:sp>
      <p:sp>
        <p:nvSpPr>
          <p:cNvPr id="32" name="Shape 24"/>
          <p:cNvSpPr/>
          <p:nvPr/>
        </p:nvSpPr>
        <p:spPr>
          <a:xfrm>
            <a:off x="7178040" y="4407408"/>
            <a:ext cx="1417320" cy="109728"/>
          </a:xfrm>
          <a:prstGeom prst="rect">
            <a:avLst/>
          </a:prstGeom>
          <a:solidFill>
            <a:srgbClr val="A78BFA"/>
          </a:solidFill>
          <a:ln w="12700">
            <a:solidFill>
              <a:srgbClr val="A78BFA"/>
            </a:solidFill>
            <a:prstDash val="solid"/>
          </a:ln>
        </p:spPr>
      </p:sp>
      <p:sp>
        <p:nvSpPr>
          <p:cNvPr id="33" name="Text 25"/>
          <p:cNvSpPr/>
          <p:nvPr/>
        </p:nvSpPr>
        <p:spPr>
          <a:xfrm>
            <a:off x="411480" y="4645152"/>
            <a:ext cx="8321040" cy="18288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Hardware: Raspberry Pi 4 (ARM Cortex-A72) + ESP32 NodeMCU edge nodes  ·  Dataset: CICFlowMeter 80-feature network traffic vectors</a:t>
            </a:r>
            <a:endParaRPr lang="en-US" sz="900" dirty="0"/>
          </a:p>
        </p:txBody>
      </p:sp>
      <p:sp>
        <p:nvSpPr>
          <p:cNvPr id="34" name="Shape 26"/>
          <p:cNvSpPr/>
          <p:nvPr/>
        </p:nvSpPr>
        <p:spPr>
          <a:xfrm>
            <a:off x="0" y="4800600"/>
            <a:ext cx="9144000" cy="342900"/>
          </a:xfrm>
          <a:prstGeom prst="rect">
            <a:avLst/>
          </a:prstGeom>
          <a:solidFill>
            <a:srgbClr val="071020"/>
          </a:solidFill>
          <a:ln w="12700">
            <a:solidFill>
              <a:srgbClr val="071020"/>
            </a:solidFill>
            <a:prstDash val="solid"/>
          </a:ln>
        </p:spPr>
      </p:sp>
      <p:sp>
        <p:nvSpPr>
          <p:cNvPr id="35" name="Shape 27"/>
          <p:cNvSpPr/>
          <p:nvPr/>
        </p:nvSpPr>
        <p:spPr>
          <a:xfrm>
            <a:off x="0" y="4796028"/>
            <a:ext cx="9144000" cy="13716"/>
          </a:xfrm>
          <a:prstGeom prst="rect">
            <a:avLst/>
          </a:prstGeom>
          <a:solidFill>
            <a:srgbClr val="0891B2"/>
          </a:solidFill>
          <a:ln w="12700">
            <a:solidFill>
              <a:srgbClr val="0891B2"/>
            </a:solidFill>
            <a:prstDash val="solid"/>
          </a:ln>
        </p:spPr>
      </p:sp>
      <p:sp>
        <p:nvSpPr>
          <p:cNvPr id="36" name="Text 28"/>
          <p:cNvSpPr/>
          <p:nvPr/>
        </p:nvSpPr>
        <p:spPr>
          <a:xfrm>
            <a:off x="274320" y="4805172"/>
            <a:ext cx="8229600" cy="320040"/>
          </a:xfrm>
          <a:prstGeom prst="rect">
            <a:avLst/>
          </a:prstGeom>
          <a:noFill/>
          <a:ln/>
        </p:spPr>
        <p:txBody>
          <a:bodyPr wrap="square" lIns="0" tIns="0" rIns="0" bIns="0" rtlCol="0" anchor="ctr"/>
          <a:lstStyle/>
          <a:p>
            <a:pPr algn="l" indent="0" marL="0">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37" name="Text 29"/>
          <p:cNvSpPr/>
          <p:nvPr/>
        </p:nvSpPr>
        <p:spPr>
          <a:xfrm>
            <a:off x="8503920" y="4805172"/>
            <a:ext cx="548640" cy="320040"/>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5 / 14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11480" y="201168"/>
            <a:ext cx="8046720" cy="530352"/>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System Architecture</a:t>
            </a:r>
            <a:endParaRPr lang="en-US" sz="2800" dirty="0"/>
          </a:p>
        </p:txBody>
      </p:sp>
      <p:sp>
        <p:nvSpPr>
          <p:cNvPr id="3" name="Text 1"/>
          <p:cNvSpPr/>
          <p:nvPr/>
        </p:nvSpPr>
        <p:spPr>
          <a:xfrm>
            <a:off x="411480" y="749808"/>
            <a:ext cx="8046720" cy="292608"/>
          </a:xfrm>
          <a:prstGeom prst="rect">
            <a:avLst/>
          </a:prstGeom>
          <a:noFill/>
          <a:ln/>
        </p:spPr>
        <p:txBody>
          <a:bodyPr wrap="square" lIns="0" tIns="0" rIns="0" bIns="0" rtlCol="0" anchor="t"/>
          <a:lstStyle/>
          <a:p>
            <a:pPr algn="l" indent="0" marL="0">
              <a:buNone/>
            </a:pPr>
            <a:r>
              <a:rPr lang="en-US" sz="1300" i="1" dirty="0">
                <a:solidFill>
                  <a:srgbClr val="00D4FF"/>
                </a:solidFill>
                <a:latin typeface="Calibri" pitchFamily="34" charset="0"/>
                <a:ea typeface="Calibri" pitchFamily="34" charset="-122"/>
                <a:cs typeface="Calibri" pitchFamily="34" charset="-120"/>
              </a:rPr>
              <a:t>Edge → Federation → Intelligence Pipeline</a:t>
            </a:r>
            <a:endParaRPr lang="en-US" sz="1300" dirty="0"/>
          </a:p>
        </p:txBody>
      </p:sp>
      <p:sp>
        <p:nvSpPr>
          <p:cNvPr id="4" name="Shape 2"/>
          <p:cNvSpPr/>
          <p:nvPr/>
        </p:nvSpPr>
        <p:spPr>
          <a:xfrm>
            <a:off x="411480" y="1005840"/>
            <a:ext cx="8321040" cy="16459"/>
          </a:xfrm>
          <a:prstGeom prst="rect">
            <a:avLst/>
          </a:prstGeom>
          <a:solidFill>
            <a:srgbClr val="0891B2">
              <a:alpha val="60000"/>
            </a:srgbClr>
          </a:solidFill>
          <a:ln w="12700">
            <a:solidFill>
              <a:srgbClr val="0891B2"/>
            </a:solidFill>
            <a:prstDash val="solid"/>
          </a:ln>
        </p:spPr>
      </p:sp>
      <p:sp>
        <p:nvSpPr>
          <p:cNvPr id="5" name="Shape 3"/>
          <p:cNvSpPr/>
          <p:nvPr/>
        </p:nvSpPr>
        <p:spPr>
          <a:xfrm>
            <a:off x="228600" y="1207008"/>
            <a:ext cx="1600200" cy="749808"/>
          </a:xfrm>
          <a:prstGeom prst="rect">
            <a:avLst/>
          </a:prstGeom>
          <a:solidFill>
            <a:srgbClr val="0A2540"/>
          </a:solidFill>
          <a:ln w="12700">
            <a:solidFill>
              <a:srgbClr val="0891B2"/>
            </a:solidFill>
            <a:prstDash val="solid"/>
          </a:ln>
          <a:effectLst>
            <a:outerShdw sx="100000" sy="100000" kx="0" ky="0" algn="bl" rotWithShape="0" blurRad="101600" dist="38100" dir="2700000">
              <a:srgbClr val="000000">
                <a:alpha val="25000"/>
              </a:srgbClr>
            </a:outerShdw>
          </a:effectLst>
        </p:spPr>
      </p:sp>
      <p:sp>
        <p:nvSpPr>
          <p:cNvPr id="6" name="Text 4"/>
          <p:cNvSpPr/>
          <p:nvPr/>
        </p:nvSpPr>
        <p:spPr>
          <a:xfrm>
            <a:off x="256032" y="1280160"/>
            <a:ext cx="1536192" cy="603504"/>
          </a:xfrm>
          <a:prstGeom prst="rect">
            <a:avLst/>
          </a:prstGeom>
          <a:noFill/>
          <a:ln/>
        </p:spPr>
        <p:txBody>
          <a:bodyPr wrap="square" lIns="0" tIns="0" rIns="0" bIns="0"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Raspberry Pi 4</a:t>
            </a:r>
            <a:endParaRPr lang="en-US" sz="900" dirty="0"/>
          </a:p>
          <a:p>
            <a:pPr algn="ctr" indent="0" marL="0">
              <a:buNone/>
            </a:pPr>
            <a:r>
              <a:rPr lang="en-US" sz="900" dirty="0">
                <a:solidFill>
                  <a:srgbClr val="E2E8F0"/>
                </a:solidFill>
                <a:latin typeface="Calibri" pitchFamily="34" charset="0"/>
                <a:ea typeface="Calibri" pitchFamily="34" charset="-122"/>
                <a:cs typeface="Calibri" pitchFamily="34" charset="-120"/>
              </a:rPr>
              <a:t>(Gateway Node)</a:t>
            </a:r>
            <a:endParaRPr lang="en-US" sz="900" dirty="0"/>
          </a:p>
        </p:txBody>
      </p:sp>
      <p:sp>
        <p:nvSpPr>
          <p:cNvPr id="7" name="Shape 5"/>
          <p:cNvSpPr/>
          <p:nvPr/>
        </p:nvSpPr>
        <p:spPr>
          <a:xfrm>
            <a:off x="228600" y="2304288"/>
            <a:ext cx="1600200" cy="749808"/>
          </a:xfrm>
          <a:prstGeom prst="rect">
            <a:avLst/>
          </a:prstGeom>
          <a:solidFill>
            <a:srgbClr val="0A2540"/>
          </a:solidFill>
          <a:ln w="12700">
            <a:solidFill>
              <a:srgbClr val="0891B2"/>
            </a:solidFill>
            <a:prstDash val="solid"/>
          </a:ln>
          <a:effectLst>
            <a:outerShdw sx="100000" sy="100000" kx="0" ky="0" algn="bl" rotWithShape="0" blurRad="101600" dist="38100" dir="2700000">
              <a:srgbClr val="000000">
                <a:alpha val="25000"/>
              </a:srgbClr>
            </a:outerShdw>
          </a:effectLst>
        </p:spPr>
      </p:sp>
      <p:sp>
        <p:nvSpPr>
          <p:cNvPr id="8" name="Text 6"/>
          <p:cNvSpPr/>
          <p:nvPr/>
        </p:nvSpPr>
        <p:spPr>
          <a:xfrm>
            <a:off x="256032" y="2377440"/>
            <a:ext cx="1536192" cy="603504"/>
          </a:xfrm>
          <a:prstGeom prst="rect">
            <a:avLst/>
          </a:prstGeom>
          <a:noFill/>
          <a:ln/>
        </p:spPr>
        <p:txBody>
          <a:bodyPr wrap="square" lIns="0" tIns="0" rIns="0" bIns="0"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ESP32 Node A</a:t>
            </a:r>
            <a:endParaRPr lang="en-US" sz="900" dirty="0"/>
          </a:p>
          <a:p>
            <a:pPr algn="ctr" indent="0" marL="0">
              <a:buNone/>
            </a:pPr>
            <a:r>
              <a:rPr lang="en-US" sz="900" dirty="0">
                <a:solidFill>
                  <a:srgbClr val="E2E8F0"/>
                </a:solidFill>
                <a:latin typeface="Calibri" pitchFamily="34" charset="0"/>
                <a:ea typeface="Calibri" pitchFamily="34" charset="-122"/>
                <a:cs typeface="Calibri" pitchFamily="34" charset="-120"/>
              </a:rPr>
              <a:t>(Sensor Edge)</a:t>
            </a:r>
            <a:endParaRPr lang="en-US" sz="900" dirty="0"/>
          </a:p>
        </p:txBody>
      </p:sp>
      <p:sp>
        <p:nvSpPr>
          <p:cNvPr id="9" name="Shape 7"/>
          <p:cNvSpPr/>
          <p:nvPr/>
        </p:nvSpPr>
        <p:spPr>
          <a:xfrm>
            <a:off x="228600" y="3401568"/>
            <a:ext cx="1600200" cy="749808"/>
          </a:xfrm>
          <a:prstGeom prst="rect">
            <a:avLst/>
          </a:prstGeom>
          <a:solidFill>
            <a:srgbClr val="0A2540"/>
          </a:solidFill>
          <a:ln w="12700">
            <a:solidFill>
              <a:srgbClr val="0891B2"/>
            </a:solidFill>
            <a:prstDash val="solid"/>
          </a:ln>
          <a:effectLst>
            <a:outerShdw sx="100000" sy="100000" kx="0" ky="0" algn="bl" rotWithShape="0" blurRad="101600" dist="38100" dir="2700000">
              <a:srgbClr val="000000">
                <a:alpha val="25000"/>
              </a:srgbClr>
            </a:outerShdw>
          </a:effectLst>
        </p:spPr>
      </p:sp>
      <p:sp>
        <p:nvSpPr>
          <p:cNvPr id="10" name="Text 8"/>
          <p:cNvSpPr/>
          <p:nvPr/>
        </p:nvSpPr>
        <p:spPr>
          <a:xfrm>
            <a:off x="256032" y="3474720"/>
            <a:ext cx="1536192" cy="603504"/>
          </a:xfrm>
          <a:prstGeom prst="rect">
            <a:avLst/>
          </a:prstGeom>
          <a:noFill/>
          <a:ln/>
        </p:spPr>
        <p:txBody>
          <a:bodyPr wrap="square" lIns="0" tIns="0" rIns="0" bIns="0"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ESP32 Node B</a:t>
            </a:r>
            <a:endParaRPr lang="en-US" sz="900" dirty="0"/>
          </a:p>
          <a:p>
            <a:pPr algn="ctr" indent="0" marL="0">
              <a:buNone/>
            </a:pPr>
            <a:r>
              <a:rPr lang="en-US" sz="900" dirty="0">
                <a:solidFill>
                  <a:srgbClr val="E2E8F0"/>
                </a:solidFill>
                <a:latin typeface="Calibri" pitchFamily="34" charset="0"/>
                <a:ea typeface="Calibri" pitchFamily="34" charset="-122"/>
                <a:cs typeface="Calibri" pitchFamily="34" charset="-120"/>
              </a:rPr>
              <a:t>(Sensor Edge)</a:t>
            </a:r>
            <a:endParaRPr lang="en-US" sz="900" dirty="0"/>
          </a:p>
        </p:txBody>
      </p:sp>
      <p:sp>
        <p:nvSpPr>
          <p:cNvPr id="11" name="Text 9"/>
          <p:cNvSpPr/>
          <p:nvPr/>
        </p:nvSpPr>
        <p:spPr>
          <a:xfrm>
            <a:off x="228600" y="4251960"/>
            <a:ext cx="1600200" cy="256032"/>
          </a:xfrm>
          <a:prstGeom prst="rect">
            <a:avLst/>
          </a:prstGeom>
          <a:noFill/>
          <a:ln/>
        </p:spPr>
        <p:txBody>
          <a:bodyPr wrap="square" lIns="0" tIns="0" rIns="0" bIns="0" rtlCol="0" anchor="ctr"/>
          <a:lstStyle/>
          <a:p>
            <a:pPr algn="ctr" indent="0" marL="0">
              <a:buNone/>
            </a:pPr>
            <a:r>
              <a:rPr lang="en-US" sz="900" b="1" dirty="0">
                <a:solidFill>
                  <a:srgbClr val="0891B2"/>
                </a:solidFill>
                <a:latin typeface="Calibri" pitchFamily="34" charset="0"/>
                <a:ea typeface="Calibri" pitchFamily="34" charset="-122"/>
                <a:cs typeface="Calibri" pitchFamily="34" charset="-120"/>
              </a:rPr>
              <a:t>IoT Edge Nodes</a:t>
            </a:r>
            <a:endParaRPr lang="en-US" sz="900" dirty="0"/>
          </a:p>
        </p:txBody>
      </p:sp>
      <p:sp>
        <p:nvSpPr>
          <p:cNvPr id="12" name="Shape 10"/>
          <p:cNvSpPr/>
          <p:nvPr/>
        </p:nvSpPr>
        <p:spPr>
          <a:xfrm>
            <a:off x="2011680" y="1207008"/>
            <a:ext cx="1691640" cy="2944368"/>
          </a:xfrm>
          <a:prstGeom prst="rect">
            <a:avLst/>
          </a:prstGeom>
          <a:solidFill>
            <a:srgbClr val="0D2035"/>
          </a:solidFill>
          <a:ln w="12700">
            <a:solidFill>
              <a:srgbClr val="00D4FF"/>
            </a:solidFill>
            <a:prstDash val="solid"/>
          </a:ln>
          <a:effectLst>
            <a:outerShdw sx="100000" sy="100000" kx="0" ky="0" algn="bl" rotWithShape="0" blurRad="101600" dist="38100" dir="2700000">
              <a:srgbClr val="000000">
                <a:alpha val="25000"/>
              </a:srgbClr>
            </a:outerShdw>
          </a:effectLst>
        </p:spPr>
      </p:sp>
      <p:sp>
        <p:nvSpPr>
          <p:cNvPr id="13" name="Text 11"/>
          <p:cNvSpPr/>
          <p:nvPr/>
        </p:nvSpPr>
        <p:spPr>
          <a:xfrm>
            <a:off x="2029968" y="1261872"/>
            <a:ext cx="1664208" cy="274320"/>
          </a:xfrm>
          <a:prstGeom prst="rect">
            <a:avLst/>
          </a:prstGeom>
          <a:noFill/>
          <a:ln/>
        </p:spPr>
        <p:txBody>
          <a:bodyPr wrap="square" lIns="0" tIns="0" rIns="0" bIns="0" rtlCol="0" anchor="ctr"/>
          <a:lstStyle/>
          <a:p>
            <a:pPr algn="ctr" indent="0" marL="0">
              <a:buNone/>
            </a:pPr>
            <a:r>
              <a:rPr lang="en-US" sz="900" b="1" dirty="0">
                <a:solidFill>
                  <a:srgbClr val="00D4FF"/>
                </a:solidFill>
                <a:latin typeface="Calibri" pitchFamily="34" charset="0"/>
                <a:ea typeface="Calibri" pitchFamily="34" charset="-122"/>
                <a:cs typeface="Calibri" pitchFamily="34" charset="-120"/>
              </a:rPr>
              <a:t>LOCAL TRAINING</a:t>
            </a:r>
            <a:endParaRPr lang="en-US" sz="900" dirty="0"/>
          </a:p>
        </p:txBody>
      </p:sp>
      <p:sp>
        <p:nvSpPr>
          <p:cNvPr id="14" name="Shape 12"/>
          <p:cNvSpPr/>
          <p:nvPr/>
        </p:nvSpPr>
        <p:spPr>
          <a:xfrm>
            <a:off x="2103120" y="1572768"/>
            <a:ext cx="1508760" cy="548640"/>
          </a:xfrm>
          <a:prstGeom prst="rect">
            <a:avLst/>
          </a:prstGeom>
          <a:solidFill>
            <a:srgbClr val="102840"/>
          </a:solidFill>
          <a:ln w="12700">
            <a:solidFill>
              <a:srgbClr val="1E3A5F"/>
            </a:solidFill>
            <a:prstDash val="solid"/>
          </a:ln>
        </p:spPr>
      </p:sp>
      <p:sp>
        <p:nvSpPr>
          <p:cNvPr id="15" name="Text 13"/>
          <p:cNvSpPr/>
          <p:nvPr/>
        </p:nvSpPr>
        <p:spPr>
          <a:xfrm>
            <a:off x="2103120" y="1591056"/>
            <a:ext cx="1508760" cy="512064"/>
          </a:xfrm>
          <a:prstGeom prst="rect">
            <a:avLst/>
          </a:prstGeom>
          <a:noFill/>
          <a:ln/>
        </p:spPr>
        <p:txBody>
          <a:bodyPr wrap="square" lIns="0" tIns="0" rIns="0" bIns="0" rtlCol="0" anchor="ctr"/>
          <a:lstStyle/>
          <a:p>
            <a:pPr algn="ctr" indent="0" marL="0">
              <a:buNone/>
            </a:pPr>
            <a:r>
              <a:rPr lang="en-US" sz="850" dirty="0">
                <a:solidFill>
                  <a:srgbClr val="E2E8F0"/>
                </a:solidFill>
                <a:latin typeface="Calibri" pitchFamily="34" charset="0"/>
                <a:ea typeface="Calibri" pitchFamily="34" charset="-122"/>
                <a:cs typeface="Calibri" pitchFamily="34" charset="-120"/>
              </a:rPr>
              <a:t>Scapy Packet</a:t>
            </a:r>
            <a:endParaRPr lang="en-US" sz="850" dirty="0"/>
          </a:p>
          <a:p>
            <a:pPr algn="ctr" indent="0" marL="0">
              <a:buNone/>
            </a:pPr>
            <a:r>
              <a:rPr lang="en-US" sz="850" dirty="0">
                <a:solidFill>
                  <a:srgbClr val="E2E8F0"/>
                </a:solidFill>
                <a:latin typeface="Calibri" pitchFamily="34" charset="0"/>
                <a:ea typeface="Calibri" pitchFamily="34" charset="-122"/>
                <a:cs typeface="Calibri" pitchFamily="34" charset="-120"/>
              </a:rPr>
              <a:t>Capture</a:t>
            </a:r>
            <a:endParaRPr lang="en-US" sz="850" dirty="0"/>
          </a:p>
        </p:txBody>
      </p:sp>
      <p:sp>
        <p:nvSpPr>
          <p:cNvPr id="16" name="Shape 14"/>
          <p:cNvSpPr/>
          <p:nvPr/>
        </p:nvSpPr>
        <p:spPr>
          <a:xfrm>
            <a:off x="2103120" y="2231136"/>
            <a:ext cx="1508760" cy="548640"/>
          </a:xfrm>
          <a:prstGeom prst="rect">
            <a:avLst/>
          </a:prstGeom>
          <a:solidFill>
            <a:srgbClr val="102840"/>
          </a:solidFill>
          <a:ln w="12700">
            <a:solidFill>
              <a:srgbClr val="1E3A5F"/>
            </a:solidFill>
            <a:prstDash val="solid"/>
          </a:ln>
        </p:spPr>
      </p:sp>
      <p:sp>
        <p:nvSpPr>
          <p:cNvPr id="17" name="Text 15"/>
          <p:cNvSpPr/>
          <p:nvPr/>
        </p:nvSpPr>
        <p:spPr>
          <a:xfrm>
            <a:off x="2103120" y="2249424"/>
            <a:ext cx="1508760" cy="512064"/>
          </a:xfrm>
          <a:prstGeom prst="rect">
            <a:avLst/>
          </a:prstGeom>
          <a:noFill/>
          <a:ln/>
        </p:spPr>
        <p:txBody>
          <a:bodyPr wrap="square" lIns="0" tIns="0" rIns="0" bIns="0" rtlCol="0" anchor="ctr"/>
          <a:lstStyle/>
          <a:p>
            <a:pPr algn="ctr" indent="0" marL="0">
              <a:buNone/>
            </a:pPr>
            <a:r>
              <a:rPr lang="en-US" sz="850" dirty="0">
                <a:solidFill>
                  <a:srgbClr val="E2E8F0"/>
                </a:solidFill>
                <a:latin typeface="Calibri" pitchFamily="34" charset="0"/>
                <a:ea typeface="Calibri" pitchFamily="34" charset="-122"/>
                <a:cs typeface="Calibri" pitchFamily="34" charset="-120"/>
              </a:rPr>
              <a:t>CICFlowMeter</a:t>
            </a:r>
            <a:endParaRPr lang="en-US" sz="850" dirty="0"/>
          </a:p>
          <a:p>
            <a:pPr algn="ctr" indent="0" marL="0">
              <a:buNone/>
            </a:pPr>
            <a:r>
              <a:rPr lang="en-US" sz="850" dirty="0">
                <a:solidFill>
                  <a:srgbClr val="E2E8F0"/>
                </a:solidFill>
                <a:latin typeface="Calibri" pitchFamily="34" charset="0"/>
                <a:ea typeface="Calibri" pitchFamily="34" charset="-122"/>
                <a:cs typeface="Calibri" pitchFamily="34" charset="-120"/>
              </a:rPr>
              <a:t>80-Feature Maps</a:t>
            </a:r>
            <a:endParaRPr lang="en-US" sz="850" dirty="0"/>
          </a:p>
        </p:txBody>
      </p:sp>
      <p:sp>
        <p:nvSpPr>
          <p:cNvPr id="18" name="Shape 16"/>
          <p:cNvSpPr/>
          <p:nvPr/>
        </p:nvSpPr>
        <p:spPr>
          <a:xfrm>
            <a:off x="2103120" y="2889504"/>
            <a:ext cx="1508760" cy="548640"/>
          </a:xfrm>
          <a:prstGeom prst="rect">
            <a:avLst/>
          </a:prstGeom>
          <a:solidFill>
            <a:srgbClr val="102840"/>
          </a:solidFill>
          <a:ln w="12700">
            <a:solidFill>
              <a:srgbClr val="1E3A5F"/>
            </a:solidFill>
            <a:prstDash val="solid"/>
          </a:ln>
        </p:spPr>
      </p:sp>
      <p:sp>
        <p:nvSpPr>
          <p:cNvPr id="19" name="Text 17"/>
          <p:cNvSpPr/>
          <p:nvPr/>
        </p:nvSpPr>
        <p:spPr>
          <a:xfrm>
            <a:off x="2103120" y="2907792"/>
            <a:ext cx="1508760" cy="512064"/>
          </a:xfrm>
          <a:prstGeom prst="rect">
            <a:avLst/>
          </a:prstGeom>
          <a:noFill/>
          <a:ln/>
        </p:spPr>
        <p:txBody>
          <a:bodyPr wrap="square" lIns="0" tIns="0" rIns="0" bIns="0" rtlCol="0" anchor="ctr"/>
          <a:lstStyle/>
          <a:p>
            <a:pPr algn="ctr" indent="0" marL="0">
              <a:buNone/>
            </a:pPr>
            <a:r>
              <a:rPr lang="en-US" sz="850" dirty="0">
                <a:solidFill>
                  <a:srgbClr val="E2E8F0"/>
                </a:solidFill>
                <a:latin typeface="Calibri" pitchFamily="34" charset="0"/>
                <a:ea typeface="Calibri" pitchFamily="34" charset="-122"/>
                <a:cs typeface="Calibri" pitchFamily="34" charset="-120"/>
              </a:rPr>
              <a:t>PyTorch MLP</a:t>
            </a:r>
            <a:endParaRPr lang="en-US" sz="850" dirty="0"/>
          </a:p>
          <a:p>
            <a:pPr algn="ctr" indent="0" marL="0">
              <a:buNone/>
            </a:pPr>
            <a:r>
              <a:rPr lang="en-US" sz="850" dirty="0">
                <a:solidFill>
                  <a:srgbClr val="E2E8F0"/>
                </a:solidFill>
                <a:latin typeface="Calibri" pitchFamily="34" charset="0"/>
                <a:ea typeface="Calibri" pitchFamily="34" charset="-122"/>
                <a:cs typeface="Calibri" pitchFamily="34" charset="-120"/>
              </a:rPr>
              <a:t>Autoencoder</a:t>
            </a:r>
            <a:endParaRPr lang="en-US" sz="850" dirty="0"/>
          </a:p>
        </p:txBody>
      </p:sp>
      <p:sp>
        <p:nvSpPr>
          <p:cNvPr id="20" name="Shape 18"/>
          <p:cNvSpPr/>
          <p:nvPr/>
        </p:nvSpPr>
        <p:spPr>
          <a:xfrm>
            <a:off x="2103120" y="3547872"/>
            <a:ext cx="1508760" cy="548640"/>
          </a:xfrm>
          <a:prstGeom prst="rect">
            <a:avLst/>
          </a:prstGeom>
          <a:solidFill>
            <a:srgbClr val="102840"/>
          </a:solidFill>
          <a:ln w="12700">
            <a:solidFill>
              <a:srgbClr val="1E3A5F"/>
            </a:solidFill>
            <a:prstDash val="solid"/>
          </a:ln>
        </p:spPr>
      </p:sp>
      <p:sp>
        <p:nvSpPr>
          <p:cNvPr id="21" name="Text 19"/>
          <p:cNvSpPr/>
          <p:nvPr/>
        </p:nvSpPr>
        <p:spPr>
          <a:xfrm>
            <a:off x="2103120" y="3566160"/>
            <a:ext cx="1508760" cy="512064"/>
          </a:xfrm>
          <a:prstGeom prst="rect">
            <a:avLst/>
          </a:prstGeom>
          <a:noFill/>
          <a:ln/>
        </p:spPr>
        <p:txBody>
          <a:bodyPr wrap="square" lIns="0" tIns="0" rIns="0" bIns="0" rtlCol="0" anchor="ctr"/>
          <a:lstStyle/>
          <a:p>
            <a:pPr algn="ctr" indent="0" marL="0">
              <a:buNone/>
            </a:pPr>
            <a:r>
              <a:rPr lang="en-US" sz="850" dirty="0">
                <a:solidFill>
                  <a:srgbClr val="E2E8F0"/>
                </a:solidFill>
                <a:latin typeface="Calibri" pitchFamily="34" charset="0"/>
                <a:ea typeface="Calibri" pitchFamily="34" charset="-122"/>
                <a:cs typeface="Calibri" pitchFamily="34" charset="-120"/>
              </a:rPr>
              <a:t>DP Gradient</a:t>
            </a:r>
            <a:endParaRPr lang="en-US" sz="850" dirty="0"/>
          </a:p>
          <a:p>
            <a:pPr algn="ctr" indent="0" marL="0">
              <a:buNone/>
            </a:pPr>
            <a:r>
              <a:rPr lang="en-US" sz="850" dirty="0">
                <a:solidFill>
                  <a:srgbClr val="E2E8F0"/>
                </a:solidFill>
                <a:latin typeface="Calibri" pitchFamily="34" charset="0"/>
                <a:ea typeface="Calibri" pitchFamily="34" charset="-122"/>
                <a:cs typeface="Calibri" pitchFamily="34" charset="-120"/>
              </a:rPr>
              <a:t>Clipping (Opacus)</a:t>
            </a:r>
            <a:endParaRPr lang="en-US" sz="850" dirty="0"/>
          </a:p>
        </p:txBody>
      </p:sp>
      <p:sp>
        <p:nvSpPr>
          <p:cNvPr id="22" name="Text 20"/>
          <p:cNvSpPr/>
          <p:nvPr/>
        </p:nvSpPr>
        <p:spPr>
          <a:xfrm>
            <a:off x="2011680" y="4251960"/>
            <a:ext cx="1691640" cy="256032"/>
          </a:xfrm>
          <a:prstGeom prst="rect">
            <a:avLst/>
          </a:prstGeom>
          <a:noFill/>
          <a:ln/>
        </p:spPr>
        <p:txBody>
          <a:bodyPr wrap="square" lIns="0" tIns="0" rIns="0" bIns="0" rtlCol="0" anchor="ctr"/>
          <a:lstStyle/>
          <a:p>
            <a:pPr algn="ctr" indent="0" marL="0">
              <a:buNone/>
            </a:pPr>
            <a:r>
              <a:rPr lang="en-US" sz="900" b="1" dirty="0">
                <a:solidFill>
                  <a:srgbClr val="00D4FF"/>
                </a:solidFill>
                <a:latin typeface="Calibri" pitchFamily="34" charset="0"/>
                <a:ea typeface="Calibri" pitchFamily="34" charset="-122"/>
                <a:cs typeface="Calibri" pitchFamily="34" charset="-120"/>
              </a:rPr>
              <a:t>Local Training</a:t>
            </a:r>
            <a:endParaRPr lang="en-US" sz="900" dirty="0"/>
          </a:p>
        </p:txBody>
      </p:sp>
      <p:sp>
        <p:nvSpPr>
          <p:cNvPr id="23" name="Shape 21"/>
          <p:cNvSpPr/>
          <p:nvPr/>
        </p:nvSpPr>
        <p:spPr>
          <a:xfrm>
            <a:off x="1828800" y="1545336"/>
            <a:ext cx="201168" cy="54864"/>
          </a:xfrm>
          <a:prstGeom prst="rect">
            <a:avLst/>
          </a:prstGeom>
          <a:solidFill>
            <a:srgbClr val="0891B2"/>
          </a:solidFill>
          <a:ln w="12700">
            <a:solidFill>
              <a:srgbClr val="0891B2"/>
            </a:solidFill>
            <a:prstDash val="solid"/>
          </a:ln>
        </p:spPr>
      </p:sp>
      <p:sp>
        <p:nvSpPr>
          <p:cNvPr id="24" name="Shape 22"/>
          <p:cNvSpPr/>
          <p:nvPr/>
        </p:nvSpPr>
        <p:spPr>
          <a:xfrm>
            <a:off x="1828800" y="2642616"/>
            <a:ext cx="201168" cy="54864"/>
          </a:xfrm>
          <a:prstGeom prst="rect">
            <a:avLst/>
          </a:prstGeom>
          <a:solidFill>
            <a:srgbClr val="0891B2"/>
          </a:solidFill>
          <a:ln w="12700">
            <a:solidFill>
              <a:srgbClr val="0891B2"/>
            </a:solidFill>
            <a:prstDash val="solid"/>
          </a:ln>
        </p:spPr>
      </p:sp>
      <p:sp>
        <p:nvSpPr>
          <p:cNvPr id="25" name="Shape 23"/>
          <p:cNvSpPr/>
          <p:nvPr/>
        </p:nvSpPr>
        <p:spPr>
          <a:xfrm>
            <a:off x="1828800" y="3739896"/>
            <a:ext cx="201168" cy="54864"/>
          </a:xfrm>
          <a:prstGeom prst="rect">
            <a:avLst/>
          </a:prstGeom>
          <a:solidFill>
            <a:srgbClr val="0891B2"/>
          </a:solidFill>
          <a:ln w="12700">
            <a:solidFill>
              <a:srgbClr val="0891B2"/>
            </a:solidFill>
            <a:prstDash val="solid"/>
          </a:ln>
        </p:spPr>
      </p:sp>
      <p:sp>
        <p:nvSpPr>
          <p:cNvPr id="26" name="Shape 24"/>
          <p:cNvSpPr/>
          <p:nvPr/>
        </p:nvSpPr>
        <p:spPr>
          <a:xfrm>
            <a:off x="3886200" y="1207008"/>
            <a:ext cx="1783080" cy="2944368"/>
          </a:xfrm>
          <a:prstGeom prst="rect">
            <a:avLst/>
          </a:prstGeom>
          <a:solidFill>
            <a:srgbClr val="0A2010"/>
          </a:solidFill>
          <a:ln w="12700">
            <a:solidFill>
              <a:srgbClr val="10B981"/>
            </a:solidFill>
            <a:prstDash val="solid"/>
          </a:ln>
          <a:effectLst>
            <a:outerShdw sx="100000" sy="100000" kx="0" ky="0" algn="bl" rotWithShape="0" blurRad="101600" dist="38100" dir="2700000">
              <a:srgbClr val="000000">
                <a:alpha val="25000"/>
              </a:srgbClr>
            </a:outerShdw>
          </a:effectLst>
        </p:spPr>
      </p:sp>
      <p:sp>
        <p:nvSpPr>
          <p:cNvPr id="27" name="Text 25"/>
          <p:cNvSpPr/>
          <p:nvPr/>
        </p:nvSpPr>
        <p:spPr>
          <a:xfrm>
            <a:off x="3904488" y="1261872"/>
            <a:ext cx="1737360" cy="347472"/>
          </a:xfrm>
          <a:prstGeom prst="rect">
            <a:avLst/>
          </a:prstGeom>
          <a:noFill/>
          <a:ln/>
        </p:spPr>
        <p:txBody>
          <a:bodyPr wrap="square" lIns="0" tIns="0" rIns="0" bIns="0" rtlCol="0" anchor="ctr"/>
          <a:lstStyle/>
          <a:p>
            <a:pPr algn="ctr" indent="0" marL="0">
              <a:buNone/>
            </a:pPr>
            <a:r>
              <a:rPr lang="en-US" sz="900" b="1" dirty="0">
                <a:solidFill>
                  <a:srgbClr val="10B981"/>
                </a:solidFill>
                <a:latin typeface="Calibri" pitchFamily="34" charset="0"/>
                <a:ea typeface="Calibri" pitchFamily="34" charset="-122"/>
                <a:cs typeface="Calibri" pitchFamily="34" charset="-120"/>
              </a:rPr>
              <a:t>FEDERATED</a:t>
            </a:r>
            <a:endParaRPr lang="en-US" sz="900" dirty="0"/>
          </a:p>
          <a:p>
            <a:pPr algn="ctr" indent="0" marL="0">
              <a:buNone/>
            </a:pPr>
            <a:r>
              <a:rPr lang="en-US" sz="900" b="1" dirty="0">
                <a:solidFill>
                  <a:srgbClr val="10B981"/>
                </a:solidFill>
                <a:latin typeface="Calibri" pitchFamily="34" charset="0"/>
                <a:ea typeface="Calibri" pitchFamily="34" charset="-122"/>
                <a:cs typeface="Calibri" pitchFamily="34" charset="-120"/>
              </a:rPr>
              <a:t>AGGREGATION</a:t>
            </a:r>
            <a:endParaRPr lang="en-US" sz="900" dirty="0"/>
          </a:p>
        </p:txBody>
      </p:sp>
      <p:sp>
        <p:nvSpPr>
          <p:cNvPr id="28" name="Shape 26"/>
          <p:cNvSpPr/>
          <p:nvPr/>
        </p:nvSpPr>
        <p:spPr>
          <a:xfrm>
            <a:off x="3977640" y="1645920"/>
            <a:ext cx="1600200" cy="548640"/>
          </a:xfrm>
          <a:prstGeom prst="rect">
            <a:avLst/>
          </a:prstGeom>
          <a:solidFill>
            <a:srgbClr val="0A280D"/>
          </a:solidFill>
          <a:ln w="12700">
            <a:solidFill>
              <a:srgbClr val="1E5F2A"/>
            </a:solidFill>
            <a:prstDash val="solid"/>
          </a:ln>
        </p:spPr>
      </p:sp>
      <p:sp>
        <p:nvSpPr>
          <p:cNvPr id="29" name="Text 27"/>
          <p:cNvSpPr/>
          <p:nvPr/>
        </p:nvSpPr>
        <p:spPr>
          <a:xfrm>
            <a:off x="3977640" y="1664208"/>
            <a:ext cx="1600200" cy="512064"/>
          </a:xfrm>
          <a:prstGeom prst="rect">
            <a:avLst/>
          </a:prstGeom>
          <a:noFill/>
          <a:ln/>
        </p:spPr>
        <p:txBody>
          <a:bodyPr wrap="square" lIns="0" tIns="0" rIns="0" bIns="0" rtlCol="0" anchor="ctr"/>
          <a:lstStyle/>
          <a:p>
            <a:pPr algn="ctr" indent="0" marL="0">
              <a:buNone/>
            </a:pPr>
            <a:r>
              <a:rPr lang="en-US" sz="850" dirty="0">
                <a:solidFill>
                  <a:srgbClr val="E2E8F0"/>
                </a:solidFill>
                <a:latin typeface="Calibri" pitchFamily="34" charset="0"/>
                <a:ea typeface="Calibri" pitchFamily="34" charset="-122"/>
                <a:cs typeface="Calibri" pitchFamily="34" charset="-120"/>
              </a:rPr>
              <a:t>Flower (flwr)</a:t>
            </a:r>
            <a:endParaRPr lang="en-US" sz="850" dirty="0"/>
          </a:p>
          <a:p>
            <a:pPr algn="ctr" indent="0" marL="0">
              <a:buNone/>
            </a:pPr>
            <a:r>
              <a:rPr lang="en-US" sz="850" dirty="0">
                <a:solidFill>
                  <a:srgbClr val="E2E8F0"/>
                </a:solidFill>
                <a:latin typeface="Calibri" pitchFamily="34" charset="0"/>
                <a:ea typeface="Calibri" pitchFamily="34" charset="-122"/>
                <a:cs typeface="Calibri" pitchFamily="34" charset="-120"/>
              </a:rPr>
              <a:t>Orchestrator</a:t>
            </a:r>
            <a:endParaRPr lang="en-US" sz="850" dirty="0"/>
          </a:p>
        </p:txBody>
      </p:sp>
      <p:sp>
        <p:nvSpPr>
          <p:cNvPr id="30" name="Shape 28"/>
          <p:cNvSpPr/>
          <p:nvPr/>
        </p:nvSpPr>
        <p:spPr>
          <a:xfrm>
            <a:off x="3977640" y="2304288"/>
            <a:ext cx="1600200" cy="548640"/>
          </a:xfrm>
          <a:prstGeom prst="rect">
            <a:avLst/>
          </a:prstGeom>
          <a:solidFill>
            <a:srgbClr val="0A280D"/>
          </a:solidFill>
          <a:ln w="12700">
            <a:solidFill>
              <a:srgbClr val="1E5F2A"/>
            </a:solidFill>
            <a:prstDash val="solid"/>
          </a:ln>
        </p:spPr>
      </p:sp>
      <p:sp>
        <p:nvSpPr>
          <p:cNvPr id="31" name="Text 29"/>
          <p:cNvSpPr/>
          <p:nvPr/>
        </p:nvSpPr>
        <p:spPr>
          <a:xfrm>
            <a:off x="3977640" y="2322576"/>
            <a:ext cx="1600200" cy="512064"/>
          </a:xfrm>
          <a:prstGeom prst="rect">
            <a:avLst/>
          </a:prstGeom>
          <a:noFill/>
          <a:ln/>
        </p:spPr>
        <p:txBody>
          <a:bodyPr wrap="square" lIns="0" tIns="0" rIns="0" bIns="0" rtlCol="0" anchor="ctr"/>
          <a:lstStyle/>
          <a:p>
            <a:pPr algn="ctr" indent="0" marL="0">
              <a:buNone/>
            </a:pPr>
            <a:r>
              <a:rPr lang="en-US" sz="850" dirty="0">
                <a:solidFill>
                  <a:srgbClr val="E2E8F0"/>
                </a:solidFill>
                <a:latin typeface="Calibri" pitchFamily="34" charset="0"/>
                <a:ea typeface="Calibri" pitchFamily="34" charset="-122"/>
                <a:cs typeface="Calibri" pitchFamily="34" charset="-120"/>
              </a:rPr>
              <a:t>FedAvg</a:t>
            </a:r>
            <a:endParaRPr lang="en-US" sz="850" dirty="0"/>
          </a:p>
          <a:p>
            <a:pPr algn="ctr" indent="0" marL="0">
              <a:buNone/>
            </a:pPr>
            <a:r>
              <a:rPr lang="en-US" sz="850" dirty="0">
                <a:solidFill>
                  <a:srgbClr val="E2E8F0"/>
                </a:solidFill>
                <a:latin typeface="Calibri" pitchFamily="34" charset="0"/>
                <a:ea typeface="Calibri" pitchFamily="34" charset="-122"/>
                <a:cs typeface="Calibri" pitchFamily="34" charset="-120"/>
              </a:rPr>
              <a:t>Aggregation</a:t>
            </a:r>
            <a:endParaRPr lang="en-US" sz="850" dirty="0"/>
          </a:p>
        </p:txBody>
      </p:sp>
      <p:sp>
        <p:nvSpPr>
          <p:cNvPr id="32" name="Shape 30"/>
          <p:cNvSpPr/>
          <p:nvPr/>
        </p:nvSpPr>
        <p:spPr>
          <a:xfrm>
            <a:off x="3977640" y="2962656"/>
            <a:ext cx="1600200" cy="548640"/>
          </a:xfrm>
          <a:prstGeom prst="rect">
            <a:avLst/>
          </a:prstGeom>
          <a:solidFill>
            <a:srgbClr val="0A280D"/>
          </a:solidFill>
          <a:ln w="12700">
            <a:solidFill>
              <a:srgbClr val="1E5F2A"/>
            </a:solidFill>
            <a:prstDash val="solid"/>
          </a:ln>
        </p:spPr>
      </p:sp>
      <p:sp>
        <p:nvSpPr>
          <p:cNvPr id="33" name="Text 31"/>
          <p:cNvSpPr/>
          <p:nvPr/>
        </p:nvSpPr>
        <p:spPr>
          <a:xfrm>
            <a:off x="3977640" y="2980944"/>
            <a:ext cx="1600200" cy="512064"/>
          </a:xfrm>
          <a:prstGeom prst="rect">
            <a:avLst/>
          </a:prstGeom>
          <a:noFill/>
          <a:ln/>
        </p:spPr>
        <p:txBody>
          <a:bodyPr wrap="square" lIns="0" tIns="0" rIns="0" bIns="0" rtlCol="0" anchor="ctr"/>
          <a:lstStyle/>
          <a:p>
            <a:pPr algn="ctr" indent="0" marL="0">
              <a:buNone/>
            </a:pPr>
            <a:r>
              <a:rPr lang="en-US" sz="850" dirty="0">
                <a:solidFill>
                  <a:srgbClr val="E2E8F0"/>
                </a:solidFill>
                <a:latin typeface="Calibri" pitchFamily="34" charset="0"/>
                <a:ea typeface="Calibri" pitchFamily="34" charset="-122"/>
                <a:cs typeface="Calibri" pitchFamily="34" charset="-120"/>
              </a:rPr>
              <a:t>DP Noise</a:t>
            </a:r>
            <a:endParaRPr lang="en-US" sz="850" dirty="0"/>
          </a:p>
          <a:p>
            <a:pPr algn="ctr" indent="0" marL="0">
              <a:buNone/>
            </a:pPr>
            <a:r>
              <a:rPr lang="en-US" sz="850" dirty="0">
                <a:solidFill>
                  <a:srgbClr val="E2E8F0"/>
                </a:solidFill>
                <a:latin typeface="Calibri" pitchFamily="34" charset="0"/>
                <a:ea typeface="Calibri" pitchFamily="34" charset="-122"/>
                <a:cs typeface="Calibri" pitchFamily="34" charset="-120"/>
              </a:rPr>
              <a:t>Injection: N(0,σ²)</a:t>
            </a:r>
            <a:endParaRPr lang="en-US" sz="850" dirty="0"/>
          </a:p>
        </p:txBody>
      </p:sp>
      <p:sp>
        <p:nvSpPr>
          <p:cNvPr id="34" name="Shape 32"/>
          <p:cNvSpPr/>
          <p:nvPr/>
        </p:nvSpPr>
        <p:spPr>
          <a:xfrm>
            <a:off x="3977640" y="3621024"/>
            <a:ext cx="1600200" cy="548640"/>
          </a:xfrm>
          <a:prstGeom prst="rect">
            <a:avLst/>
          </a:prstGeom>
          <a:solidFill>
            <a:srgbClr val="0A280D"/>
          </a:solidFill>
          <a:ln w="12700">
            <a:solidFill>
              <a:srgbClr val="1E5F2A"/>
            </a:solidFill>
            <a:prstDash val="solid"/>
          </a:ln>
        </p:spPr>
      </p:sp>
      <p:sp>
        <p:nvSpPr>
          <p:cNvPr id="35" name="Text 33"/>
          <p:cNvSpPr/>
          <p:nvPr/>
        </p:nvSpPr>
        <p:spPr>
          <a:xfrm>
            <a:off x="3977640" y="3639312"/>
            <a:ext cx="1600200" cy="512064"/>
          </a:xfrm>
          <a:prstGeom prst="rect">
            <a:avLst/>
          </a:prstGeom>
          <a:noFill/>
          <a:ln/>
        </p:spPr>
        <p:txBody>
          <a:bodyPr wrap="square" lIns="0" tIns="0" rIns="0" bIns="0" rtlCol="0" anchor="ctr"/>
          <a:lstStyle/>
          <a:p>
            <a:pPr algn="ctr" indent="0" marL="0">
              <a:buNone/>
            </a:pPr>
            <a:r>
              <a:rPr lang="en-US" sz="850" dirty="0">
                <a:solidFill>
                  <a:srgbClr val="E2E8F0"/>
                </a:solidFill>
                <a:latin typeface="Calibri" pitchFamily="34" charset="0"/>
                <a:ea typeface="Calibri" pitchFamily="34" charset="-122"/>
                <a:cs typeface="Calibri" pitchFamily="34" charset="-120"/>
              </a:rPr>
              <a:t>Euclidean</a:t>
            </a:r>
            <a:endParaRPr lang="en-US" sz="850" dirty="0"/>
          </a:p>
          <a:p>
            <a:pPr algn="ctr" indent="0" marL="0">
              <a:buNone/>
            </a:pPr>
            <a:r>
              <a:rPr lang="en-US" sz="850" dirty="0">
                <a:solidFill>
                  <a:srgbClr val="E2E8F0"/>
                </a:solidFill>
                <a:latin typeface="Calibri" pitchFamily="34" charset="0"/>
                <a:ea typeface="Calibri" pitchFamily="34" charset="-122"/>
                <a:cs typeface="Calibri" pitchFamily="34" charset="-120"/>
              </a:rPr>
              <a:t>Distance Filter</a:t>
            </a:r>
            <a:endParaRPr lang="en-US" sz="850" dirty="0"/>
          </a:p>
        </p:txBody>
      </p:sp>
      <p:sp>
        <p:nvSpPr>
          <p:cNvPr id="36" name="Text 34"/>
          <p:cNvSpPr/>
          <p:nvPr/>
        </p:nvSpPr>
        <p:spPr>
          <a:xfrm>
            <a:off x="3886200" y="4251960"/>
            <a:ext cx="1783080" cy="256032"/>
          </a:xfrm>
          <a:prstGeom prst="rect">
            <a:avLst/>
          </a:prstGeom>
          <a:noFill/>
          <a:ln/>
        </p:spPr>
        <p:txBody>
          <a:bodyPr wrap="square" lIns="0" tIns="0" rIns="0" bIns="0" rtlCol="0" anchor="ctr"/>
          <a:lstStyle/>
          <a:p>
            <a:pPr algn="ctr" indent="0" marL="0">
              <a:buNone/>
            </a:pPr>
            <a:r>
              <a:rPr lang="en-US" sz="900" b="1" dirty="0">
                <a:solidFill>
                  <a:srgbClr val="10B981"/>
                </a:solidFill>
                <a:latin typeface="Calibri" pitchFamily="34" charset="0"/>
                <a:ea typeface="Calibri" pitchFamily="34" charset="-122"/>
                <a:cs typeface="Calibri" pitchFamily="34" charset="-120"/>
              </a:rPr>
              <a:t>FL Server</a:t>
            </a:r>
            <a:endParaRPr lang="en-US" sz="900" dirty="0"/>
          </a:p>
        </p:txBody>
      </p:sp>
      <p:sp>
        <p:nvSpPr>
          <p:cNvPr id="37" name="Shape 35"/>
          <p:cNvSpPr/>
          <p:nvPr/>
        </p:nvSpPr>
        <p:spPr>
          <a:xfrm>
            <a:off x="3703320" y="2468880"/>
            <a:ext cx="201168" cy="54864"/>
          </a:xfrm>
          <a:prstGeom prst="rect">
            <a:avLst/>
          </a:prstGeom>
          <a:solidFill>
            <a:srgbClr val="10B981"/>
          </a:solidFill>
          <a:ln w="12700">
            <a:solidFill>
              <a:srgbClr val="10B981"/>
            </a:solidFill>
            <a:prstDash val="solid"/>
          </a:ln>
        </p:spPr>
      </p:sp>
      <p:sp>
        <p:nvSpPr>
          <p:cNvPr id="38" name="Shape 36"/>
          <p:cNvSpPr/>
          <p:nvPr/>
        </p:nvSpPr>
        <p:spPr>
          <a:xfrm>
            <a:off x="5852160" y="1207008"/>
            <a:ext cx="1645920" cy="1371600"/>
          </a:xfrm>
          <a:prstGeom prst="rect">
            <a:avLst/>
          </a:prstGeom>
          <a:solidFill>
            <a:srgbClr val="1A1000"/>
          </a:solidFill>
          <a:ln w="12700">
            <a:solidFill>
              <a:srgbClr val="F59E0B"/>
            </a:solidFill>
            <a:prstDash val="solid"/>
          </a:ln>
          <a:effectLst>
            <a:outerShdw sx="100000" sy="100000" kx="0" ky="0" algn="bl" rotWithShape="0" blurRad="101600" dist="38100" dir="2700000">
              <a:srgbClr val="000000">
                <a:alpha val="25000"/>
              </a:srgbClr>
            </a:outerShdw>
          </a:effectLst>
        </p:spPr>
      </p:sp>
      <p:sp>
        <p:nvSpPr>
          <p:cNvPr id="39" name="Text 37"/>
          <p:cNvSpPr/>
          <p:nvPr/>
        </p:nvSpPr>
        <p:spPr>
          <a:xfrm>
            <a:off x="5870448" y="1261872"/>
            <a:ext cx="1609344" cy="256032"/>
          </a:xfrm>
          <a:prstGeom prst="rect">
            <a:avLst/>
          </a:prstGeom>
          <a:noFill/>
          <a:ln/>
        </p:spPr>
        <p:txBody>
          <a:bodyPr wrap="square" lIns="0" tIns="0" rIns="0" bIns="0"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SOC DASHBOARD</a:t>
            </a:r>
            <a:endParaRPr lang="en-US" sz="900" dirty="0"/>
          </a:p>
        </p:txBody>
      </p:sp>
      <p:sp>
        <p:nvSpPr>
          <p:cNvPr id="40" name="Text 38"/>
          <p:cNvSpPr/>
          <p:nvPr/>
        </p:nvSpPr>
        <p:spPr>
          <a:xfrm>
            <a:off x="5870448" y="1536192"/>
            <a:ext cx="1609344" cy="804672"/>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React.js + D3.js</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WebSocket Alerts</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InfluxDB + Redis</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Real-time Topology</a:t>
            </a:r>
            <a:endParaRPr lang="en-US" sz="850" dirty="0"/>
          </a:p>
        </p:txBody>
      </p:sp>
      <p:sp>
        <p:nvSpPr>
          <p:cNvPr id="41" name="Shape 39"/>
          <p:cNvSpPr/>
          <p:nvPr/>
        </p:nvSpPr>
        <p:spPr>
          <a:xfrm>
            <a:off x="5852160" y="2743200"/>
            <a:ext cx="1645920" cy="1408176"/>
          </a:xfrm>
          <a:prstGeom prst="rect">
            <a:avLst/>
          </a:prstGeom>
          <a:solidFill>
            <a:srgbClr val="0F001A"/>
          </a:solidFill>
          <a:ln w="12700">
            <a:solidFill>
              <a:srgbClr val="A78BFA"/>
            </a:solidFill>
            <a:prstDash val="solid"/>
          </a:ln>
          <a:effectLst>
            <a:outerShdw sx="100000" sy="100000" kx="0" ky="0" algn="bl" rotWithShape="0" blurRad="101600" dist="38100" dir="2700000">
              <a:srgbClr val="000000">
                <a:alpha val="25000"/>
              </a:srgbClr>
            </a:outerShdw>
          </a:effectLst>
        </p:spPr>
      </p:sp>
      <p:sp>
        <p:nvSpPr>
          <p:cNvPr id="42" name="Text 40"/>
          <p:cNvSpPr/>
          <p:nvPr/>
        </p:nvSpPr>
        <p:spPr>
          <a:xfrm>
            <a:off x="5870448" y="2798064"/>
            <a:ext cx="1609344" cy="256032"/>
          </a:xfrm>
          <a:prstGeom prst="rect">
            <a:avLst/>
          </a:prstGeom>
          <a:noFill/>
          <a:ln/>
        </p:spPr>
        <p:txBody>
          <a:bodyPr wrap="square" lIns="0" tIns="0" rIns="0" bIns="0" rtlCol="0" anchor="ctr"/>
          <a:lstStyle/>
          <a:p>
            <a:pPr algn="ctr" indent="0" marL="0">
              <a:buNone/>
            </a:pPr>
            <a:r>
              <a:rPr lang="en-US" sz="900" b="1" dirty="0">
                <a:solidFill>
                  <a:srgbClr val="A78BFA"/>
                </a:solidFill>
                <a:latin typeface="Calibri" pitchFamily="34" charset="0"/>
                <a:ea typeface="Calibri" pitchFamily="34" charset="-122"/>
                <a:cs typeface="Calibri" pitchFamily="34" charset="-120"/>
              </a:rPr>
              <a:t>LLM FORENSICS</a:t>
            </a:r>
            <a:endParaRPr lang="en-US" sz="900" dirty="0"/>
          </a:p>
        </p:txBody>
      </p:sp>
      <p:sp>
        <p:nvSpPr>
          <p:cNvPr id="43" name="Text 41"/>
          <p:cNvSpPr/>
          <p:nvPr/>
        </p:nvSpPr>
        <p:spPr>
          <a:xfrm>
            <a:off x="5870448" y="3072384"/>
            <a:ext cx="1609344" cy="804672"/>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Claude API</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Automated Analysis</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Forensic PDF Reports</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Plain-English Alerts</a:t>
            </a:r>
            <a:endParaRPr lang="en-US" sz="850" dirty="0"/>
          </a:p>
        </p:txBody>
      </p:sp>
      <p:sp>
        <p:nvSpPr>
          <p:cNvPr id="44" name="Shape 42"/>
          <p:cNvSpPr/>
          <p:nvPr/>
        </p:nvSpPr>
        <p:spPr>
          <a:xfrm>
            <a:off x="5669280" y="1874520"/>
            <a:ext cx="201168" cy="54864"/>
          </a:xfrm>
          <a:prstGeom prst="rect">
            <a:avLst/>
          </a:prstGeom>
          <a:solidFill>
            <a:srgbClr val="F59E0B"/>
          </a:solidFill>
          <a:ln w="12700">
            <a:solidFill>
              <a:srgbClr val="F59E0B"/>
            </a:solidFill>
            <a:prstDash val="solid"/>
          </a:ln>
        </p:spPr>
      </p:sp>
      <p:sp>
        <p:nvSpPr>
          <p:cNvPr id="45" name="Shape 43"/>
          <p:cNvSpPr/>
          <p:nvPr/>
        </p:nvSpPr>
        <p:spPr>
          <a:xfrm>
            <a:off x="5669280" y="3401568"/>
            <a:ext cx="201168" cy="54864"/>
          </a:xfrm>
          <a:prstGeom prst="rect">
            <a:avLst/>
          </a:prstGeom>
          <a:solidFill>
            <a:srgbClr val="A78BFA"/>
          </a:solidFill>
          <a:ln w="12700">
            <a:solidFill>
              <a:srgbClr val="A78BFA"/>
            </a:solidFill>
            <a:prstDash val="solid"/>
          </a:ln>
        </p:spPr>
      </p:sp>
      <p:sp>
        <p:nvSpPr>
          <p:cNvPr id="46" name="Shape 44"/>
          <p:cNvSpPr/>
          <p:nvPr/>
        </p:nvSpPr>
        <p:spPr>
          <a:xfrm>
            <a:off x="7635240" y="1207008"/>
            <a:ext cx="1234440" cy="2944368"/>
          </a:xfrm>
          <a:prstGeom prst="rect">
            <a:avLst/>
          </a:prstGeom>
          <a:solidFill>
            <a:srgbClr val="0A0A20"/>
          </a:solidFill>
          <a:ln w="12700">
            <a:solidFill>
              <a:srgbClr val="00D4FF"/>
            </a:solidFill>
            <a:prstDash val="solid"/>
          </a:ln>
          <a:effectLst>
            <a:outerShdw sx="100000" sy="100000" kx="0" ky="0" algn="bl" rotWithShape="0" blurRad="101600" dist="38100" dir="2700000">
              <a:srgbClr val="000000">
                <a:alpha val="25000"/>
              </a:srgbClr>
            </a:outerShdw>
          </a:effectLst>
        </p:spPr>
      </p:sp>
      <p:sp>
        <p:nvSpPr>
          <p:cNvPr id="47" name="Text 45"/>
          <p:cNvSpPr/>
          <p:nvPr/>
        </p:nvSpPr>
        <p:spPr>
          <a:xfrm>
            <a:off x="7653528" y="1828800"/>
            <a:ext cx="1188720" cy="731520"/>
          </a:xfrm>
          <a:prstGeom prst="rect">
            <a:avLst/>
          </a:prstGeom>
          <a:noFill/>
          <a:ln/>
        </p:spPr>
        <p:txBody>
          <a:bodyPr wrap="square" lIns="0" tIns="0" rIns="0" bIns="0" rtlCol="0" anchor="ctr"/>
          <a:lstStyle/>
          <a:p>
            <a:pPr algn="ctr" indent="0" marL="0">
              <a:buNone/>
            </a:pPr>
            <a:r>
              <a:rPr lang="en-US" sz="900" b="1" dirty="0">
                <a:solidFill>
                  <a:srgbClr val="00D4FF"/>
                </a:solidFill>
                <a:latin typeface="Calibri" pitchFamily="34" charset="0"/>
                <a:ea typeface="Calibri" pitchFamily="34" charset="-122"/>
                <a:cs typeface="Calibri" pitchFamily="34" charset="-120"/>
              </a:rPr>
              <a:t>GLOBAL</a:t>
            </a:r>
            <a:endParaRPr lang="en-US" sz="900" dirty="0"/>
          </a:p>
          <a:p>
            <a:pPr algn="ctr" indent="0" marL="0">
              <a:buNone/>
            </a:pPr>
            <a:r>
              <a:rPr lang="en-US" sz="900" b="1" dirty="0">
                <a:solidFill>
                  <a:srgbClr val="00D4FF"/>
                </a:solidFill>
                <a:latin typeface="Calibri" pitchFamily="34" charset="0"/>
                <a:ea typeface="Calibri" pitchFamily="34" charset="-122"/>
                <a:cs typeface="Calibri" pitchFamily="34" charset="-120"/>
              </a:rPr>
              <a:t>THREAT</a:t>
            </a:r>
            <a:endParaRPr lang="en-US" sz="900" dirty="0"/>
          </a:p>
          <a:p>
            <a:pPr algn="ctr" indent="0" marL="0">
              <a:buNone/>
            </a:pPr>
            <a:r>
              <a:rPr lang="en-US" sz="900" b="1" dirty="0">
                <a:solidFill>
                  <a:srgbClr val="00D4FF"/>
                </a:solidFill>
                <a:latin typeface="Calibri" pitchFamily="34" charset="0"/>
                <a:ea typeface="Calibri" pitchFamily="34" charset="-122"/>
                <a:cs typeface="Calibri" pitchFamily="34" charset="-120"/>
              </a:rPr>
              <a:t>MODEL</a:t>
            </a:r>
            <a:endParaRPr lang="en-US" sz="900" dirty="0"/>
          </a:p>
        </p:txBody>
      </p:sp>
      <p:sp>
        <p:nvSpPr>
          <p:cNvPr id="48" name="Text 46"/>
          <p:cNvSpPr/>
          <p:nvPr/>
        </p:nvSpPr>
        <p:spPr>
          <a:xfrm>
            <a:off x="7653528" y="2633472"/>
            <a:ext cx="1188720" cy="64008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Updated every</a:t>
            </a:r>
            <a:endParaRPr lang="en-US" sz="800" dirty="0"/>
          </a:p>
          <a:p>
            <a:pPr algn="ctr" indent="0" marL="0">
              <a:buNone/>
            </a:pPr>
            <a:r>
              <a:rPr lang="en-US" sz="800" dirty="0">
                <a:solidFill>
                  <a:srgbClr val="94A3B8"/>
                </a:solidFill>
                <a:latin typeface="Calibri" pitchFamily="34" charset="0"/>
                <a:ea typeface="Calibri" pitchFamily="34" charset="-122"/>
                <a:cs typeface="Calibri" pitchFamily="34" charset="-120"/>
              </a:rPr>
              <a:t>aggregation round</a:t>
            </a:r>
            <a:endParaRPr lang="en-US" sz="800" dirty="0"/>
          </a:p>
          <a:p>
            <a:pPr algn="ctr" indent="0" marL="0">
              <a:buNone/>
            </a:pPr>
            <a:r>
              <a:rPr lang="en-US" sz="800" dirty="0">
                <a:solidFill>
                  <a:srgbClr val="94A3B8"/>
                </a:solidFill>
                <a:latin typeface="Calibri" pitchFamily="34" charset="0"/>
                <a:ea typeface="Calibri" pitchFamily="34" charset="-122"/>
                <a:cs typeface="Calibri" pitchFamily="34" charset="-120"/>
              </a:rPr>
              <a:t>Broadcast to all</a:t>
            </a:r>
            <a:endParaRPr lang="en-US" sz="800" dirty="0"/>
          </a:p>
          <a:p>
            <a:pPr algn="ctr" indent="0" marL="0">
              <a:buNone/>
            </a:pPr>
            <a:r>
              <a:rPr lang="en-US" sz="800" dirty="0">
                <a:solidFill>
                  <a:srgbClr val="94A3B8"/>
                </a:solidFill>
                <a:latin typeface="Calibri" pitchFamily="34" charset="0"/>
                <a:ea typeface="Calibri" pitchFamily="34" charset="-122"/>
                <a:cs typeface="Calibri" pitchFamily="34" charset="-120"/>
              </a:rPr>
              <a:t>edge nodes</a:t>
            </a:r>
            <a:endParaRPr lang="en-US" sz="800" dirty="0"/>
          </a:p>
        </p:txBody>
      </p:sp>
      <p:sp>
        <p:nvSpPr>
          <p:cNvPr id="49" name="Shape 47"/>
          <p:cNvSpPr/>
          <p:nvPr/>
        </p:nvSpPr>
        <p:spPr>
          <a:xfrm>
            <a:off x="7498080" y="2468880"/>
            <a:ext cx="155448" cy="54864"/>
          </a:xfrm>
          <a:prstGeom prst="rect">
            <a:avLst/>
          </a:prstGeom>
          <a:solidFill>
            <a:srgbClr val="00D4FF"/>
          </a:solidFill>
          <a:ln w="12700">
            <a:solidFill>
              <a:srgbClr val="00D4FF"/>
            </a:solidFill>
            <a:prstDash val="solid"/>
          </a:ln>
        </p:spPr>
      </p:sp>
      <p:sp>
        <p:nvSpPr>
          <p:cNvPr id="50" name="Text 48"/>
          <p:cNvSpPr/>
          <p:nvPr/>
        </p:nvSpPr>
        <p:spPr>
          <a:xfrm>
            <a:off x="2011680" y="4572000"/>
            <a:ext cx="6858000" cy="201168"/>
          </a:xfrm>
          <a:prstGeom prst="rect">
            <a:avLst/>
          </a:prstGeom>
          <a:noFill/>
          <a:ln/>
        </p:spPr>
        <p:txBody>
          <a:bodyPr wrap="square" lIns="0" tIns="0" rIns="0" bIns="0" rtlCol="0" anchor="ctr"/>
          <a:lstStyle/>
          <a:p>
            <a:pPr algn="ctr" indent="0" marL="0">
              <a:buNone/>
            </a:pPr>
            <a:r>
              <a:rPr lang="en-US" sz="850" i="1" dirty="0">
                <a:solidFill>
                  <a:srgbClr val="94A3B8"/>
                </a:solidFill>
                <a:latin typeface="Calibri" pitchFamily="34" charset="0"/>
                <a:ea typeface="Calibri" pitchFamily="34" charset="-122"/>
                <a:cs typeface="Calibri" pitchFamily="34" charset="-120"/>
              </a:rPr>
              <a:t>← Gradient Updates (DP-Hardened)           Global Model Broadcast →</a:t>
            </a:r>
            <a:endParaRPr lang="en-US" sz="850" dirty="0"/>
          </a:p>
        </p:txBody>
      </p:sp>
      <p:sp>
        <p:nvSpPr>
          <p:cNvPr id="51" name="Shape 49"/>
          <p:cNvSpPr/>
          <p:nvPr/>
        </p:nvSpPr>
        <p:spPr>
          <a:xfrm>
            <a:off x="0" y="4800600"/>
            <a:ext cx="9144000" cy="342900"/>
          </a:xfrm>
          <a:prstGeom prst="rect">
            <a:avLst/>
          </a:prstGeom>
          <a:solidFill>
            <a:srgbClr val="071020"/>
          </a:solidFill>
          <a:ln w="12700">
            <a:solidFill>
              <a:srgbClr val="071020"/>
            </a:solidFill>
            <a:prstDash val="solid"/>
          </a:ln>
        </p:spPr>
      </p:sp>
      <p:sp>
        <p:nvSpPr>
          <p:cNvPr id="52" name="Shape 50"/>
          <p:cNvSpPr/>
          <p:nvPr/>
        </p:nvSpPr>
        <p:spPr>
          <a:xfrm>
            <a:off x="0" y="4796028"/>
            <a:ext cx="9144000" cy="13716"/>
          </a:xfrm>
          <a:prstGeom prst="rect">
            <a:avLst/>
          </a:prstGeom>
          <a:solidFill>
            <a:srgbClr val="0891B2"/>
          </a:solidFill>
          <a:ln w="12700">
            <a:solidFill>
              <a:srgbClr val="0891B2"/>
            </a:solidFill>
            <a:prstDash val="solid"/>
          </a:ln>
        </p:spPr>
      </p:sp>
      <p:sp>
        <p:nvSpPr>
          <p:cNvPr id="53" name="Text 51"/>
          <p:cNvSpPr/>
          <p:nvPr/>
        </p:nvSpPr>
        <p:spPr>
          <a:xfrm>
            <a:off x="274320" y="4805172"/>
            <a:ext cx="8229600" cy="320040"/>
          </a:xfrm>
          <a:prstGeom prst="rect">
            <a:avLst/>
          </a:prstGeom>
          <a:noFill/>
          <a:ln/>
        </p:spPr>
        <p:txBody>
          <a:bodyPr wrap="square" lIns="0" tIns="0" rIns="0" bIns="0" rtlCol="0" anchor="ctr"/>
          <a:lstStyle/>
          <a:p>
            <a:pPr algn="l" indent="0" marL="0">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54" name="Text 52"/>
          <p:cNvSpPr/>
          <p:nvPr/>
        </p:nvSpPr>
        <p:spPr>
          <a:xfrm>
            <a:off x="8503920" y="4805172"/>
            <a:ext cx="548640" cy="320040"/>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6 / 14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11480" y="201168"/>
            <a:ext cx="8046720" cy="530352"/>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Federated Learning Workflow</a:t>
            </a:r>
            <a:endParaRPr lang="en-US" sz="2800" dirty="0"/>
          </a:p>
        </p:txBody>
      </p:sp>
      <p:sp>
        <p:nvSpPr>
          <p:cNvPr id="3" name="Text 1"/>
          <p:cNvSpPr/>
          <p:nvPr/>
        </p:nvSpPr>
        <p:spPr>
          <a:xfrm>
            <a:off x="411480" y="749808"/>
            <a:ext cx="8046720" cy="292608"/>
          </a:xfrm>
          <a:prstGeom prst="rect">
            <a:avLst/>
          </a:prstGeom>
          <a:noFill/>
          <a:ln/>
        </p:spPr>
        <p:txBody>
          <a:bodyPr wrap="square" lIns="0" tIns="0" rIns="0" bIns="0" rtlCol="0" anchor="t"/>
          <a:lstStyle/>
          <a:p>
            <a:pPr algn="l" indent="0" marL="0">
              <a:buNone/>
            </a:pPr>
            <a:r>
              <a:rPr lang="en-US" sz="1300" i="1" dirty="0">
                <a:solidFill>
                  <a:srgbClr val="00D4FF"/>
                </a:solidFill>
                <a:latin typeface="Calibri" pitchFamily="34" charset="0"/>
                <a:ea typeface="Calibri" pitchFamily="34" charset="-122"/>
                <a:cs typeface="Calibri" pitchFamily="34" charset="-120"/>
              </a:rPr>
              <a:t>FedAvg-Powered Decentralized Optimization Loop</a:t>
            </a:r>
            <a:endParaRPr lang="en-US" sz="1300" dirty="0"/>
          </a:p>
        </p:txBody>
      </p:sp>
      <p:sp>
        <p:nvSpPr>
          <p:cNvPr id="4" name="Shape 2"/>
          <p:cNvSpPr/>
          <p:nvPr/>
        </p:nvSpPr>
        <p:spPr>
          <a:xfrm>
            <a:off x="411480" y="1005840"/>
            <a:ext cx="8321040" cy="16459"/>
          </a:xfrm>
          <a:prstGeom prst="rect">
            <a:avLst/>
          </a:prstGeom>
          <a:solidFill>
            <a:srgbClr val="0891B2">
              <a:alpha val="60000"/>
            </a:srgbClr>
          </a:solidFill>
          <a:ln w="12700">
            <a:solidFill>
              <a:srgbClr val="0891B2"/>
            </a:solidFill>
            <a:prstDash val="solid"/>
          </a:ln>
        </p:spPr>
      </p:sp>
      <p:sp>
        <p:nvSpPr>
          <p:cNvPr id="5" name="Shape 3"/>
          <p:cNvSpPr/>
          <p:nvPr/>
        </p:nvSpPr>
        <p:spPr>
          <a:xfrm>
            <a:off x="292608" y="1143000"/>
            <a:ext cx="1298448" cy="3246120"/>
          </a:xfrm>
          <a:prstGeom prst="rect">
            <a:avLst/>
          </a:prstGeom>
          <a:solidFill>
            <a:srgbClr val="0D1F3C"/>
          </a:solidFill>
          <a:ln w="12700">
            <a:solidFill>
              <a:srgbClr val="0891B2"/>
            </a:solidFill>
            <a:prstDash val="solid"/>
          </a:ln>
          <a:effectLst>
            <a:outerShdw sx="100000" sy="100000" kx="0" ky="0" algn="bl" rotWithShape="0" blurRad="101600" dist="38100" dir="2700000">
              <a:srgbClr val="000000">
                <a:alpha val="25000"/>
              </a:srgbClr>
            </a:outerShdw>
          </a:effectLst>
        </p:spPr>
      </p:sp>
      <p:sp>
        <p:nvSpPr>
          <p:cNvPr id="6" name="Shape 4"/>
          <p:cNvSpPr/>
          <p:nvPr/>
        </p:nvSpPr>
        <p:spPr>
          <a:xfrm>
            <a:off x="713232" y="1207008"/>
            <a:ext cx="457200" cy="457200"/>
          </a:xfrm>
          <a:prstGeom prst="ellipse">
            <a:avLst/>
          </a:prstGeom>
          <a:solidFill>
            <a:srgbClr val="0891B2"/>
          </a:solidFill>
          <a:ln w="12700">
            <a:solidFill>
              <a:srgbClr val="0891B2"/>
            </a:solidFill>
            <a:prstDash val="solid"/>
          </a:ln>
        </p:spPr>
      </p:sp>
      <p:sp>
        <p:nvSpPr>
          <p:cNvPr id="7" name="Text 5"/>
          <p:cNvSpPr/>
          <p:nvPr/>
        </p:nvSpPr>
        <p:spPr>
          <a:xfrm>
            <a:off x="713232" y="1207008"/>
            <a:ext cx="457200" cy="457200"/>
          </a:xfrm>
          <a:prstGeom prst="rect">
            <a:avLst/>
          </a:prstGeom>
          <a:noFill/>
          <a:ln/>
        </p:spPr>
        <p:txBody>
          <a:bodyPr wrap="square" lIns="0" tIns="0" rIns="0" bIns="0" rtlCol="0" anchor="ctr"/>
          <a:lstStyle/>
          <a:p>
            <a:pPr algn="ctr" indent="0" marL="0">
              <a:buNone/>
            </a:pPr>
            <a:r>
              <a:rPr lang="en-US" sz="1100" b="1" dirty="0">
                <a:solidFill>
                  <a:srgbClr val="0A1628"/>
                </a:solidFill>
                <a:latin typeface="Cambria" pitchFamily="34" charset="0"/>
                <a:ea typeface="Cambria" pitchFamily="34" charset="-122"/>
                <a:cs typeface="Cambria" pitchFamily="34" charset="-120"/>
              </a:rPr>
              <a:t>01</a:t>
            </a:r>
            <a:endParaRPr lang="en-US" sz="1100" dirty="0"/>
          </a:p>
        </p:txBody>
      </p:sp>
      <p:sp>
        <p:nvSpPr>
          <p:cNvPr id="8" name="Text 6"/>
          <p:cNvSpPr/>
          <p:nvPr/>
        </p:nvSpPr>
        <p:spPr>
          <a:xfrm>
            <a:off x="338328" y="1737360"/>
            <a:ext cx="1216152"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Telemetry</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Extraction</a:t>
            </a:r>
            <a:endParaRPr lang="en-US" sz="1000" dirty="0"/>
          </a:p>
        </p:txBody>
      </p:sp>
      <p:sp>
        <p:nvSpPr>
          <p:cNvPr id="9" name="Text 7"/>
          <p:cNvSpPr/>
          <p:nvPr/>
        </p:nvSpPr>
        <p:spPr>
          <a:xfrm>
            <a:off x="338328" y="2240280"/>
            <a:ext cx="1216152" cy="100584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Scapy hooks capture</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80-feature CICFlowMeter</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network vectors</a:t>
            </a:r>
            <a:endParaRPr lang="en-US" sz="850" dirty="0"/>
          </a:p>
        </p:txBody>
      </p:sp>
      <p:sp>
        <p:nvSpPr>
          <p:cNvPr id="10" name="Shape 8"/>
          <p:cNvSpPr/>
          <p:nvPr/>
        </p:nvSpPr>
        <p:spPr>
          <a:xfrm>
            <a:off x="1591056" y="2176272"/>
            <a:ext cx="164592" cy="45720"/>
          </a:xfrm>
          <a:prstGeom prst="rect">
            <a:avLst/>
          </a:prstGeom>
          <a:solidFill>
            <a:srgbClr val="94A3B8"/>
          </a:solidFill>
          <a:ln w="12700">
            <a:solidFill>
              <a:srgbClr val="94A3B8"/>
            </a:solidFill>
            <a:prstDash val="solid"/>
          </a:ln>
        </p:spPr>
      </p:sp>
      <p:sp>
        <p:nvSpPr>
          <p:cNvPr id="11" name="Shape 9"/>
          <p:cNvSpPr/>
          <p:nvPr/>
        </p:nvSpPr>
        <p:spPr>
          <a:xfrm>
            <a:off x="1746504" y="1143000"/>
            <a:ext cx="1298448" cy="3246120"/>
          </a:xfrm>
          <a:prstGeom prst="rect">
            <a:avLst/>
          </a:prstGeom>
          <a:solidFill>
            <a:srgbClr val="0D1F3C"/>
          </a:solidFill>
          <a:ln w="12700">
            <a:solidFill>
              <a:srgbClr val="00D4FF"/>
            </a:solidFill>
            <a:prstDash val="solid"/>
          </a:ln>
          <a:effectLst>
            <a:outerShdw sx="100000" sy="100000" kx="0" ky="0" algn="bl" rotWithShape="0" blurRad="101600" dist="38100" dir="2700000">
              <a:srgbClr val="000000">
                <a:alpha val="25000"/>
              </a:srgbClr>
            </a:outerShdw>
          </a:effectLst>
        </p:spPr>
      </p:sp>
      <p:sp>
        <p:nvSpPr>
          <p:cNvPr id="12" name="Shape 10"/>
          <p:cNvSpPr/>
          <p:nvPr/>
        </p:nvSpPr>
        <p:spPr>
          <a:xfrm>
            <a:off x="2167128" y="1207008"/>
            <a:ext cx="457200" cy="457200"/>
          </a:xfrm>
          <a:prstGeom prst="ellipse">
            <a:avLst/>
          </a:prstGeom>
          <a:solidFill>
            <a:srgbClr val="00D4FF"/>
          </a:solidFill>
          <a:ln w="12700">
            <a:solidFill>
              <a:srgbClr val="00D4FF"/>
            </a:solidFill>
            <a:prstDash val="solid"/>
          </a:ln>
        </p:spPr>
      </p:sp>
      <p:sp>
        <p:nvSpPr>
          <p:cNvPr id="13" name="Text 11"/>
          <p:cNvSpPr/>
          <p:nvPr/>
        </p:nvSpPr>
        <p:spPr>
          <a:xfrm>
            <a:off x="2167128" y="1207008"/>
            <a:ext cx="457200" cy="457200"/>
          </a:xfrm>
          <a:prstGeom prst="rect">
            <a:avLst/>
          </a:prstGeom>
          <a:noFill/>
          <a:ln/>
        </p:spPr>
        <p:txBody>
          <a:bodyPr wrap="square" lIns="0" tIns="0" rIns="0" bIns="0" rtlCol="0" anchor="ctr"/>
          <a:lstStyle/>
          <a:p>
            <a:pPr algn="ctr" indent="0" marL="0">
              <a:buNone/>
            </a:pPr>
            <a:r>
              <a:rPr lang="en-US" sz="1100" b="1" dirty="0">
                <a:solidFill>
                  <a:srgbClr val="0A1628"/>
                </a:solidFill>
                <a:latin typeface="Cambria" pitchFamily="34" charset="0"/>
                <a:ea typeface="Cambria" pitchFamily="34" charset="-122"/>
                <a:cs typeface="Cambria" pitchFamily="34" charset="-120"/>
              </a:rPr>
              <a:t>02</a:t>
            </a:r>
            <a:endParaRPr lang="en-US" sz="1100" dirty="0"/>
          </a:p>
        </p:txBody>
      </p:sp>
      <p:sp>
        <p:nvSpPr>
          <p:cNvPr id="14" name="Text 12"/>
          <p:cNvSpPr/>
          <p:nvPr/>
        </p:nvSpPr>
        <p:spPr>
          <a:xfrm>
            <a:off x="1792224" y="1737360"/>
            <a:ext cx="1216152"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Local Model</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Training</a:t>
            </a:r>
            <a:endParaRPr lang="en-US" sz="1000" dirty="0"/>
          </a:p>
        </p:txBody>
      </p:sp>
      <p:sp>
        <p:nvSpPr>
          <p:cNvPr id="15" name="Text 13"/>
          <p:cNvSpPr/>
          <p:nvPr/>
        </p:nvSpPr>
        <p:spPr>
          <a:xfrm>
            <a:off x="1792224" y="2240280"/>
            <a:ext cx="1216152" cy="100584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PyTorch MLP Autoencoder</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trained on-device</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(Raspberry Pi / ESP32)</a:t>
            </a:r>
            <a:endParaRPr lang="en-US" sz="850" dirty="0"/>
          </a:p>
        </p:txBody>
      </p:sp>
      <p:sp>
        <p:nvSpPr>
          <p:cNvPr id="16" name="Shape 14"/>
          <p:cNvSpPr/>
          <p:nvPr/>
        </p:nvSpPr>
        <p:spPr>
          <a:xfrm>
            <a:off x="3044952" y="2176272"/>
            <a:ext cx="164592" cy="45720"/>
          </a:xfrm>
          <a:prstGeom prst="rect">
            <a:avLst/>
          </a:prstGeom>
          <a:solidFill>
            <a:srgbClr val="94A3B8"/>
          </a:solidFill>
          <a:ln w="12700">
            <a:solidFill>
              <a:srgbClr val="94A3B8"/>
            </a:solidFill>
            <a:prstDash val="solid"/>
          </a:ln>
        </p:spPr>
      </p:sp>
      <p:sp>
        <p:nvSpPr>
          <p:cNvPr id="17" name="Shape 15"/>
          <p:cNvSpPr/>
          <p:nvPr/>
        </p:nvSpPr>
        <p:spPr>
          <a:xfrm>
            <a:off x="3200400" y="1143000"/>
            <a:ext cx="1298448" cy="3246120"/>
          </a:xfrm>
          <a:prstGeom prst="rect">
            <a:avLst/>
          </a:prstGeom>
          <a:solidFill>
            <a:srgbClr val="0D1F3C"/>
          </a:solidFill>
          <a:ln w="12700">
            <a:solidFill>
              <a:srgbClr val="10B981"/>
            </a:solidFill>
            <a:prstDash val="solid"/>
          </a:ln>
          <a:effectLst>
            <a:outerShdw sx="100000" sy="100000" kx="0" ky="0" algn="bl" rotWithShape="0" blurRad="101600" dist="38100" dir="2700000">
              <a:srgbClr val="000000">
                <a:alpha val="25000"/>
              </a:srgbClr>
            </a:outerShdw>
          </a:effectLst>
        </p:spPr>
      </p:sp>
      <p:sp>
        <p:nvSpPr>
          <p:cNvPr id="18" name="Shape 16"/>
          <p:cNvSpPr/>
          <p:nvPr/>
        </p:nvSpPr>
        <p:spPr>
          <a:xfrm>
            <a:off x="3621024" y="1207008"/>
            <a:ext cx="457200" cy="457200"/>
          </a:xfrm>
          <a:prstGeom prst="ellipse">
            <a:avLst/>
          </a:prstGeom>
          <a:solidFill>
            <a:srgbClr val="10B981"/>
          </a:solidFill>
          <a:ln w="12700">
            <a:solidFill>
              <a:srgbClr val="10B981"/>
            </a:solidFill>
            <a:prstDash val="solid"/>
          </a:ln>
        </p:spPr>
      </p:sp>
      <p:sp>
        <p:nvSpPr>
          <p:cNvPr id="19" name="Text 17"/>
          <p:cNvSpPr/>
          <p:nvPr/>
        </p:nvSpPr>
        <p:spPr>
          <a:xfrm>
            <a:off x="3621024" y="1207008"/>
            <a:ext cx="457200" cy="457200"/>
          </a:xfrm>
          <a:prstGeom prst="rect">
            <a:avLst/>
          </a:prstGeom>
          <a:noFill/>
          <a:ln/>
        </p:spPr>
        <p:txBody>
          <a:bodyPr wrap="square" lIns="0" tIns="0" rIns="0" bIns="0" rtlCol="0" anchor="ctr"/>
          <a:lstStyle/>
          <a:p>
            <a:pPr algn="ctr" indent="0" marL="0">
              <a:buNone/>
            </a:pPr>
            <a:r>
              <a:rPr lang="en-US" sz="1100" b="1" dirty="0">
                <a:solidFill>
                  <a:srgbClr val="0A1628"/>
                </a:solidFill>
                <a:latin typeface="Cambria" pitchFamily="34" charset="0"/>
                <a:ea typeface="Cambria" pitchFamily="34" charset="-122"/>
                <a:cs typeface="Cambria" pitchFamily="34" charset="-120"/>
              </a:rPr>
              <a:t>03</a:t>
            </a:r>
            <a:endParaRPr lang="en-US" sz="1100" dirty="0"/>
          </a:p>
        </p:txBody>
      </p:sp>
      <p:sp>
        <p:nvSpPr>
          <p:cNvPr id="20" name="Text 18"/>
          <p:cNvSpPr/>
          <p:nvPr/>
        </p:nvSpPr>
        <p:spPr>
          <a:xfrm>
            <a:off x="3246120" y="1737360"/>
            <a:ext cx="1216152"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DP Gradient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Update</a:t>
            </a:r>
            <a:endParaRPr lang="en-US" sz="1000" dirty="0"/>
          </a:p>
        </p:txBody>
      </p:sp>
      <p:sp>
        <p:nvSpPr>
          <p:cNvPr id="21" name="Text 19"/>
          <p:cNvSpPr/>
          <p:nvPr/>
        </p:nvSpPr>
        <p:spPr>
          <a:xfrm>
            <a:off x="3246120" y="2240280"/>
            <a:ext cx="1216152" cy="100584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Opacus clips gradients</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&amp; injects Laplace/</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Gaussian noise</a:t>
            </a:r>
            <a:endParaRPr lang="en-US" sz="850" dirty="0"/>
          </a:p>
        </p:txBody>
      </p:sp>
      <p:sp>
        <p:nvSpPr>
          <p:cNvPr id="22" name="Shape 20"/>
          <p:cNvSpPr/>
          <p:nvPr/>
        </p:nvSpPr>
        <p:spPr>
          <a:xfrm>
            <a:off x="4498848" y="2176272"/>
            <a:ext cx="164592" cy="45720"/>
          </a:xfrm>
          <a:prstGeom prst="rect">
            <a:avLst/>
          </a:prstGeom>
          <a:solidFill>
            <a:srgbClr val="94A3B8"/>
          </a:solidFill>
          <a:ln w="12700">
            <a:solidFill>
              <a:srgbClr val="94A3B8"/>
            </a:solidFill>
            <a:prstDash val="solid"/>
          </a:ln>
        </p:spPr>
      </p:sp>
      <p:sp>
        <p:nvSpPr>
          <p:cNvPr id="23" name="Shape 21"/>
          <p:cNvSpPr/>
          <p:nvPr/>
        </p:nvSpPr>
        <p:spPr>
          <a:xfrm>
            <a:off x="4654296" y="1143000"/>
            <a:ext cx="1298448" cy="3246120"/>
          </a:xfrm>
          <a:prstGeom prst="rect">
            <a:avLst/>
          </a:prstGeom>
          <a:solidFill>
            <a:srgbClr val="0D1F3C"/>
          </a:solidFill>
          <a:ln w="12700">
            <a:solidFill>
              <a:srgbClr val="F59E0B"/>
            </a:solidFill>
            <a:prstDash val="solid"/>
          </a:ln>
          <a:effectLst>
            <a:outerShdw sx="100000" sy="100000" kx="0" ky="0" algn="bl" rotWithShape="0" blurRad="101600" dist="38100" dir="2700000">
              <a:srgbClr val="000000">
                <a:alpha val="25000"/>
              </a:srgbClr>
            </a:outerShdw>
          </a:effectLst>
        </p:spPr>
      </p:sp>
      <p:sp>
        <p:nvSpPr>
          <p:cNvPr id="24" name="Shape 22"/>
          <p:cNvSpPr/>
          <p:nvPr/>
        </p:nvSpPr>
        <p:spPr>
          <a:xfrm>
            <a:off x="5074920" y="1207008"/>
            <a:ext cx="457200" cy="457200"/>
          </a:xfrm>
          <a:prstGeom prst="ellipse">
            <a:avLst/>
          </a:prstGeom>
          <a:solidFill>
            <a:srgbClr val="F59E0B"/>
          </a:solidFill>
          <a:ln w="12700">
            <a:solidFill>
              <a:srgbClr val="F59E0B"/>
            </a:solidFill>
            <a:prstDash val="solid"/>
          </a:ln>
        </p:spPr>
      </p:sp>
      <p:sp>
        <p:nvSpPr>
          <p:cNvPr id="25" name="Text 23"/>
          <p:cNvSpPr/>
          <p:nvPr/>
        </p:nvSpPr>
        <p:spPr>
          <a:xfrm>
            <a:off x="5074920" y="1207008"/>
            <a:ext cx="457200" cy="457200"/>
          </a:xfrm>
          <a:prstGeom prst="rect">
            <a:avLst/>
          </a:prstGeom>
          <a:noFill/>
          <a:ln/>
        </p:spPr>
        <p:txBody>
          <a:bodyPr wrap="square" lIns="0" tIns="0" rIns="0" bIns="0" rtlCol="0" anchor="ctr"/>
          <a:lstStyle/>
          <a:p>
            <a:pPr algn="ctr" indent="0" marL="0">
              <a:buNone/>
            </a:pPr>
            <a:r>
              <a:rPr lang="en-US" sz="1100" b="1" dirty="0">
                <a:solidFill>
                  <a:srgbClr val="0A1628"/>
                </a:solidFill>
                <a:latin typeface="Cambria" pitchFamily="34" charset="0"/>
                <a:ea typeface="Cambria" pitchFamily="34" charset="-122"/>
                <a:cs typeface="Cambria" pitchFamily="34" charset="-120"/>
              </a:rPr>
              <a:t>04</a:t>
            </a:r>
            <a:endParaRPr lang="en-US" sz="1100" dirty="0"/>
          </a:p>
        </p:txBody>
      </p:sp>
      <p:sp>
        <p:nvSpPr>
          <p:cNvPr id="26" name="Text 24"/>
          <p:cNvSpPr/>
          <p:nvPr/>
        </p:nvSpPr>
        <p:spPr>
          <a:xfrm>
            <a:off x="4700016" y="1737360"/>
            <a:ext cx="1216152"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FedAvg</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Aggregation</a:t>
            </a:r>
            <a:endParaRPr lang="en-US" sz="1000" dirty="0"/>
          </a:p>
        </p:txBody>
      </p:sp>
      <p:sp>
        <p:nvSpPr>
          <p:cNvPr id="27" name="Text 25"/>
          <p:cNvSpPr/>
          <p:nvPr/>
        </p:nvSpPr>
        <p:spPr>
          <a:xfrm>
            <a:off x="4700016" y="2240280"/>
            <a:ext cx="1216152" cy="100584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Flower server computes</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weighted average:</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w_(t+1) = Σ(nᵢ/n)·wᵢ</a:t>
            </a:r>
            <a:endParaRPr lang="en-US" sz="850" dirty="0"/>
          </a:p>
        </p:txBody>
      </p:sp>
      <p:sp>
        <p:nvSpPr>
          <p:cNvPr id="28" name="Shape 26"/>
          <p:cNvSpPr/>
          <p:nvPr/>
        </p:nvSpPr>
        <p:spPr>
          <a:xfrm>
            <a:off x="5952744" y="2176272"/>
            <a:ext cx="164592" cy="45720"/>
          </a:xfrm>
          <a:prstGeom prst="rect">
            <a:avLst/>
          </a:prstGeom>
          <a:solidFill>
            <a:srgbClr val="94A3B8"/>
          </a:solidFill>
          <a:ln w="12700">
            <a:solidFill>
              <a:srgbClr val="94A3B8"/>
            </a:solidFill>
            <a:prstDash val="solid"/>
          </a:ln>
        </p:spPr>
      </p:sp>
      <p:sp>
        <p:nvSpPr>
          <p:cNvPr id="29" name="Shape 27"/>
          <p:cNvSpPr/>
          <p:nvPr/>
        </p:nvSpPr>
        <p:spPr>
          <a:xfrm>
            <a:off x="6108192" y="1143000"/>
            <a:ext cx="1298448" cy="3246120"/>
          </a:xfrm>
          <a:prstGeom prst="rect">
            <a:avLst/>
          </a:prstGeom>
          <a:solidFill>
            <a:srgbClr val="0D1F3C"/>
          </a:solidFill>
          <a:ln w="12700">
            <a:solidFill>
              <a:srgbClr val="F97316"/>
            </a:solidFill>
            <a:prstDash val="solid"/>
          </a:ln>
          <a:effectLst>
            <a:outerShdw sx="100000" sy="100000" kx="0" ky="0" algn="bl" rotWithShape="0" blurRad="101600" dist="38100" dir="2700000">
              <a:srgbClr val="000000">
                <a:alpha val="25000"/>
              </a:srgbClr>
            </a:outerShdw>
          </a:effectLst>
        </p:spPr>
      </p:sp>
      <p:sp>
        <p:nvSpPr>
          <p:cNvPr id="30" name="Shape 28"/>
          <p:cNvSpPr/>
          <p:nvPr/>
        </p:nvSpPr>
        <p:spPr>
          <a:xfrm>
            <a:off x="6528816" y="1207008"/>
            <a:ext cx="457200" cy="457200"/>
          </a:xfrm>
          <a:prstGeom prst="ellipse">
            <a:avLst/>
          </a:prstGeom>
          <a:solidFill>
            <a:srgbClr val="F97316"/>
          </a:solidFill>
          <a:ln w="12700">
            <a:solidFill>
              <a:srgbClr val="F97316"/>
            </a:solidFill>
            <a:prstDash val="solid"/>
          </a:ln>
        </p:spPr>
      </p:sp>
      <p:sp>
        <p:nvSpPr>
          <p:cNvPr id="31" name="Text 29"/>
          <p:cNvSpPr/>
          <p:nvPr/>
        </p:nvSpPr>
        <p:spPr>
          <a:xfrm>
            <a:off x="6528816" y="1207008"/>
            <a:ext cx="457200" cy="457200"/>
          </a:xfrm>
          <a:prstGeom prst="rect">
            <a:avLst/>
          </a:prstGeom>
          <a:noFill/>
          <a:ln/>
        </p:spPr>
        <p:txBody>
          <a:bodyPr wrap="square" lIns="0" tIns="0" rIns="0" bIns="0" rtlCol="0" anchor="ctr"/>
          <a:lstStyle/>
          <a:p>
            <a:pPr algn="ctr" indent="0" marL="0">
              <a:buNone/>
            </a:pPr>
            <a:r>
              <a:rPr lang="en-US" sz="1100" b="1" dirty="0">
                <a:solidFill>
                  <a:srgbClr val="0A1628"/>
                </a:solidFill>
                <a:latin typeface="Cambria" pitchFamily="34" charset="0"/>
                <a:ea typeface="Cambria" pitchFamily="34" charset="-122"/>
                <a:cs typeface="Cambria" pitchFamily="34" charset="-120"/>
              </a:rPr>
              <a:t>05</a:t>
            </a:r>
            <a:endParaRPr lang="en-US" sz="1100" dirty="0"/>
          </a:p>
        </p:txBody>
      </p:sp>
      <p:sp>
        <p:nvSpPr>
          <p:cNvPr id="32" name="Text 30"/>
          <p:cNvSpPr/>
          <p:nvPr/>
        </p:nvSpPr>
        <p:spPr>
          <a:xfrm>
            <a:off x="6153912" y="1737360"/>
            <a:ext cx="1216152"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Threat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Detection</a:t>
            </a:r>
            <a:endParaRPr lang="en-US" sz="1000" dirty="0"/>
          </a:p>
        </p:txBody>
      </p:sp>
      <p:sp>
        <p:nvSpPr>
          <p:cNvPr id="33" name="Text 31"/>
          <p:cNvSpPr/>
          <p:nvPr/>
        </p:nvSpPr>
        <p:spPr>
          <a:xfrm>
            <a:off x="6153912" y="2240280"/>
            <a:ext cx="1216152" cy="100584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Global model classifies</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network anomalies &amp;</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flag malicious traffic</a:t>
            </a:r>
            <a:endParaRPr lang="en-US" sz="850" dirty="0"/>
          </a:p>
        </p:txBody>
      </p:sp>
      <p:sp>
        <p:nvSpPr>
          <p:cNvPr id="34" name="Shape 32"/>
          <p:cNvSpPr/>
          <p:nvPr/>
        </p:nvSpPr>
        <p:spPr>
          <a:xfrm>
            <a:off x="7406640" y="2176272"/>
            <a:ext cx="164592" cy="45720"/>
          </a:xfrm>
          <a:prstGeom prst="rect">
            <a:avLst/>
          </a:prstGeom>
          <a:solidFill>
            <a:srgbClr val="94A3B8"/>
          </a:solidFill>
          <a:ln w="12700">
            <a:solidFill>
              <a:srgbClr val="94A3B8"/>
            </a:solidFill>
            <a:prstDash val="solid"/>
          </a:ln>
        </p:spPr>
      </p:sp>
      <p:sp>
        <p:nvSpPr>
          <p:cNvPr id="35" name="Shape 33"/>
          <p:cNvSpPr/>
          <p:nvPr/>
        </p:nvSpPr>
        <p:spPr>
          <a:xfrm>
            <a:off x="7562088" y="1143000"/>
            <a:ext cx="1298448" cy="3246120"/>
          </a:xfrm>
          <a:prstGeom prst="rect">
            <a:avLst/>
          </a:prstGeom>
          <a:solidFill>
            <a:srgbClr val="0D1F3C"/>
          </a:solidFill>
          <a:ln w="12700">
            <a:solidFill>
              <a:srgbClr val="A78BFA"/>
            </a:solidFill>
            <a:prstDash val="solid"/>
          </a:ln>
          <a:effectLst>
            <a:outerShdw sx="100000" sy="100000" kx="0" ky="0" algn="bl" rotWithShape="0" blurRad="101600" dist="38100" dir="2700000">
              <a:srgbClr val="000000">
                <a:alpha val="25000"/>
              </a:srgbClr>
            </a:outerShdw>
          </a:effectLst>
        </p:spPr>
      </p:sp>
      <p:sp>
        <p:nvSpPr>
          <p:cNvPr id="36" name="Shape 34"/>
          <p:cNvSpPr/>
          <p:nvPr/>
        </p:nvSpPr>
        <p:spPr>
          <a:xfrm>
            <a:off x="7982712" y="1207008"/>
            <a:ext cx="457200" cy="457200"/>
          </a:xfrm>
          <a:prstGeom prst="ellipse">
            <a:avLst/>
          </a:prstGeom>
          <a:solidFill>
            <a:srgbClr val="A78BFA"/>
          </a:solidFill>
          <a:ln w="12700">
            <a:solidFill>
              <a:srgbClr val="A78BFA"/>
            </a:solidFill>
            <a:prstDash val="solid"/>
          </a:ln>
        </p:spPr>
      </p:sp>
      <p:sp>
        <p:nvSpPr>
          <p:cNvPr id="37" name="Text 35"/>
          <p:cNvSpPr/>
          <p:nvPr/>
        </p:nvSpPr>
        <p:spPr>
          <a:xfrm>
            <a:off x="7982712" y="1207008"/>
            <a:ext cx="457200" cy="457200"/>
          </a:xfrm>
          <a:prstGeom prst="rect">
            <a:avLst/>
          </a:prstGeom>
          <a:noFill/>
          <a:ln/>
        </p:spPr>
        <p:txBody>
          <a:bodyPr wrap="square" lIns="0" tIns="0" rIns="0" bIns="0" rtlCol="0" anchor="ctr"/>
          <a:lstStyle/>
          <a:p>
            <a:pPr algn="ctr" indent="0" marL="0">
              <a:buNone/>
            </a:pPr>
            <a:r>
              <a:rPr lang="en-US" sz="1100" b="1" dirty="0">
                <a:solidFill>
                  <a:srgbClr val="0A1628"/>
                </a:solidFill>
                <a:latin typeface="Cambria" pitchFamily="34" charset="0"/>
                <a:ea typeface="Cambria" pitchFamily="34" charset="-122"/>
                <a:cs typeface="Cambria" pitchFamily="34" charset="-120"/>
              </a:rPr>
              <a:t>06</a:t>
            </a:r>
            <a:endParaRPr lang="en-US" sz="1100" dirty="0"/>
          </a:p>
        </p:txBody>
      </p:sp>
      <p:sp>
        <p:nvSpPr>
          <p:cNvPr id="38" name="Text 36"/>
          <p:cNvSpPr/>
          <p:nvPr/>
        </p:nvSpPr>
        <p:spPr>
          <a:xfrm>
            <a:off x="7607808" y="1737360"/>
            <a:ext cx="1216152"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SOC Alert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 LLM Log</a:t>
            </a:r>
            <a:endParaRPr lang="en-US" sz="1000" dirty="0"/>
          </a:p>
        </p:txBody>
      </p:sp>
      <p:sp>
        <p:nvSpPr>
          <p:cNvPr id="39" name="Text 37"/>
          <p:cNvSpPr/>
          <p:nvPr/>
        </p:nvSpPr>
        <p:spPr>
          <a:xfrm>
            <a:off x="7607808" y="2240280"/>
            <a:ext cx="1216152" cy="100584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WebSocket push to</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dashboard + Claude API</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forensic summary</a:t>
            </a:r>
            <a:endParaRPr lang="en-US" sz="850" dirty="0"/>
          </a:p>
        </p:txBody>
      </p:sp>
      <p:sp>
        <p:nvSpPr>
          <p:cNvPr id="40" name="Shape 38"/>
          <p:cNvSpPr/>
          <p:nvPr/>
        </p:nvSpPr>
        <p:spPr>
          <a:xfrm>
            <a:off x="292608" y="4526280"/>
            <a:ext cx="8567928" cy="182880"/>
          </a:xfrm>
          <a:prstGeom prst="rect">
            <a:avLst/>
          </a:prstGeom>
          <a:solidFill>
            <a:srgbClr val="071828"/>
          </a:solidFill>
          <a:ln w="12700">
            <a:solidFill>
              <a:srgbClr val="0891B2"/>
            </a:solidFill>
            <a:prstDash val="solid"/>
          </a:ln>
          <a:effectLst>
            <a:outerShdw sx="100000" sy="100000" kx="0" ky="0" algn="bl" rotWithShape="0" blurRad="101600" dist="38100" dir="2700000">
              <a:srgbClr val="000000">
                <a:alpha val="25000"/>
              </a:srgbClr>
            </a:outerShdw>
          </a:effectLst>
        </p:spPr>
      </p:sp>
      <p:sp>
        <p:nvSpPr>
          <p:cNvPr id="41" name="Text 39"/>
          <p:cNvSpPr/>
          <p:nvPr/>
        </p:nvSpPr>
        <p:spPr>
          <a:xfrm>
            <a:off x="384048" y="4544568"/>
            <a:ext cx="8366760" cy="146304"/>
          </a:xfrm>
          <a:prstGeom prst="rect">
            <a:avLst/>
          </a:prstGeom>
          <a:noFill/>
          <a:ln/>
        </p:spPr>
        <p:txBody>
          <a:bodyPr wrap="square" lIns="0" tIns="0" rIns="0" bIns="0" rtlCol="0" anchor="ctr"/>
          <a:lstStyle/>
          <a:p>
            <a:pPr algn="ctr" indent="0" marL="0">
              <a:buNone/>
            </a:pPr>
            <a:r>
              <a:rPr lang="en-US" sz="900" i="1" dirty="0">
                <a:solidFill>
                  <a:srgbClr val="00D4FF"/>
                </a:solidFill>
                <a:latin typeface="Calibri" pitchFamily="34" charset="0"/>
                <a:ea typeface="Calibri" pitchFamily="34" charset="-122"/>
                <a:cs typeface="Calibri" pitchFamily="34" charset="-120"/>
              </a:rPr>
              <a:t>FedAvg Rule:  w_(t+1) = Σᵢ (nᵢ / n) · w_(t+1)ⁱ + N(0, σ²)   — where nᵢ = local samples, n = total samples, σ² = DP noise variance</a:t>
            </a:r>
            <a:endParaRPr lang="en-US" sz="900" dirty="0"/>
          </a:p>
        </p:txBody>
      </p:sp>
      <p:sp>
        <p:nvSpPr>
          <p:cNvPr id="42" name="Shape 40"/>
          <p:cNvSpPr/>
          <p:nvPr/>
        </p:nvSpPr>
        <p:spPr>
          <a:xfrm>
            <a:off x="0" y="4800600"/>
            <a:ext cx="9144000" cy="342900"/>
          </a:xfrm>
          <a:prstGeom prst="rect">
            <a:avLst/>
          </a:prstGeom>
          <a:solidFill>
            <a:srgbClr val="071020"/>
          </a:solidFill>
          <a:ln w="12700">
            <a:solidFill>
              <a:srgbClr val="071020"/>
            </a:solidFill>
            <a:prstDash val="solid"/>
          </a:ln>
        </p:spPr>
      </p:sp>
      <p:sp>
        <p:nvSpPr>
          <p:cNvPr id="43" name="Shape 41"/>
          <p:cNvSpPr/>
          <p:nvPr/>
        </p:nvSpPr>
        <p:spPr>
          <a:xfrm>
            <a:off x="0" y="4796028"/>
            <a:ext cx="9144000" cy="13716"/>
          </a:xfrm>
          <a:prstGeom prst="rect">
            <a:avLst/>
          </a:prstGeom>
          <a:solidFill>
            <a:srgbClr val="0891B2"/>
          </a:solidFill>
          <a:ln w="12700">
            <a:solidFill>
              <a:srgbClr val="0891B2"/>
            </a:solidFill>
            <a:prstDash val="solid"/>
          </a:ln>
        </p:spPr>
      </p:sp>
      <p:sp>
        <p:nvSpPr>
          <p:cNvPr id="44" name="Text 42"/>
          <p:cNvSpPr/>
          <p:nvPr/>
        </p:nvSpPr>
        <p:spPr>
          <a:xfrm>
            <a:off x="274320" y="4805172"/>
            <a:ext cx="8229600" cy="320040"/>
          </a:xfrm>
          <a:prstGeom prst="rect">
            <a:avLst/>
          </a:prstGeom>
          <a:noFill/>
          <a:ln/>
        </p:spPr>
        <p:txBody>
          <a:bodyPr wrap="square" lIns="0" tIns="0" rIns="0" bIns="0" rtlCol="0" anchor="ctr"/>
          <a:lstStyle/>
          <a:p>
            <a:pPr algn="l" indent="0" marL="0">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45" name="Text 43"/>
          <p:cNvSpPr/>
          <p:nvPr/>
        </p:nvSpPr>
        <p:spPr>
          <a:xfrm>
            <a:off x="8503920" y="4805172"/>
            <a:ext cx="548640" cy="320040"/>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7 / 14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11480" y="201168"/>
            <a:ext cx="8046720" cy="530352"/>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Privacy Layer: Differential Privacy with Opacus</a:t>
            </a:r>
            <a:endParaRPr lang="en-US" sz="2800" dirty="0"/>
          </a:p>
        </p:txBody>
      </p:sp>
      <p:sp>
        <p:nvSpPr>
          <p:cNvPr id="3" name="Text 1"/>
          <p:cNvSpPr/>
          <p:nvPr/>
        </p:nvSpPr>
        <p:spPr>
          <a:xfrm>
            <a:off x="411480" y="749808"/>
            <a:ext cx="8046720" cy="292608"/>
          </a:xfrm>
          <a:prstGeom prst="rect">
            <a:avLst/>
          </a:prstGeom>
          <a:noFill/>
          <a:ln/>
        </p:spPr>
        <p:txBody>
          <a:bodyPr wrap="square" lIns="0" tIns="0" rIns="0" bIns="0" rtlCol="0" anchor="t"/>
          <a:lstStyle/>
          <a:p>
            <a:pPr algn="l" indent="0" marL="0">
              <a:buNone/>
            </a:pPr>
            <a:r>
              <a:rPr lang="en-US" sz="1300" i="1" dirty="0">
                <a:solidFill>
                  <a:srgbClr val="00D4FF"/>
                </a:solidFill>
                <a:latin typeface="Calibri" pitchFamily="34" charset="0"/>
                <a:ea typeface="Calibri" pitchFamily="34" charset="-122"/>
                <a:cs typeface="Calibri" pitchFamily="34" charset="-120"/>
              </a:rPr>
              <a:t>Formal Cryptographic Anonymity Guarantees on Gradient Updates</a:t>
            </a:r>
            <a:endParaRPr lang="en-US" sz="1300" dirty="0"/>
          </a:p>
        </p:txBody>
      </p:sp>
      <p:sp>
        <p:nvSpPr>
          <p:cNvPr id="4" name="Shape 2"/>
          <p:cNvSpPr/>
          <p:nvPr/>
        </p:nvSpPr>
        <p:spPr>
          <a:xfrm>
            <a:off x="411480" y="1005840"/>
            <a:ext cx="8321040" cy="16459"/>
          </a:xfrm>
          <a:prstGeom prst="rect">
            <a:avLst/>
          </a:prstGeom>
          <a:solidFill>
            <a:srgbClr val="0891B2">
              <a:alpha val="60000"/>
            </a:srgbClr>
          </a:solidFill>
          <a:ln w="12700">
            <a:solidFill>
              <a:srgbClr val="0891B2"/>
            </a:solidFill>
            <a:prstDash val="solid"/>
          </a:ln>
        </p:spPr>
      </p:sp>
      <p:sp>
        <p:nvSpPr>
          <p:cNvPr id="5" name="Shape 3"/>
          <p:cNvSpPr/>
          <p:nvPr/>
        </p:nvSpPr>
        <p:spPr>
          <a:xfrm>
            <a:off x="411480" y="1143000"/>
            <a:ext cx="3977640" cy="342900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sp>
        <p:nvSpPr>
          <p:cNvPr id="6" name="Text 4"/>
          <p:cNvSpPr/>
          <p:nvPr/>
        </p:nvSpPr>
        <p:spPr>
          <a:xfrm>
            <a:off x="548640" y="1207008"/>
            <a:ext cx="3749040" cy="320040"/>
          </a:xfrm>
          <a:prstGeom prst="rect">
            <a:avLst/>
          </a:prstGeom>
          <a:noFill/>
          <a:ln/>
        </p:spPr>
        <p:txBody>
          <a:bodyPr wrap="square" lIns="0" tIns="0" rIns="0" bIns="0" rtlCol="0" anchor="ctr"/>
          <a:lstStyle/>
          <a:p>
            <a:pPr algn="l" indent="0" marL="0">
              <a:buNone/>
            </a:pPr>
            <a:r>
              <a:rPr lang="en-US" sz="1300" b="1" dirty="0">
                <a:solidFill>
                  <a:srgbClr val="00D4FF"/>
                </a:solidFill>
                <a:latin typeface="Calibri" pitchFamily="34" charset="0"/>
                <a:ea typeface="Calibri" pitchFamily="34" charset="-122"/>
                <a:cs typeface="Calibri" pitchFamily="34" charset="-120"/>
              </a:rPr>
              <a:t>How It Works</a:t>
            </a:r>
            <a:endParaRPr lang="en-US" sz="1300" dirty="0"/>
          </a:p>
        </p:txBody>
      </p:sp>
      <p:sp>
        <p:nvSpPr>
          <p:cNvPr id="7" name="Text 5"/>
          <p:cNvSpPr/>
          <p:nvPr/>
        </p:nvSpPr>
        <p:spPr>
          <a:xfrm>
            <a:off x="548640" y="1572768"/>
            <a:ext cx="3749040" cy="25603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E2E8F0"/>
                </a:solidFill>
                <a:latin typeface="Calibri" pitchFamily="34" charset="0"/>
                <a:ea typeface="Calibri" pitchFamily="34" charset="-122"/>
                <a:cs typeface="Calibri" pitchFamily="34" charset="-120"/>
              </a:rPr>
              <a:t>Each edge device trains its local model using PyTorch; gradients are computed per mini-batch</a:t>
            </a:r>
            <a:endParaRPr lang="en-US" sz="1100" dirty="0"/>
          </a:p>
          <a:p>
            <a:pPr marL="342900" indent="-342900">
              <a:spcAft>
                <a:spcPts val="600"/>
              </a:spcAft>
              <a:buSzPct val="100000"/>
              <a:buChar char="•"/>
            </a:pPr>
            <a:r>
              <a:rPr lang="en-US" sz="1100" dirty="0">
                <a:solidFill>
                  <a:srgbClr val="E2E8F0"/>
                </a:solidFill>
                <a:latin typeface="Calibri" pitchFamily="34" charset="0"/>
                <a:ea typeface="Calibri" pitchFamily="34" charset="-122"/>
                <a:cs typeface="Calibri" pitchFamily="34" charset="-120"/>
              </a:rPr>
              <a:t>Opacus library clips gradient norms to bound sensitivity: ‖g‖ ≤ C (clipping threshold)</a:t>
            </a:r>
            <a:endParaRPr lang="en-US" sz="1100" dirty="0"/>
          </a:p>
          <a:p>
            <a:pPr marL="342900" indent="-342900">
              <a:spcAft>
                <a:spcPts val="600"/>
              </a:spcAft>
              <a:buSzPct val="100000"/>
              <a:buChar char="•"/>
            </a:pPr>
            <a:r>
              <a:rPr lang="en-US" sz="1100" dirty="0">
                <a:solidFill>
                  <a:srgbClr val="E2E8F0"/>
                </a:solidFill>
                <a:latin typeface="Calibri" pitchFamily="34" charset="0"/>
                <a:ea typeface="Calibri" pitchFamily="34" charset="-122"/>
                <a:cs typeface="Calibri" pitchFamily="34" charset="-120"/>
              </a:rPr>
              <a:t>Calibrated Laplace or Gaussian noise N(0, σ²) is injected into clipped gradients before transmission</a:t>
            </a:r>
            <a:endParaRPr lang="en-US" sz="1100" dirty="0"/>
          </a:p>
          <a:p>
            <a:pPr marL="342900" indent="-342900">
              <a:spcAft>
                <a:spcPts val="600"/>
              </a:spcAft>
              <a:buSzPct val="100000"/>
              <a:buChar char="•"/>
            </a:pPr>
            <a:r>
              <a:rPr lang="en-US" sz="1100" dirty="0">
                <a:solidFill>
                  <a:srgbClr val="E2E8F0"/>
                </a:solidFill>
                <a:latin typeface="Calibri" pitchFamily="34" charset="0"/>
                <a:ea typeface="Calibri" pitchFamily="34" charset="-122"/>
                <a:cs typeface="Calibri" pitchFamily="34" charset="-120"/>
              </a:rPr>
              <a:t>Only the DP-perturbed gradient is dispatched to the Flower aggregation server — raw data &amp; original gradients never transmitted</a:t>
            </a:r>
            <a:endParaRPr lang="en-US" sz="1100" dirty="0"/>
          </a:p>
          <a:p>
            <a:pPr marL="342900" indent="-342900">
              <a:spcAft>
                <a:spcPts val="600"/>
              </a:spcAft>
              <a:buSzPct val="100000"/>
              <a:buChar char="•"/>
            </a:pPr>
            <a:r>
              <a:rPr lang="en-US" sz="1100" dirty="0">
                <a:solidFill>
                  <a:srgbClr val="E2E8F0"/>
                </a:solidFill>
                <a:latin typeface="Calibri" pitchFamily="34" charset="0"/>
                <a:ea typeface="Calibri" pitchFamily="34" charset="-122"/>
                <a:cs typeface="Calibri" pitchFamily="34" charset="-120"/>
              </a:rPr>
              <a:t>The aggregated global model maintains (ε, δ)-differential privacy guarantees across all participating nodes</a:t>
            </a:r>
            <a:endParaRPr lang="en-US" sz="1100" dirty="0"/>
          </a:p>
        </p:txBody>
      </p:sp>
      <p:sp>
        <p:nvSpPr>
          <p:cNvPr id="8" name="Shape 6"/>
          <p:cNvSpPr/>
          <p:nvPr/>
        </p:nvSpPr>
        <p:spPr>
          <a:xfrm>
            <a:off x="4526280" y="1143000"/>
            <a:ext cx="4206240" cy="3429000"/>
          </a:xfrm>
          <a:prstGeom prst="rect">
            <a:avLst/>
          </a:prstGeom>
          <a:solidFill>
            <a:srgbClr val="0A2010"/>
          </a:solidFill>
          <a:ln w="12700">
            <a:solidFill>
              <a:srgbClr val="10B981"/>
            </a:solidFill>
            <a:prstDash val="solid"/>
          </a:ln>
          <a:effectLst>
            <a:outerShdw sx="100000" sy="100000" kx="0" ky="0" algn="bl" rotWithShape="0" blurRad="101600" dist="38100" dir="2700000">
              <a:srgbClr val="000000">
                <a:alpha val="25000"/>
              </a:srgbClr>
            </a:outerShdw>
          </a:effectLst>
        </p:spPr>
      </p:sp>
      <p:sp>
        <p:nvSpPr>
          <p:cNvPr id="9" name="Text 7"/>
          <p:cNvSpPr/>
          <p:nvPr/>
        </p:nvSpPr>
        <p:spPr>
          <a:xfrm>
            <a:off x="4663440" y="1207008"/>
            <a:ext cx="3840480" cy="320040"/>
          </a:xfrm>
          <a:prstGeom prst="rect">
            <a:avLst/>
          </a:prstGeom>
          <a:noFill/>
          <a:ln/>
        </p:spPr>
        <p:txBody>
          <a:bodyPr wrap="square" lIns="0" tIns="0" rIns="0" bIns="0" rtlCol="0" anchor="ctr"/>
          <a:lstStyle/>
          <a:p>
            <a:pPr algn="l" indent="0" marL="0">
              <a:buNone/>
            </a:pPr>
            <a:r>
              <a:rPr lang="en-US" sz="1300" b="1" dirty="0">
                <a:solidFill>
                  <a:srgbClr val="10B981"/>
                </a:solidFill>
                <a:latin typeface="Calibri" pitchFamily="34" charset="0"/>
                <a:ea typeface="Calibri" pitchFamily="34" charset="-122"/>
                <a:cs typeface="Calibri" pitchFamily="34" charset="-120"/>
              </a:rPr>
              <a:t>DP Mechanism</a:t>
            </a:r>
            <a:endParaRPr lang="en-US" sz="1300" dirty="0"/>
          </a:p>
        </p:txBody>
      </p:sp>
      <p:sp>
        <p:nvSpPr>
          <p:cNvPr id="10" name="Shape 8"/>
          <p:cNvSpPr/>
          <p:nvPr/>
        </p:nvSpPr>
        <p:spPr>
          <a:xfrm>
            <a:off x="4663440" y="1627632"/>
            <a:ext cx="3858768" cy="594360"/>
          </a:xfrm>
          <a:prstGeom prst="rect">
            <a:avLst/>
          </a:prstGeom>
          <a:solidFill>
            <a:srgbClr val="0A280D"/>
          </a:solidFill>
          <a:ln w="12700">
            <a:solidFill>
              <a:srgbClr val="1E5F2A"/>
            </a:solidFill>
            <a:prstDash val="solid"/>
          </a:ln>
        </p:spPr>
      </p:sp>
      <p:sp>
        <p:nvSpPr>
          <p:cNvPr id="11" name="Text 9"/>
          <p:cNvSpPr/>
          <p:nvPr/>
        </p:nvSpPr>
        <p:spPr>
          <a:xfrm>
            <a:off x="4754880" y="1673352"/>
            <a:ext cx="3657600" cy="256032"/>
          </a:xfrm>
          <a:prstGeom prst="rect">
            <a:avLst/>
          </a:prstGeom>
          <a:noFill/>
          <a:ln/>
        </p:spPr>
        <p:txBody>
          <a:bodyPr wrap="square" lIns="0" tIns="0" rIns="0" bIns="0" rtlCol="0" anchor="ctr"/>
          <a:lstStyle/>
          <a:p>
            <a:pPr algn="l" indent="0" marL="0">
              <a:buNone/>
            </a:pPr>
            <a:r>
              <a:rPr lang="en-US" sz="1100" b="1" dirty="0">
                <a:solidFill>
                  <a:srgbClr val="94A3B8"/>
                </a:solidFill>
                <a:latin typeface="Calibri" pitchFamily="34" charset="0"/>
                <a:ea typeface="Calibri" pitchFamily="34" charset="-122"/>
                <a:cs typeface="Calibri" pitchFamily="34" charset="-120"/>
              </a:rPr>
              <a:t>Raw Gradient g</a:t>
            </a:r>
            <a:endParaRPr lang="en-US" sz="1100" dirty="0"/>
          </a:p>
        </p:txBody>
      </p:sp>
      <p:sp>
        <p:nvSpPr>
          <p:cNvPr id="12" name="Text 10"/>
          <p:cNvSpPr/>
          <p:nvPr/>
        </p:nvSpPr>
        <p:spPr>
          <a:xfrm>
            <a:off x="4754880" y="1929384"/>
            <a:ext cx="3657600" cy="22860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Computed from local loss</a:t>
            </a:r>
            <a:endParaRPr lang="en-US" sz="950" dirty="0"/>
          </a:p>
        </p:txBody>
      </p:sp>
      <p:sp>
        <p:nvSpPr>
          <p:cNvPr id="13" name="Shape 11"/>
          <p:cNvSpPr/>
          <p:nvPr/>
        </p:nvSpPr>
        <p:spPr>
          <a:xfrm>
            <a:off x="6473952" y="2221992"/>
            <a:ext cx="36576" cy="164592"/>
          </a:xfrm>
          <a:prstGeom prst="rect">
            <a:avLst/>
          </a:prstGeom>
          <a:solidFill>
            <a:srgbClr val="10B981"/>
          </a:solidFill>
          <a:ln w="12700">
            <a:solidFill>
              <a:srgbClr val="10B981"/>
            </a:solidFill>
            <a:prstDash val="solid"/>
          </a:ln>
        </p:spPr>
      </p:sp>
      <p:sp>
        <p:nvSpPr>
          <p:cNvPr id="14" name="Shape 12"/>
          <p:cNvSpPr/>
          <p:nvPr/>
        </p:nvSpPr>
        <p:spPr>
          <a:xfrm>
            <a:off x="4663440" y="2359152"/>
            <a:ext cx="3858768" cy="594360"/>
          </a:xfrm>
          <a:prstGeom prst="rect">
            <a:avLst/>
          </a:prstGeom>
          <a:solidFill>
            <a:srgbClr val="0A280D"/>
          </a:solidFill>
          <a:ln w="12700">
            <a:solidFill>
              <a:srgbClr val="1E5F2A"/>
            </a:solidFill>
            <a:prstDash val="solid"/>
          </a:ln>
        </p:spPr>
      </p:sp>
      <p:sp>
        <p:nvSpPr>
          <p:cNvPr id="15" name="Text 13"/>
          <p:cNvSpPr/>
          <p:nvPr/>
        </p:nvSpPr>
        <p:spPr>
          <a:xfrm>
            <a:off x="4754880" y="2404872"/>
            <a:ext cx="3657600" cy="256032"/>
          </a:xfrm>
          <a:prstGeom prst="rect">
            <a:avLst/>
          </a:prstGeom>
          <a:noFill/>
          <a:ln/>
        </p:spPr>
        <p:txBody>
          <a:bodyPr wrap="square" lIns="0" tIns="0" rIns="0" bIns="0" rtlCol="0" anchor="ctr"/>
          <a:lstStyle/>
          <a:p>
            <a:pPr algn="l" indent="0" marL="0">
              <a:buNone/>
            </a:pPr>
            <a:r>
              <a:rPr lang="en-US" sz="1100" b="1" dirty="0">
                <a:solidFill>
                  <a:srgbClr val="00D4FF"/>
                </a:solidFill>
                <a:latin typeface="Calibri" pitchFamily="34" charset="0"/>
                <a:ea typeface="Calibri" pitchFamily="34" charset="-122"/>
                <a:cs typeface="Calibri" pitchFamily="34" charset="-120"/>
              </a:rPr>
              <a:t>Gradient Clipping</a:t>
            </a:r>
            <a:endParaRPr lang="en-US" sz="1100" dirty="0"/>
          </a:p>
        </p:txBody>
      </p:sp>
      <p:sp>
        <p:nvSpPr>
          <p:cNvPr id="16" name="Text 14"/>
          <p:cNvSpPr/>
          <p:nvPr/>
        </p:nvSpPr>
        <p:spPr>
          <a:xfrm>
            <a:off x="4754880" y="2660904"/>
            <a:ext cx="3657600" cy="22860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Clip: g̃ = g · min(1, C/‖g‖)</a:t>
            </a:r>
            <a:endParaRPr lang="en-US" sz="950" dirty="0"/>
          </a:p>
        </p:txBody>
      </p:sp>
      <p:sp>
        <p:nvSpPr>
          <p:cNvPr id="17" name="Shape 15"/>
          <p:cNvSpPr/>
          <p:nvPr/>
        </p:nvSpPr>
        <p:spPr>
          <a:xfrm>
            <a:off x="6473952" y="2953512"/>
            <a:ext cx="36576" cy="164592"/>
          </a:xfrm>
          <a:prstGeom prst="rect">
            <a:avLst/>
          </a:prstGeom>
          <a:solidFill>
            <a:srgbClr val="10B981"/>
          </a:solidFill>
          <a:ln w="12700">
            <a:solidFill>
              <a:srgbClr val="10B981"/>
            </a:solidFill>
            <a:prstDash val="solid"/>
          </a:ln>
        </p:spPr>
      </p:sp>
      <p:sp>
        <p:nvSpPr>
          <p:cNvPr id="18" name="Shape 16"/>
          <p:cNvSpPr/>
          <p:nvPr/>
        </p:nvSpPr>
        <p:spPr>
          <a:xfrm>
            <a:off x="4663440" y="3090672"/>
            <a:ext cx="3858768" cy="594360"/>
          </a:xfrm>
          <a:prstGeom prst="rect">
            <a:avLst/>
          </a:prstGeom>
          <a:solidFill>
            <a:srgbClr val="0A280D"/>
          </a:solidFill>
          <a:ln w="12700">
            <a:solidFill>
              <a:srgbClr val="1E5F2A"/>
            </a:solidFill>
            <a:prstDash val="solid"/>
          </a:ln>
        </p:spPr>
      </p:sp>
      <p:sp>
        <p:nvSpPr>
          <p:cNvPr id="19" name="Text 17"/>
          <p:cNvSpPr/>
          <p:nvPr/>
        </p:nvSpPr>
        <p:spPr>
          <a:xfrm>
            <a:off x="4754880" y="3136392"/>
            <a:ext cx="3657600" cy="256032"/>
          </a:xfrm>
          <a:prstGeom prst="rect">
            <a:avLst/>
          </a:prstGeom>
          <a:noFill/>
          <a:ln/>
        </p:spPr>
        <p:txBody>
          <a:bodyPr wrap="square" lIns="0" tIns="0" rIns="0" bIns="0" rtlCol="0" anchor="ctr"/>
          <a:lstStyle/>
          <a:p>
            <a:pPr algn="l" indent="0" marL="0">
              <a:buNone/>
            </a:pPr>
            <a:r>
              <a:rPr lang="en-US" sz="1100" b="1" dirty="0">
                <a:solidFill>
                  <a:srgbClr val="06B6D4"/>
                </a:solidFill>
                <a:latin typeface="Calibri" pitchFamily="34" charset="0"/>
                <a:ea typeface="Calibri" pitchFamily="34" charset="-122"/>
                <a:cs typeface="Calibri" pitchFamily="34" charset="-120"/>
              </a:rPr>
              <a:t>Noise Addition</a:t>
            </a:r>
            <a:endParaRPr lang="en-US" sz="1100" dirty="0"/>
          </a:p>
        </p:txBody>
      </p:sp>
      <p:sp>
        <p:nvSpPr>
          <p:cNvPr id="20" name="Text 18"/>
          <p:cNvSpPr/>
          <p:nvPr/>
        </p:nvSpPr>
        <p:spPr>
          <a:xfrm>
            <a:off x="4754880" y="3392424"/>
            <a:ext cx="3657600" cy="22860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g_dp = g̃ + N(0, σ²C²·I)</a:t>
            </a:r>
            <a:endParaRPr lang="en-US" sz="950" dirty="0"/>
          </a:p>
        </p:txBody>
      </p:sp>
      <p:sp>
        <p:nvSpPr>
          <p:cNvPr id="21" name="Shape 19"/>
          <p:cNvSpPr/>
          <p:nvPr/>
        </p:nvSpPr>
        <p:spPr>
          <a:xfrm>
            <a:off x="6473952" y="3685032"/>
            <a:ext cx="36576" cy="164592"/>
          </a:xfrm>
          <a:prstGeom prst="rect">
            <a:avLst/>
          </a:prstGeom>
          <a:solidFill>
            <a:srgbClr val="10B981"/>
          </a:solidFill>
          <a:ln w="12700">
            <a:solidFill>
              <a:srgbClr val="10B981"/>
            </a:solidFill>
            <a:prstDash val="solid"/>
          </a:ln>
        </p:spPr>
      </p:sp>
      <p:sp>
        <p:nvSpPr>
          <p:cNvPr id="22" name="Shape 20"/>
          <p:cNvSpPr/>
          <p:nvPr/>
        </p:nvSpPr>
        <p:spPr>
          <a:xfrm>
            <a:off x="4663440" y="3822192"/>
            <a:ext cx="3858768" cy="594360"/>
          </a:xfrm>
          <a:prstGeom prst="rect">
            <a:avLst/>
          </a:prstGeom>
          <a:solidFill>
            <a:srgbClr val="0A280D"/>
          </a:solidFill>
          <a:ln w="12700">
            <a:solidFill>
              <a:srgbClr val="1E5F2A"/>
            </a:solidFill>
            <a:prstDash val="solid"/>
          </a:ln>
        </p:spPr>
      </p:sp>
      <p:sp>
        <p:nvSpPr>
          <p:cNvPr id="23" name="Text 21"/>
          <p:cNvSpPr/>
          <p:nvPr/>
        </p:nvSpPr>
        <p:spPr>
          <a:xfrm>
            <a:off x="4754880" y="3867912"/>
            <a:ext cx="3657600" cy="256032"/>
          </a:xfrm>
          <a:prstGeom prst="rect">
            <a:avLst/>
          </a:prstGeom>
          <a:noFill/>
          <a:ln/>
        </p:spPr>
        <p:txBody>
          <a:bodyPr wrap="square" lIns="0" tIns="0" rIns="0" bIns="0" rtlCol="0" anchor="ctr"/>
          <a:lstStyle/>
          <a:p>
            <a:pPr algn="l" indent="0" marL="0">
              <a:buNone/>
            </a:pPr>
            <a:r>
              <a:rPr lang="en-US" sz="1100" b="1" dirty="0">
                <a:solidFill>
                  <a:srgbClr val="10B981"/>
                </a:solidFill>
                <a:latin typeface="Calibri" pitchFamily="34" charset="0"/>
                <a:ea typeface="Calibri" pitchFamily="34" charset="-122"/>
                <a:cs typeface="Calibri" pitchFamily="34" charset="-120"/>
              </a:rPr>
              <a:t>DP-Protected Update</a:t>
            </a:r>
            <a:endParaRPr lang="en-US" sz="1100" dirty="0"/>
          </a:p>
        </p:txBody>
      </p:sp>
      <p:sp>
        <p:nvSpPr>
          <p:cNvPr id="24" name="Text 22"/>
          <p:cNvSpPr/>
          <p:nvPr/>
        </p:nvSpPr>
        <p:spPr>
          <a:xfrm>
            <a:off x="4754880" y="4123944"/>
            <a:ext cx="3657600" cy="22860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Transmitted to FL Server</a:t>
            </a:r>
            <a:endParaRPr lang="en-US" sz="950" dirty="0"/>
          </a:p>
        </p:txBody>
      </p:sp>
      <p:sp>
        <p:nvSpPr>
          <p:cNvPr id="25" name="Text 23"/>
          <p:cNvSpPr/>
          <p:nvPr/>
        </p:nvSpPr>
        <p:spPr>
          <a:xfrm>
            <a:off x="411480" y="4663440"/>
            <a:ext cx="8321040" cy="164592"/>
          </a:xfrm>
          <a:prstGeom prst="rect">
            <a:avLst/>
          </a:prstGeom>
          <a:noFill/>
          <a:ln/>
        </p:spPr>
        <p:txBody>
          <a:bodyPr wrap="square" lIns="0" tIns="0" rIns="0" bIns="0" rtlCol="0" anchor="ctr"/>
          <a:lstStyle/>
          <a:p>
            <a:pPr algn="ctr" indent="0" marL="0">
              <a:buNone/>
            </a:pPr>
            <a:r>
              <a:rPr lang="en-US" sz="900" i="1" dirty="0">
                <a:solidFill>
                  <a:srgbClr val="94A3B8"/>
                </a:solidFill>
                <a:latin typeface="Calibri" pitchFamily="34" charset="0"/>
                <a:ea typeface="Calibri" pitchFamily="34" charset="-122"/>
                <a:cs typeface="Calibri" pitchFamily="34" charset="-120"/>
              </a:rPr>
              <a:t>Privacy Budget: (ε, δ)  —  smaller ε = stronger privacy; Opacus tracks cumulative privacy budget automatically</a:t>
            </a:r>
            <a:endParaRPr lang="en-US" sz="900" dirty="0"/>
          </a:p>
        </p:txBody>
      </p:sp>
      <p:sp>
        <p:nvSpPr>
          <p:cNvPr id="26" name="Shape 24"/>
          <p:cNvSpPr/>
          <p:nvPr/>
        </p:nvSpPr>
        <p:spPr>
          <a:xfrm>
            <a:off x="0" y="4800600"/>
            <a:ext cx="9144000" cy="342900"/>
          </a:xfrm>
          <a:prstGeom prst="rect">
            <a:avLst/>
          </a:prstGeom>
          <a:solidFill>
            <a:srgbClr val="071020"/>
          </a:solidFill>
          <a:ln w="12700">
            <a:solidFill>
              <a:srgbClr val="071020"/>
            </a:solidFill>
            <a:prstDash val="solid"/>
          </a:ln>
        </p:spPr>
      </p:sp>
      <p:sp>
        <p:nvSpPr>
          <p:cNvPr id="27" name="Shape 25"/>
          <p:cNvSpPr/>
          <p:nvPr/>
        </p:nvSpPr>
        <p:spPr>
          <a:xfrm>
            <a:off x="0" y="4796028"/>
            <a:ext cx="9144000" cy="13716"/>
          </a:xfrm>
          <a:prstGeom prst="rect">
            <a:avLst/>
          </a:prstGeom>
          <a:solidFill>
            <a:srgbClr val="0891B2"/>
          </a:solidFill>
          <a:ln w="12700">
            <a:solidFill>
              <a:srgbClr val="0891B2"/>
            </a:solidFill>
            <a:prstDash val="solid"/>
          </a:ln>
        </p:spPr>
      </p:sp>
      <p:sp>
        <p:nvSpPr>
          <p:cNvPr id="28" name="Text 26"/>
          <p:cNvSpPr/>
          <p:nvPr/>
        </p:nvSpPr>
        <p:spPr>
          <a:xfrm>
            <a:off x="274320" y="4805172"/>
            <a:ext cx="8229600" cy="320040"/>
          </a:xfrm>
          <a:prstGeom prst="rect">
            <a:avLst/>
          </a:prstGeom>
          <a:noFill/>
          <a:ln/>
        </p:spPr>
        <p:txBody>
          <a:bodyPr wrap="square" lIns="0" tIns="0" rIns="0" bIns="0" rtlCol="0" anchor="ctr"/>
          <a:lstStyle/>
          <a:p>
            <a:pPr algn="l" indent="0" marL="0">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29" name="Text 27"/>
          <p:cNvSpPr/>
          <p:nvPr/>
        </p:nvSpPr>
        <p:spPr>
          <a:xfrm>
            <a:off x="8503920" y="4805172"/>
            <a:ext cx="548640" cy="320040"/>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8 / 14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11480" y="201168"/>
            <a:ext cx="8046720" cy="530352"/>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Adversarial Threat Evaluation</a:t>
            </a:r>
            <a:endParaRPr lang="en-US" sz="2800" dirty="0"/>
          </a:p>
        </p:txBody>
      </p:sp>
      <p:sp>
        <p:nvSpPr>
          <p:cNvPr id="3" name="Text 1"/>
          <p:cNvSpPr/>
          <p:nvPr/>
        </p:nvSpPr>
        <p:spPr>
          <a:xfrm>
            <a:off x="411480" y="749808"/>
            <a:ext cx="8046720" cy="292608"/>
          </a:xfrm>
          <a:prstGeom prst="rect">
            <a:avLst/>
          </a:prstGeom>
          <a:noFill/>
          <a:ln/>
        </p:spPr>
        <p:txBody>
          <a:bodyPr wrap="square" lIns="0" tIns="0" rIns="0" bIns="0" rtlCol="0" anchor="t"/>
          <a:lstStyle/>
          <a:p>
            <a:pPr algn="l" indent="0" marL="0">
              <a:buNone/>
            </a:pPr>
            <a:r>
              <a:rPr lang="en-US" sz="1300" i="1" dirty="0">
                <a:solidFill>
                  <a:srgbClr val="00D4FF"/>
                </a:solidFill>
                <a:latin typeface="Calibri" pitchFamily="34" charset="0"/>
                <a:ea typeface="Calibri" pitchFamily="34" charset="-122"/>
                <a:cs typeface="Calibri" pitchFamily="34" charset="-120"/>
              </a:rPr>
              <a:t>Attacking and Defending the Federated Learning Pipeline</a:t>
            </a:r>
            <a:endParaRPr lang="en-US" sz="1300" dirty="0"/>
          </a:p>
        </p:txBody>
      </p:sp>
      <p:sp>
        <p:nvSpPr>
          <p:cNvPr id="4" name="Shape 2"/>
          <p:cNvSpPr/>
          <p:nvPr/>
        </p:nvSpPr>
        <p:spPr>
          <a:xfrm>
            <a:off x="411480" y="1005840"/>
            <a:ext cx="8321040" cy="16459"/>
          </a:xfrm>
          <a:prstGeom prst="rect">
            <a:avLst/>
          </a:prstGeom>
          <a:solidFill>
            <a:srgbClr val="0891B2">
              <a:alpha val="60000"/>
            </a:srgbClr>
          </a:solidFill>
          <a:ln w="12700">
            <a:solidFill>
              <a:srgbClr val="0891B2"/>
            </a:solidFill>
            <a:prstDash val="solid"/>
          </a:ln>
        </p:spPr>
      </p:sp>
      <p:sp>
        <p:nvSpPr>
          <p:cNvPr id="5" name="Shape 3"/>
          <p:cNvSpPr/>
          <p:nvPr/>
        </p:nvSpPr>
        <p:spPr>
          <a:xfrm>
            <a:off x="411480" y="1143000"/>
            <a:ext cx="8321040" cy="105156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pic>
        <p:nvPicPr>
          <p:cNvPr id="6" name="Image 0" descr="preencoded.png">    </p:cNvPr>
          <p:cNvPicPr>
            <a:picLocks noChangeAspect="1"/>
          </p:cNvPicPr>
          <p:nvPr/>
        </p:nvPicPr>
        <p:blipFill>
          <a:blip r:embed="rId1"/>
          <a:stretch>
            <a:fillRect/>
          </a:stretch>
        </p:blipFill>
        <p:spPr>
          <a:xfrm>
            <a:off x="548640" y="1252728"/>
            <a:ext cx="457200" cy="457200"/>
          </a:xfrm>
          <a:prstGeom prst="rect">
            <a:avLst/>
          </a:prstGeom>
        </p:spPr>
      </p:pic>
      <p:sp>
        <p:nvSpPr>
          <p:cNvPr id="7" name="Text 4"/>
          <p:cNvSpPr/>
          <p:nvPr/>
        </p:nvSpPr>
        <p:spPr>
          <a:xfrm>
            <a:off x="1115568" y="1234440"/>
            <a:ext cx="6400800" cy="292608"/>
          </a:xfrm>
          <a:prstGeom prst="rect">
            <a:avLst/>
          </a:prstGeom>
          <a:noFill/>
          <a:ln/>
        </p:spPr>
        <p:txBody>
          <a:bodyPr wrap="square" lIns="0" tIns="0" rIns="0" bIns="0" rtlCol="0" anchor="ctr"/>
          <a:lstStyle/>
          <a:p>
            <a:pPr algn="l" indent="0" marL="0">
              <a:buNone/>
            </a:pPr>
            <a:r>
              <a:rPr lang="en-US" sz="1250" b="1" dirty="0">
                <a:solidFill>
                  <a:srgbClr val="EF4444"/>
                </a:solidFill>
                <a:latin typeface="Calibri" pitchFamily="34" charset="0"/>
                <a:ea typeface="Calibri" pitchFamily="34" charset="-122"/>
                <a:cs typeface="Calibri" pitchFamily="34" charset="-120"/>
              </a:rPr>
              <a:t>Data Poisoning Attack</a:t>
            </a:r>
            <a:endParaRPr lang="en-US" sz="1250" dirty="0"/>
          </a:p>
        </p:txBody>
      </p:sp>
      <p:sp>
        <p:nvSpPr>
          <p:cNvPr id="8" name="Text 5"/>
          <p:cNvSpPr/>
          <p:nvPr/>
        </p:nvSpPr>
        <p:spPr>
          <a:xfrm>
            <a:off x="1115568" y="1527048"/>
            <a:ext cx="6995160" cy="283464"/>
          </a:xfrm>
          <a:prstGeom prst="rect">
            <a:avLst/>
          </a:prstGeom>
          <a:noFill/>
          <a:ln/>
        </p:spPr>
        <p:txBody>
          <a:bodyPr wrap="square" lIns="0" tIns="0" rIns="0" bIns="0" rtlCol="0" anchor="ctr"/>
          <a:lstStyle/>
          <a:p>
            <a:pPr algn="l" indent="0" marL="0">
              <a:buNone/>
            </a:pPr>
            <a:r>
              <a:rPr lang="en-US" sz="1000" dirty="0">
                <a:solidFill>
                  <a:srgbClr val="E2E8F0"/>
                </a:solidFill>
                <a:latin typeface="Calibri" pitchFamily="34" charset="0"/>
                <a:ea typeface="Calibri" pitchFamily="34" charset="-122"/>
                <a:cs typeface="Calibri" pitchFamily="34" charset="-120"/>
              </a:rPr>
              <a:t>⚠ Attack: Malicious nodes inject corrupted model parameters into the global aggregation pipeline, causing systemic classification decay</a:t>
            </a:r>
            <a:endParaRPr lang="en-US" sz="1000" dirty="0"/>
          </a:p>
        </p:txBody>
      </p:sp>
      <p:sp>
        <p:nvSpPr>
          <p:cNvPr id="9" name="Text 6"/>
          <p:cNvSpPr/>
          <p:nvPr/>
        </p:nvSpPr>
        <p:spPr>
          <a:xfrm>
            <a:off x="1115568" y="1810512"/>
            <a:ext cx="6995160" cy="283464"/>
          </a:xfrm>
          <a:prstGeom prst="rect">
            <a:avLst/>
          </a:prstGeom>
          <a:noFill/>
          <a:ln/>
        </p:spPr>
        <p:txBody>
          <a:bodyPr wrap="square" lIns="0" tIns="0" rIns="0" bIns="0" rtlCol="0" anchor="ctr"/>
          <a:lstStyle/>
          <a:p>
            <a:pPr algn="l" indent="0" marL="0">
              <a:buNone/>
            </a:pPr>
            <a:r>
              <a:rPr lang="en-US" sz="1000" dirty="0">
                <a:solidFill>
                  <a:srgbClr val="10B981"/>
                </a:solidFill>
                <a:latin typeface="Calibri" pitchFamily="34" charset="0"/>
                <a:ea typeface="Calibri" pitchFamily="34" charset="-122"/>
                <a:cs typeface="Calibri" pitchFamily="34" charset="-120"/>
              </a:rPr>
              <a:t>✓ Defense: Euclidean distance metric validation: parameter vectors deviating beyond σ-boundary thresholds are quarantined and dropped</a:t>
            </a:r>
            <a:endParaRPr lang="en-US" sz="1000" dirty="0"/>
          </a:p>
        </p:txBody>
      </p:sp>
      <p:sp>
        <p:nvSpPr>
          <p:cNvPr id="10" name="Shape 7"/>
          <p:cNvSpPr/>
          <p:nvPr/>
        </p:nvSpPr>
        <p:spPr>
          <a:xfrm>
            <a:off x="411480" y="2304288"/>
            <a:ext cx="8321040" cy="105156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pic>
        <p:nvPicPr>
          <p:cNvPr id="11" name="Image 1" descr="preencoded.png">    </p:cNvPr>
          <p:cNvPicPr>
            <a:picLocks noChangeAspect="1"/>
          </p:cNvPicPr>
          <p:nvPr/>
        </p:nvPicPr>
        <p:blipFill>
          <a:blip r:embed="rId2"/>
          <a:stretch>
            <a:fillRect/>
          </a:stretch>
        </p:blipFill>
        <p:spPr>
          <a:xfrm>
            <a:off x="548640" y="2414016"/>
            <a:ext cx="457200" cy="457200"/>
          </a:xfrm>
          <a:prstGeom prst="rect">
            <a:avLst/>
          </a:prstGeom>
        </p:spPr>
      </p:pic>
      <p:sp>
        <p:nvSpPr>
          <p:cNvPr id="12" name="Text 8"/>
          <p:cNvSpPr/>
          <p:nvPr/>
        </p:nvSpPr>
        <p:spPr>
          <a:xfrm>
            <a:off x="1115568" y="2395728"/>
            <a:ext cx="6400800" cy="292608"/>
          </a:xfrm>
          <a:prstGeom prst="rect">
            <a:avLst/>
          </a:prstGeom>
          <a:noFill/>
          <a:ln/>
        </p:spPr>
        <p:txBody>
          <a:bodyPr wrap="square" lIns="0" tIns="0" rIns="0" bIns="0" rtlCol="0" anchor="ctr"/>
          <a:lstStyle/>
          <a:p>
            <a:pPr algn="l" indent="0" marL="0">
              <a:buNone/>
            </a:pPr>
            <a:r>
              <a:rPr lang="en-US" sz="1250" b="1" dirty="0">
                <a:solidFill>
                  <a:srgbClr val="F59E0B"/>
                </a:solidFill>
                <a:latin typeface="Calibri" pitchFamily="34" charset="0"/>
                <a:ea typeface="Calibri" pitchFamily="34" charset="-122"/>
                <a:cs typeface="Calibri" pitchFamily="34" charset="-120"/>
              </a:rPr>
              <a:t>Free-Rider Exploitation</a:t>
            </a:r>
            <a:endParaRPr lang="en-US" sz="1250" dirty="0"/>
          </a:p>
        </p:txBody>
      </p:sp>
      <p:sp>
        <p:nvSpPr>
          <p:cNvPr id="13" name="Text 9"/>
          <p:cNvSpPr/>
          <p:nvPr/>
        </p:nvSpPr>
        <p:spPr>
          <a:xfrm>
            <a:off x="1115568" y="2688336"/>
            <a:ext cx="6995160" cy="283464"/>
          </a:xfrm>
          <a:prstGeom prst="rect">
            <a:avLst/>
          </a:prstGeom>
          <a:noFill/>
          <a:ln/>
        </p:spPr>
        <p:txBody>
          <a:bodyPr wrap="square" lIns="0" tIns="0" rIns="0" bIns="0" rtlCol="0" anchor="ctr"/>
          <a:lstStyle/>
          <a:p>
            <a:pPr algn="l" indent="0" marL="0">
              <a:buNone/>
            </a:pPr>
            <a:r>
              <a:rPr lang="en-US" sz="1000" dirty="0">
                <a:solidFill>
                  <a:srgbClr val="E2E8F0"/>
                </a:solidFill>
                <a:latin typeface="Calibri" pitchFamily="34" charset="0"/>
                <a:ea typeface="Calibri" pitchFamily="34" charset="-122"/>
                <a:cs typeface="Calibri" pitchFamily="34" charset="-120"/>
              </a:rPr>
              <a:t>⚠ Attack: Rogue nodes receive global model intelligence updates without contributing any local compute or gradient submissions</a:t>
            </a:r>
            <a:endParaRPr lang="en-US" sz="1000" dirty="0"/>
          </a:p>
        </p:txBody>
      </p:sp>
      <p:sp>
        <p:nvSpPr>
          <p:cNvPr id="14" name="Text 10"/>
          <p:cNvSpPr/>
          <p:nvPr/>
        </p:nvSpPr>
        <p:spPr>
          <a:xfrm>
            <a:off x="1115568" y="2971800"/>
            <a:ext cx="6995160" cy="283464"/>
          </a:xfrm>
          <a:prstGeom prst="rect">
            <a:avLst/>
          </a:prstGeom>
          <a:noFill/>
          <a:ln/>
        </p:spPr>
        <p:txBody>
          <a:bodyPr wrap="square" lIns="0" tIns="0" rIns="0" bIns="0" rtlCol="0" anchor="ctr"/>
          <a:lstStyle/>
          <a:p>
            <a:pPr algn="l" indent="0" marL="0">
              <a:buNone/>
            </a:pPr>
            <a:r>
              <a:rPr lang="en-US" sz="1000" dirty="0">
                <a:solidFill>
                  <a:srgbClr val="10B981"/>
                </a:solidFill>
                <a:latin typeface="Calibri" pitchFamily="34" charset="0"/>
                <a:ea typeface="Calibri" pitchFamily="34" charset="-122"/>
                <a:cs typeface="Calibri" pitchFamily="34" charset="-120"/>
              </a:rPr>
              <a:t>✓ Defense: Peer-to-peer reputation scoring index tracks participation history; nodes with zero contribution are blacklisted from aggregation</a:t>
            </a:r>
            <a:endParaRPr lang="en-US" sz="1000" dirty="0"/>
          </a:p>
        </p:txBody>
      </p:sp>
      <p:sp>
        <p:nvSpPr>
          <p:cNvPr id="15" name="Shape 11"/>
          <p:cNvSpPr/>
          <p:nvPr/>
        </p:nvSpPr>
        <p:spPr>
          <a:xfrm>
            <a:off x="411480" y="3465576"/>
            <a:ext cx="8321040" cy="105156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pic>
        <p:nvPicPr>
          <p:cNvPr id="16" name="Image 2" descr="preencoded.png">    </p:cNvPr>
          <p:cNvPicPr>
            <a:picLocks noChangeAspect="1"/>
          </p:cNvPicPr>
          <p:nvPr/>
        </p:nvPicPr>
        <p:blipFill>
          <a:blip r:embed="rId3"/>
          <a:stretch>
            <a:fillRect/>
          </a:stretch>
        </p:blipFill>
        <p:spPr>
          <a:xfrm>
            <a:off x="548640" y="3575304"/>
            <a:ext cx="457200" cy="457200"/>
          </a:xfrm>
          <a:prstGeom prst="rect">
            <a:avLst/>
          </a:prstGeom>
        </p:spPr>
      </p:pic>
      <p:sp>
        <p:nvSpPr>
          <p:cNvPr id="17" name="Text 12"/>
          <p:cNvSpPr/>
          <p:nvPr/>
        </p:nvSpPr>
        <p:spPr>
          <a:xfrm>
            <a:off x="1115568" y="3557016"/>
            <a:ext cx="6400800" cy="292608"/>
          </a:xfrm>
          <a:prstGeom prst="rect">
            <a:avLst/>
          </a:prstGeom>
          <a:noFill/>
          <a:ln/>
        </p:spPr>
        <p:txBody>
          <a:bodyPr wrap="square" lIns="0" tIns="0" rIns="0" bIns="0" rtlCol="0" anchor="ctr"/>
          <a:lstStyle/>
          <a:p>
            <a:pPr algn="l" indent="0" marL="0">
              <a:buNone/>
            </a:pPr>
            <a:r>
              <a:rPr lang="en-US" sz="1250" b="1" dirty="0">
                <a:solidFill>
                  <a:srgbClr val="A78BFA"/>
                </a:solidFill>
                <a:latin typeface="Calibri" pitchFamily="34" charset="0"/>
                <a:ea typeface="Calibri" pitchFamily="34" charset="-122"/>
                <a:cs typeface="Calibri" pitchFamily="34" charset="-120"/>
              </a:rPr>
              <a:t>Gradient Inference Attack</a:t>
            </a:r>
            <a:endParaRPr lang="en-US" sz="1250" dirty="0"/>
          </a:p>
        </p:txBody>
      </p:sp>
      <p:sp>
        <p:nvSpPr>
          <p:cNvPr id="18" name="Text 13"/>
          <p:cNvSpPr/>
          <p:nvPr/>
        </p:nvSpPr>
        <p:spPr>
          <a:xfrm>
            <a:off x="1115568" y="3849624"/>
            <a:ext cx="6995160" cy="283464"/>
          </a:xfrm>
          <a:prstGeom prst="rect">
            <a:avLst/>
          </a:prstGeom>
          <a:noFill/>
          <a:ln/>
        </p:spPr>
        <p:txBody>
          <a:bodyPr wrap="square" lIns="0" tIns="0" rIns="0" bIns="0" rtlCol="0" anchor="ctr"/>
          <a:lstStyle/>
          <a:p>
            <a:pPr algn="l" indent="0" marL="0">
              <a:buNone/>
            </a:pPr>
            <a:r>
              <a:rPr lang="en-US" sz="1000" dirty="0">
                <a:solidFill>
                  <a:srgbClr val="E2E8F0"/>
                </a:solidFill>
                <a:latin typeface="Calibri" pitchFamily="34" charset="0"/>
                <a:ea typeface="Calibri" pitchFamily="34" charset="-122"/>
                <a:cs typeface="Calibri" pitchFamily="34" charset="-120"/>
              </a:rPr>
              <a:t>⚠ Attack: Adversary intercepts and reverse-engineers mathematical gradient updates to reconstruct private local training data</a:t>
            </a:r>
            <a:endParaRPr lang="en-US" sz="1000" dirty="0"/>
          </a:p>
        </p:txBody>
      </p:sp>
      <p:sp>
        <p:nvSpPr>
          <p:cNvPr id="19" name="Text 14"/>
          <p:cNvSpPr/>
          <p:nvPr/>
        </p:nvSpPr>
        <p:spPr>
          <a:xfrm>
            <a:off x="1115568" y="4133088"/>
            <a:ext cx="6995160" cy="283464"/>
          </a:xfrm>
          <a:prstGeom prst="rect">
            <a:avLst/>
          </a:prstGeom>
          <a:noFill/>
          <a:ln/>
        </p:spPr>
        <p:txBody>
          <a:bodyPr wrap="square" lIns="0" tIns="0" rIns="0" bIns="0" rtlCol="0" anchor="ctr"/>
          <a:lstStyle/>
          <a:p>
            <a:pPr algn="l" indent="0" marL="0">
              <a:buNone/>
            </a:pPr>
            <a:r>
              <a:rPr lang="en-US" sz="1000" dirty="0">
                <a:solidFill>
                  <a:srgbClr val="10B981"/>
                </a:solidFill>
                <a:latin typeface="Calibri" pitchFamily="34" charset="0"/>
                <a:ea typeface="Calibri" pitchFamily="34" charset="-122"/>
                <a:cs typeface="Calibri" pitchFamily="34" charset="-120"/>
              </a:rPr>
              <a:t>✓ Defense: DP noise injection renders gradient reconstruction mathematically infeasible; formal (ε, δ) bounds limit information leakage</a:t>
            </a:r>
            <a:endParaRPr lang="en-US" sz="1000" dirty="0"/>
          </a:p>
        </p:txBody>
      </p:sp>
      <p:sp>
        <p:nvSpPr>
          <p:cNvPr id="20" name="Text 15"/>
          <p:cNvSpPr/>
          <p:nvPr/>
        </p:nvSpPr>
        <p:spPr>
          <a:xfrm>
            <a:off x="411480" y="4645152"/>
            <a:ext cx="8321040" cy="164592"/>
          </a:xfrm>
          <a:prstGeom prst="rect">
            <a:avLst/>
          </a:prstGeom>
          <a:noFill/>
          <a:ln/>
        </p:spPr>
        <p:txBody>
          <a:bodyPr wrap="square" lIns="0" tIns="0" rIns="0" bIns="0" rtlCol="0" anchor="ctr"/>
          <a:lstStyle/>
          <a:p>
            <a:pPr algn="ctr" indent="0" marL="0">
              <a:buNone/>
            </a:pPr>
            <a:r>
              <a:rPr lang="en-US" sz="850" i="1" dirty="0">
                <a:solidFill>
                  <a:srgbClr val="94A3B8"/>
                </a:solidFill>
                <a:latin typeface="Calibri" pitchFamily="34" charset="0"/>
                <a:ea typeface="Calibri" pitchFamily="34" charset="-122"/>
                <a:cs typeface="Calibri" pitchFamily="34" charset="-120"/>
              </a:rPr>
              <a:t>Adversarial simulation uses Scapy-generated malicious traffic + injected rogue client nodes — evaluated against Euclidean distance filters &amp; DP budget bounds</a:t>
            </a:r>
            <a:endParaRPr lang="en-US" sz="850" dirty="0"/>
          </a:p>
        </p:txBody>
      </p:sp>
      <p:sp>
        <p:nvSpPr>
          <p:cNvPr id="21" name="Shape 16"/>
          <p:cNvSpPr/>
          <p:nvPr/>
        </p:nvSpPr>
        <p:spPr>
          <a:xfrm>
            <a:off x="0" y="4800600"/>
            <a:ext cx="9144000" cy="342900"/>
          </a:xfrm>
          <a:prstGeom prst="rect">
            <a:avLst/>
          </a:prstGeom>
          <a:solidFill>
            <a:srgbClr val="071020"/>
          </a:solidFill>
          <a:ln w="12700">
            <a:solidFill>
              <a:srgbClr val="071020"/>
            </a:solidFill>
            <a:prstDash val="solid"/>
          </a:ln>
        </p:spPr>
      </p:sp>
      <p:sp>
        <p:nvSpPr>
          <p:cNvPr id="22" name="Shape 17"/>
          <p:cNvSpPr/>
          <p:nvPr/>
        </p:nvSpPr>
        <p:spPr>
          <a:xfrm>
            <a:off x="0" y="4796028"/>
            <a:ext cx="9144000" cy="13716"/>
          </a:xfrm>
          <a:prstGeom prst="rect">
            <a:avLst/>
          </a:prstGeom>
          <a:solidFill>
            <a:srgbClr val="0891B2"/>
          </a:solidFill>
          <a:ln w="12700">
            <a:solidFill>
              <a:srgbClr val="0891B2"/>
            </a:solidFill>
            <a:prstDash val="solid"/>
          </a:ln>
        </p:spPr>
      </p:sp>
      <p:sp>
        <p:nvSpPr>
          <p:cNvPr id="23" name="Text 18"/>
          <p:cNvSpPr/>
          <p:nvPr/>
        </p:nvSpPr>
        <p:spPr>
          <a:xfrm>
            <a:off x="274320" y="4805172"/>
            <a:ext cx="8229600" cy="320040"/>
          </a:xfrm>
          <a:prstGeom prst="rect">
            <a:avLst/>
          </a:prstGeom>
          <a:noFill/>
          <a:ln/>
        </p:spPr>
        <p:txBody>
          <a:bodyPr wrap="square" lIns="0" tIns="0" rIns="0" bIns="0" rtlCol="0" anchor="ctr"/>
          <a:lstStyle/>
          <a:p>
            <a:pPr algn="l" indent="0" marL="0">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24" name="Text 19"/>
          <p:cNvSpPr/>
          <p:nvPr/>
        </p:nvSpPr>
        <p:spPr>
          <a:xfrm>
            <a:off x="8503920" y="4805172"/>
            <a:ext cx="548640" cy="320040"/>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9 / 14</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11480" y="201168"/>
            <a:ext cx="8046720" cy="530352"/>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Tools &amp; Technologies</a:t>
            </a:r>
            <a:endParaRPr lang="en-US" sz="2800" dirty="0"/>
          </a:p>
        </p:txBody>
      </p:sp>
      <p:sp>
        <p:nvSpPr>
          <p:cNvPr id="3" name="Text 1"/>
          <p:cNvSpPr/>
          <p:nvPr/>
        </p:nvSpPr>
        <p:spPr>
          <a:xfrm>
            <a:off x="411480" y="749808"/>
            <a:ext cx="8046720" cy="292608"/>
          </a:xfrm>
          <a:prstGeom prst="rect">
            <a:avLst/>
          </a:prstGeom>
          <a:noFill/>
          <a:ln/>
        </p:spPr>
        <p:txBody>
          <a:bodyPr wrap="square" lIns="0" tIns="0" rIns="0" bIns="0" rtlCol="0" anchor="t"/>
          <a:lstStyle/>
          <a:p>
            <a:pPr algn="l" indent="0" marL="0">
              <a:buNone/>
            </a:pPr>
            <a:r>
              <a:rPr lang="en-US" sz="1300" i="1" dirty="0">
                <a:solidFill>
                  <a:srgbClr val="00D4FF"/>
                </a:solidFill>
                <a:latin typeface="Calibri" pitchFamily="34" charset="0"/>
                <a:ea typeface="Calibri" pitchFamily="34" charset="-122"/>
                <a:cs typeface="Calibri" pitchFamily="34" charset="-120"/>
              </a:rPr>
              <a:t>Full-Stack Edge-to-Cloud Technology Architecture</a:t>
            </a:r>
            <a:endParaRPr lang="en-US" sz="1300" dirty="0"/>
          </a:p>
        </p:txBody>
      </p:sp>
      <p:sp>
        <p:nvSpPr>
          <p:cNvPr id="4" name="Shape 2"/>
          <p:cNvSpPr/>
          <p:nvPr/>
        </p:nvSpPr>
        <p:spPr>
          <a:xfrm>
            <a:off x="411480" y="1005840"/>
            <a:ext cx="8321040" cy="16459"/>
          </a:xfrm>
          <a:prstGeom prst="rect">
            <a:avLst/>
          </a:prstGeom>
          <a:solidFill>
            <a:srgbClr val="0891B2">
              <a:alpha val="60000"/>
            </a:srgbClr>
          </a:solidFill>
          <a:ln w="12700">
            <a:solidFill>
              <a:srgbClr val="0891B2"/>
            </a:solidFill>
            <a:prstDash val="solid"/>
          </a:ln>
        </p:spPr>
      </p:sp>
      <p:sp>
        <p:nvSpPr>
          <p:cNvPr id="5" name="Shape 3"/>
          <p:cNvSpPr/>
          <p:nvPr/>
        </p:nvSpPr>
        <p:spPr>
          <a:xfrm>
            <a:off x="411480" y="1143000"/>
            <a:ext cx="3977640" cy="1572768"/>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sp>
        <p:nvSpPr>
          <p:cNvPr id="6" name="Shape 4"/>
          <p:cNvSpPr/>
          <p:nvPr/>
        </p:nvSpPr>
        <p:spPr>
          <a:xfrm>
            <a:off x="411480" y="1143000"/>
            <a:ext cx="3977640" cy="347472"/>
          </a:xfrm>
          <a:prstGeom prst="rect">
            <a:avLst/>
          </a:prstGeom>
          <a:solidFill>
            <a:srgbClr val="0891B2">
              <a:alpha val="25000"/>
            </a:srgbClr>
          </a:solidFill>
          <a:ln w="12700">
            <a:solidFill>
              <a:srgbClr val="0891B2"/>
            </a:solidFill>
            <a:prstDash val="solid"/>
          </a:ln>
        </p:spPr>
      </p:sp>
      <p:sp>
        <p:nvSpPr>
          <p:cNvPr id="7" name="Text 5"/>
          <p:cNvSpPr/>
          <p:nvPr/>
        </p:nvSpPr>
        <p:spPr>
          <a:xfrm>
            <a:off x="548640" y="1179576"/>
            <a:ext cx="3749040" cy="274320"/>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Hardware Layer</a:t>
            </a:r>
            <a:endParaRPr lang="en-US" sz="1150" dirty="0"/>
          </a:p>
        </p:txBody>
      </p:sp>
      <p:sp>
        <p:nvSpPr>
          <p:cNvPr id="8" name="Text 6"/>
          <p:cNvSpPr/>
          <p:nvPr/>
        </p:nvSpPr>
        <p:spPr>
          <a:xfrm>
            <a:off x="548640" y="1536192"/>
            <a:ext cx="3730752" cy="246888"/>
          </a:xfrm>
          <a:prstGeom prst="rect">
            <a:avLst/>
          </a:prstGeom>
          <a:noFill/>
          <a:ln/>
        </p:spPr>
        <p:txBody>
          <a:bodyPr wrap="square" lIns="0" tIns="0" rIns="0" bIns="0" rtlCol="0" anchor="ctr"/>
          <a:lstStyle/>
          <a:p>
            <a:pPr algn="l" indent="0" marL="0">
              <a:buNone/>
            </a:pPr>
            <a:r>
              <a:rPr lang="en-US" sz="1050" dirty="0">
                <a:solidFill>
                  <a:srgbClr val="E2E8F0"/>
                </a:solidFill>
                <a:latin typeface="Calibri" pitchFamily="34" charset="0"/>
                <a:ea typeface="Calibri" pitchFamily="34" charset="-122"/>
                <a:cs typeface="Calibri" pitchFamily="34" charset="-120"/>
              </a:rPr>
              <a:t>▸  Raspberry Pi 4 (ARM Cortex-A72)</a:t>
            </a:r>
            <a:endParaRPr lang="en-US" sz="1050" dirty="0"/>
          </a:p>
        </p:txBody>
      </p:sp>
      <p:sp>
        <p:nvSpPr>
          <p:cNvPr id="9" name="Text 7"/>
          <p:cNvSpPr/>
          <p:nvPr/>
        </p:nvSpPr>
        <p:spPr>
          <a:xfrm>
            <a:off x="548640" y="1810512"/>
            <a:ext cx="3730752" cy="246888"/>
          </a:xfrm>
          <a:prstGeom prst="rect">
            <a:avLst/>
          </a:prstGeom>
          <a:noFill/>
          <a:ln/>
        </p:spPr>
        <p:txBody>
          <a:bodyPr wrap="square" lIns="0" tIns="0" rIns="0" bIns="0" rtlCol="0" anchor="ctr"/>
          <a:lstStyle/>
          <a:p>
            <a:pPr algn="l" indent="0" marL="0">
              <a:buNone/>
            </a:pPr>
            <a:r>
              <a:rPr lang="en-US" sz="1050" dirty="0">
                <a:solidFill>
                  <a:srgbClr val="E2E8F0"/>
                </a:solidFill>
                <a:latin typeface="Calibri" pitchFamily="34" charset="0"/>
                <a:ea typeface="Calibri" pitchFamily="34" charset="-122"/>
                <a:cs typeface="Calibri" pitchFamily="34" charset="-120"/>
              </a:rPr>
              <a:t>▸  ESP32 NodeMCU (Tensilica)</a:t>
            </a:r>
            <a:endParaRPr lang="en-US" sz="1050" dirty="0"/>
          </a:p>
        </p:txBody>
      </p:sp>
      <p:sp>
        <p:nvSpPr>
          <p:cNvPr id="10" name="Text 8"/>
          <p:cNvSpPr/>
          <p:nvPr/>
        </p:nvSpPr>
        <p:spPr>
          <a:xfrm>
            <a:off x="548640" y="2084832"/>
            <a:ext cx="3730752" cy="246888"/>
          </a:xfrm>
          <a:prstGeom prst="rect">
            <a:avLst/>
          </a:prstGeom>
          <a:noFill/>
          <a:ln/>
        </p:spPr>
        <p:txBody>
          <a:bodyPr wrap="square" lIns="0" tIns="0" rIns="0" bIns="0" rtlCol="0" anchor="ctr"/>
          <a:lstStyle/>
          <a:p>
            <a:pPr algn="l" indent="0" marL="0">
              <a:buNone/>
            </a:pPr>
            <a:r>
              <a:rPr lang="en-US" sz="1050" dirty="0">
                <a:solidFill>
                  <a:srgbClr val="E2E8F0"/>
                </a:solidFill>
                <a:latin typeface="Calibri" pitchFamily="34" charset="0"/>
                <a:ea typeface="Calibri" pitchFamily="34" charset="-122"/>
                <a:cs typeface="Calibri" pitchFamily="34" charset="-120"/>
              </a:rPr>
              <a:t>▸  DHT11 Sensors + PIR Motion</a:t>
            </a:r>
            <a:endParaRPr lang="en-US" sz="1050" dirty="0"/>
          </a:p>
        </p:txBody>
      </p:sp>
      <p:sp>
        <p:nvSpPr>
          <p:cNvPr id="11" name="Text 9"/>
          <p:cNvSpPr/>
          <p:nvPr/>
        </p:nvSpPr>
        <p:spPr>
          <a:xfrm>
            <a:off x="548640" y="2359152"/>
            <a:ext cx="3730752" cy="246888"/>
          </a:xfrm>
          <a:prstGeom prst="rect">
            <a:avLst/>
          </a:prstGeom>
          <a:noFill/>
          <a:ln/>
        </p:spPr>
        <p:txBody>
          <a:bodyPr wrap="square" lIns="0" tIns="0" rIns="0" bIns="0" rtlCol="0" anchor="ctr"/>
          <a:lstStyle/>
          <a:p>
            <a:pPr algn="l" indent="0" marL="0">
              <a:buNone/>
            </a:pPr>
            <a:r>
              <a:rPr lang="en-US" sz="1050" dirty="0">
                <a:solidFill>
                  <a:srgbClr val="E2E8F0"/>
                </a:solidFill>
                <a:latin typeface="Calibri" pitchFamily="34" charset="0"/>
                <a:ea typeface="Calibri" pitchFamily="34" charset="-122"/>
                <a:cs typeface="Calibri" pitchFamily="34" charset="-120"/>
              </a:rPr>
              <a:t>▸  Ethernet Hub Infrastructure</a:t>
            </a:r>
            <a:endParaRPr lang="en-US" sz="1050" dirty="0"/>
          </a:p>
        </p:txBody>
      </p:sp>
      <p:sp>
        <p:nvSpPr>
          <p:cNvPr id="12" name="Shape 10"/>
          <p:cNvSpPr/>
          <p:nvPr/>
        </p:nvSpPr>
        <p:spPr>
          <a:xfrm>
            <a:off x="4663440" y="1143000"/>
            <a:ext cx="3977640" cy="1572768"/>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sp>
        <p:nvSpPr>
          <p:cNvPr id="13" name="Shape 11"/>
          <p:cNvSpPr/>
          <p:nvPr/>
        </p:nvSpPr>
        <p:spPr>
          <a:xfrm>
            <a:off x="4663440" y="1143000"/>
            <a:ext cx="3977640" cy="347472"/>
          </a:xfrm>
          <a:prstGeom prst="rect">
            <a:avLst/>
          </a:prstGeom>
          <a:solidFill>
            <a:srgbClr val="00D4FF">
              <a:alpha val="25000"/>
            </a:srgbClr>
          </a:solidFill>
          <a:ln w="12700">
            <a:solidFill>
              <a:srgbClr val="00D4FF"/>
            </a:solidFill>
            <a:prstDash val="solid"/>
          </a:ln>
        </p:spPr>
      </p:sp>
      <p:sp>
        <p:nvSpPr>
          <p:cNvPr id="14" name="Text 12"/>
          <p:cNvSpPr/>
          <p:nvPr/>
        </p:nvSpPr>
        <p:spPr>
          <a:xfrm>
            <a:off x="4800600" y="1179576"/>
            <a:ext cx="3749040" cy="274320"/>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ML &amp; Privacy</a:t>
            </a:r>
            <a:endParaRPr lang="en-US" sz="1150" dirty="0"/>
          </a:p>
        </p:txBody>
      </p:sp>
      <p:sp>
        <p:nvSpPr>
          <p:cNvPr id="15" name="Text 13"/>
          <p:cNvSpPr/>
          <p:nvPr/>
        </p:nvSpPr>
        <p:spPr>
          <a:xfrm>
            <a:off x="4800600" y="1536192"/>
            <a:ext cx="3730752" cy="246888"/>
          </a:xfrm>
          <a:prstGeom prst="rect">
            <a:avLst/>
          </a:prstGeom>
          <a:noFill/>
          <a:ln/>
        </p:spPr>
        <p:txBody>
          <a:bodyPr wrap="square" lIns="0" tIns="0" rIns="0" bIns="0" rtlCol="0" anchor="ctr"/>
          <a:lstStyle/>
          <a:p>
            <a:pPr algn="l" indent="0" marL="0">
              <a:buNone/>
            </a:pPr>
            <a:r>
              <a:rPr lang="en-US" sz="1050" dirty="0">
                <a:solidFill>
                  <a:srgbClr val="E2E8F0"/>
                </a:solidFill>
                <a:latin typeface="Calibri" pitchFamily="34" charset="0"/>
                <a:ea typeface="Calibri" pitchFamily="34" charset="-122"/>
                <a:cs typeface="Calibri" pitchFamily="34" charset="-120"/>
              </a:rPr>
              <a:t>▸  PyTorch + PyTorch Lightning</a:t>
            </a:r>
            <a:endParaRPr lang="en-US" sz="1050" dirty="0"/>
          </a:p>
        </p:txBody>
      </p:sp>
      <p:sp>
        <p:nvSpPr>
          <p:cNvPr id="16" name="Text 14"/>
          <p:cNvSpPr/>
          <p:nvPr/>
        </p:nvSpPr>
        <p:spPr>
          <a:xfrm>
            <a:off x="4800600" y="1810512"/>
            <a:ext cx="3730752" cy="246888"/>
          </a:xfrm>
          <a:prstGeom prst="rect">
            <a:avLst/>
          </a:prstGeom>
          <a:noFill/>
          <a:ln/>
        </p:spPr>
        <p:txBody>
          <a:bodyPr wrap="square" lIns="0" tIns="0" rIns="0" bIns="0" rtlCol="0" anchor="ctr"/>
          <a:lstStyle/>
          <a:p>
            <a:pPr algn="l" indent="0" marL="0">
              <a:buNone/>
            </a:pPr>
            <a:r>
              <a:rPr lang="en-US" sz="1050" dirty="0">
                <a:solidFill>
                  <a:srgbClr val="E2E8F0"/>
                </a:solidFill>
                <a:latin typeface="Calibri" pitchFamily="34" charset="0"/>
                <a:ea typeface="Calibri" pitchFamily="34" charset="-122"/>
                <a:cs typeface="Calibri" pitchFamily="34" charset="-120"/>
              </a:rPr>
              <a:t>▸  Flower (flwr) FL Framework</a:t>
            </a:r>
            <a:endParaRPr lang="en-US" sz="1050" dirty="0"/>
          </a:p>
        </p:txBody>
      </p:sp>
      <p:sp>
        <p:nvSpPr>
          <p:cNvPr id="17" name="Text 15"/>
          <p:cNvSpPr/>
          <p:nvPr/>
        </p:nvSpPr>
        <p:spPr>
          <a:xfrm>
            <a:off x="4800600" y="2084832"/>
            <a:ext cx="3730752" cy="246888"/>
          </a:xfrm>
          <a:prstGeom prst="rect">
            <a:avLst/>
          </a:prstGeom>
          <a:noFill/>
          <a:ln/>
        </p:spPr>
        <p:txBody>
          <a:bodyPr wrap="square" lIns="0" tIns="0" rIns="0" bIns="0" rtlCol="0" anchor="ctr"/>
          <a:lstStyle/>
          <a:p>
            <a:pPr algn="l" indent="0" marL="0">
              <a:buNone/>
            </a:pPr>
            <a:r>
              <a:rPr lang="en-US" sz="1050" dirty="0">
                <a:solidFill>
                  <a:srgbClr val="E2E8F0"/>
                </a:solidFill>
                <a:latin typeface="Calibri" pitchFamily="34" charset="0"/>
                <a:ea typeface="Calibri" pitchFamily="34" charset="-122"/>
                <a:cs typeface="Calibri" pitchFamily="34" charset="-120"/>
              </a:rPr>
              <a:t>▸  Opacus (DP Engine)</a:t>
            </a:r>
            <a:endParaRPr lang="en-US" sz="1050" dirty="0"/>
          </a:p>
        </p:txBody>
      </p:sp>
      <p:sp>
        <p:nvSpPr>
          <p:cNvPr id="18" name="Text 16"/>
          <p:cNvSpPr/>
          <p:nvPr/>
        </p:nvSpPr>
        <p:spPr>
          <a:xfrm>
            <a:off x="4800600" y="2359152"/>
            <a:ext cx="3730752" cy="246888"/>
          </a:xfrm>
          <a:prstGeom prst="rect">
            <a:avLst/>
          </a:prstGeom>
          <a:noFill/>
          <a:ln/>
        </p:spPr>
        <p:txBody>
          <a:bodyPr wrap="square" lIns="0" tIns="0" rIns="0" bIns="0" rtlCol="0" anchor="ctr"/>
          <a:lstStyle/>
          <a:p>
            <a:pPr algn="l" indent="0" marL="0">
              <a:buNone/>
            </a:pPr>
            <a:r>
              <a:rPr lang="en-US" sz="1050" dirty="0">
                <a:solidFill>
                  <a:srgbClr val="E2E8F0"/>
                </a:solidFill>
                <a:latin typeface="Calibri" pitchFamily="34" charset="0"/>
                <a:ea typeface="Calibri" pitchFamily="34" charset="-122"/>
                <a:cs typeface="Calibri" pitchFamily="34" charset="-120"/>
              </a:rPr>
              <a:t>▸  Scikit-Learn Classifiers</a:t>
            </a:r>
            <a:endParaRPr lang="en-US" sz="1050" dirty="0"/>
          </a:p>
        </p:txBody>
      </p:sp>
      <p:sp>
        <p:nvSpPr>
          <p:cNvPr id="19" name="Shape 17"/>
          <p:cNvSpPr/>
          <p:nvPr/>
        </p:nvSpPr>
        <p:spPr>
          <a:xfrm>
            <a:off x="411480" y="2880360"/>
            <a:ext cx="3977640" cy="1572768"/>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sp>
        <p:nvSpPr>
          <p:cNvPr id="20" name="Shape 18"/>
          <p:cNvSpPr/>
          <p:nvPr/>
        </p:nvSpPr>
        <p:spPr>
          <a:xfrm>
            <a:off x="411480" y="2880360"/>
            <a:ext cx="3977640" cy="347472"/>
          </a:xfrm>
          <a:prstGeom prst="rect">
            <a:avLst/>
          </a:prstGeom>
          <a:solidFill>
            <a:srgbClr val="10B981">
              <a:alpha val="25000"/>
            </a:srgbClr>
          </a:solidFill>
          <a:ln w="12700">
            <a:solidFill>
              <a:srgbClr val="10B981"/>
            </a:solidFill>
            <a:prstDash val="solid"/>
          </a:ln>
        </p:spPr>
      </p:sp>
      <p:sp>
        <p:nvSpPr>
          <p:cNvPr id="21" name="Text 19"/>
          <p:cNvSpPr/>
          <p:nvPr/>
        </p:nvSpPr>
        <p:spPr>
          <a:xfrm>
            <a:off x="548640" y="2916936"/>
            <a:ext cx="3749040" cy="274320"/>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Backend &amp; Data</a:t>
            </a:r>
            <a:endParaRPr lang="en-US" sz="1150" dirty="0"/>
          </a:p>
        </p:txBody>
      </p:sp>
      <p:sp>
        <p:nvSpPr>
          <p:cNvPr id="22" name="Text 20"/>
          <p:cNvSpPr/>
          <p:nvPr/>
        </p:nvSpPr>
        <p:spPr>
          <a:xfrm>
            <a:off x="548640" y="3273552"/>
            <a:ext cx="3730752" cy="246888"/>
          </a:xfrm>
          <a:prstGeom prst="rect">
            <a:avLst/>
          </a:prstGeom>
          <a:noFill/>
          <a:ln/>
        </p:spPr>
        <p:txBody>
          <a:bodyPr wrap="square" lIns="0" tIns="0" rIns="0" bIns="0" rtlCol="0" anchor="ctr"/>
          <a:lstStyle/>
          <a:p>
            <a:pPr algn="l" indent="0" marL="0">
              <a:buNone/>
            </a:pPr>
            <a:r>
              <a:rPr lang="en-US" sz="1050" dirty="0">
                <a:solidFill>
                  <a:srgbClr val="E2E8F0"/>
                </a:solidFill>
                <a:latin typeface="Calibri" pitchFamily="34" charset="0"/>
                <a:ea typeface="Calibri" pitchFamily="34" charset="-122"/>
                <a:cs typeface="Calibri" pitchFamily="34" charset="-120"/>
              </a:rPr>
              <a:t>▸  FastAPI (Async)</a:t>
            </a:r>
            <a:endParaRPr lang="en-US" sz="1050" dirty="0"/>
          </a:p>
        </p:txBody>
      </p:sp>
      <p:sp>
        <p:nvSpPr>
          <p:cNvPr id="23" name="Text 21"/>
          <p:cNvSpPr/>
          <p:nvPr/>
        </p:nvSpPr>
        <p:spPr>
          <a:xfrm>
            <a:off x="548640" y="3547872"/>
            <a:ext cx="3730752" cy="246888"/>
          </a:xfrm>
          <a:prstGeom prst="rect">
            <a:avLst/>
          </a:prstGeom>
          <a:noFill/>
          <a:ln/>
        </p:spPr>
        <p:txBody>
          <a:bodyPr wrap="square" lIns="0" tIns="0" rIns="0" bIns="0" rtlCol="0" anchor="ctr"/>
          <a:lstStyle/>
          <a:p>
            <a:pPr algn="l" indent="0" marL="0">
              <a:buNone/>
            </a:pPr>
            <a:r>
              <a:rPr lang="en-US" sz="1050" dirty="0">
                <a:solidFill>
                  <a:srgbClr val="E2E8F0"/>
                </a:solidFill>
                <a:latin typeface="Calibri" pitchFamily="34" charset="0"/>
                <a:ea typeface="Calibri" pitchFamily="34" charset="-122"/>
                <a:cs typeface="Calibri" pitchFamily="34" charset="-120"/>
              </a:rPr>
              <a:t>▸  PostgreSQL + InfluxDB</a:t>
            </a:r>
            <a:endParaRPr lang="en-US" sz="1050" dirty="0"/>
          </a:p>
        </p:txBody>
      </p:sp>
      <p:sp>
        <p:nvSpPr>
          <p:cNvPr id="24" name="Text 22"/>
          <p:cNvSpPr/>
          <p:nvPr/>
        </p:nvSpPr>
        <p:spPr>
          <a:xfrm>
            <a:off x="548640" y="3822192"/>
            <a:ext cx="3730752" cy="246888"/>
          </a:xfrm>
          <a:prstGeom prst="rect">
            <a:avLst/>
          </a:prstGeom>
          <a:noFill/>
          <a:ln/>
        </p:spPr>
        <p:txBody>
          <a:bodyPr wrap="square" lIns="0" tIns="0" rIns="0" bIns="0" rtlCol="0" anchor="ctr"/>
          <a:lstStyle/>
          <a:p>
            <a:pPr algn="l" indent="0" marL="0">
              <a:buNone/>
            </a:pPr>
            <a:r>
              <a:rPr lang="en-US" sz="1050" dirty="0">
                <a:solidFill>
                  <a:srgbClr val="E2E8F0"/>
                </a:solidFill>
                <a:latin typeface="Calibri" pitchFamily="34" charset="0"/>
                <a:ea typeface="Calibri" pitchFamily="34" charset="-122"/>
                <a:cs typeface="Calibri" pitchFamily="34" charset="-120"/>
              </a:rPr>
              <a:t>▸  Redis Cache + Docker</a:t>
            </a:r>
            <a:endParaRPr lang="en-US" sz="1050" dirty="0"/>
          </a:p>
        </p:txBody>
      </p:sp>
      <p:sp>
        <p:nvSpPr>
          <p:cNvPr id="25" name="Text 23"/>
          <p:cNvSpPr/>
          <p:nvPr/>
        </p:nvSpPr>
        <p:spPr>
          <a:xfrm>
            <a:off x="548640" y="4096512"/>
            <a:ext cx="3730752" cy="246888"/>
          </a:xfrm>
          <a:prstGeom prst="rect">
            <a:avLst/>
          </a:prstGeom>
          <a:noFill/>
          <a:ln/>
        </p:spPr>
        <p:txBody>
          <a:bodyPr wrap="square" lIns="0" tIns="0" rIns="0" bIns="0" rtlCol="0" anchor="ctr"/>
          <a:lstStyle/>
          <a:p>
            <a:pPr algn="l" indent="0" marL="0">
              <a:buNone/>
            </a:pPr>
            <a:r>
              <a:rPr lang="en-US" sz="1050" dirty="0">
                <a:solidFill>
                  <a:srgbClr val="E2E8F0"/>
                </a:solidFill>
                <a:latin typeface="Calibri" pitchFamily="34" charset="0"/>
                <a:ea typeface="Calibri" pitchFamily="34" charset="-122"/>
                <a:cs typeface="Calibri" pitchFamily="34" charset="-120"/>
              </a:rPr>
              <a:t>▸  Mosquitto MQTT Broker</a:t>
            </a:r>
            <a:endParaRPr lang="en-US" sz="1050" dirty="0"/>
          </a:p>
        </p:txBody>
      </p:sp>
      <p:sp>
        <p:nvSpPr>
          <p:cNvPr id="26" name="Shape 24"/>
          <p:cNvSpPr/>
          <p:nvPr/>
        </p:nvSpPr>
        <p:spPr>
          <a:xfrm>
            <a:off x="4663440" y="2880360"/>
            <a:ext cx="3977640" cy="1572768"/>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sp>
        <p:nvSpPr>
          <p:cNvPr id="27" name="Shape 25"/>
          <p:cNvSpPr/>
          <p:nvPr/>
        </p:nvSpPr>
        <p:spPr>
          <a:xfrm>
            <a:off x="4663440" y="2880360"/>
            <a:ext cx="3977640" cy="347472"/>
          </a:xfrm>
          <a:prstGeom prst="rect">
            <a:avLst/>
          </a:prstGeom>
          <a:solidFill>
            <a:srgbClr val="F59E0B">
              <a:alpha val="25000"/>
            </a:srgbClr>
          </a:solidFill>
          <a:ln w="12700">
            <a:solidFill>
              <a:srgbClr val="F59E0B"/>
            </a:solidFill>
            <a:prstDash val="solid"/>
          </a:ln>
        </p:spPr>
      </p:sp>
      <p:sp>
        <p:nvSpPr>
          <p:cNvPr id="28" name="Text 26"/>
          <p:cNvSpPr/>
          <p:nvPr/>
        </p:nvSpPr>
        <p:spPr>
          <a:xfrm>
            <a:off x="4800600" y="2916936"/>
            <a:ext cx="3749040" cy="274320"/>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Frontend &amp; Intelligence</a:t>
            </a:r>
            <a:endParaRPr lang="en-US" sz="1150" dirty="0"/>
          </a:p>
        </p:txBody>
      </p:sp>
      <p:sp>
        <p:nvSpPr>
          <p:cNvPr id="29" name="Text 27"/>
          <p:cNvSpPr/>
          <p:nvPr/>
        </p:nvSpPr>
        <p:spPr>
          <a:xfrm>
            <a:off x="4800600" y="3273552"/>
            <a:ext cx="3730752" cy="246888"/>
          </a:xfrm>
          <a:prstGeom prst="rect">
            <a:avLst/>
          </a:prstGeom>
          <a:noFill/>
          <a:ln/>
        </p:spPr>
        <p:txBody>
          <a:bodyPr wrap="square" lIns="0" tIns="0" rIns="0" bIns="0" rtlCol="0" anchor="ctr"/>
          <a:lstStyle/>
          <a:p>
            <a:pPr algn="l" indent="0" marL="0">
              <a:buNone/>
            </a:pPr>
            <a:r>
              <a:rPr lang="en-US" sz="1050" dirty="0">
                <a:solidFill>
                  <a:srgbClr val="E2E8F0"/>
                </a:solidFill>
                <a:latin typeface="Calibri" pitchFamily="34" charset="0"/>
                <a:ea typeface="Calibri" pitchFamily="34" charset="-122"/>
                <a:cs typeface="Calibri" pitchFamily="34" charset="-120"/>
              </a:rPr>
              <a:t>▸  React.js + Tailwind CSS</a:t>
            </a:r>
            <a:endParaRPr lang="en-US" sz="1050" dirty="0"/>
          </a:p>
        </p:txBody>
      </p:sp>
      <p:sp>
        <p:nvSpPr>
          <p:cNvPr id="30" name="Text 28"/>
          <p:cNvSpPr/>
          <p:nvPr/>
        </p:nvSpPr>
        <p:spPr>
          <a:xfrm>
            <a:off x="4800600" y="3547872"/>
            <a:ext cx="3730752" cy="246888"/>
          </a:xfrm>
          <a:prstGeom prst="rect">
            <a:avLst/>
          </a:prstGeom>
          <a:noFill/>
          <a:ln/>
        </p:spPr>
        <p:txBody>
          <a:bodyPr wrap="square" lIns="0" tIns="0" rIns="0" bIns="0" rtlCol="0" anchor="ctr"/>
          <a:lstStyle/>
          <a:p>
            <a:pPr algn="l" indent="0" marL="0">
              <a:buNone/>
            </a:pPr>
            <a:r>
              <a:rPr lang="en-US" sz="1050" dirty="0">
                <a:solidFill>
                  <a:srgbClr val="E2E8F0"/>
                </a:solidFill>
                <a:latin typeface="Calibri" pitchFamily="34" charset="0"/>
                <a:ea typeface="Calibri" pitchFamily="34" charset="-122"/>
                <a:cs typeface="Calibri" pitchFamily="34" charset="-120"/>
              </a:rPr>
              <a:t>▸  D3.js + Recharts Topology</a:t>
            </a:r>
            <a:endParaRPr lang="en-US" sz="1050" dirty="0"/>
          </a:p>
        </p:txBody>
      </p:sp>
      <p:sp>
        <p:nvSpPr>
          <p:cNvPr id="31" name="Text 29"/>
          <p:cNvSpPr/>
          <p:nvPr/>
        </p:nvSpPr>
        <p:spPr>
          <a:xfrm>
            <a:off x="4800600" y="3822192"/>
            <a:ext cx="3730752" cy="246888"/>
          </a:xfrm>
          <a:prstGeom prst="rect">
            <a:avLst/>
          </a:prstGeom>
          <a:noFill/>
          <a:ln/>
        </p:spPr>
        <p:txBody>
          <a:bodyPr wrap="square" lIns="0" tIns="0" rIns="0" bIns="0" rtlCol="0" anchor="ctr"/>
          <a:lstStyle/>
          <a:p>
            <a:pPr algn="l" indent="0" marL="0">
              <a:buNone/>
            </a:pPr>
            <a:r>
              <a:rPr lang="en-US" sz="1050" dirty="0">
                <a:solidFill>
                  <a:srgbClr val="E2E8F0"/>
                </a:solidFill>
                <a:latin typeface="Calibri" pitchFamily="34" charset="0"/>
                <a:ea typeface="Calibri" pitchFamily="34" charset="-122"/>
                <a:cs typeface="Calibri" pitchFamily="34" charset="-120"/>
              </a:rPr>
              <a:t>▸  WebSockets Protocol</a:t>
            </a:r>
            <a:endParaRPr lang="en-US" sz="1050" dirty="0"/>
          </a:p>
        </p:txBody>
      </p:sp>
      <p:sp>
        <p:nvSpPr>
          <p:cNvPr id="32" name="Text 30"/>
          <p:cNvSpPr/>
          <p:nvPr/>
        </p:nvSpPr>
        <p:spPr>
          <a:xfrm>
            <a:off x="4800600" y="4096512"/>
            <a:ext cx="3730752" cy="246888"/>
          </a:xfrm>
          <a:prstGeom prst="rect">
            <a:avLst/>
          </a:prstGeom>
          <a:noFill/>
          <a:ln/>
        </p:spPr>
        <p:txBody>
          <a:bodyPr wrap="square" lIns="0" tIns="0" rIns="0" bIns="0" rtlCol="0" anchor="ctr"/>
          <a:lstStyle/>
          <a:p>
            <a:pPr algn="l" indent="0" marL="0">
              <a:buNone/>
            </a:pPr>
            <a:r>
              <a:rPr lang="en-US" sz="1050" dirty="0">
                <a:solidFill>
                  <a:srgbClr val="E2E8F0"/>
                </a:solidFill>
                <a:latin typeface="Calibri" pitchFamily="34" charset="0"/>
                <a:ea typeface="Calibri" pitchFamily="34" charset="-122"/>
                <a:cs typeface="Calibri" pitchFamily="34" charset="-120"/>
              </a:rPr>
              <a:t>▸  Anthropic Claude API</a:t>
            </a:r>
            <a:endParaRPr lang="en-US" sz="1050" dirty="0"/>
          </a:p>
        </p:txBody>
      </p:sp>
      <p:sp>
        <p:nvSpPr>
          <p:cNvPr id="33" name="Text 31"/>
          <p:cNvSpPr/>
          <p:nvPr/>
        </p:nvSpPr>
        <p:spPr>
          <a:xfrm>
            <a:off x="411480" y="4645152"/>
            <a:ext cx="8321040" cy="164592"/>
          </a:xfrm>
          <a:prstGeom prst="rect">
            <a:avLst/>
          </a:prstGeom>
          <a:noFill/>
          <a:ln/>
        </p:spPr>
        <p:txBody>
          <a:bodyPr wrap="square" lIns="0" tIns="0" rIns="0" bIns="0" rtlCol="0" anchor="ctr"/>
          <a:lstStyle/>
          <a:p>
            <a:pPr algn="ctr" indent="0" marL="0">
              <a:buNone/>
            </a:pPr>
            <a:r>
              <a:rPr lang="en-US" sz="900" i="1" dirty="0">
                <a:solidFill>
                  <a:srgbClr val="94A3B8"/>
                </a:solidFill>
                <a:latin typeface="Calibri" pitchFamily="34" charset="0"/>
                <a:ea typeface="Calibri" pitchFamily="34" charset="-122"/>
                <a:cs typeface="Calibri" pitchFamily="34" charset="-120"/>
              </a:rPr>
              <a:t>Scapy (traffic generation) · CICFlowMeter (feature extraction) · Nmap (port scanning) · Arduino IDE (ESP32 firmware)</a:t>
            </a:r>
            <a:endParaRPr lang="en-US" sz="900" dirty="0"/>
          </a:p>
        </p:txBody>
      </p:sp>
      <p:sp>
        <p:nvSpPr>
          <p:cNvPr id="34" name="Shape 32"/>
          <p:cNvSpPr/>
          <p:nvPr/>
        </p:nvSpPr>
        <p:spPr>
          <a:xfrm>
            <a:off x="0" y="4800600"/>
            <a:ext cx="9144000" cy="342900"/>
          </a:xfrm>
          <a:prstGeom prst="rect">
            <a:avLst/>
          </a:prstGeom>
          <a:solidFill>
            <a:srgbClr val="071020"/>
          </a:solidFill>
          <a:ln w="12700">
            <a:solidFill>
              <a:srgbClr val="071020"/>
            </a:solidFill>
            <a:prstDash val="solid"/>
          </a:ln>
        </p:spPr>
      </p:sp>
      <p:sp>
        <p:nvSpPr>
          <p:cNvPr id="35" name="Shape 33"/>
          <p:cNvSpPr/>
          <p:nvPr/>
        </p:nvSpPr>
        <p:spPr>
          <a:xfrm>
            <a:off x="0" y="4796028"/>
            <a:ext cx="9144000" cy="13716"/>
          </a:xfrm>
          <a:prstGeom prst="rect">
            <a:avLst/>
          </a:prstGeom>
          <a:solidFill>
            <a:srgbClr val="0891B2"/>
          </a:solidFill>
          <a:ln w="12700">
            <a:solidFill>
              <a:srgbClr val="0891B2"/>
            </a:solidFill>
            <a:prstDash val="solid"/>
          </a:ln>
        </p:spPr>
      </p:sp>
      <p:sp>
        <p:nvSpPr>
          <p:cNvPr id="36" name="Text 34"/>
          <p:cNvSpPr/>
          <p:nvPr/>
        </p:nvSpPr>
        <p:spPr>
          <a:xfrm>
            <a:off x="274320" y="4805172"/>
            <a:ext cx="8229600" cy="320040"/>
          </a:xfrm>
          <a:prstGeom prst="rect">
            <a:avLst/>
          </a:prstGeom>
          <a:noFill/>
          <a:ln/>
        </p:spPr>
        <p:txBody>
          <a:bodyPr wrap="square" lIns="0" tIns="0" rIns="0" bIns="0" rtlCol="0" anchor="ctr"/>
          <a:lstStyle/>
          <a:p>
            <a:pPr algn="l" indent="0" marL="0">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37" name="Text 35"/>
          <p:cNvSpPr/>
          <p:nvPr/>
        </p:nvSpPr>
        <p:spPr>
          <a:xfrm>
            <a:off x="8503920" y="4805172"/>
            <a:ext cx="548640" cy="320040"/>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10 / 14</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11480" y="201168"/>
            <a:ext cx="8046720" cy="530352"/>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Expected Outcomes</a:t>
            </a:r>
            <a:endParaRPr lang="en-US" sz="2800" dirty="0"/>
          </a:p>
        </p:txBody>
      </p:sp>
      <p:sp>
        <p:nvSpPr>
          <p:cNvPr id="3" name="Text 1"/>
          <p:cNvSpPr/>
          <p:nvPr/>
        </p:nvSpPr>
        <p:spPr>
          <a:xfrm>
            <a:off x="411480" y="749808"/>
            <a:ext cx="8046720" cy="292608"/>
          </a:xfrm>
          <a:prstGeom prst="rect">
            <a:avLst/>
          </a:prstGeom>
          <a:noFill/>
          <a:ln/>
        </p:spPr>
        <p:txBody>
          <a:bodyPr wrap="square" lIns="0" tIns="0" rIns="0" bIns="0" rtlCol="0" anchor="t"/>
          <a:lstStyle/>
          <a:p>
            <a:pPr algn="l" indent="0" marL="0">
              <a:buNone/>
            </a:pPr>
            <a:r>
              <a:rPr lang="en-US" sz="1300" i="1" dirty="0">
                <a:solidFill>
                  <a:srgbClr val="00D4FF"/>
                </a:solidFill>
                <a:latin typeface="Calibri" pitchFamily="34" charset="0"/>
                <a:ea typeface="Calibri" pitchFamily="34" charset="-122"/>
                <a:cs typeface="Calibri" pitchFamily="34" charset="-120"/>
              </a:rPr>
              <a:t>Research Deliverables &amp; Performance Benchmarks</a:t>
            </a:r>
            <a:endParaRPr lang="en-US" sz="1300" dirty="0"/>
          </a:p>
        </p:txBody>
      </p:sp>
      <p:sp>
        <p:nvSpPr>
          <p:cNvPr id="4" name="Shape 2"/>
          <p:cNvSpPr/>
          <p:nvPr/>
        </p:nvSpPr>
        <p:spPr>
          <a:xfrm>
            <a:off x="411480" y="1005840"/>
            <a:ext cx="8321040" cy="16459"/>
          </a:xfrm>
          <a:prstGeom prst="rect">
            <a:avLst/>
          </a:prstGeom>
          <a:solidFill>
            <a:srgbClr val="0891B2">
              <a:alpha val="60000"/>
            </a:srgbClr>
          </a:solidFill>
          <a:ln w="12700">
            <a:solidFill>
              <a:srgbClr val="0891B2"/>
            </a:solidFill>
            <a:prstDash val="solid"/>
          </a:ln>
        </p:spPr>
      </p:sp>
      <p:sp>
        <p:nvSpPr>
          <p:cNvPr id="5" name="Shape 3"/>
          <p:cNvSpPr/>
          <p:nvPr/>
        </p:nvSpPr>
        <p:spPr>
          <a:xfrm>
            <a:off x="411480" y="1143000"/>
            <a:ext cx="4114800" cy="150876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sp>
        <p:nvSpPr>
          <p:cNvPr id="6" name="Shape 4"/>
          <p:cNvSpPr/>
          <p:nvPr/>
        </p:nvSpPr>
        <p:spPr>
          <a:xfrm>
            <a:off x="411480" y="1143000"/>
            <a:ext cx="4114800" cy="320040"/>
          </a:xfrm>
          <a:prstGeom prst="rect">
            <a:avLst/>
          </a:prstGeom>
          <a:solidFill>
            <a:srgbClr val="0891B2">
              <a:alpha val="22000"/>
            </a:srgbClr>
          </a:solidFill>
          <a:ln w="12700">
            <a:solidFill>
              <a:srgbClr val="0891B2"/>
            </a:solidFill>
            <a:prstDash val="solid"/>
          </a:ln>
        </p:spPr>
      </p:sp>
      <p:sp>
        <p:nvSpPr>
          <p:cNvPr id="7" name="Text 5"/>
          <p:cNvSpPr/>
          <p:nvPr/>
        </p:nvSpPr>
        <p:spPr>
          <a:xfrm>
            <a:off x="521208" y="1179576"/>
            <a:ext cx="3886200" cy="246888"/>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Centralized Baseline Benchmark</a:t>
            </a:r>
            <a:endParaRPr lang="en-US" sz="1100" dirty="0"/>
          </a:p>
        </p:txBody>
      </p:sp>
      <p:sp>
        <p:nvSpPr>
          <p:cNvPr id="8" name="Text 6"/>
          <p:cNvSpPr/>
          <p:nvPr/>
        </p:nvSpPr>
        <p:spPr>
          <a:xfrm>
            <a:off x="521208" y="1508760"/>
            <a:ext cx="3886200" cy="32004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 Confusion matrices for Random Forest, Isolation Forest, Deep Autoencoder under centralized tracking</a:t>
            </a:r>
            <a:endParaRPr lang="en-US" sz="950" dirty="0"/>
          </a:p>
        </p:txBody>
      </p:sp>
      <p:sp>
        <p:nvSpPr>
          <p:cNvPr id="9" name="Text 7"/>
          <p:cNvSpPr/>
          <p:nvPr/>
        </p:nvSpPr>
        <p:spPr>
          <a:xfrm>
            <a:off x="521208" y="1856232"/>
            <a:ext cx="3886200" cy="32004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 Classification latency, memory footprint, and detection accuracy comparison matrices</a:t>
            </a:r>
            <a:endParaRPr lang="en-US" sz="950" dirty="0"/>
          </a:p>
        </p:txBody>
      </p:sp>
      <p:sp>
        <p:nvSpPr>
          <p:cNvPr id="10" name="Text 8"/>
          <p:cNvSpPr/>
          <p:nvPr/>
        </p:nvSpPr>
        <p:spPr>
          <a:xfrm>
            <a:off x="521208" y="2203704"/>
            <a:ext cx="3886200" cy="320040"/>
          </a:xfrm>
          <a:prstGeom prst="rect">
            <a:avLst/>
          </a:prstGeom>
          <a:noFill/>
          <a:ln/>
        </p:spPr>
        <p:txBody>
          <a:bodyPr wrap="square" lIns="0" tIns="0" rIns="0" bIns="0" rtlCol="0" anchor="ctr"/>
          <a:lstStyle/>
          <a:p>
            <a:pPr algn="l" indent="0" marL="0">
              <a:buNone/>
            </a:pPr>
            <a:r>
              <a:rPr lang="en-US" sz="950" i="1" dirty="0">
                <a:solidFill>
                  <a:srgbClr val="0891B2"/>
                </a:solidFill>
                <a:latin typeface="Calibri" pitchFamily="34" charset="0"/>
                <a:ea typeface="Calibri" pitchFamily="34" charset="-122"/>
                <a:cs typeface="Calibri" pitchFamily="34" charset="-120"/>
              </a:rPr>
              <a:t>• Expected: &gt;90% detection rate with &lt;5% false positives on CICFlowMeter dataset</a:t>
            </a:r>
            <a:endParaRPr lang="en-US" sz="950" dirty="0"/>
          </a:p>
        </p:txBody>
      </p:sp>
      <p:sp>
        <p:nvSpPr>
          <p:cNvPr id="11" name="Shape 9"/>
          <p:cNvSpPr/>
          <p:nvPr/>
        </p:nvSpPr>
        <p:spPr>
          <a:xfrm>
            <a:off x="4663440" y="1143000"/>
            <a:ext cx="4114800" cy="150876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sp>
        <p:nvSpPr>
          <p:cNvPr id="12" name="Shape 10"/>
          <p:cNvSpPr/>
          <p:nvPr/>
        </p:nvSpPr>
        <p:spPr>
          <a:xfrm>
            <a:off x="4663440" y="1143000"/>
            <a:ext cx="4114800" cy="320040"/>
          </a:xfrm>
          <a:prstGeom prst="rect">
            <a:avLst/>
          </a:prstGeom>
          <a:solidFill>
            <a:srgbClr val="00D4FF">
              <a:alpha val="22000"/>
            </a:srgbClr>
          </a:solidFill>
          <a:ln w="12700">
            <a:solidFill>
              <a:srgbClr val="00D4FF"/>
            </a:solidFill>
            <a:prstDash val="solid"/>
          </a:ln>
        </p:spPr>
      </p:sp>
      <p:sp>
        <p:nvSpPr>
          <p:cNvPr id="13" name="Text 11"/>
          <p:cNvSpPr/>
          <p:nvPr/>
        </p:nvSpPr>
        <p:spPr>
          <a:xfrm>
            <a:off x="4773168" y="1179576"/>
            <a:ext cx="3886200" cy="246888"/>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FL Framework with DP Guarantees</a:t>
            </a:r>
            <a:endParaRPr lang="en-US" sz="1100" dirty="0"/>
          </a:p>
        </p:txBody>
      </p:sp>
      <p:sp>
        <p:nvSpPr>
          <p:cNvPr id="14" name="Text 12"/>
          <p:cNvSpPr/>
          <p:nvPr/>
        </p:nvSpPr>
        <p:spPr>
          <a:xfrm>
            <a:off x="4773168" y="1508760"/>
            <a:ext cx="3886200" cy="32004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 Functional FL pipeline with configurable (ε, δ) privacy budget on real Raspberry Pi + ESP32 hardware</a:t>
            </a:r>
            <a:endParaRPr lang="en-US" sz="950" dirty="0"/>
          </a:p>
        </p:txBody>
      </p:sp>
      <p:sp>
        <p:nvSpPr>
          <p:cNvPr id="15" name="Text 13"/>
          <p:cNvSpPr/>
          <p:nvPr/>
        </p:nvSpPr>
        <p:spPr>
          <a:xfrm>
            <a:off x="4773168" y="1856232"/>
            <a:ext cx="3886200" cy="32004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 Convergence metrics under Non-IID data distributions across heterogeneous edge nodes</a:t>
            </a:r>
            <a:endParaRPr lang="en-US" sz="950" dirty="0"/>
          </a:p>
        </p:txBody>
      </p:sp>
      <p:sp>
        <p:nvSpPr>
          <p:cNvPr id="16" name="Text 14"/>
          <p:cNvSpPr/>
          <p:nvPr/>
        </p:nvSpPr>
        <p:spPr>
          <a:xfrm>
            <a:off x="4773168" y="2203704"/>
            <a:ext cx="3886200" cy="320040"/>
          </a:xfrm>
          <a:prstGeom prst="rect">
            <a:avLst/>
          </a:prstGeom>
          <a:noFill/>
          <a:ln/>
        </p:spPr>
        <p:txBody>
          <a:bodyPr wrap="square" lIns="0" tIns="0" rIns="0" bIns="0" rtlCol="0" anchor="ctr"/>
          <a:lstStyle/>
          <a:p>
            <a:pPr algn="l" indent="0" marL="0">
              <a:buNone/>
            </a:pPr>
            <a:r>
              <a:rPr lang="en-US" sz="950" i="1" dirty="0">
                <a:solidFill>
                  <a:srgbClr val="00D4FF"/>
                </a:solidFill>
                <a:latin typeface="Calibri" pitchFamily="34" charset="0"/>
                <a:ea typeface="Calibri" pitchFamily="34" charset="-122"/>
                <a:cs typeface="Calibri" pitchFamily="34" charset="-120"/>
              </a:rPr>
              <a:t>• Expected: &lt;8% accuracy loss vs. centralized baseline with strong DP (ε ≤ 1.0)</a:t>
            </a:r>
            <a:endParaRPr lang="en-US" sz="950" dirty="0"/>
          </a:p>
        </p:txBody>
      </p:sp>
      <p:sp>
        <p:nvSpPr>
          <p:cNvPr id="17" name="Shape 15"/>
          <p:cNvSpPr/>
          <p:nvPr/>
        </p:nvSpPr>
        <p:spPr>
          <a:xfrm>
            <a:off x="411480" y="2788920"/>
            <a:ext cx="4114800" cy="150876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sp>
        <p:nvSpPr>
          <p:cNvPr id="18" name="Shape 16"/>
          <p:cNvSpPr/>
          <p:nvPr/>
        </p:nvSpPr>
        <p:spPr>
          <a:xfrm>
            <a:off x="411480" y="2788920"/>
            <a:ext cx="4114800" cy="320040"/>
          </a:xfrm>
          <a:prstGeom prst="rect">
            <a:avLst/>
          </a:prstGeom>
          <a:solidFill>
            <a:srgbClr val="10B981">
              <a:alpha val="22000"/>
            </a:srgbClr>
          </a:solidFill>
          <a:ln w="12700">
            <a:solidFill>
              <a:srgbClr val="10B981"/>
            </a:solidFill>
            <a:prstDash val="solid"/>
          </a:ln>
        </p:spPr>
      </p:sp>
      <p:sp>
        <p:nvSpPr>
          <p:cNvPr id="19" name="Text 17"/>
          <p:cNvSpPr/>
          <p:nvPr/>
        </p:nvSpPr>
        <p:spPr>
          <a:xfrm>
            <a:off x="521208" y="2825496"/>
            <a:ext cx="3886200" cy="246888"/>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Adversarial Robustness Metrics</a:t>
            </a:r>
            <a:endParaRPr lang="en-US" sz="1100" dirty="0"/>
          </a:p>
        </p:txBody>
      </p:sp>
      <p:sp>
        <p:nvSpPr>
          <p:cNvPr id="20" name="Text 18"/>
          <p:cNvSpPr/>
          <p:nvPr/>
        </p:nvSpPr>
        <p:spPr>
          <a:xfrm>
            <a:off x="521208" y="3154680"/>
            <a:ext cx="3886200" cy="32004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 Quantified resilience under simultaneous poisoning, free-rider, and gradient inference attacks</a:t>
            </a:r>
            <a:endParaRPr lang="en-US" sz="950" dirty="0"/>
          </a:p>
        </p:txBody>
      </p:sp>
      <p:sp>
        <p:nvSpPr>
          <p:cNvPr id="21" name="Text 19"/>
          <p:cNvSpPr/>
          <p:nvPr/>
        </p:nvSpPr>
        <p:spPr>
          <a:xfrm>
            <a:off x="521208" y="3502152"/>
            <a:ext cx="3886200" cy="32004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 Euclidean distance filter effectiveness: % of malicious client updates correctly quarantined</a:t>
            </a:r>
            <a:endParaRPr lang="en-US" sz="950" dirty="0"/>
          </a:p>
        </p:txBody>
      </p:sp>
      <p:sp>
        <p:nvSpPr>
          <p:cNvPr id="22" name="Text 20"/>
          <p:cNvSpPr/>
          <p:nvPr/>
        </p:nvSpPr>
        <p:spPr>
          <a:xfrm>
            <a:off x="521208" y="3849624"/>
            <a:ext cx="3886200" cy="320040"/>
          </a:xfrm>
          <a:prstGeom prst="rect">
            <a:avLst/>
          </a:prstGeom>
          <a:noFill/>
          <a:ln/>
        </p:spPr>
        <p:txBody>
          <a:bodyPr wrap="square" lIns="0" tIns="0" rIns="0" bIns="0" rtlCol="0" anchor="ctr"/>
          <a:lstStyle/>
          <a:p>
            <a:pPr algn="l" indent="0" marL="0">
              <a:buNone/>
            </a:pPr>
            <a:r>
              <a:rPr lang="en-US" sz="950" i="1" dirty="0">
                <a:solidFill>
                  <a:srgbClr val="10B981"/>
                </a:solidFill>
                <a:latin typeface="Calibri" pitchFamily="34" charset="0"/>
                <a:ea typeface="Calibri" pitchFamily="34" charset="-122"/>
                <a:cs typeface="Calibri" pitchFamily="34" charset="-120"/>
              </a:rPr>
              <a:t>• Expected: &gt;85% adversarial detection rate after defense mechanism activation</a:t>
            </a:r>
            <a:endParaRPr lang="en-US" sz="950" dirty="0"/>
          </a:p>
        </p:txBody>
      </p:sp>
      <p:sp>
        <p:nvSpPr>
          <p:cNvPr id="23" name="Shape 21"/>
          <p:cNvSpPr/>
          <p:nvPr/>
        </p:nvSpPr>
        <p:spPr>
          <a:xfrm>
            <a:off x="4663440" y="2788920"/>
            <a:ext cx="4114800" cy="150876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sp>
        <p:nvSpPr>
          <p:cNvPr id="24" name="Shape 22"/>
          <p:cNvSpPr/>
          <p:nvPr/>
        </p:nvSpPr>
        <p:spPr>
          <a:xfrm>
            <a:off x="4663440" y="2788920"/>
            <a:ext cx="4114800" cy="320040"/>
          </a:xfrm>
          <a:prstGeom prst="rect">
            <a:avLst/>
          </a:prstGeom>
          <a:solidFill>
            <a:srgbClr val="F59E0B">
              <a:alpha val="22000"/>
            </a:srgbClr>
          </a:solidFill>
          <a:ln w="12700">
            <a:solidFill>
              <a:srgbClr val="F59E0B"/>
            </a:solidFill>
            <a:prstDash val="solid"/>
          </a:ln>
        </p:spPr>
      </p:sp>
      <p:sp>
        <p:nvSpPr>
          <p:cNvPr id="25" name="Text 23"/>
          <p:cNvSpPr/>
          <p:nvPr/>
        </p:nvSpPr>
        <p:spPr>
          <a:xfrm>
            <a:off x="4773168" y="2825496"/>
            <a:ext cx="3886200" cy="246888"/>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Operational SOC Dashboard</a:t>
            </a:r>
            <a:endParaRPr lang="en-US" sz="1100" dirty="0"/>
          </a:p>
        </p:txBody>
      </p:sp>
      <p:sp>
        <p:nvSpPr>
          <p:cNvPr id="26" name="Text 24"/>
          <p:cNvSpPr/>
          <p:nvPr/>
        </p:nvSpPr>
        <p:spPr>
          <a:xfrm>
            <a:off x="4773168" y="3154680"/>
            <a:ext cx="3886200" cy="32004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 Live D3 topological connectivity maps with WebSocket zero-latency security alert pushes</a:t>
            </a:r>
            <a:endParaRPr lang="en-US" sz="950" dirty="0"/>
          </a:p>
        </p:txBody>
      </p:sp>
      <p:sp>
        <p:nvSpPr>
          <p:cNvPr id="27" name="Text 25"/>
          <p:cNvSpPr/>
          <p:nvPr/>
        </p:nvSpPr>
        <p:spPr>
          <a:xfrm>
            <a:off x="4773168" y="3502152"/>
            <a:ext cx="3886200" cy="32004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 LLM forensic PDF reports with automated plain-English threat remediation summaries</a:t>
            </a:r>
            <a:endParaRPr lang="en-US" sz="950" dirty="0"/>
          </a:p>
        </p:txBody>
      </p:sp>
      <p:sp>
        <p:nvSpPr>
          <p:cNvPr id="28" name="Text 26"/>
          <p:cNvSpPr/>
          <p:nvPr/>
        </p:nvSpPr>
        <p:spPr>
          <a:xfrm>
            <a:off x="4773168" y="3849624"/>
            <a:ext cx="3886200" cy="320040"/>
          </a:xfrm>
          <a:prstGeom prst="rect">
            <a:avLst/>
          </a:prstGeom>
          <a:noFill/>
          <a:ln/>
        </p:spPr>
        <p:txBody>
          <a:bodyPr wrap="square" lIns="0" tIns="0" rIns="0" bIns="0" rtlCol="0" anchor="ctr"/>
          <a:lstStyle/>
          <a:p>
            <a:pPr algn="l" indent="0" marL="0">
              <a:buNone/>
            </a:pPr>
            <a:r>
              <a:rPr lang="en-US" sz="950" i="1" dirty="0">
                <a:solidFill>
                  <a:srgbClr val="F59E0B"/>
                </a:solidFill>
                <a:latin typeface="Calibri" pitchFamily="34" charset="0"/>
                <a:ea typeface="Calibri" pitchFamily="34" charset="-122"/>
                <a:cs typeface="Calibri" pitchFamily="34" charset="-120"/>
              </a:rPr>
              <a:t>• Expected: &lt;200ms end-to-end alert latency from detection to dashboard notification</a:t>
            </a:r>
            <a:endParaRPr lang="en-US" sz="950" dirty="0"/>
          </a:p>
        </p:txBody>
      </p:sp>
      <p:sp>
        <p:nvSpPr>
          <p:cNvPr id="29" name="Shape 27"/>
          <p:cNvSpPr/>
          <p:nvPr/>
        </p:nvSpPr>
        <p:spPr>
          <a:xfrm>
            <a:off x="0" y="4800600"/>
            <a:ext cx="9144000" cy="342900"/>
          </a:xfrm>
          <a:prstGeom prst="rect">
            <a:avLst/>
          </a:prstGeom>
          <a:solidFill>
            <a:srgbClr val="071020"/>
          </a:solidFill>
          <a:ln w="12700">
            <a:solidFill>
              <a:srgbClr val="071020"/>
            </a:solidFill>
            <a:prstDash val="solid"/>
          </a:ln>
        </p:spPr>
      </p:sp>
      <p:sp>
        <p:nvSpPr>
          <p:cNvPr id="30" name="Shape 28"/>
          <p:cNvSpPr/>
          <p:nvPr/>
        </p:nvSpPr>
        <p:spPr>
          <a:xfrm>
            <a:off x="0" y="4796028"/>
            <a:ext cx="9144000" cy="13716"/>
          </a:xfrm>
          <a:prstGeom prst="rect">
            <a:avLst/>
          </a:prstGeom>
          <a:solidFill>
            <a:srgbClr val="0891B2"/>
          </a:solidFill>
          <a:ln w="12700">
            <a:solidFill>
              <a:srgbClr val="0891B2"/>
            </a:solidFill>
            <a:prstDash val="solid"/>
          </a:ln>
        </p:spPr>
      </p:sp>
      <p:sp>
        <p:nvSpPr>
          <p:cNvPr id="31" name="Text 29"/>
          <p:cNvSpPr/>
          <p:nvPr/>
        </p:nvSpPr>
        <p:spPr>
          <a:xfrm>
            <a:off x="274320" y="4805172"/>
            <a:ext cx="8229600" cy="320040"/>
          </a:xfrm>
          <a:prstGeom prst="rect">
            <a:avLst/>
          </a:prstGeom>
          <a:noFill/>
          <a:ln/>
        </p:spPr>
        <p:txBody>
          <a:bodyPr wrap="square" lIns="0" tIns="0" rIns="0" bIns="0" rtlCol="0" anchor="ctr"/>
          <a:lstStyle/>
          <a:p>
            <a:pPr algn="l" indent="0" marL="0">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32" name="Text 30"/>
          <p:cNvSpPr/>
          <p:nvPr/>
        </p:nvSpPr>
        <p:spPr>
          <a:xfrm>
            <a:off x="8503920" y="4805172"/>
            <a:ext cx="548640" cy="320040"/>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11 / 14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11480" y="201168"/>
            <a:ext cx="8046720" cy="530352"/>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Work Plan &amp; Timeline</a:t>
            </a:r>
            <a:endParaRPr lang="en-US" sz="2800" dirty="0"/>
          </a:p>
        </p:txBody>
      </p:sp>
      <p:sp>
        <p:nvSpPr>
          <p:cNvPr id="3" name="Text 1"/>
          <p:cNvSpPr/>
          <p:nvPr/>
        </p:nvSpPr>
        <p:spPr>
          <a:xfrm>
            <a:off x="411480" y="749808"/>
            <a:ext cx="8046720" cy="292608"/>
          </a:xfrm>
          <a:prstGeom prst="rect">
            <a:avLst/>
          </a:prstGeom>
          <a:noFill/>
          <a:ln/>
        </p:spPr>
        <p:txBody>
          <a:bodyPr wrap="square" lIns="0" tIns="0" rIns="0" bIns="0" rtlCol="0" anchor="t"/>
          <a:lstStyle/>
          <a:p>
            <a:pPr algn="l" indent="0" marL="0">
              <a:buNone/>
            </a:pPr>
            <a:r>
              <a:rPr lang="en-US" sz="1300" i="1" dirty="0">
                <a:solidFill>
                  <a:srgbClr val="00D4FF"/>
                </a:solidFill>
                <a:latin typeface="Calibri" pitchFamily="34" charset="0"/>
                <a:ea typeface="Calibri" pitchFamily="34" charset="-122"/>
                <a:cs typeface="Calibri" pitchFamily="34" charset="-120"/>
              </a:rPr>
              <a:t>12-Week Structured Milestone Roadmap</a:t>
            </a:r>
            <a:endParaRPr lang="en-US" sz="1300" dirty="0"/>
          </a:p>
        </p:txBody>
      </p:sp>
      <p:sp>
        <p:nvSpPr>
          <p:cNvPr id="4" name="Shape 2"/>
          <p:cNvSpPr/>
          <p:nvPr/>
        </p:nvSpPr>
        <p:spPr>
          <a:xfrm>
            <a:off x="411480" y="1005840"/>
            <a:ext cx="8321040" cy="16459"/>
          </a:xfrm>
          <a:prstGeom prst="rect">
            <a:avLst/>
          </a:prstGeom>
          <a:solidFill>
            <a:srgbClr val="0891B2">
              <a:alpha val="60000"/>
            </a:srgbClr>
          </a:solidFill>
          <a:ln w="12700">
            <a:solidFill>
              <a:srgbClr val="0891B2"/>
            </a:solidFill>
            <a:prstDash val="solid"/>
          </a:ln>
        </p:spPr>
      </p:sp>
      <p:sp>
        <p:nvSpPr>
          <p:cNvPr id="5" name="Shape 3"/>
          <p:cNvSpPr/>
          <p:nvPr/>
        </p:nvSpPr>
        <p:spPr>
          <a:xfrm>
            <a:off x="411480" y="1399032"/>
            <a:ext cx="8321040" cy="45720"/>
          </a:xfrm>
          <a:prstGeom prst="rect">
            <a:avLst/>
          </a:prstGeom>
          <a:solidFill>
            <a:srgbClr val="1E3A5F"/>
          </a:solidFill>
          <a:ln w="12700">
            <a:solidFill>
              <a:srgbClr val="1E3A5F"/>
            </a:solidFill>
            <a:prstDash val="solid"/>
          </a:ln>
        </p:spPr>
      </p:sp>
      <p:sp>
        <p:nvSpPr>
          <p:cNvPr id="6" name="Shape 4"/>
          <p:cNvSpPr/>
          <p:nvPr/>
        </p:nvSpPr>
        <p:spPr>
          <a:xfrm>
            <a:off x="754888" y="1325880"/>
            <a:ext cx="237744" cy="237744"/>
          </a:xfrm>
          <a:prstGeom prst="ellipse">
            <a:avLst/>
          </a:prstGeom>
          <a:solidFill>
            <a:srgbClr val="0891B2"/>
          </a:solidFill>
          <a:ln w="12700">
            <a:solidFill>
              <a:srgbClr val="0891B2"/>
            </a:solidFill>
            <a:prstDash val="solid"/>
          </a:ln>
        </p:spPr>
      </p:sp>
      <p:sp>
        <p:nvSpPr>
          <p:cNvPr id="7" name="Shape 5"/>
          <p:cNvSpPr/>
          <p:nvPr/>
        </p:nvSpPr>
        <p:spPr>
          <a:xfrm>
            <a:off x="860044" y="1490472"/>
            <a:ext cx="27432" cy="-146304"/>
          </a:xfrm>
          <a:prstGeom prst="rect">
            <a:avLst/>
          </a:prstGeom>
          <a:solidFill>
            <a:srgbClr val="0891B2"/>
          </a:solidFill>
          <a:ln w="12700">
            <a:solidFill>
              <a:srgbClr val="0891B2"/>
            </a:solidFill>
            <a:prstDash val="solid"/>
          </a:ln>
        </p:spPr>
      </p:sp>
      <p:sp>
        <p:nvSpPr>
          <p:cNvPr id="8" name="Shape 6"/>
          <p:cNvSpPr/>
          <p:nvPr/>
        </p:nvSpPr>
        <p:spPr>
          <a:xfrm>
            <a:off x="466344" y="1508760"/>
            <a:ext cx="851408" cy="1234440"/>
          </a:xfrm>
          <a:prstGeom prst="rect">
            <a:avLst/>
          </a:prstGeom>
          <a:solidFill>
            <a:srgbClr val="0D1F3C"/>
          </a:solidFill>
          <a:ln w="12700">
            <a:solidFill>
              <a:srgbClr val="0891B2"/>
            </a:solidFill>
            <a:prstDash val="solid"/>
          </a:ln>
        </p:spPr>
      </p:sp>
      <p:sp>
        <p:nvSpPr>
          <p:cNvPr id="9" name="Text 7"/>
          <p:cNvSpPr/>
          <p:nvPr/>
        </p:nvSpPr>
        <p:spPr>
          <a:xfrm>
            <a:off x="502920" y="1554480"/>
            <a:ext cx="787400" cy="256032"/>
          </a:xfrm>
          <a:prstGeom prst="rect">
            <a:avLst/>
          </a:prstGeom>
          <a:noFill/>
          <a:ln/>
        </p:spPr>
        <p:txBody>
          <a:bodyPr wrap="square" lIns="0" tIns="0" rIns="0" bIns="0" rtlCol="0" anchor="ctr"/>
          <a:lstStyle/>
          <a:p>
            <a:pPr algn="ctr" indent="0" marL="0">
              <a:buNone/>
            </a:pPr>
            <a:r>
              <a:rPr lang="en-US" sz="1000" b="1" dirty="0">
                <a:solidFill>
                  <a:srgbClr val="0891B2"/>
                </a:solidFill>
                <a:latin typeface="Calibri" pitchFamily="34" charset="0"/>
                <a:ea typeface="Calibri" pitchFamily="34" charset="-122"/>
                <a:cs typeface="Calibri" pitchFamily="34" charset="-120"/>
              </a:rPr>
              <a:t>Wk 4</a:t>
            </a:r>
            <a:endParaRPr lang="en-US" sz="1000" dirty="0"/>
          </a:p>
        </p:txBody>
      </p:sp>
      <p:sp>
        <p:nvSpPr>
          <p:cNvPr id="10" name="Text 8"/>
          <p:cNvSpPr/>
          <p:nvPr/>
        </p:nvSpPr>
        <p:spPr>
          <a:xfrm>
            <a:off x="466344" y="1810512"/>
            <a:ext cx="851408" cy="594360"/>
          </a:xfrm>
          <a:prstGeom prst="rect">
            <a:avLst/>
          </a:prstGeom>
          <a:noFill/>
          <a:ln/>
        </p:spPr>
        <p:txBody>
          <a:bodyPr wrap="square" lIns="0" tIns="0" rIns="0" bIns="0"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MQTT Gateway &amp; Sensors</a:t>
            </a:r>
            <a:endParaRPr lang="en-US" sz="900" dirty="0"/>
          </a:p>
        </p:txBody>
      </p:sp>
      <p:sp>
        <p:nvSpPr>
          <p:cNvPr id="11" name="Text 9"/>
          <p:cNvSpPr/>
          <p:nvPr/>
        </p:nvSpPr>
        <p:spPr>
          <a:xfrm>
            <a:off x="466344" y="2423160"/>
            <a:ext cx="851408" cy="22860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Hardware</a:t>
            </a:r>
            <a:endParaRPr lang="en-US" sz="850" dirty="0"/>
          </a:p>
        </p:txBody>
      </p:sp>
      <p:sp>
        <p:nvSpPr>
          <p:cNvPr id="12" name="Shape 10"/>
          <p:cNvSpPr/>
          <p:nvPr/>
        </p:nvSpPr>
        <p:spPr>
          <a:xfrm>
            <a:off x="1679448" y="1325880"/>
            <a:ext cx="237744" cy="237744"/>
          </a:xfrm>
          <a:prstGeom prst="ellipse">
            <a:avLst/>
          </a:prstGeom>
          <a:solidFill>
            <a:srgbClr val="0891B2"/>
          </a:solidFill>
          <a:ln w="12700">
            <a:solidFill>
              <a:srgbClr val="0891B2"/>
            </a:solidFill>
            <a:prstDash val="solid"/>
          </a:ln>
        </p:spPr>
      </p:sp>
      <p:sp>
        <p:nvSpPr>
          <p:cNvPr id="13" name="Shape 11"/>
          <p:cNvSpPr/>
          <p:nvPr/>
        </p:nvSpPr>
        <p:spPr>
          <a:xfrm>
            <a:off x="1784604" y="1417320"/>
            <a:ext cx="27432" cy="1527048"/>
          </a:xfrm>
          <a:prstGeom prst="rect">
            <a:avLst/>
          </a:prstGeom>
          <a:solidFill>
            <a:srgbClr val="0891B2"/>
          </a:solidFill>
          <a:ln w="12700">
            <a:solidFill>
              <a:srgbClr val="0891B2"/>
            </a:solidFill>
            <a:prstDash val="solid"/>
          </a:ln>
        </p:spPr>
      </p:sp>
      <p:sp>
        <p:nvSpPr>
          <p:cNvPr id="14" name="Shape 12"/>
          <p:cNvSpPr/>
          <p:nvPr/>
        </p:nvSpPr>
        <p:spPr>
          <a:xfrm>
            <a:off x="1390904" y="2944368"/>
            <a:ext cx="851408" cy="1234440"/>
          </a:xfrm>
          <a:prstGeom prst="rect">
            <a:avLst/>
          </a:prstGeom>
          <a:solidFill>
            <a:srgbClr val="0D1F3C"/>
          </a:solidFill>
          <a:ln w="12700">
            <a:solidFill>
              <a:srgbClr val="0891B2"/>
            </a:solidFill>
            <a:prstDash val="solid"/>
          </a:ln>
        </p:spPr>
      </p:sp>
      <p:sp>
        <p:nvSpPr>
          <p:cNvPr id="15" name="Text 13"/>
          <p:cNvSpPr/>
          <p:nvPr/>
        </p:nvSpPr>
        <p:spPr>
          <a:xfrm>
            <a:off x="1427480" y="2990088"/>
            <a:ext cx="787400" cy="256032"/>
          </a:xfrm>
          <a:prstGeom prst="rect">
            <a:avLst/>
          </a:prstGeom>
          <a:noFill/>
          <a:ln/>
        </p:spPr>
        <p:txBody>
          <a:bodyPr wrap="square" lIns="0" tIns="0" rIns="0" bIns="0" rtlCol="0" anchor="ctr"/>
          <a:lstStyle/>
          <a:p>
            <a:pPr algn="ctr" indent="0" marL="0">
              <a:buNone/>
            </a:pPr>
            <a:r>
              <a:rPr lang="en-US" sz="1000" b="1" dirty="0">
                <a:solidFill>
                  <a:srgbClr val="0891B2"/>
                </a:solidFill>
                <a:latin typeface="Calibri" pitchFamily="34" charset="0"/>
                <a:ea typeface="Calibri" pitchFamily="34" charset="-122"/>
                <a:cs typeface="Calibri" pitchFamily="34" charset="-120"/>
              </a:rPr>
              <a:t>Wk 5</a:t>
            </a:r>
            <a:endParaRPr lang="en-US" sz="1000" dirty="0"/>
          </a:p>
        </p:txBody>
      </p:sp>
      <p:sp>
        <p:nvSpPr>
          <p:cNvPr id="16" name="Text 14"/>
          <p:cNvSpPr/>
          <p:nvPr/>
        </p:nvSpPr>
        <p:spPr>
          <a:xfrm>
            <a:off x="1390904" y="3246120"/>
            <a:ext cx="851408" cy="594360"/>
          </a:xfrm>
          <a:prstGeom prst="rect">
            <a:avLst/>
          </a:prstGeom>
          <a:noFill/>
          <a:ln/>
        </p:spPr>
        <p:txBody>
          <a:bodyPr wrap="square" lIns="0" tIns="0" rIns="0" bIns="0"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Packet Capture &amp; Scapy Setup</a:t>
            </a:r>
            <a:endParaRPr lang="en-US" sz="900" dirty="0"/>
          </a:p>
        </p:txBody>
      </p:sp>
      <p:sp>
        <p:nvSpPr>
          <p:cNvPr id="17" name="Text 15"/>
          <p:cNvSpPr/>
          <p:nvPr/>
        </p:nvSpPr>
        <p:spPr>
          <a:xfrm>
            <a:off x="1390904" y="3858768"/>
            <a:ext cx="851408" cy="22860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Network</a:t>
            </a:r>
            <a:endParaRPr lang="en-US" sz="850" dirty="0"/>
          </a:p>
        </p:txBody>
      </p:sp>
      <p:sp>
        <p:nvSpPr>
          <p:cNvPr id="18" name="Shape 16"/>
          <p:cNvSpPr/>
          <p:nvPr/>
        </p:nvSpPr>
        <p:spPr>
          <a:xfrm>
            <a:off x="2604008" y="1325880"/>
            <a:ext cx="237744" cy="237744"/>
          </a:xfrm>
          <a:prstGeom prst="ellipse">
            <a:avLst/>
          </a:prstGeom>
          <a:solidFill>
            <a:srgbClr val="00D4FF"/>
          </a:solidFill>
          <a:ln w="12700">
            <a:solidFill>
              <a:srgbClr val="00D4FF"/>
            </a:solidFill>
            <a:prstDash val="solid"/>
          </a:ln>
        </p:spPr>
      </p:sp>
      <p:sp>
        <p:nvSpPr>
          <p:cNvPr id="19" name="Shape 17"/>
          <p:cNvSpPr/>
          <p:nvPr/>
        </p:nvSpPr>
        <p:spPr>
          <a:xfrm>
            <a:off x="2709164" y="1490472"/>
            <a:ext cx="27432" cy="-146304"/>
          </a:xfrm>
          <a:prstGeom prst="rect">
            <a:avLst/>
          </a:prstGeom>
          <a:solidFill>
            <a:srgbClr val="00D4FF"/>
          </a:solidFill>
          <a:ln w="12700">
            <a:solidFill>
              <a:srgbClr val="00D4FF"/>
            </a:solidFill>
            <a:prstDash val="solid"/>
          </a:ln>
        </p:spPr>
      </p:sp>
      <p:sp>
        <p:nvSpPr>
          <p:cNvPr id="20" name="Shape 18"/>
          <p:cNvSpPr/>
          <p:nvPr/>
        </p:nvSpPr>
        <p:spPr>
          <a:xfrm>
            <a:off x="2315464" y="1508760"/>
            <a:ext cx="851408" cy="1234440"/>
          </a:xfrm>
          <a:prstGeom prst="rect">
            <a:avLst/>
          </a:prstGeom>
          <a:solidFill>
            <a:srgbClr val="0D1F3C"/>
          </a:solidFill>
          <a:ln w="12700">
            <a:solidFill>
              <a:srgbClr val="00D4FF"/>
            </a:solidFill>
            <a:prstDash val="solid"/>
          </a:ln>
        </p:spPr>
      </p:sp>
      <p:sp>
        <p:nvSpPr>
          <p:cNvPr id="21" name="Text 19"/>
          <p:cNvSpPr/>
          <p:nvPr/>
        </p:nvSpPr>
        <p:spPr>
          <a:xfrm>
            <a:off x="2352040" y="1554480"/>
            <a:ext cx="787400" cy="256032"/>
          </a:xfrm>
          <a:prstGeom prst="rect">
            <a:avLst/>
          </a:prstGeom>
          <a:noFill/>
          <a:ln/>
        </p:spPr>
        <p:txBody>
          <a:bodyPr wrap="square" lIns="0" tIns="0" rIns="0" bIns="0" rtlCol="0" anchor="ctr"/>
          <a:lstStyle/>
          <a:p>
            <a:pPr algn="ctr" indent="0" marL="0">
              <a:buNone/>
            </a:pPr>
            <a:r>
              <a:rPr lang="en-US" sz="1000" b="1" dirty="0">
                <a:solidFill>
                  <a:srgbClr val="00D4FF"/>
                </a:solidFill>
                <a:latin typeface="Calibri" pitchFamily="34" charset="0"/>
                <a:ea typeface="Calibri" pitchFamily="34" charset="-122"/>
                <a:cs typeface="Calibri" pitchFamily="34" charset="-120"/>
              </a:rPr>
              <a:t>Wk 6</a:t>
            </a:r>
            <a:endParaRPr lang="en-US" sz="1000" dirty="0"/>
          </a:p>
        </p:txBody>
      </p:sp>
      <p:sp>
        <p:nvSpPr>
          <p:cNvPr id="22" name="Text 20"/>
          <p:cNvSpPr/>
          <p:nvPr/>
        </p:nvSpPr>
        <p:spPr>
          <a:xfrm>
            <a:off x="2315464" y="1810512"/>
            <a:ext cx="851408" cy="594360"/>
          </a:xfrm>
          <a:prstGeom prst="rect">
            <a:avLst/>
          </a:prstGeom>
          <a:noFill/>
          <a:ln/>
        </p:spPr>
        <p:txBody>
          <a:bodyPr wrap="square" lIns="0" tIns="0" rIns="0" bIns="0"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Centralized ML Baselines</a:t>
            </a:r>
            <a:endParaRPr lang="en-US" sz="900" dirty="0"/>
          </a:p>
        </p:txBody>
      </p:sp>
      <p:sp>
        <p:nvSpPr>
          <p:cNvPr id="23" name="Text 21"/>
          <p:cNvSpPr/>
          <p:nvPr/>
        </p:nvSpPr>
        <p:spPr>
          <a:xfrm>
            <a:off x="2315464" y="2423160"/>
            <a:ext cx="851408" cy="22860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ML</a:t>
            </a:r>
            <a:endParaRPr lang="en-US" sz="850" dirty="0"/>
          </a:p>
        </p:txBody>
      </p:sp>
      <p:sp>
        <p:nvSpPr>
          <p:cNvPr id="24" name="Shape 22"/>
          <p:cNvSpPr/>
          <p:nvPr/>
        </p:nvSpPr>
        <p:spPr>
          <a:xfrm>
            <a:off x="3528568" y="1325880"/>
            <a:ext cx="237744" cy="237744"/>
          </a:xfrm>
          <a:prstGeom prst="ellipse">
            <a:avLst/>
          </a:prstGeom>
          <a:solidFill>
            <a:srgbClr val="00D4FF"/>
          </a:solidFill>
          <a:ln w="12700">
            <a:solidFill>
              <a:srgbClr val="00D4FF"/>
            </a:solidFill>
            <a:prstDash val="solid"/>
          </a:ln>
        </p:spPr>
      </p:sp>
      <p:sp>
        <p:nvSpPr>
          <p:cNvPr id="25" name="Shape 23"/>
          <p:cNvSpPr/>
          <p:nvPr/>
        </p:nvSpPr>
        <p:spPr>
          <a:xfrm>
            <a:off x="3633724" y="1417320"/>
            <a:ext cx="27432" cy="1527048"/>
          </a:xfrm>
          <a:prstGeom prst="rect">
            <a:avLst/>
          </a:prstGeom>
          <a:solidFill>
            <a:srgbClr val="00D4FF"/>
          </a:solidFill>
          <a:ln w="12700">
            <a:solidFill>
              <a:srgbClr val="00D4FF"/>
            </a:solidFill>
            <a:prstDash val="solid"/>
          </a:ln>
        </p:spPr>
      </p:sp>
      <p:sp>
        <p:nvSpPr>
          <p:cNvPr id="26" name="Shape 24"/>
          <p:cNvSpPr/>
          <p:nvPr/>
        </p:nvSpPr>
        <p:spPr>
          <a:xfrm>
            <a:off x="3240024" y="2944368"/>
            <a:ext cx="851408" cy="1234440"/>
          </a:xfrm>
          <a:prstGeom prst="rect">
            <a:avLst/>
          </a:prstGeom>
          <a:solidFill>
            <a:srgbClr val="0D1F3C"/>
          </a:solidFill>
          <a:ln w="12700">
            <a:solidFill>
              <a:srgbClr val="00D4FF"/>
            </a:solidFill>
            <a:prstDash val="solid"/>
          </a:ln>
        </p:spPr>
      </p:sp>
      <p:sp>
        <p:nvSpPr>
          <p:cNvPr id="27" name="Text 25"/>
          <p:cNvSpPr/>
          <p:nvPr/>
        </p:nvSpPr>
        <p:spPr>
          <a:xfrm>
            <a:off x="3276600" y="2990088"/>
            <a:ext cx="787400" cy="256032"/>
          </a:xfrm>
          <a:prstGeom prst="rect">
            <a:avLst/>
          </a:prstGeom>
          <a:noFill/>
          <a:ln/>
        </p:spPr>
        <p:txBody>
          <a:bodyPr wrap="square" lIns="0" tIns="0" rIns="0" bIns="0" rtlCol="0" anchor="ctr"/>
          <a:lstStyle/>
          <a:p>
            <a:pPr algn="ctr" indent="0" marL="0">
              <a:buNone/>
            </a:pPr>
            <a:r>
              <a:rPr lang="en-US" sz="1000" b="1" dirty="0">
                <a:solidFill>
                  <a:srgbClr val="00D4FF"/>
                </a:solidFill>
                <a:latin typeface="Calibri" pitchFamily="34" charset="0"/>
                <a:ea typeface="Calibri" pitchFamily="34" charset="-122"/>
                <a:cs typeface="Calibri" pitchFamily="34" charset="-120"/>
              </a:rPr>
              <a:t>Wk 7</a:t>
            </a:r>
            <a:endParaRPr lang="en-US" sz="1000" dirty="0"/>
          </a:p>
        </p:txBody>
      </p:sp>
      <p:sp>
        <p:nvSpPr>
          <p:cNvPr id="28" name="Text 26"/>
          <p:cNvSpPr/>
          <p:nvPr/>
        </p:nvSpPr>
        <p:spPr>
          <a:xfrm>
            <a:off x="3240024" y="3246120"/>
            <a:ext cx="851408" cy="594360"/>
          </a:xfrm>
          <a:prstGeom prst="rect">
            <a:avLst/>
          </a:prstGeom>
          <a:noFill/>
          <a:ln/>
        </p:spPr>
        <p:txBody>
          <a:bodyPr wrap="square" lIns="0" tIns="0" rIns="0" bIns="0"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Flower FL Engine Init</a:t>
            </a:r>
            <a:endParaRPr lang="en-US" sz="900" dirty="0"/>
          </a:p>
        </p:txBody>
      </p:sp>
      <p:sp>
        <p:nvSpPr>
          <p:cNvPr id="29" name="Text 27"/>
          <p:cNvSpPr/>
          <p:nvPr/>
        </p:nvSpPr>
        <p:spPr>
          <a:xfrm>
            <a:off x="3240024" y="3858768"/>
            <a:ext cx="851408" cy="22860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FL</a:t>
            </a:r>
            <a:endParaRPr lang="en-US" sz="850" dirty="0"/>
          </a:p>
        </p:txBody>
      </p:sp>
      <p:sp>
        <p:nvSpPr>
          <p:cNvPr id="30" name="Shape 28"/>
          <p:cNvSpPr/>
          <p:nvPr/>
        </p:nvSpPr>
        <p:spPr>
          <a:xfrm>
            <a:off x="4453128" y="1325880"/>
            <a:ext cx="237744" cy="237744"/>
          </a:xfrm>
          <a:prstGeom prst="ellipse">
            <a:avLst/>
          </a:prstGeom>
          <a:solidFill>
            <a:srgbClr val="10B981"/>
          </a:solidFill>
          <a:ln w="12700">
            <a:solidFill>
              <a:srgbClr val="10B981"/>
            </a:solidFill>
            <a:prstDash val="solid"/>
          </a:ln>
        </p:spPr>
      </p:sp>
      <p:sp>
        <p:nvSpPr>
          <p:cNvPr id="31" name="Shape 29"/>
          <p:cNvSpPr/>
          <p:nvPr/>
        </p:nvSpPr>
        <p:spPr>
          <a:xfrm>
            <a:off x="4558284" y="1490472"/>
            <a:ext cx="27432" cy="-146304"/>
          </a:xfrm>
          <a:prstGeom prst="rect">
            <a:avLst/>
          </a:prstGeom>
          <a:solidFill>
            <a:srgbClr val="10B981"/>
          </a:solidFill>
          <a:ln w="12700">
            <a:solidFill>
              <a:srgbClr val="10B981"/>
            </a:solidFill>
            <a:prstDash val="solid"/>
          </a:ln>
        </p:spPr>
      </p:sp>
      <p:sp>
        <p:nvSpPr>
          <p:cNvPr id="32" name="Shape 30"/>
          <p:cNvSpPr/>
          <p:nvPr/>
        </p:nvSpPr>
        <p:spPr>
          <a:xfrm>
            <a:off x="4164584" y="1508760"/>
            <a:ext cx="851408" cy="1234440"/>
          </a:xfrm>
          <a:prstGeom prst="rect">
            <a:avLst/>
          </a:prstGeom>
          <a:solidFill>
            <a:srgbClr val="0D1F3C"/>
          </a:solidFill>
          <a:ln w="12700">
            <a:solidFill>
              <a:srgbClr val="10B981"/>
            </a:solidFill>
            <a:prstDash val="solid"/>
          </a:ln>
        </p:spPr>
      </p:sp>
      <p:sp>
        <p:nvSpPr>
          <p:cNvPr id="33" name="Text 31"/>
          <p:cNvSpPr/>
          <p:nvPr/>
        </p:nvSpPr>
        <p:spPr>
          <a:xfrm>
            <a:off x="4201160" y="1554480"/>
            <a:ext cx="787400" cy="256032"/>
          </a:xfrm>
          <a:prstGeom prst="rect">
            <a:avLst/>
          </a:prstGeom>
          <a:noFill/>
          <a:ln/>
        </p:spPr>
        <p:txBody>
          <a:bodyPr wrap="square" lIns="0" tIns="0" rIns="0" bIns="0" rtlCol="0" anchor="ctr"/>
          <a:lstStyle/>
          <a:p>
            <a:pPr algn="ctr" indent="0" marL="0">
              <a:buNone/>
            </a:pPr>
            <a:r>
              <a:rPr lang="en-US" sz="1000" b="1" dirty="0">
                <a:solidFill>
                  <a:srgbClr val="10B981"/>
                </a:solidFill>
                <a:latin typeface="Calibri" pitchFamily="34" charset="0"/>
                <a:ea typeface="Calibri" pitchFamily="34" charset="-122"/>
                <a:cs typeface="Calibri" pitchFamily="34" charset="-120"/>
              </a:rPr>
              <a:t>Wk 8</a:t>
            </a:r>
            <a:endParaRPr lang="en-US" sz="1000" dirty="0"/>
          </a:p>
        </p:txBody>
      </p:sp>
      <p:sp>
        <p:nvSpPr>
          <p:cNvPr id="34" name="Text 32"/>
          <p:cNvSpPr/>
          <p:nvPr/>
        </p:nvSpPr>
        <p:spPr>
          <a:xfrm>
            <a:off x="4164584" y="1810512"/>
            <a:ext cx="851408" cy="594360"/>
          </a:xfrm>
          <a:prstGeom prst="rect">
            <a:avLst/>
          </a:prstGeom>
          <a:noFill/>
          <a:ln/>
        </p:spPr>
        <p:txBody>
          <a:bodyPr wrap="square" lIns="0" tIns="0" rIns="0" bIns="0"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Non-IID Federated Stress Test</a:t>
            </a:r>
            <a:endParaRPr lang="en-US" sz="900" dirty="0"/>
          </a:p>
        </p:txBody>
      </p:sp>
      <p:sp>
        <p:nvSpPr>
          <p:cNvPr id="35" name="Text 33"/>
          <p:cNvSpPr/>
          <p:nvPr/>
        </p:nvSpPr>
        <p:spPr>
          <a:xfrm>
            <a:off x="4164584" y="2423160"/>
            <a:ext cx="851408" cy="22860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FL</a:t>
            </a:r>
            <a:endParaRPr lang="en-US" sz="850" dirty="0"/>
          </a:p>
        </p:txBody>
      </p:sp>
      <p:sp>
        <p:nvSpPr>
          <p:cNvPr id="36" name="Shape 34"/>
          <p:cNvSpPr/>
          <p:nvPr/>
        </p:nvSpPr>
        <p:spPr>
          <a:xfrm>
            <a:off x="5377688" y="1325880"/>
            <a:ext cx="237744" cy="237744"/>
          </a:xfrm>
          <a:prstGeom prst="ellipse">
            <a:avLst/>
          </a:prstGeom>
          <a:solidFill>
            <a:srgbClr val="10B981"/>
          </a:solidFill>
          <a:ln w="12700">
            <a:solidFill>
              <a:srgbClr val="10B981"/>
            </a:solidFill>
            <a:prstDash val="solid"/>
          </a:ln>
        </p:spPr>
      </p:sp>
      <p:sp>
        <p:nvSpPr>
          <p:cNvPr id="37" name="Shape 35"/>
          <p:cNvSpPr/>
          <p:nvPr/>
        </p:nvSpPr>
        <p:spPr>
          <a:xfrm>
            <a:off x="5482844" y="1417320"/>
            <a:ext cx="27432" cy="1527048"/>
          </a:xfrm>
          <a:prstGeom prst="rect">
            <a:avLst/>
          </a:prstGeom>
          <a:solidFill>
            <a:srgbClr val="10B981"/>
          </a:solidFill>
          <a:ln w="12700">
            <a:solidFill>
              <a:srgbClr val="10B981"/>
            </a:solidFill>
            <a:prstDash val="solid"/>
          </a:ln>
        </p:spPr>
      </p:sp>
      <p:sp>
        <p:nvSpPr>
          <p:cNvPr id="38" name="Shape 36"/>
          <p:cNvSpPr/>
          <p:nvPr/>
        </p:nvSpPr>
        <p:spPr>
          <a:xfrm>
            <a:off x="5089144" y="2944368"/>
            <a:ext cx="851408" cy="1234440"/>
          </a:xfrm>
          <a:prstGeom prst="rect">
            <a:avLst/>
          </a:prstGeom>
          <a:solidFill>
            <a:srgbClr val="0D1F3C"/>
          </a:solidFill>
          <a:ln w="12700">
            <a:solidFill>
              <a:srgbClr val="10B981"/>
            </a:solidFill>
            <a:prstDash val="solid"/>
          </a:ln>
        </p:spPr>
      </p:sp>
      <p:sp>
        <p:nvSpPr>
          <p:cNvPr id="39" name="Text 37"/>
          <p:cNvSpPr/>
          <p:nvPr/>
        </p:nvSpPr>
        <p:spPr>
          <a:xfrm>
            <a:off x="5125720" y="2990088"/>
            <a:ext cx="787400" cy="256032"/>
          </a:xfrm>
          <a:prstGeom prst="rect">
            <a:avLst/>
          </a:prstGeom>
          <a:noFill/>
          <a:ln/>
        </p:spPr>
        <p:txBody>
          <a:bodyPr wrap="square" lIns="0" tIns="0" rIns="0" bIns="0" rtlCol="0" anchor="ctr"/>
          <a:lstStyle/>
          <a:p>
            <a:pPr algn="ctr" indent="0" marL="0">
              <a:buNone/>
            </a:pPr>
            <a:r>
              <a:rPr lang="en-US" sz="1000" b="1" dirty="0">
                <a:solidFill>
                  <a:srgbClr val="10B981"/>
                </a:solidFill>
                <a:latin typeface="Calibri" pitchFamily="34" charset="0"/>
                <a:ea typeface="Calibri" pitchFamily="34" charset="-122"/>
                <a:cs typeface="Calibri" pitchFamily="34" charset="-120"/>
              </a:rPr>
              <a:t>Wk 9</a:t>
            </a:r>
            <a:endParaRPr lang="en-US" sz="1000" dirty="0"/>
          </a:p>
        </p:txBody>
      </p:sp>
      <p:sp>
        <p:nvSpPr>
          <p:cNvPr id="40" name="Text 38"/>
          <p:cNvSpPr/>
          <p:nvPr/>
        </p:nvSpPr>
        <p:spPr>
          <a:xfrm>
            <a:off x="5089144" y="3246120"/>
            <a:ext cx="851408" cy="594360"/>
          </a:xfrm>
          <a:prstGeom prst="rect">
            <a:avLst/>
          </a:prstGeom>
          <a:noFill/>
          <a:ln/>
        </p:spPr>
        <p:txBody>
          <a:bodyPr wrap="square" lIns="0" tIns="0" rIns="0" bIns="0"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Opacus DP Integration</a:t>
            </a:r>
            <a:endParaRPr lang="en-US" sz="900" dirty="0"/>
          </a:p>
        </p:txBody>
      </p:sp>
      <p:sp>
        <p:nvSpPr>
          <p:cNvPr id="41" name="Text 39"/>
          <p:cNvSpPr/>
          <p:nvPr/>
        </p:nvSpPr>
        <p:spPr>
          <a:xfrm>
            <a:off x="5089144" y="3858768"/>
            <a:ext cx="851408" cy="22860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Privacy</a:t>
            </a:r>
            <a:endParaRPr lang="en-US" sz="850" dirty="0"/>
          </a:p>
        </p:txBody>
      </p:sp>
      <p:sp>
        <p:nvSpPr>
          <p:cNvPr id="42" name="Shape 40"/>
          <p:cNvSpPr/>
          <p:nvPr/>
        </p:nvSpPr>
        <p:spPr>
          <a:xfrm>
            <a:off x="6302248" y="1325880"/>
            <a:ext cx="237744" cy="237744"/>
          </a:xfrm>
          <a:prstGeom prst="ellipse">
            <a:avLst/>
          </a:prstGeom>
          <a:solidFill>
            <a:srgbClr val="F59E0B"/>
          </a:solidFill>
          <a:ln w="12700">
            <a:solidFill>
              <a:srgbClr val="F59E0B"/>
            </a:solidFill>
            <a:prstDash val="solid"/>
          </a:ln>
        </p:spPr>
      </p:sp>
      <p:sp>
        <p:nvSpPr>
          <p:cNvPr id="43" name="Shape 41"/>
          <p:cNvSpPr/>
          <p:nvPr/>
        </p:nvSpPr>
        <p:spPr>
          <a:xfrm>
            <a:off x="6407404" y="1490472"/>
            <a:ext cx="27432" cy="-146304"/>
          </a:xfrm>
          <a:prstGeom prst="rect">
            <a:avLst/>
          </a:prstGeom>
          <a:solidFill>
            <a:srgbClr val="F59E0B"/>
          </a:solidFill>
          <a:ln w="12700">
            <a:solidFill>
              <a:srgbClr val="F59E0B"/>
            </a:solidFill>
            <a:prstDash val="solid"/>
          </a:ln>
        </p:spPr>
      </p:sp>
      <p:sp>
        <p:nvSpPr>
          <p:cNvPr id="44" name="Shape 42"/>
          <p:cNvSpPr/>
          <p:nvPr/>
        </p:nvSpPr>
        <p:spPr>
          <a:xfrm>
            <a:off x="6013704" y="1508760"/>
            <a:ext cx="851408" cy="1234440"/>
          </a:xfrm>
          <a:prstGeom prst="rect">
            <a:avLst/>
          </a:prstGeom>
          <a:solidFill>
            <a:srgbClr val="0D1F3C"/>
          </a:solidFill>
          <a:ln w="12700">
            <a:solidFill>
              <a:srgbClr val="F59E0B"/>
            </a:solidFill>
            <a:prstDash val="solid"/>
          </a:ln>
        </p:spPr>
      </p:sp>
      <p:sp>
        <p:nvSpPr>
          <p:cNvPr id="45" name="Text 43"/>
          <p:cNvSpPr/>
          <p:nvPr/>
        </p:nvSpPr>
        <p:spPr>
          <a:xfrm>
            <a:off x="6050280" y="1554480"/>
            <a:ext cx="787400" cy="256032"/>
          </a:xfrm>
          <a:prstGeom prst="rect">
            <a:avLst/>
          </a:prstGeom>
          <a:noFill/>
          <a:ln/>
        </p:spPr>
        <p:txBody>
          <a:bodyPr wrap="square" lIns="0" tIns="0" rIns="0" bIns="0" rtlCol="0" anchor="ctr"/>
          <a:lstStyle/>
          <a:p>
            <a:pPr algn="ctr" indent="0" marL="0">
              <a:buNone/>
            </a:pPr>
            <a:r>
              <a:rPr lang="en-US" sz="1000" b="1" dirty="0">
                <a:solidFill>
                  <a:srgbClr val="F59E0B"/>
                </a:solidFill>
                <a:latin typeface="Calibri" pitchFamily="34" charset="0"/>
                <a:ea typeface="Calibri" pitchFamily="34" charset="-122"/>
                <a:cs typeface="Calibri" pitchFamily="34" charset="-120"/>
              </a:rPr>
              <a:t>Wk 10</a:t>
            </a:r>
            <a:endParaRPr lang="en-US" sz="1000" dirty="0"/>
          </a:p>
        </p:txBody>
      </p:sp>
      <p:sp>
        <p:nvSpPr>
          <p:cNvPr id="46" name="Text 44"/>
          <p:cNvSpPr/>
          <p:nvPr/>
        </p:nvSpPr>
        <p:spPr>
          <a:xfrm>
            <a:off x="6013704" y="1810512"/>
            <a:ext cx="851408" cy="594360"/>
          </a:xfrm>
          <a:prstGeom prst="rect">
            <a:avLst/>
          </a:prstGeom>
          <a:noFill/>
          <a:ln/>
        </p:spPr>
        <p:txBody>
          <a:bodyPr wrap="square" lIns="0" tIns="0" rIns="0" bIns="0"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Adversarial Attack Simulation</a:t>
            </a:r>
            <a:endParaRPr lang="en-US" sz="900" dirty="0"/>
          </a:p>
        </p:txBody>
      </p:sp>
      <p:sp>
        <p:nvSpPr>
          <p:cNvPr id="47" name="Text 45"/>
          <p:cNvSpPr/>
          <p:nvPr/>
        </p:nvSpPr>
        <p:spPr>
          <a:xfrm>
            <a:off x="6013704" y="2423160"/>
            <a:ext cx="851408" cy="22860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Security</a:t>
            </a:r>
            <a:endParaRPr lang="en-US" sz="850" dirty="0"/>
          </a:p>
        </p:txBody>
      </p:sp>
      <p:sp>
        <p:nvSpPr>
          <p:cNvPr id="48" name="Shape 46"/>
          <p:cNvSpPr/>
          <p:nvPr/>
        </p:nvSpPr>
        <p:spPr>
          <a:xfrm>
            <a:off x="7226808" y="1325880"/>
            <a:ext cx="237744" cy="237744"/>
          </a:xfrm>
          <a:prstGeom prst="ellipse">
            <a:avLst/>
          </a:prstGeom>
          <a:solidFill>
            <a:srgbClr val="F97316"/>
          </a:solidFill>
          <a:ln w="12700">
            <a:solidFill>
              <a:srgbClr val="F97316"/>
            </a:solidFill>
            <a:prstDash val="solid"/>
          </a:ln>
        </p:spPr>
      </p:sp>
      <p:sp>
        <p:nvSpPr>
          <p:cNvPr id="49" name="Shape 47"/>
          <p:cNvSpPr/>
          <p:nvPr/>
        </p:nvSpPr>
        <p:spPr>
          <a:xfrm>
            <a:off x="7331964" y="1417320"/>
            <a:ext cx="27432" cy="1527048"/>
          </a:xfrm>
          <a:prstGeom prst="rect">
            <a:avLst/>
          </a:prstGeom>
          <a:solidFill>
            <a:srgbClr val="F97316"/>
          </a:solidFill>
          <a:ln w="12700">
            <a:solidFill>
              <a:srgbClr val="F97316"/>
            </a:solidFill>
            <a:prstDash val="solid"/>
          </a:ln>
        </p:spPr>
      </p:sp>
      <p:sp>
        <p:nvSpPr>
          <p:cNvPr id="50" name="Shape 48"/>
          <p:cNvSpPr/>
          <p:nvPr/>
        </p:nvSpPr>
        <p:spPr>
          <a:xfrm>
            <a:off x="6938264" y="2944368"/>
            <a:ext cx="851408" cy="1234440"/>
          </a:xfrm>
          <a:prstGeom prst="rect">
            <a:avLst/>
          </a:prstGeom>
          <a:solidFill>
            <a:srgbClr val="0D1F3C"/>
          </a:solidFill>
          <a:ln w="12700">
            <a:solidFill>
              <a:srgbClr val="F97316"/>
            </a:solidFill>
            <a:prstDash val="solid"/>
          </a:ln>
        </p:spPr>
      </p:sp>
      <p:sp>
        <p:nvSpPr>
          <p:cNvPr id="51" name="Text 49"/>
          <p:cNvSpPr/>
          <p:nvPr/>
        </p:nvSpPr>
        <p:spPr>
          <a:xfrm>
            <a:off x="6974840" y="2990088"/>
            <a:ext cx="787400" cy="256032"/>
          </a:xfrm>
          <a:prstGeom prst="rect">
            <a:avLst/>
          </a:prstGeom>
          <a:noFill/>
          <a:ln/>
        </p:spPr>
        <p:txBody>
          <a:bodyPr wrap="square" lIns="0" tIns="0" rIns="0" bIns="0" rtlCol="0" anchor="ctr"/>
          <a:lstStyle/>
          <a:p>
            <a:pPr algn="ctr" indent="0" marL="0">
              <a:buNone/>
            </a:pPr>
            <a:r>
              <a:rPr lang="en-US" sz="1000" b="1" dirty="0">
                <a:solidFill>
                  <a:srgbClr val="F97316"/>
                </a:solidFill>
                <a:latin typeface="Calibri" pitchFamily="34" charset="0"/>
                <a:ea typeface="Calibri" pitchFamily="34" charset="-122"/>
                <a:cs typeface="Calibri" pitchFamily="34" charset="-120"/>
              </a:rPr>
              <a:t>Wk 11</a:t>
            </a:r>
            <a:endParaRPr lang="en-US" sz="1000" dirty="0"/>
          </a:p>
        </p:txBody>
      </p:sp>
      <p:sp>
        <p:nvSpPr>
          <p:cNvPr id="52" name="Text 50"/>
          <p:cNvSpPr/>
          <p:nvPr/>
        </p:nvSpPr>
        <p:spPr>
          <a:xfrm>
            <a:off x="6938264" y="3246120"/>
            <a:ext cx="851408" cy="594360"/>
          </a:xfrm>
          <a:prstGeom prst="rect">
            <a:avLst/>
          </a:prstGeom>
          <a:noFill/>
          <a:ln/>
        </p:spPr>
        <p:txBody>
          <a:bodyPr wrap="square" lIns="0" tIns="0" rIns="0" bIns="0"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WebSocket + React Dashboard</a:t>
            </a:r>
            <a:endParaRPr lang="en-US" sz="900" dirty="0"/>
          </a:p>
        </p:txBody>
      </p:sp>
      <p:sp>
        <p:nvSpPr>
          <p:cNvPr id="53" name="Text 51"/>
          <p:cNvSpPr/>
          <p:nvPr/>
        </p:nvSpPr>
        <p:spPr>
          <a:xfrm>
            <a:off x="6938264" y="3858768"/>
            <a:ext cx="851408" cy="22860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Frontend</a:t>
            </a:r>
            <a:endParaRPr lang="en-US" sz="850" dirty="0"/>
          </a:p>
        </p:txBody>
      </p:sp>
      <p:sp>
        <p:nvSpPr>
          <p:cNvPr id="54" name="Shape 52"/>
          <p:cNvSpPr/>
          <p:nvPr/>
        </p:nvSpPr>
        <p:spPr>
          <a:xfrm>
            <a:off x="8151368" y="1325880"/>
            <a:ext cx="237744" cy="237744"/>
          </a:xfrm>
          <a:prstGeom prst="ellipse">
            <a:avLst/>
          </a:prstGeom>
          <a:solidFill>
            <a:srgbClr val="A78BFA"/>
          </a:solidFill>
          <a:ln w="12700">
            <a:solidFill>
              <a:srgbClr val="A78BFA"/>
            </a:solidFill>
            <a:prstDash val="solid"/>
          </a:ln>
        </p:spPr>
      </p:sp>
      <p:sp>
        <p:nvSpPr>
          <p:cNvPr id="55" name="Shape 53"/>
          <p:cNvSpPr/>
          <p:nvPr/>
        </p:nvSpPr>
        <p:spPr>
          <a:xfrm>
            <a:off x="8256524" y="1490472"/>
            <a:ext cx="27432" cy="-146304"/>
          </a:xfrm>
          <a:prstGeom prst="rect">
            <a:avLst/>
          </a:prstGeom>
          <a:solidFill>
            <a:srgbClr val="A78BFA"/>
          </a:solidFill>
          <a:ln w="12700">
            <a:solidFill>
              <a:srgbClr val="A78BFA"/>
            </a:solidFill>
            <a:prstDash val="solid"/>
          </a:ln>
        </p:spPr>
      </p:sp>
      <p:sp>
        <p:nvSpPr>
          <p:cNvPr id="56" name="Shape 54"/>
          <p:cNvSpPr/>
          <p:nvPr/>
        </p:nvSpPr>
        <p:spPr>
          <a:xfrm>
            <a:off x="7862824" y="1508760"/>
            <a:ext cx="851408" cy="1234440"/>
          </a:xfrm>
          <a:prstGeom prst="rect">
            <a:avLst/>
          </a:prstGeom>
          <a:solidFill>
            <a:srgbClr val="0D1F3C"/>
          </a:solidFill>
          <a:ln w="12700">
            <a:solidFill>
              <a:srgbClr val="A78BFA"/>
            </a:solidFill>
            <a:prstDash val="solid"/>
          </a:ln>
        </p:spPr>
      </p:sp>
      <p:sp>
        <p:nvSpPr>
          <p:cNvPr id="57" name="Text 55"/>
          <p:cNvSpPr/>
          <p:nvPr/>
        </p:nvSpPr>
        <p:spPr>
          <a:xfrm>
            <a:off x="7899400" y="1554480"/>
            <a:ext cx="787400" cy="256032"/>
          </a:xfrm>
          <a:prstGeom prst="rect">
            <a:avLst/>
          </a:prstGeom>
          <a:noFill/>
          <a:ln/>
        </p:spPr>
        <p:txBody>
          <a:bodyPr wrap="square" lIns="0" tIns="0" rIns="0" bIns="0" rtlCol="0" anchor="ctr"/>
          <a:lstStyle/>
          <a:p>
            <a:pPr algn="ctr" indent="0" marL="0">
              <a:buNone/>
            </a:pPr>
            <a:r>
              <a:rPr lang="en-US" sz="1000" b="1" dirty="0">
                <a:solidFill>
                  <a:srgbClr val="A78BFA"/>
                </a:solidFill>
                <a:latin typeface="Calibri" pitchFamily="34" charset="0"/>
                <a:ea typeface="Calibri" pitchFamily="34" charset="-122"/>
                <a:cs typeface="Calibri" pitchFamily="34" charset="-120"/>
              </a:rPr>
              <a:t>Wk 12</a:t>
            </a:r>
            <a:endParaRPr lang="en-US" sz="1000" dirty="0"/>
          </a:p>
        </p:txBody>
      </p:sp>
      <p:sp>
        <p:nvSpPr>
          <p:cNvPr id="58" name="Text 56"/>
          <p:cNvSpPr/>
          <p:nvPr/>
        </p:nvSpPr>
        <p:spPr>
          <a:xfrm>
            <a:off x="7862824" y="1810512"/>
            <a:ext cx="851408" cy="594360"/>
          </a:xfrm>
          <a:prstGeom prst="rect">
            <a:avLst/>
          </a:prstGeom>
          <a:noFill/>
          <a:ln/>
        </p:spPr>
        <p:txBody>
          <a:bodyPr wrap="square" lIns="0" tIns="0" rIns="0" bIns="0"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Final Audit &amp; Presentation</a:t>
            </a:r>
            <a:endParaRPr lang="en-US" sz="900" dirty="0"/>
          </a:p>
        </p:txBody>
      </p:sp>
      <p:sp>
        <p:nvSpPr>
          <p:cNvPr id="59" name="Text 57"/>
          <p:cNvSpPr/>
          <p:nvPr/>
        </p:nvSpPr>
        <p:spPr>
          <a:xfrm>
            <a:off x="7862824" y="2423160"/>
            <a:ext cx="851408" cy="22860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Delivery</a:t>
            </a:r>
            <a:endParaRPr lang="en-US" sz="850" dirty="0"/>
          </a:p>
        </p:txBody>
      </p:sp>
      <p:sp>
        <p:nvSpPr>
          <p:cNvPr id="60" name="Text 58"/>
          <p:cNvSpPr/>
          <p:nvPr/>
        </p:nvSpPr>
        <p:spPr>
          <a:xfrm>
            <a:off x="411480" y="4645152"/>
            <a:ext cx="8321040" cy="164592"/>
          </a:xfrm>
          <a:prstGeom prst="rect">
            <a:avLst/>
          </a:prstGeom>
          <a:noFill/>
          <a:ln/>
        </p:spPr>
        <p:txBody>
          <a:bodyPr wrap="square" lIns="0" tIns="0" rIns="0" bIns="0" rtlCol="0" anchor="ctr"/>
          <a:lstStyle/>
          <a:p>
            <a:pPr algn="ctr" indent="0" marL="0">
              <a:buNone/>
            </a:pPr>
            <a:r>
              <a:rPr lang="en-US" sz="900" dirty="0">
                <a:solidFill>
                  <a:srgbClr val="00D4FF"/>
                </a:solidFill>
                <a:latin typeface="Calibri" pitchFamily="34" charset="0"/>
                <a:ea typeface="Calibri" pitchFamily="34" charset="-122"/>
                <a:cs typeface="Calibri" pitchFamily="34" charset="-120"/>
              </a:rPr>
              <a:t>📋 Proposed Solution Report: Week 6   |   📊 Progress Report: Week 8   |   🎯 Final Presentation: Week 12</a:t>
            </a:r>
            <a:endParaRPr lang="en-US" sz="900" dirty="0"/>
          </a:p>
        </p:txBody>
      </p:sp>
      <p:sp>
        <p:nvSpPr>
          <p:cNvPr id="61" name="Shape 59"/>
          <p:cNvSpPr/>
          <p:nvPr/>
        </p:nvSpPr>
        <p:spPr>
          <a:xfrm>
            <a:off x="0" y="4800600"/>
            <a:ext cx="9144000" cy="342900"/>
          </a:xfrm>
          <a:prstGeom prst="rect">
            <a:avLst/>
          </a:prstGeom>
          <a:solidFill>
            <a:srgbClr val="071020"/>
          </a:solidFill>
          <a:ln w="12700">
            <a:solidFill>
              <a:srgbClr val="071020"/>
            </a:solidFill>
            <a:prstDash val="solid"/>
          </a:ln>
        </p:spPr>
      </p:sp>
      <p:sp>
        <p:nvSpPr>
          <p:cNvPr id="62" name="Shape 60"/>
          <p:cNvSpPr/>
          <p:nvPr/>
        </p:nvSpPr>
        <p:spPr>
          <a:xfrm>
            <a:off x="0" y="4796028"/>
            <a:ext cx="9144000" cy="13716"/>
          </a:xfrm>
          <a:prstGeom prst="rect">
            <a:avLst/>
          </a:prstGeom>
          <a:solidFill>
            <a:srgbClr val="0891B2"/>
          </a:solidFill>
          <a:ln w="12700">
            <a:solidFill>
              <a:srgbClr val="0891B2"/>
            </a:solidFill>
            <a:prstDash val="solid"/>
          </a:ln>
        </p:spPr>
      </p:sp>
      <p:sp>
        <p:nvSpPr>
          <p:cNvPr id="63" name="Text 61"/>
          <p:cNvSpPr/>
          <p:nvPr/>
        </p:nvSpPr>
        <p:spPr>
          <a:xfrm>
            <a:off x="274320" y="4805172"/>
            <a:ext cx="8229600" cy="320040"/>
          </a:xfrm>
          <a:prstGeom prst="rect">
            <a:avLst/>
          </a:prstGeom>
          <a:noFill/>
          <a:ln/>
        </p:spPr>
        <p:txBody>
          <a:bodyPr wrap="square" lIns="0" tIns="0" rIns="0" bIns="0" rtlCol="0" anchor="ctr"/>
          <a:lstStyle/>
          <a:p>
            <a:pPr algn="l" indent="0" marL="0">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64" name="Text 62"/>
          <p:cNvSpPr/>
          <p:nvPr/>
        </p:nvSpPr>
        <p:spPr>
          <a:xfrm>
            <a:off x="8503920" y="4805172"/>
            <a:ext cx="548640" cy="320040"/>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12 / 14</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11480" y="201168"/>
            <a:ext cx="8046720" cy="530352"/>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Project Contribution &amp; Novelty</a:t>
            </a:r>
            <a:endParaRPr lang="en-US" sz="2800" dirty="0"/>
          </a:p>
        </p:txBody>
      </p:sp>
      <p:sp>
        <p:nvSpPr>
          <p:cNvPr id="3" name="Text 1"/>
          <p:cNvSpPr/>
          <p:nvPr/>
        </p:nvSpPr>
        <p:spPr>
          <a:xfrm>
            <a:off x="411480" y="749808"/>
            <a:ext cx="8046720" cy="292608"/>
          </a:xfrm>
          <a:prstGeom prst="rect">
            <a:avLst/>
          </a:prstGeom>
          <a:noFill/>
          <a:ln/>
        </p:spPr>
        <p:txBody>
          <a:bodyPr wrap="square" lIns="0" tIns="0" rIns="0" bIns="0" rtlCol="0" anchor="t"/>
          <a:lstStyle/>
          <a:p>
            <a:pPr algn="l" indent="0" marL="0">
              <a:buNone/>
            </a:pPr>
            <a:r>
              <a:rPr lang="en-US" sz="1300" i="1" dirty="0">
                <a:solidFill>
                  <a:srgbClr val="00D4FF"/>
                </a:solidFill>
                <a:latin typeface="Calibri" pitchFamily="34" charset="0"/>
                <a:ea typeface="Calibri" pitchFamily="34" charset="-122"/>
                <a:cs typeface="Calibri" pitchFamily="34" charset="-120"/>
              </a:rPr>
              <a:t>Centralized IDS vs. PRIVATE SHIELD</a:t>
            </a:r>
            <a:endParaRPr lang="en-US" sz="1300" dirty="0"/>
          </a:p>
        </p:txBody>
      </p:sp>
      <p:sp>
        <p:nvSpPr>
          <p:cNvPr id="4" name="Shape 2"/>
          <p:cNvSpPr/>
          <p:nvPr/>
        </p:nvSpPr>
        <p:spPr>
          <a:xfrm>
            <a:off x="411480" y="1005840"/>
            <a:ext cx="8321040" cy="16459"/>
          </a:xfrm>
          <a:prstGeom prst="rect">
            <a:avLst/>
          </a:prstGeom>
          <a:solidFill>
            <a:srgbClr val="0891B2">
              <a:alpha val="60000"/>
            </a:srgbClr>
          </a:solidFill>
          <a:ln w="12700">
            <a:solidFill>
              <a:srgbClr val="0891B2"/>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8321040" cy="914400"/>
        </p:xfrm>
        <a:graphic>
          <a:graphicData uri="http://schemas.openxmlformats.org/drawingml/2006/table">
            <a:tbl>
              <a:tblPr/>
              <a:tblGrid>
                <a:gridCol w="1645920"/>
                <a:gridCol w="3108960"/>
                <a:gridCol w="3566160"/>
              </a:tblGrid>
              <a:tr h="347472">
                <a:tc>
                  <a:txBody>
                    <a:bodyPr/>
                    <a:lstStyle/>
                    <a:p>
                      <a:pPr algn="ctr" indent="0" marL="0">
                        <a:buNone/>
                      </a:pPr>
                      <a:r>
                        <a:rPr lang="en-US" sz="1000" b="1" dirty="0">
                          <a:solidFill>
                            <a:srgbClr val="00D4FF"/>
                          </a:solidFill>
                          <a:latin typeface="Calibri" pitchFamily="34" charset="0"/>
                          <a:ea typeface="Calibri" pitchFamily="34" charset="-122"/>
                          <a:cs typeface="Calibri" pitchFamily="34" charset="-120"/>
                        </a:rPr>
                        <a:t>Criterion</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640"/>
                    </a:solidFill>
                  </a:tcPr>
                </a:tc>
                <a:tc>
                  <a:txBody>
                    <a:bodyPr/>
                    <a:lstStyle/>
                    <a:p>
                      <a:pPr algn="ctr" indent="0" marL="0">
                        <a:buNone/>
                      </a:pPr>
                      <a:r>
                        <a:rPr lang="en-US" sz="1000" b="1" dirty="0">
                          <a:solidFill>
                            <a:srgbClr val="FCA5A5"/>
                          </a:solidFill>
                          <a:latin typeface="Calibri" pitchFamily="34" charset="0"/>
                          <a:ea typeface="Calibri" pitchFamily="34" charset="-122"/>
                          <a:cs typeface="Calibri" pitchFamily="34" charset="-120"/>
                        </a:rPr>
                        <a:t>Centralized IDS</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3D1515"/>
                    </a:solidFill>
                  </a:tcPr>
                </a:tc>
                <a:tc>
                  <a:txBody>
                    <a:bodyPr/>
                    <a:lstStyle/>
                    <a:p>
                      <a:pPr algn="ctr" indent="0" marL="0">
                        <a:buNone/>
                      </a:pPr>
                      <a:r>
                        <a:rPr lang="en-US" sz="1000" b="1" dirty="0">
                          <a:solidFill>
                            <a:srgbClr val="10B981"/>
                          </a:solidFill>
                          <a:latin typeface="Calibri" pitchFamily="34" charset="0"/>
                          <a:ea typeface="Calibri" pitchFamily="34" charset="-122"/>
                          <a:cs typeface="Calibri" pitchFamily="34" charset="-120"/>
                        </a:rPr>
                        <a:t>PRIVATE SHIELD</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A2A1A"/>
                    </a:solidFill>
                  </a:tcPr>
                </a:tc>
              </a:tr>
              <a:tr h="347472">
                <a:tc>
                  <a:txBody>
                    <a:bodyPr/>
                    <a:lstStyle/>
                    <a:p>
                      <a:pPr algn="l" indent="0" marL="0">
                        <a:buNone/>
                      </a:pPr>
                      <a:r>
                        <a:rPr lang="en-US" sz="950" dirty="0">
                          <a:solidFill>
                            <a:srgbClr val="CBD5E1"/>
                          </a:solidFill>
                          <a:latin typeface="Calibri" pitchFamily="34" charset="0"/>
                          <a:ea typeface="Calibri" pitchFamily="34" charset="-122"/>
                          <a:cs typeface="Calibri" pitchFamily="34" charset="-120"/>
                        </a:rPr>
                        <a:t>Data Privacy</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tc>
                  <a:txBody>
                    <a:bodyPr/>
                    <a:lstStyle/>
                    <a:p>
                      <a:pPr algn="ctr" indent="0" marL="0">
                        <a:buNone/>
                      </a:pPr>
                      <a:r>
                        <a:rPr lang="en-US" sz="950" dirty="0">
                          <a:solidFill>
                            <a:srgbClr val="FCA5A5"/>
                          </a:solidFill>
                          <a:latin typeface="Calibri" pitchFamily="34" charset="0"/>
                          <a:ea typeface="Calibri" pitchFamily="34" charset="-122"/>
                          <a:cs typeface="Calibri" pitchFamily="34" charset="-120"/>
                        </a:rPr>
                        <a:t>Raw telemetry streamed to cloud</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Data never leaves edge — DP-hardened gradients only</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tr>
              <a:tr h="347472">
                <a:tc>
                  <a:txBody>
                    <a:bodyPr/>
                    <a:lstStyle/>
                    <a:p>
                      <a:pPr algn="l" indent="0" marL="0">
                        <a:buNone/>
                      </a:pPr>
                      <a:r>
                        <a:rPr lang="en-US" sz="950" dirty="0">
                          <a:solidFill>
                            <a:srgbClr val="CBD5E1"/>
                          </a:solidFill>
                          <a:latin typeface="Calibri" pitchFamily="34" charset="0"/>
                          <a:ea typeface="Calibri" pitchFamily="34" charset="-122"/>
                          <a:cs typeface="Calibri" pitchFamily="34" charset="-120"/>
                        </a:rPr>
                        <a:t>Network Bandwidth</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91830"/>
                    </a:solidFill>
                  </a:tcPr>
                </a:tc>
                <a:tc>
                  <a:txBody>
                    <a:bodyPr/>
                    <a:lstStyle/>
                    <a:p>
                      <a:pPr algn="ctr" indent="0" marL="0">
                        <a:buNone/>
                      </a:pPr>
                      <a:r>
                        <a:rPr lang="en-US" sz="950" dirty="0">
                          <a:solidFill>
                            <a:srgbClr val="FCA5A5"/>
                          </a:solidFill>
                          <a:latin typeface="Calibri" pitchFamily="34" charset="0"/>
                          <a:ea typeface="Calibri" pitchFamily="34" charset="-122"/>
                          <a:cs typeface="Calibri" pitchFamily="34" charset="-120"/>
                        </a:rPr>
                        <a:t>Massive bandwidth consumption</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91830"/>
                    </a:solidFill>
                  </a:tcPr>
                </a:tc>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Minimal — only parameter updates transmitted</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91830"/>
                    </a:solidFill>
                  </a:tcPr>
                </a:tc>
              </a:tr>
              <a:tr h="347472">
                <a:tc>
                  <a:txBody>
                    <a:bodyPr/>
                    <a:lstStyle/>
                    <a:p>
                      <a:pPr algn="l" indent="0" marL="0">
                        <a:buNone/>
                      </a:pPr>
                      <a:r>
                        <a:rPr lang="en-US" sz="950" dirty="0">
                          <a:solidFill>
                            <a:srgbClr val="CBD5E1"/>
                          </a:solidFill>
                          <a:latin typeface="Calibri" pitchFamily="34" charset="0"/>
                          <a:ea typeface="Calibri" pitchFamily="34" charset="-122"/>
                          <a:cs typeface="Calibri" pitchFamily="34" charset="-120"/>
                        </a:rPr>
                        <a:t>Adversarial Defense</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tc>
                  <a:txBody>
                    <a:bodyPr/>
                    <a:lstStyle/>
                    <a:p>
                      <a:pPr algn="ctr" indent="0" marL="0">
                        <a:buNone/>
                      </a:pPr>
                      <a:r>
                        <a:rPr lang="en-US" sz="950" dirty="0">
                          <a:solidFill>
                            <a:srgbClr val="FCA5A5"/>
                          </a:solidFill>
                          <a:latin typeface="Calibri" pitchFamily="34" charset="0"/>
                          <a:ea typeface="Calibri" pitchFamily="34" charset="-122"/>
                          <a:cs typeface="Calibri" pitchFamily="34" charset="-120"/>
                        </a:rPr>
                        <a:t>None — static models</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Active poisoning, free-rider &amp; inference mitigations</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tr>
              <a:tr h="347472">
                <a:tc>
                  <a:txBody>
                    <a:bodyPr/>
                    <a:lstStyle/>
                    <a:p>
                      <a:pPr algn="l" indent="0" marL="0">
                        <a:buNone/>
                      </a:pPr>
                      <a:r>
                        <a:rPr lang="en-US" sz="950" dirty="0">
                          <a:solidFill>
                            <a:srgbClr val="CBD5E1"/>
                          </a:solidFill>
                          <a:latin typeface="Calibri" pitchFamily="34" charset="0"/>
                          <a:ea typeface="Calibri" pitchFamily="34" charset="-122"/>
                          <a:cs typeface="Calibri" pitchFamily="34" charset="-120"/>
                        </a:rPr>
                        <a:t>Edge Deployment</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91830"/>
                    </a:solidFill>
                  </a:tcPr>
                </a:tc>
                <a:tc>
                  <a:txBody>
                    <a:bodyPr/>
                    <a:lstStyle/>
                    <a:p>
                      <a:pPr algn="ctr" indent="0" marL="0">
                        <a:buNone/>
                      </a:pPr>
                      <a:r>
                        <a:rPr lang="en-US" sz="950" dirty="0">
                          <a:solidFill>
                            <a:srgbClr val="FCA5A5"/>
                          </a:solidFill>
                          <a:latin typeface="Calibri" pitchFamily="34" charset="0"/>
                          <a:ea typeface="Calibri" pitchFamily="34" charset="-122"/>
                          <a:cs typeface="Calibri" pitchFamily="34" charset="-120"/>
                        </a:rPr>
                        <a:t>Requires cloud connectivity</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91830"/>
                    </a:solidFill>
                  </a:tcPr>
                </a:tc>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Fully offline-capable on Raspberry Pi + ESP32</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91830"/>
                    </a:solidFill>
                  </a:tcPr>
                </a:tc>
              </a:tr>
              <a:tr h="347472">
                <a:tc>
                  <a:txBody>
                    <a:bodyPr/>
                    <a:lstStyle/>
                    <a:p>
                      <a:pPr algn="l" indent="0" marL="0">
                        <a:buNone/>
                      </a:pPr>
                      <a:r>
                        <a:rPr lang="en-US" sz="950" dirty="0">
                          <a:solidFill>
                            <a:srgbClr val="CBD5E1"/>
                          </a:solidFill>
                          <a:latin typeface="Calibri" pitchFamily="34" charset="0"/>
                          <a:ea typeface="Calibri" pitchFamily="34" charset="-122"/>
                          <a:cs typeface="Calibri" pitchFamily="34" charset="-120"/>
                        </a:rPr>
                        <a:t>Formal Privacy</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tc>
                  <a:txBody>
                    <a:bodyPr/>
                    <a:lstStyle/>
                    <a:p>
                      <a:pPr algn="ctr" indent="0" marL="0">
                        <a:buNone/>
                      </a:pPr>
                      <a:r>
                        <a:rPr lang="en-US" sz="950" dirty="0">
                          <a:solidFill>
                            <a:srgbClr val="FCA5A5"/>
                          </a:solidFill>
                          <a:latin typeface="Calibri" pitchFamily="34" charset="0"/>
                          <a:ea typeface="Calibri" pitchFamily="34" charset="-122"/>
                          <a:cs typeface="Calibri" pitchFamily="34" charset="-120"/>
                        </a:rPr>
                        <a:t>No formal guarantees</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(ε, δ)-DP guaranteed via Opacus runtime</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tr>
              <a:tr h="347472">
                <a:tc>
                  <a:txBody>
                    <a:bodyPr/>
                    <a:lstStyle/>
                    <a:p>
                      <a:pPr algn="l" indent="0" marL="0">
                        <a:buNone/>
                      </a:pPr>
                      <a:r>
                        <a:rPr lang="en-US" sz="950" dirty="0">
                          <a:solidFill>
                            <a:srgbClr val="CBD5E1"/>
                          </a:solidFill>
                          <a:latin typeface="Calibri" pitchFamily="34" charset="0"/>
                          <a:ea typeface="Calibri" pitchFamily="34" charset="-122"/>
                          <a:cs typeface="Calibri" pitchFamily="34" charset="-120"/>
                        </a:rPr>
                        <a:t>Forensic Analysis</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91830"/>
                    </a:solidFill>
                  </a:tcPr>
                </a:tc>
                <a:tc>
                  <a:txBody>
                    <a:bodyPr/>
                    <a:lstStyle/>
                    <a:p>
                      <a:pPr algn="ctr" indent="0" marL="0">
                        <a:buNone/>
                      </a:pPr>
                      <a:r>
                        <a:rPr lang="en-US" sz="950" dirty="0">
                          <a:solidFill>
                            <a:srgbClr val="FCA5A5"/>
                          </a:solidFill>
                          <a:latin typeface="Calibri" pitchFamily="34" charset="0"/>
                          <a:ea typeface="Calibri" pitchFamily="34" charset="-122"/>
                          <a:cs typeface="Calibri" pitchFamily="34" charset="-120"/>
                        </a:rPr>
                        <a:t>Manual log analysis</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91830"/>
                    </a:solidFill>
                  </a:tcPr>
                </a:tc>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Automated LLM (Claude API) plain-English reports</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91830"/>
                    </a:solidFill>
                  </a:tcPr>
                </a:tc>
              </a:tr>
              <a:tr h="347472">
                <a:tc>
                  <a:txBody>
                    <a:bodyPr/>
                    <a:lstStyle/>
                    <a:p>
                      <a:pPr algn="l" indent="0" marL="0">
                        <a:buNone/>
                      </a:pPr>
                      <a:r>
                        <a:rPr lang="en-US" sz="950" dirty="0">
                          <a:solidFill>
                            <a:srgbClr val="CBD5E1"/>
                          </a:solidFill>
                          <a:latin typeface="Calibri" pitchFamily="34" charset="0"/>
                          <a:ea typeface="Calibri" pitchFamily="34" charset="-122"/>
                          <a:cs typeface="Calibri" pitchFamily="34" charset="-120"/>
                        </a:rPr>
                        <a:t>Scalability</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tc>
                  <a:txBody>
                    <a:bodyPr/>
                    <a:lstStyle/>
                    <a:p>
                      <a:pPr algn="ctr" indent="0" marL="0">
                        <a:buNone/>
                      </a:pPr>
                      <a:r>
                        <a:rPr lang="en-US" sz="950" dirty="0">
                          <a:solidFill>
                            <a:srgbClr val="FCA5A5"/>
                          </a:solidFill>
                          <a:latin typeface="Calibri" pitchFamily="34" charset="0"/>
                          <a:ea typeface="Calibri" pitchFamily="34" charset="-122"/>
                          <a:cs typeface="Calibri" pitchFamily="34" charset="-120"/>
                        </a:rPr>
                        <a:t>Single point of failure</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tc>
                  <a:txBody>
                    <a:bodyPr/>
                    <a:lstStyle/>
                    <a:p>
                      <a:pPr algn="ctr" indent="0" marL="0">
                        <a:buNone/>
                      </a:pPr>
                      <a:r>
                        <a:rPr lang="en-US" sz="950" dirty="0">
                          <a:solidFill>
                            <a:srgbClr val="E2E8F0"/>
                          </a:solidFill>
                          <a:latin typeface="Calibri" pitchFamily="34" charset="0"/>
                          <a:ea typeface="Calibri" pitchFamily="34" charset="-122"/>
                          <a:cs typeface="Calibri" pitchFamily="34" charset="-120"/>
                        </a:rPr>
                        <a:t>Decentralized mesh — no central bottleneck</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tr>
            </a:tbl>
          </a:graphicData>
        </a:graphic>
      </p:graphicFrame>
      <p:sp>
        <p:nvSpPr>
          <p:cNvPr id="6" name="Shape 3"/>
          <p:cNvSpPr/>
          <p:nvPr/>
        </p:nvSpPr>
        <p:spPr>
          <a:xfrm>
            <a:off x="0" y="4800600"/>
            <a:ext cx="9144000" cy="342900"/>
          </a:xfrm>
          <a:prstGeom prst="rect">
            <a:avLst/>
          </a:prstGeom>
          <a:solidFill>
            <a:srgbClr val="071020"/>
          </a:solidFill>
          <a:ln w="12700">
            <a:solidFill>
              <a:srgbClr val="071020"/>
            </a:solidFill>
            <a:prstDash val="solid"/>
          </a:ln>
        </p:spPr>
      </p:sp>
      <p:sp>
        <p:nvSpPr>
          <p:cNvPr id="7" name="Shape 4"/>
          <p:cNvSpPr/>
          <p:nvPr/>
        </p:nvSpPr>
        <p:spPr>
          <a:xfrm>
            <a:off x="0" y="4796028"/>
            <a:ext cx="9144000" cy="13716"/>
          </a:xfrm>
          <a:prstGeom prst="rect">
            <a:avLst/>
          </a:prstGeom>
          <a:solidFill>
            <a:srgbClr val="0891B2"/>
          </a:solidFill>
          <a:ln w="12700">
            <a:solidFill>
              <a:srgbClr val="0891B2"/>
            </a:solidFill>
            <a:prstDash val="solid"/>
          </a:ln>
        </p:spPr>
      </p:sp>
      <p:sp>
        <p:nvSpPr>
          <p:cNvPr id="8" name="Text 5"/>
          <p:cNvSpPr/>
          <p:nvPr/>
        </p:nvSpPr>
        <p:spPr>
          <a:xfrm>
            <a:off x="274320" y="4805172"/>
            <a:ext cx="8229600" cy="320040"/>
          </a:xfrm>
          <a:prstGeom prst="rect">
            <a:avLst/>
          </a:prstGeom>
          <a:noFill/>
          <a:ln/>
        </p:spPr>
        <p:txBody>
          <a:bodyPr wrap="square" lIns="0" tIns="0" rIns="0" bIns="0" rtlCol="0" anchor="ctr"/>
          <a:lstStyle/>
          <a:p>
            <a:pPr algn="l" indent="0" marL="0">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9" name="Text 6"/>
          <p:cNvSpPr/>
          <p:nvPr/>
        </p:nvSpPr>
        <p:spPr>
          <a:xfrm>
            <a:off x="8503920" y="4805172"/>
            <a:ext cx="548640" cy="320040"/>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13 / 14</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5943600" y="-457200"/>
            <a:ext cx="4572000" cy="4572000"/>
          </a:xfrm>
          <a:prstGeom prst="ellipse">
            <a:avLst/>
          </a:prstGeom>
          <a:solidFill>
            <a:srgbClr val="0891B2">
              <a:alpha val="8000"/>
            </a:srgbClr>
          </a:solidFill>
          <a:ln w="12700">
            <a:solidFill>
              <a:srgbClr val="0891B2"/>
            </a:solidFill>
            <a:prstDash val="solid"/>
          </a:ln>
        </p:spPr>
      </p:sp>
      <p:pic>
        <p:nvPicPr>
          <p:cNvPr id="3" name="Image 0" descr="preencoded.png">    </p:cNvPr>
          <p:cNvPicPr>
            <a:picLocks noChangeAspect="1"/>
          </p:cNvPicPr>
          <p:nvPr/>
        </p:nvPicPr>
        <p:blipFill>
          <a:blip r:embed="rId1"/>
          <a:stretch>
            <a:fillRect/>
          </a:stretch>
        </p:blipFill>
        <p:spPr>
          <a:xfrm>
            <a:off x="7223760" y="457200"/>
            <a:ext cx="1371600" cy="1371600"/>
          </a:xfrm>
          <a:prstGeom prst="rect">
            <a:avLst/>
          </a:prstGeom>
        </p:spPr>
      </p:pic>
      <p:sp>
        <p:nvSpPr>
          <p:cNvPr id="4" name="Text 1"/>
          <p:cNvSpPr/>
          <p:nvPr/>
        </p:nvSpPr>
        <p:spPr>
          <a:xfrm>
            <a:off x="457200" y="201168"/>
            <a:ext cx="6583680" cy="54864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5" name="Shape 2"/>
          <p:cNvSpPr/>
          <p:nvPr/>
        </p:nvSpPr>
        <p:spPr>
          <a:xfrm>
            <a:off x="457200" y="822960"/>
            <a:ext cx="6217920" cy="914400"/>
          </a:xfrm>
          <a:prstGeom prst="rect">
            <a:avLst/>
          </a:prstGeom>
          <a:solidFill>
            <a:srgbClr val="0D1F3C"/>
          </a:solidFill>
          <a:ln w="12700">
            <a:solidFill>
              <a:srgbClr val="1E3A5F"/>
            </a:solidFill>
            <a:prstDash val="solid"/>
          </a:ln>
          <a:effectLst>
            <a:outerShdw sx="100000" sy="100000" kx="0" ky="0" algn="bl" rotWithShape="0" blurRad="101600" dist="38100" dir="2700000">
              <a:srgbClr val="000000">
                <a:alpha val="25000"/>
              </a:srgbClr>
            </a:outerShdw>
          </a:effectLst>
        </p:spPr>
      </p:sp>
      <p:sp>
        <p:nvSpPr>
          <p:cNvPr id="6" name="Text 3"/>
          <p:cNvSpPr/>
          <p:nvPr/>
        </p:nvSpPr>
        <p:spPr>
          <a:xfrm>
            <a:off x="594360" y="868680"/>
            <a:ext cx="5943600" cy="822960"/>
          </a:xfrm>
          <a:prstGeom prst="rect">
            <a:avLst/>
          </a:prstGeom>
          <a:noFill/>
          <a:ln/>
        </p:spPr>
        <p:txBody>
          <a:bodyPr wrap="square" lIns="0" tIns="0" rIns="0" bIns="0" rtlCol="0" anchor="ctr"/>
          <a:lstStyle/>
          <a:p>
            <a:pPr algn="l" indent="0" marL="0">
              <a:buNone/>
            </a:pPr>
            <a:r>
              <a:rPr lang="en-US" sz="1100" dirty="0">
                <a:solidFill>
                  <a:srgbClr val="E2E8F0"/>
                </a:solidFill>
                <a:latin typeface="Calibri" pitchFamily="34" charset="0"/>
                <a:ea typeface="Calibri" pitchFamily="34" charset="-122"/>
                <a:cs typeface="Calibri" pitchFamily="34" charset="-120"/>
              </a:rPr>
              <a:t>PRIVATE SHIELD delivers a mathematically rigorous, edge-native alternative to centralized IDS — combining Federated Learning, Differential Privacy, adversarial robustness, real-time SOC visualization, and LLM forensic intelligence into a single unified architecture.</a:t>
            </a:r>
            <a:endParaRPr lang="en-US" sz="1100" dirty="0"/>
          </a:p>
        </p:txBody>
      </p:sp>
      <p:sp>
        <p:nvSpPr>
          <p:cNvPr id="7" name="Shape 4"/>
          <p:cNvSpPr/>
          <p:nvPr/>
        </p:nvSpPr>
        <p:spPr>
          <a:xfrm>
            <a:off x="475488" y="1920240"/>
            <a:ext cx="347472" cy="347472"/>
          </a:xfrm>
          <a:prstGeom prst="ellipse">
            <a:avLst/>
          </a:prstGeom>
          <a:solidFill>
            <a:srgbClr val="0891B2">
              <a:alpha val="75000"/>
            </a:srgbClr>
          </a:solidFill>
          <a:ln w="12700">
            <a:solidFill>
              <a:srgbClr val="0891B2"/>
            </a:solidFill>
            <a:prstDash val="solid"/>
          </a:ln>
        </p:spPr>
      </p:sp>
      <p:sp>
        <p:nvSpPr>
          <p:cNvPr id="8" name="Text 5"/>
          <p:cNvSpPr/>
          <p:nvPr/>
        </p:nvSpPr>
        <p:spPr>
          <a:xfrm>
            <a:off x="475488" y="1920240"/>
            <a:ext cx="347472" cy="347472"/>
          </a:xfrm>
          <a:prstGeom prst="rect">
            <a:avLst/>
          </a:prstGeom>
          <a:noFill/>
          <a:ln/>
        </p:spPr>
        <p:txBody>
          <a:bodyPr wrap="square" lIns="0" tIns="0" rIns="0" bIns="0" rtlCol="0" anchor="ctr"/>
          <a:lstStyle/>
          <a:p>
            <a:pPr algn="ctr" indent="0" marL="0">
              <a:buNone/>
            </a:pPr>
            <a:r>
              <a:rPr lang="en-US" sz="900" b="1" dirty="0">
                <a:solidFill>
                  <a:srgbClr val="0A1628"/>
                </a:solidFill>
                <a:latin typeface="Cambria" pitchFamily="34" charset="0"/>
                <a:ea typeface="Cambria" pitchFamily="34" charset="-122"/>
                <a:cs typeface="Cambria" pitchFamily="34" charset="-120"/>
              </a:rPr>
              <a:t>01</a:t>
            </a:r>
            <a:endParaRPr lang="en-US" sz="900" dirty="0"/>
          </a:p>
        </p:txBody>
      </p:sp>
      <p:sp>
        <p:nvSpPr>
          <p:cNvPr id="9" name="Text 6"/>
          <p:cNvSpPr/>
          <p:nvPr/>
        </p:nvSpPr>
        <p:spPr>
          <a:xfrm>
            <a:off x="932688" y="1929384"/>
            <a:ext cx="5715000" cy="329184"/>
          </a:xfrm>
          <a:prstGeom prst="rect">
            <a:avLst/>
          </a:prstGeom>
          <a:noFill/>
          <a:ln/>
        </p:spPr>
        <p:txBody>
          <a:bodyPr wrap="square" lIns="0" tIns="0" rIns="0" bIns="0" rtlCol="0" anchor="ctr"/>
          <a:lstStyle/>
          <a:p>
            <a:pPr algn="l" indent="0" marL="0">
              <a:buNone/>
            </a:pPr>
            <a:r>
              <a:rPr lang="en-US" sz="1100" dirty="0">
                <a:solidFill>
                  <a:srgbClr val="E2E8F0"/>
                </a:solidFill>
                <a:latin typeface="Calibri" pitchFamily="34" charset="0"/>
                <a:ea typeface="Calibri" pitchFamily="34" charset="-122"/>
                <a:cs typeface="Calibri" pitchFamily="34" charset="-120"/>
              </a:rPr>
              <a:t>Edge-native FL eliminates raw data exfiltration — privacy by architecture, not policy</a:t>
            </a:r>
            <a:endParaRPr lang="en-US" sz="1100" dirty="0"/>
          </a:p>
        </p:txBody>
      </p:sp>
      <p:sp>
        <p:nvSpPr>
          <p:cNvPr id="10" name="Shape 7"/>
          <p:cNvSpPr/>
          <p:nvPr/>
        </p:nvSpPr>
        <p:spPr>
          <a:xfrm>
            <a:off x="475488" y="2432304"/>
            <a:ext cx="347472" cy="347472"/>
          </a:xfrm>
          <a:prstGeom prst="ellipse">
            <a:avLst/>
          </a:prstGeom>
          <a:solidFill>
            <a:srgbClr val="00D4FF">
              <a:alpha val="75000"/>
            </a:srgbClr>
          </a:solidFill>
          <a:ln w="12700">
            <a:solidFill>
              <a:srgbClr val="00D4FF"/>
            </a:solidFill>
            <a:prstDash val="solid"/>
          </a:ln>
        </p:spPr>
      </p:sp>
      <p:sp>
        <p:nvSpPr>
          <p:cNvPr id="11" name="Text 8"/>
          <p:cNvSpPr/>
          <p:nvPr/>
        </p:nvSpPr>
        <p:spPr>
          <a:xfrm>
            <a:off x="475488" y="2432304"/>
            <a:ext cx="347472" cy="347472"/>
          </a:xfrm>
          <a:prstGeom prst="rect">
            <a:avLst/>
          </a:prstGeom>
          <a:noFill/>
          <a:ln/>
        </p:spPr>
        <p:txBody>
          <a:bodyPr wrap="square" lIns="0" tIns="0" rIns="0" bIns="0" rtlCol="0" anchor="ctr"/>
          <a:lstStyle/>
          <a:p>
            <a:pPr algn="ctr" indent="0" marL="0">
              <a:buNone/>
            </a:pPr>
            <a:r>
              <a:rPr lang="en-US" sz="900" b="1" dirty="0">
                <a:solidFill>
                  <a:srgbClr val="0A1628"/>
                </a:solidFill>
                <a:latin typeface="Cambria" pitchFamily="34" charset="0"/>
                <a:ea typeface="Cambria" pitchFamily="34" charset="-122"/>
                <a:cs typeface="Cambria" pitchFamily="34" charset="-120"/>
              </a:rPr>
              <a:t>02</a:t>
            </a:r>
            <a:endParaRPr lang="en-US" sz="900" dirty="0"/>
          </a:p>
        </p:txBody>
      </p:sp>
      <p:sp>
        <p:nvSpPr>
          <p:cNvPr id="12" name="Text 9"/>
          <p:cNvSpPr/>
          <p:nvPr/>
        </p:nvSpPr>
        <p:spPr>
          <a:xfrm>
            <a:off x="932688" y="2441448"/>
            <a:ext cx="5715000" cy="329184"/>
          </a:xfrm>
          <a:prstGeom prst="rect">
            <a:avLst/>
          </a:prstGeom>
          <a:noFill/>
          <a:ln/>
        </p:spPr>
        <p:txBody>
          <a:bodyPr wrap="square" lIns="0" tIns="0" rIns="0" bIns="0" rtlCol="0" anchor="ctr"/>
          <a:lstStyle/>
          <a:p>
            <a:pPr algn="l" indent="0" marL="0">
              <a:buNone/>
            </a:pPr>
            <a:r>
              <a:rPr lang="en-US" sz="1100" dirty="0">
                <a:solidFill>
                  <a:srgbClr val="E2E8F0"/>
                </a:solidFill>
                <a:latin typeface="Calibri" pitchFamily="34" charset="0"/>
                <a:ea typeface="Calibri" pitchFamily="34" charset="-122"/>
                <a:cs typeface="Calibri" pitchFamily="34" charset="-120"/>
              </a:rPr>
              <a:t>Formal (ε, δ)-DP via Opacus guarantees mathematical anonymity on gradient updates</a:t>
            </a:r>
            <a:endParaRPr lang="en-US" sz="1100" dirty="0"/>
          </a:p>
        </p:txBody>
      </p:sp>
      <p:sp>
        <p:nvSpPr>
          <p:cNvPr id="13" name="Shape 10"/>
          <p:cNvSpPr/>
          <p:nvPr/>
        </p:nvSpPr>
        <p:spPr>
          <a:xfrm>
            <a:off x="475488" y="2944368"/>
            <a:ext cx="347472" cy="347472"/>
          </a:xfrm>
          <a:prstGeom prst="ellipse">
            <a:avLst/>
          </a:prstGeom>
          <a:solidFill>
            <a:srgbClr val="10B981">
              <a:alpha val="75000"/>
            </a:srgbClr>
          </a:solidFill>
          <a:ln w="12700">
            <a:solidFill>
              <a:srgbClr val="10B981"/>
            </a:solidFill>
            <a:prstDash val="solid"/>
          </a:ln>
        </p:spPr>
      </p:sp>
      <p:sp>
        <p:nvSpPr>
          <p:cNvPr id="14" name="Text 11"/>
          <p:cNvSpPr/>
          <p:nvPr/>
        </p:nvSpPr>
        <p:spPr>
          <a:xfrm>
            <a:off x="475488" y="2944368"/>
            <a:ext cx="347472" cy="347472"/>
          </a:xfrm>
          <a:prstGeom prst="rect">
            <a:avLst/>
          </a:prstGeom>
          <a:noFill/>
          <a:ln/>
        </p:spPr>
        <p:txBody>
          <a:bodyPr wrap="square" lIns="0" tIns="0" rIns="0" bIns="0" rtlCol="0" anchor="ctr"/>
          <a:lstStyle/>
          <a:p>
            <a:pPr algn="ctr" indent="0" marL="0">
              <a:buNone/>
            </a:pPr>
            <a:r>
              <a:rPr lang="en-US" sz="900" b="1" dirty="0">
                <a:solidFill>
                  <a:srgbClr val="0A1628"/>
                </a:solidFill>
                <a:latin typeface="Cambria" pitchFamily="34" charset="0"/>
                <a:ea typeface="Cambria" pitchFamily="34" charset="-122"/>
                <a:cs typeface="Cambria" pitchFamily="34" charset="-120"/>
              </a:rPr>
              <a:t>03</a:t>
            </a:r>
            <a:endParaRPr lang="en-US" sz="900" dirty="0"/>
          </a:p>
        </p:txBody>
      </p:sp>
      <p:sp>
        <p:nvSpPr>
          <p:cNvPr id="15" name="Text 12"/>
          <p:cNvSpPr/>
          <p:nvPr/>
        </p:nvSpPr>
        <p:spPr>
          <a:xfrm>
            <a:off x="932688" y="2953512"/>
            <a:ext cx="5715000" cy="329184"/>
          </a:xfrm>
          <a:prstGeom prst="rect">
            <a:avLst/>
          </a:prstGeom>
          <a:noFill/>
          <a:ln/>
        </p:spPr>
        <p:txBody>
          <a:bodyPr wrap="square" lIns="0" tIns="0" rIns="0" bIns="0" rtlCol="0" anchor="ctr"/>
          <a:lstStyle/>
          <a:p>
            <a:pPr algn="l" indent="0" marL="0">
              <a:buNone/>
            </a:pPr>
            <a:r>
              <a:rPr lang="en-US" sz="1100" dirty="0">
                <a:solidFill>
                  <a:srgbClr val="E2E8F0"/>
                </a:solidFill>
                <a:latin typeface="Calibri" pitchFamily="34" charset="0"/>
                <a:ea typeface="Calibri" pitchFamily="34" charset="-122"/>
                <a:cs typeface="Calibri" pitchFamily="34" charset="-120"/>
              </a:rPr>
              <a:t>Active adversarial evaluation (poisoning, free-rider, inference) builds provable resilience</a:t>
            </a:r>
            <a:endParaRPr lang="en-US" sz="1100" dirty="0"/>
          </a:p>
        </p:txBody>
      </p:sp>
      <p:sp>
        <p:nvSpPr>
          <p:cNvPr id="16" name="Shape 13"/>
          <p:cNvSpPr/>
          <p:nvPr/>
        </p:nvSpPr>
        <p:spPr>
          <a:xfrm>
            <a:off x="475488" y="3456432"/>
            <a:ext cx="347472" cy="347472"/>
          </a:xfrm>
          <a:prstGeom prst="ellipse">
            <a:avLst/>
          </a:prstGeom>
          <a:solidFill>
            <a:srgbClr val="F59E0B">
              <a:alpha val="75000"/>
            </a:srgbClr>
          </a:solidFill>
          <a:ln w="12700">
            <a:solidFill>
              <a:srgbClr val="F59E0B"/>
            </a:solidFill>
            <a:prstDash val="solid"/>
          </a:ln>
        </p:spPr>
      </p:sp>
      <p:sp>
        <p:nvSpPr>
          <p:cNvPr id="17" name="Text 14"/>
          <p:cNvSpPr/>
          <p:nvPr/>
        </p:nvSpPr>
        <p:spPr>
          <a:xfrm>
            <a:off x="475488" y="3456432"/>
            <a:ext cx="347472" cy="347472"/>
          </a:xfrm>
          <a:prstGeom prst="rect">
            <a:avLst/>
          </a:prstGeom>
          <a:noFill/>
          <a:ln/>
        </p:spPr>
        <p:txBody>
          <a:bodyPr wrap="square" lIns="0" tIns="0" rIns="0" bIns="0" rtlCol="0" anchor="ctr"/>
          <a:lstStyle/>
          <a:p>
            <a:pPr algn="ctr" indent="0" marL="0">
              <a:buNone/>
            </a:pPr>
            <a:r>
              <a:rPr lang="en-US" sz="900" b="1" dirty="0">
                <a:solidFill>
                  <a:srgbClr val="0A1628"/>
                </a:solidFill>
                <a:latin typeface="Cambria" pitchFamily="34" charset="0"/>
                <a:ea typeface="Cambria" pitchFamily="34" charset="-122"/>
                <a:cs typeface="Cambria" pitchFamily="34" charset="-120"/>
              </a:rPr>
              <a:t>04</a:t>
            </a:r>
            <a:endParaRPr lang="en-US" sz="900" dirty="0"/>
          </a:p>
        </p:txBody>
      </p:sp>
      <p:sp>
        <p:nvSpPr>
          <p:cNvPr id="18" name="Text 15"/>
          <p:cNvSpPr/>
          <p:nvPr/>
        </p:nvSpPr>
        <p:spPr>
          <a:xfrm>
            <a:off x="932688" y="3465576"/>
            <a:ext cx="5715000" cy="329184"/>
          </a:xfrm>
          <a:prstGeom prst="rect">
            <a:avLst/>
          </a:prstGeom>
          <a:noFill/>
          <a:ln/>
        </p:spPr>
        <p:txBody>
          <a:bodyPr wrap="square" lIns="0" tIns="0" rIns="0" bIns="0" rtlCol="0" anchor="ctr"/>
          <a:lstStyle/>
          <a:p>
            <a:pPr algn="l" indent="0" marL="0">
              <a:buNone/>
            </a:pPr>
            <a:r>
              <a:rPr lang="en-US" sz="1100" dirty="0">
                <a:solidFill>
                  <a:srgbClr val="E2E8F0"/>
                </a:solidFill>
                <a:latin typeface="Calibri" pitchFamily="34" charset="0"/>
                <a:ea typeface="Calibri" pitchFamily="34" charset="-122"/>
                <a:cs typeface="Calibri" pitchFamily="34" charset="-120"/>
              </a:rPr>
              <a:t>React SOC + WebSocket dashboard provides sub-200ms real-time threat visibility</a:t>
            </a:r>
            <a:endParaRPr lang="en-US" sz="1100" dirty="0"/>
          </a:p>
        </p:txBody>
      </p:sp>
      <p:sp>
        <p:nvSpPr>
          <p:cNvPr id="19" name="Shape 16"/>
          <p:cNvSpPr/>
          <p:nvPr/>
        </p:nvSpPr>
        <p:spPr>
          <a:xfrm>
            <a:off x="475488" y="3968496"/>
            <a:ext cx="347472" cy="347472"/>
          </a:xfrm>
          <a:prstGeom prst="ellipse">
            <a:avLst/>
          </a:prstGeom>
          <a:solidFill>
            <a:srgbClr val="A78BFA">
              <a:alpha val="75000"/>
            </a:srgbClr>
          </a:solidFill>
          <a:ln w="12700">
            <a:solidFill>
              <a:srgbClr val="A78BFA"/>
            </a:solidFill>
            <a:prstDash val="solid"/>
          </a:ln>
        </p:spPr>
      </p:sp>
      <p:sp>
        <p:nvSpPr>
          <p:cNvPr id="20" name="Text 17"/>
          <p:cNvSpPr/>
          <p:nvPr/>
        </p:nvSpPr>
        <p:spPr>
          <a:xfrm>
            <a:off x="475488" y="3968496"/>
            <a:ext cx="347472" cy="347472"/>
          </a:xfrm>
          <a:prstGeom prst="rect">
            <a:avLst/>
          </a:prstGeom>
          <a:noFill/>
          <a:ln/>
        </p:spPr>
        <p:txBody>
          <a:bodyPr wrap="square" lIns="0" tIns="0" rIns="0" bIns="0" rtlCol="0" anchor="ctr"/>
          <a:lstStyle/>
          <a:p>
            <a:pPr algn="ctr" indent="0" marL="0">
              <a:buNone/>
            </a:pPr>
            <a:r>
              <a:rPr lang="en-US" sz="900" b="1" dirty="0">
                <a:solidFill>
                  <a:srgbClr val="0A1628"/>
                </a:solidFill>
                <a:latin typeface="Cambria" pitchFamily="34" charset="0"/>
                <a:ea typeface="Cambria" pitchFamily="34" charset="-122"/>
                <a:cs typeface="Cambria" pitchFamily="34" charset="-120"/>
              </a:rPr>
              <a:t>05</a:t>
            </a:r>
            <a:endParaRPr lang="en-US" sz="900" dirty="0"/>
          </a:p>
        </p:txBody>
      </p:sp>
      <p:sp>
        <p:nvSpPr>
          <p:cNvPr id="21" name="Text 18"/>
          <p:cNvSpPr/>
          <p:nvPr/>
        </p:nvSpPr>
        <p:spPr>
          <a:xfrm>
            <a:off x="932688" y="3977640"/>
            <a:ext cx="5715000" cy="329184"/>
          </a:xfrm>
          <a:prstGeom prst="rect">
            <a:avLst/>
          </a:prstGeom>
          <a:noFill/>
          <a:ln/>
        </p:spPr>
        <p:txBody>
          <a:bodyPr wrap="square" lIns="0" tIns="0" rIns="0" bIns="0" rtlCol="0" anchor="ctr"/>
          <a:lstStyle/>
          <a:p>
            <a:pPr algn="l" indent="0" marL="0">
              <a:buNone/>
            </a:pPr>
            <a:r>
              <a:rPr lang="en-US" sz="1100" dirty="0">
                <a:solidFill>
                  <a:srgbClr val="E2E8F0"/>
                </a:solidFill>
                <a:latin typeface="Calibri" pitchFamily="34" charset="0"/>
                <a:ea typeface="Calibri" pitchFamily="34" charset="-122"/>
                <a:cs typeface="Calibri" pitchFamily="34" charset="-120"/>
              </a:rPr>
              <a:t>Claude API LLM integration automates forensic analysis — first-of-its-kind in edge IDS</a:t>
            </a:r>
            <a:endParaRPr lang="en-US" sz="1100" dirty="0"/>
          </a:p>
        </p:txBody>
      </p:sp>
      <p:sp>
        <p:nvSpPr>
          <p:cNvPr id="22" name="Shape 19"/>
          <p:cNvSpPr/>
          <p:nvPr/>
        </p:nvSpPr>
        <p:spPr>
          <a:xfrm>
            <a:off x="457200" y="4434840"/>
            <a:ext cx="8275320" cy="292608"/>
          </a:xfrm>
          <a:prstGeom prst="rect">
            <a:avLst/>
          </a:prstGeom>
          <a:solidFill>
            <a:srgbClr val="071020"/>
          </a:solidFill>
          <a:ln w="12700">
            <a:solidFill>
              <a:srgbClr val="00D4FF"/>
            </a:solidFill>
            <a:prstDash val="solid"/>
          </a:ln>
          <a:effectLst>
            <a:outerShdw sx="100000" sy="100000" kx="0" ky="0" algn="bl" rotWithShape="0" blurRad="101600" dist="38100" dir="2700000">
              <a:srgbClr val="000000">
                <a:alpha val="25000"/>
              </a:srgbClr>
            </a:outerShdw>
          </a:effectLst>
        </p:spPr>
      </p:sp>
      <p:sp>
        <p:nvSpPr>
          <p:cNvPr id="23" name="Text 20"/>
          <p:cNvSpPr/>
          <p:nvPr/>
        </p:nvSpPr>
        <p:spPr>
          <a:xfrm>
            <a:off x="594360" y="4462272"/>
            <a:ext cx="8001000" cy="237744"/>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Thank You  ·  Questions Welcome  ·  Group 06  ·  CSE 499A  ·  North South University</a:t>
            </a:r>
            <a:endParaRPr lang="en-US" sz="1100" dirty="0"/>
          </a:p>
        </p:txBody>
      </p:sp>
      <p:sp>
        <p:nvSpPr>
          <p:cNvPr id="24" name="Shape 21"/>
          <p:cNvSpPr/>
          <p:nvPr/>
        </p:nvSpPr>
        <p:spPr>
          <a:xfrm>
            <a:off x="0" y="4800600"/>
            <a:ext cx="9144000" cy="342900"/>
          </a:xfrm>
          <a:prstGeom prst="rect">
            <a:avLst/>
          </a:prstGeom>
          <a:solidFill>
            <a:srgbClr val="071020"/>
          </a:solidFill>
          <a:ln w="12700">
            <a:solidFill>
              <a:srgbClr val="071020"/>
            </a:solidFill>
            <a:prstDash val="solid"/>
          </a:ln>
        </p:spPr>
      </p:sp>
      <p:sp>
        <p:nvSpPr>
          <p:cNvPr id="25" name="Shape 22"/>
          <p:cNvSpPr/>
          <p:nvPr/>
        </p:nvSpPr>
        <p:spPr>
          <a:xfrm>
            <a:off x="0" y="4796028"/>
            <a:ext cx="9144000" cy="13716"/>
          </a:xfrm>
          <a:prstGeom prst="rect">
            <a:avLst/>
          </a:prstGeom>
          <a:solidFill>
            <a:srgbClr val="0891B2"/>
          </a:solidFill>
          <a:ln w="12700">
            <a:solidFill>
              <a:srgbClr val="0891B2"/>
            </a:solidFill>
            <a:prstDash val="solid"/>
          </a:ln>
        </p:spPr>
      </p:sp>
      <p:sp>
        <p:nvSpPr>
          <p:cNvPr id="26" name="Text 23"/>
          <p:cNvSpPr/>
          <p:nvPr/>
        </p:nvSpPr>
        <p:spPr>
          <a:xfrm>
            <a:off x="274320" y="4805172"/>
            <a:ext cx="8229600" cy="320040"/>
          </a:xfrm>
          <a:prstGeom prst="rect">
            <a:avLst/>
          </a:prstGeom>
          <a:noFill/>
          <a:ln/>
        </p:spPr>
        <p:txBody>
          <a:bodyPr wrap="square" lIns="0" tIns="0" rIns="0" bIns="0" rtlCol="0" anchor="ctr"/>
          <a:lstStyle/>
          <a:p>
            <a:pPr algn="l" indent="0" marL="0">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27" name="Text 24"/>
          <p:cNvSpPr/>
          <p:nvPr/>
        </p:nvSpPr>
        <p:spPr>
          <a:xfrm>
            <a:off x="8503920" y="4805172"/>
            <a:ext cx="548640" cy="320040"/>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14 / 14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PRIVATE SHIELD</dc:title>
  <dc:subject>PptxGenJS Presentation</dc:subject>
  <dc:creator>Group 06 – CSE 499A</dc:creator>
  <cp:lastModifiedBy>Group 06 – CSE 499A</cp:lastModifiedBy>
  <cp:revision>1</cp:revision>
  <dcterms:created xsi:type="dcterms:W3CDTF">2026-06-23T18:24:07Z</dcterms:created>
  <dcterms:modified xsi:type="dcterms:W3CDTF">2026-06-23T18:24:07Z</dcterms:modified>
</cp:coreProperties>
</file>