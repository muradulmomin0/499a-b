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2E9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sleek_modern_digital_illustration_3d_render_s_batch_1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621792"/>
            <a:ext cx="1783080" cy="329184"/>
          </a:xfrm>
          <a:prstGeom prst="roundRect">
            <a:avLst>
              <a:gd name="adj" fmla="val 16667"/>
            </a:avLst>
          </a:prstGeom>
          <a:solidFill>
            <a:srgbClr val="B56A3C">
              <a:alpha val="90000"/>
            </a:srgbClr>
          </a:solidFill>
          <a:ln w="12700">
            <a:solidFill>
              <a:srgbClr val="B56A3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768096" y="694944"/>
            <a:ext cx="1563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7EA"/>
                </a:solidFill>
              </a:rPr>
              <a:t>CSE 499A · Group 06</a:t>
            </a:r>
            <a:endParaRPr lang="en-US" sz="820" dirty="0"/>
          </a:p>
        </p:txBody>
      </p:sp>
      <p:sp>
        <p:nvSpPr>
          <p:cNvPr id="5" name="Text 2"/>
          <p:cNvSpPr/>
          <p:nvPr/>
        </p:nvSpPr>
        <p:spPr>
          <a:xfrm>
            <a:off x="658368" y="1325880"/>
            <a:ext cx="4389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FFF7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PRIVATE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7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SHIELD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685800" y="299923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6D8BE"/>
                </a:solidFill>
              </a:rPr>
              <a:t>Privacy-Preserving Federated Intelligence System for IoT Threat Detection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11480" y="6437376"/>
            <a:ext cx="11384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sz="670" b="0">
                <a:solidFill>
                  <a:srgbClr val="D6D2BD"/>
                </a:solidFill>
                <a:latin typeface="Aptos"/>
              </a:rPr>
              <a:t>Group 06 | Md. Murad Ul Momin | Rima Saha | Sakia Tabassum Anonna | Ashraful Hossain Riyan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9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56A3C"/>
          </a:solidFill>
          <a:ln w="12700">
            <a:solidFill>
              <a:srgbClr val="B56A3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6D7A52"/>
          </a:solidFill>
          <a:ln w="12700">
            <a:solidFill>
              <a:srgbClr val="6D7A5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56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760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62A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project is needed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1490472"/>
            <a:ext cx="118872" cy="118872"/>
          </a:xfrm>
          <a:prstGeom prst="ellipse">
            <a:avLst/>
          </a:prstGeom>
          <a:solidFill>
            <a:srgbClr val="B56A3C"/>
          </a:solidFill>
          <a:ln w="12700">
            <a:solidFill>
              <a:srgbClr val="B56A3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33272" y="1417320"/>
            <a:ext cx="48188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83B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IoT devices are easy targets because many have weak security.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148840"/>
            <a:ext cx="118872" cy="118872"/>
          </a:xfrm>
          <a:prstGeom prst="ellipse">
            <a:avLst/>
          </a:prstGeom>
          <a:solidFill>
            <a:srgbClr val="B56A3C"/>
          </a:solidFill>
          <a:ln w="12700">
            <a:solidFill>
              <a:srgbClr val="B56A3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33272" y="2075688"/>
            <a:ext cx="48188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83B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Centralized IDS needs raw traffic in the cloud.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" y="2807208"/>
            <a:ext cx="118872" cy="118872"/>
          </a:xfrm>
          <a:prstGeom prst="ellipse">
            <a:avLst/>
          </a:prstGeom>
          <a:solidFill>
            <a:srgbClr val="B56A3C"/>
          </a:solidFill>
          <a:ln w="12700">
            <a:solidFill>
              <a:srgbClr val="B56A3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33272" y="2734056"/>
            <a:ext cx="48188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83B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can expose private data and use high bandwidth.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77240" y="3465576"/>
            <a:ext cx="118872" cy="118872"/>
          </a:xfrm>
          <a:prstGeom prst="ellipse">
            <a:avLst/>
          </a:prstGeom>
          <a:solidFill>
            <a:srgbClr val="B56A3C"/>
          </a:solidFill>
          <a:ln w="12700">
            <a:solidFill>
              <a:srgbClr val="B56A3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33272" y="3392424"/>
            <a:ext cx="48188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83B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Federated Learning helps, but model updates can still be attacked.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377440" y="5212080"/>
            <a:ext cx="411480" cy="0"/>
          </a:xfrm>
          <a:prstGeom prst="line">
            <a:avLst/>
          </a:prstGeom>
          <a:noFill/>
          <a:ln w="20320">
            <a:solidFill>
              <a:srgbClr val="6D7A52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389120" y="5212080"/>
            <a:ext cx="411480" cy="0"/>
          </a:xfrm>
          <a:prstGeom prst="line">
            <a:avLst/>
          </a:prstGeom>
          <a:noFill/>
          <a:ln w="20320">
            <a:solidFill>
              <a:srgbClr val="6D7A52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0" y="5212080"/>
            <a:ext cx="411480" cy="0"/>
          </a:xfrm>
          <a:prstGeom prst="line">
            <a:avLst/>
          </a:prstGeom>
          <a:noFill/>
          <a:ln w="20320">
            <a:solidFill>
              <a:srgbClr val="6D7A52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412480" y="5212080"/>
            <a:ext cx="411480" cy="0"/>
          </a:xfrm>
          <a:prstGeom prst="line">
            <a:avLst/>
          </a:prstGeom>
          <a:noFill/>
          <a:ln w="20320">
            <a:solidFill>
              <a:srgbClr val="6D7A52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22960" y="4937760"/>
            <a:ext cx="1143000" cy="566928"/>
          </a:xfrm>
          <a:prstGeom prst="roundRect">
            <a:avLst>
              <a:gd name="adj" fmla="val 8065"/>
            </a:avLst>
          </a:prstGeom>
          <a:solidFill>
            <a:srgbClr val="FFF7EA"/>
          </a:solidFill>
          <a:ln w="13970">
            <a:solidFill>
              <a:srgbClr val="6D7A5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14400" y="5038344"/>
            <a:ext cx="9601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62A22"/>
                </a:solidFill>
              </a:rPr>
              <a:t>Weak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262A22"/>
                </a:solidFill>
              </a:rPr>
              <a:t>IoT node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2834640" y="4937760"/>
            <a:ext cx="1143000" cy="566928"/>
          </a:xfrm>
          <a:prstGeom prst="roundRect">
            <a:avLst>
              <a:gd name="adj" fmla="val 8065"/>
            </a:avLst>
          </a:prstGeom>
          <a:solidFill>
            <a:srgbClr val="E8DDC7"/>
          </a:solidFill>
          <a:ln w="13970">
            <a:solidFill>
              <a:srgbClr val="6D7A5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926080" y="5038344"/>
            <a:ext cx="9601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62A22"/>
                </a:solidFill>
              </a:rPr>
              <a:t>Raw data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262A22"/>
                </a:solidFill>
              </a:rPr>
              <a:t>sent out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4846320" y="4937760"/>
            <a:ext cx="1143000" cy="566928"/>
          </a:xfrm>
          <a:prstGeom prst="roundRect">
            <a:avLst>
              <a:gd name="adj" fmla="val 8065"/>
            </a:avLst>
          </a:prstGeom>
          <a:solidFill>
            <a:srgbClr val="FFF7EA"/>
          </a:solidFill>
          <a:ln w="13970">
            <a:solidFill>
              <a:srgbClr val="6D7A5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937760" y="5038344"/>
            <a:ext cx="9601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62A22"/>
                </a:solidFill>
              </a:rPr>
              <a:t>Privacy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262A22"/>
                </a:solidFill>
              </a:rPr>
              <a:t>risk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858000" y="4937760"/>
            <a:ext cx="1143000" cy="566928"/>
          </a:xfrm>
          <a:prstGeom prst="roundRect">
            <a:avLst>
              <a:gd name="adj" fmla="val 8065"/>
            </a:avLst>
          </a:prstGeom>
          <a:solidFill>
            <a:srgbClr val="E8DDC7"/>
          </a:solidFill>
          <a:ln w="13970">
            <a:solidFill>
              <a:srgbClr val="B8483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949440" y="5038344"/>
            <a:ext cx="9601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62A22"/>
                </a:solidFill>
              </a:rPr>
              <a:t>Model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262A22"/>
                </a:solidFill>
              </a:rPr>
              <a:t>attack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8869680" y="4937760"/>
            <a:ext cx="1143000" cy="566928"/>
          </a:xfrm>
          <a:prstGeom prst="roundRect">
            <a:avLst>
              <a:gd name="adj" fmla="val 8065"/>
            </a:avLst>
          </a:prstGeom>
          <a:solidFill>
            <a:srgbClr val="FFF7EA"/>
          </a:solidFill>
          <a:ln w="13970">
            <a:solidFill>
              <a:srgbClr val="6D7A52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961120" y="5038344"/>
            <a:ext cx="9601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62A22"/>
                </a:solidFill>
              </a:rPr>
              <a:t>Hard to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262A22"/>
                </a:solidFill>
              </a:rPr>
              <a:t>explain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6583680" y="1207008"/>
            <a:ext cx="4389120" cy="3337560"/>
          </a:xfrm>
          <a:prstGeom prst="roundRect">
            <a:avLst>
              <a:gd name="adj" fmla="val 1370"/>
            </a:avLst>
          </a:prstGeom>
          <a:solidFill>
            <a:srgbClr val="262A22"/>
          </a:solidFill>
          <a:ln w="12700">
            <a:solidFill>
              <a:srgbClr val="262A2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903720" y="15727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7EA"/>
                </a:solidFill>
              </a:rPr>
              <a:t>Main challenge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903720" y="214884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E8DDC7"/>
                </a:solidFill>
              </a:rPr>
              <a:t>Keep IoT data private while still detecting attacks and blocking bad clients.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903720" y="374904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7CEB0"/>
                </a:solidFill>
              </a:rPr>
              <a:t>This is why PRIVATE SHIELD combines FL, privacy, attack defense and dashboard alerts.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11480" y="6437376"/>
            <a:ext cx="11384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sz="670" b="0">
                <a:solidFill>
                  <a:srgbClr val="6B675B"/>
                </a:solidFill>
                <a:latin typeface="Aptos"/>
              </a:rPr>
              <a:t>Group 06 | Md. Murad Ul Momin | Rima Saha | Sakia Tabassum Anonna | Ashraful Hossain Riyan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9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56A3C"/>
          </a:solidFill>
          <a:ln w="12700">
            <a:solidFill>
              <a:srgbClr val="B56A3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6D7A52"/>
          </a:solidFill>
          <a:ln w="12700">
            <a:solidFill>
              <a:srgbClr val="6D7A5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56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IDEA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760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62A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PRIVATE SHIELD does</a:t>
            </a:r>
            <a:endParaRPr lang="en-US" sz="2500" dirty="0"/>
          </a:p>
        </p:txBody>
      </p:sp>
      <p:pic>
        <p:nvPicPr>
          <p:cNvPr id="6" name="Image 0" descr="/mnt/data/a_clean_vector_isometric_like_infographic_on_a_war_batch_2.png">    </p:cNvPr>
          <p:cNvPicPr>
            <a:picLocks noChangeAspect="1"/>
          </p:cNvPicPr>
          <p:nvPr/>
        </p:nvPicPr>
        <p:blipFill>
          <a:blip r:embed="rId1"/>
          <a:srcRect l="17840" r="17840" t="0" b="0"/>
          <a:stretch/>
        </p:blipFill>
        <p:spPr>
          <a:xfrm>
            <a:off x="5897880" y="1051560"/>
            <a:ext cx="5852160" cy="5120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97880" y="1051560"/>
            <a:ext cx="5852160" cy="5120640"/>
          </a:xfrm>
          <a:prstGeom prst="rect">
            <a:avLst/>
          </a:prstGeom>
          <a:solidFill>
            <a:srgbClr val="F2E9D8">
              <a:alpha val="0"/>
            </a:srgbClr>
          </a:solidFill>
          <a:ln w="12700">
            <a:solidFill>
              <a:srgbClr val="F2E9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749808" y="1399032"/>
            <a:ext cx="118872" cy="118872"/>
          </a:xfrm>
          <a:prstGeom prst="ellipse">
            <a:avLst/>
          </a:prstGeom>
          <a:solidFill>
            <a:srgbClr val="6D7A52"/>
          </a:solidFill>
          <a:ln w="12700">
            <a:solidFill>
              <a:srgbClr val="6D7A5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005840" y="1325880"/>
            <a:ext cx="463600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83B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IoT client keeps its own traffic data.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49808" y="2020824"/>
            <a:ext cx="118872" cy="118872"/>
          </a:xfrm>
          <a:prstGeom prst="ellipse">
            <a:avLst/>
          </a:prstGeom>
          <a:solidFill>
            <a:srgbClr val="6D7A52"/>
          </a:solidFill>
          <a:ln w="12700">
            <a:solidFill>
              <a:srgbClr val="6D7A5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005840" y="1947672"/>
            <a:ext cx="463600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83B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small model trains locally on that client.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749808" y="2642616"/>
            <a:ext cx="118872" cy="118872"/>
          </a:xfrm>
          <a:prstGeom prst="ellipse">
            <a:avLst/>
          </a:prstGeom>
          <a:solidFill>
            <a:srgbClr val="6D7A52"/>
          </a:solidFill>
          <a:ln w="12700">
            <a:solidFill>
              <a:srgbClr val="6D7A5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005840" y="2569464"/>
            <a:ext cx="463600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83B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model updates are shared with the server.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49808" y="3264408"/>
            <a:ext cx="118872" cy="118872"/>
          </a:xfrm>
          <a:prstGeom prst="ellipse">
            <a:avLst/>
          </a:prstGeom>
          <a:solidFill>
            <a:srgbClr val="6D7A52"/>
          </a:solidFill>
          <a:ln w="12700">
            <a:solidFill>
              <a:srgbClr val="6D7A5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005840" y="3191256"/>
            <a:ext cx="463600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83B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server checks, filters and combines updates.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749808" y="3886200"/>
            <a:ext cx="118872" cy="118872"/>
          </a:xfrm>
          <a:prstGeom prst="ellipse">
            <a:avLst/>
          </a:prstGeom>
          <a:solidFill>
            <a:srgbClr val="6D7A52"/>
          </a:solidFill>
          <a:ln w="12700">
            <a:solidFill>
              <a:srgbClr val="6D7A5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005840" y="3813048"/>
            <a:ext cx="463600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83B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dashboard shows alerts in simple language.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04672" y="557784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56A3C"/>
                </a:solidFill>
              </a:rPr>
              <a:t>Simple meaning: learn together without giving away raw traffic.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11480" y="6437376"/>
            <a:ext cx="11384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sz="670" b="0">
                <a:solidFill>
                  <a:srgbClr val="6B675B"/>
                </a:solidFill>
                <a:latin typeface="Aptos"/>
              </a:rPr>
              <a:t>Group 06 | Md. Murad Ul Momin | Rima Saha | Sakia Tabassum Anonna | Ashraful Hossain Riyan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9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56A3C"/>
          </a:solidFill>
          <a:ln w="12700">
            <a:solidFill>
              <a:srgbClr val="B56A3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6D7A52"/>
          </a:solidFill>
          <a:ln w="12700">
            <a:solidFill>
              <a:srgbClr val="6D7A5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56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760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62A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Full system flow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2514600" y="1664208"/>
            <a:ext cx="228600" cy="0"/>
          </a:xfrm>
          <a:prstGeom prst="line">
            <a:avLst/>
          </a:prstGeom>
          <a:noFill/>
          <a:ln w="21590">
            <a:solidFill>
              <a:srgbClr val="B56A3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0" y="1664208"/>
            <a:ext cx="228600" cy="0"/>
          </a:xfrm>
          <a:prstGeom prst="line">
            <a:avLst/>
          </a:prstGeom>
          <a:noFill/>
          <a:ln w="21590">
            <a:solidFill>
              <a:srgbClr val="B56A3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629400" y="1664208"/>
            <a:ext cx="228600" cy="0"/>
          </a:xfrm>
          <a:prstGeom prst="line">
            <a:avLst/>
          </a:prstGeom>
          <a:noFill/>
          <a:ln w="21590">
            <a:solidFill>
              <a:srgbClr val="B56A3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686800" y="1664208"/>
            <a:ext cx="228600" cy="0"/>
          </a:xfrm>
          <a:prstGeom prst="line">
            <a:avLst/>
          </a:prstGeom>
          <a:noFill/>
          <a:ln w="21590">
            <a:solidFill>
              <a:srgbClr val="B56A3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829800" y="1956816"/>
            <a:ext cx="0" cy="777240"/>
          </a:xfrm>
          <a:prstGeom prst="line">
            <a:avLst/>
          </a:prstGeom>
          <a:noFill/>
          <a:ln w="21590">
            <a:solidFill>
              <a:srgbClr val="B56A3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915400" y="3127248"/>
            <a:ext cx="-914400" cy="914400"/>
          </a:xfrm>
          <a:prstGeom prst="line">
            <a:avLst/>
          </a:prstGeom>
          <a:noFill/>
          <a:ln w="21590">
            <a:solidFill>
              <a:srgbClr val="6D7A5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858000" y="4526280"/>
            <a:ext cx="-914400" cy="749808"/>
          </a:xfrm>
          <a:prstGeom prst="line">
            <a:avLst/>
          </a:prstGeom>
          <a:noFill/>
          <a:ln w="21590">
            <a:solidFill>
              <a:srgbClr val="6D7A5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85800" y="1371600"/>
            <a:ext cx="1828800" cy="585216"/>
          </a:xfrm>
          <a:prstGeom prst="roundRect">
            <a:avLst>
              <a:gd name="adj" fmla="val 7813"/>
            </a:avLst>
          </a:prstGeom>
          <a:solidFill>
            <a:srgbClr val="FFF7EA"/>
          </a:solidFill>
          <a:ln w="13970">
            <a:solidFill>
              <a:srgbClr val="6D7A5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1472184"/>
            <a:ext cx="1645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62A22"/>
                </a:solidFill>
              </a:rPr>
              <a:t>IoT traffic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262A22"/>
                </a:solidFill>
              </a:rPr>
              <a:t>local data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2743200" y="1371600"/>
            <a:ext cx="1828800" cy="585216"/>
          </a:xfrm>
          <a:prstGeom prst="roundRect">
            <a:avLst>
              <a:gd name="adj" fmla="val 7813"/>
            </a:avLst>
          </a:prstGeom>
          <a:solidFill>
            <a:srgbClr val="FFF7EA"/>
          </a:solidFill>
          <a:ln w="13970">
            <a:solidFill>
              <a:srgbClr val="6D7A5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834640" y="1472184"/>
            <a:ext cx="1645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62A22"/>
                </a:solidFill>
              </a:rPr>
              <a:t>Preprocess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262A22"/>
                </a:solidFill>
              </a:rPr>
              <a:t>features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4800600" y="1371600"/>
            <a:ext cx="1828800" cy="585216"/>
          </a:xfrm>
          <a:prstGeom prst="roundRect">
            <a:avLst>
              <a:gd name="adj" fmla="val 7813"/>
            </a:avLst>
          </a:prstGeom>
          <a:solidFill>
            <a:srgbClr val="FFF7EA"/>
          </a:solidFill>
          <a:ln w="13970">
            <a:solidFill>
              <a:srgbClr val="6D7A5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892040" y="1472184"/>
            <a:ext cx="1645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62A22"/>
                </a:solidFill>
              </a:rPr>
              <a:t>Local model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262A22"/>
                </a:solidFill>
              </a:rPr>
              <a:t>training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6858000" y="1371600"/>
            <a:ext cx="1828800" cy="585216"/>
          </a:xfrm>
          <a:prstGeom prst="roundRect">
            <a:avLst>
              <a:gd name="adj" fmla="val 7813"/>
            </a:avLst>
          </a:prstGeom>
          <a:solidFill>
            <a:srgbClr val="FFF7EA"/>
          </a:solidFill>
          <a:ln w="13970">
            <a:solidFill>
              <a:srgbClr val="6D7A5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949440" y="1472184"/>
            <a:ext cx="1645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62A22"/>
                </a:solidFill>
              </a:rPr>
              <a:t>DP + gradient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262A22"/>
                </a:solidFill>
              </a:rPr>
              <a:t>clipping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8915400" y="1371600"/>
            <a:ext cx="1828800" cy="585216"/>
          </a:xfrm>
          <a:prstGeom prst="roundRect">
            <a:avLst>
              <a:gd name="adj" fmla="val 7813"/>
            </a:avLst>
          </a:prstGeom>
          <a:solidFill>
            <a:srgbClr val="FFF7EA"/>
          </a:solidFill>
          <a:ln w="13970">
            <a:solidFill>
              <a:srgbClr val="B8483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006840" y="1472184"/>
            <a:ext cx="1645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62A22"/>
                </a:solidFill>
              </a:rPr>
              <a:t>Check update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262A22"/>
                </a:solidFill>
              </a:rPr>
              <a:t>quality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8915400" y="2834640"/>
            <a:ext cx="1828800" cy="585216"/>
          </a:xfrm>
          <a:prstGeom prst="roundRect">
            <a:avLst>
              <a:gd name="adj" fmla="val 7813"/>
            </a:avLst>
          </a:prstGeom>
          <a:solidFill>
            <a:srgbClr val="E8DDC7"/>
          </a:solidFill>
          <a:ln w="13970">
            <a:solidFill>
              <a:srgbClr val="B56A3C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006840" y="2935224"/>
            <a:ext cx="1645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62A22"/>
                </a:solidFill>
              </a:rPr>
              <a:t>FedAvg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262A22"/>
                </a:solidFill>
              </a:rPr>
              <a:t>aggregation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6858000" y="4251960"/>
            <a:ext cx="1828800" cy="585216"/>
          </a:xfrm>
          <a:prstGeom prst="roundRect">
            <a:avLst>
              <a:gd name="adj" fmla="val 7813"/>
            </a:avLst>
          </a:prstGeom>
          <a:solidFill>
            <a:srgbClr val="E8DDC7"/>
          </a:solidFill>
          <a:ln w="13970">
            <a:solidFill>
              <a:srgbClr val="B56A3C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949440" y="4352544"/>
            <a:ext cx="1645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62A22"/>
                </a:solidFill>
              </a:rPr>
              <a:t>Global model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262A22"/>
                </a:solidFill>
              </a:rPr>
              <a:t>returns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4800600" y="5349240"/>
            <a:ext cx="1828800" cy="585216"/>
          </a:xfrm>
          <a:prstGeom prst="roundRect">
            <a:avLst>
              <a:gd name="adj" fmla="val 7813"/>
            </a:avLst>
          </a:prstGeom>
          <a:solidFill>
            <a:srgbClr val="E8DDC7"/>
          </a:solidFill>
          <a:ln w="13970">
            <a:solidFill>
              <a:srgbClr val="B56A3C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892040" y="5449824"/>
            <a:ext cx="1645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62A22"/>
                </a:solidFill>
              </a:rPr>
              <a:t>SOC dashboard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262A22"/>
                </a:solidFill>
              </a:rPr>
              <a:t>alerts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777240" y="2834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62A22"/>
                </a:solidFill>
              </a:rPr>
              <a:t>Two main protections are applied before the server trusts an update: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41248" y="3319272"/>
            <a:ext cx="118872" cy="118872"/>
          </a:xfrm>
          <a:prstGeom prst="ellipse">
            <a:avLst/>
          </a:prstGeom>
          <a:solidFill>
            <a:srgbClr val="B56A3C"/>
          </a:solidFill>
          <a:ln w="12700">
            <a:solidFill>
              <a:srgbClr val="B56A3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097280" y="3246120"/>
            <a:ext cx="495604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83B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layer: clipped + noisy updates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41248" y="3794760"/>
            <a:ext cx="118872" cy="118872"/>
          </a:xfrm>
          <a:prstGeom prst="ellipse">
            <a:avLst/>
          </a:prstGeom>
          <a:solidFill>
            <a:srgbClr val="B56A3C"/>
          </a:solidFill>
          <a:ln w="12700">
            <a:solidFill>
              <a:srgbClr val="B56A3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097280" y="3721608"/>
            <a:ext cx="495604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83B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Defense layer: suspicious updates get less weight or are rejected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11480" y="6437376"/>
            <a:ext cx="11384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sz="670" b="0">
                <a:solidFill>
                  <a:srgbClr val="6B675B"/>
                </a:solidFill>
                <a:latin typeface="Aptos"/>
              </a:rPr>
              <a:t>Group 06 | Md. Murad Ul Momin | Rima Saha | Sakia Tabassum Anonna | Ashraful Hossain Riyan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9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56A3C"/>
          </a:solidFill>
          <a:ln w="12700">
            <a:solidFill>
              <a:srgbClr val="B56A3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6D7A52"/>
          </a:solidFill>
          <a:ln w="12700">
            <a:solidFill>
              <a:srgbClr val="6D7A5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56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BASE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760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62A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Papers used in the project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5257800" cy="1325880"/>
          </a:xfrm>
          <a:prstGeom prst="roundRect">
            <a:avLst>
              <a:gd name="adj" fmla="val 4138"/>
            </a:avLst>
          </a:prstGeom>
          <a:solidFill>
            <a:srgbClr val="FFF7EA"/>
          </a:solidFill>
          <a:ln w="17780">
            <a:solidFill>
              <a:srgbClr val="B56A3C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22960" y="1380744"/>
            <a:ext cx="438912" cy="438912"/>
          </a:xfrm>
          <a:prstGeom prst="ellipse">
            <a:avLst/>
          </a:prstGeom>
          <a:solidFill>
            <a:srgbClr val="B56A3C"/>
          </a:solidFill>
          <a:ln w="12700">
            <a:solidFill>
              <a:srgbClr val="B56A3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45389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7EA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44168" y="138074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62A22"/>
                </a:solidFill>
              </a:rPr>
              <a:t>SecureDyn-FL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44168" y="1691640"/>
            <a:ext cx="44348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83B31"/>
                </a:solidFill>
              </a:rPr>
              <a:t>Basic FL intrusion-detection prototype with N-BaIoT style data, simulated clients and global model update.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6236208" y="1234440"/>
            <a:ext cx="5257800" cy="1325880"/>
          </a:xfrm>
          <a:prstGeom prst="roundRect">
            <a:avLst>
              <a:gd name="adj" fmla="val 4138"/>
            </a:avLst>
          </a:prstGeom>
          <a:solidFill>
            <a:srgbClr val="FFF7EA"/>
          </a:solidFill>
          <a:ln w="17780">
            <a:solidFill>
              <a:srgbClr val="6D7A52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373368" y="1380744"/>
            <a:ext cx="438912" cy="438912"/>
          </a:xfrm>
          <a:prstGeom prst="ellipse">
            <a:avLst/>
          </a:prstGeom>
          <a:solidFill>
            <a:srgbClr val="6D7A52"/>
          </a:solidFill>
          <a:ln w="12700">
            <a:solidFill>
              <a:srgbClr val="6D7A5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373368" y="145389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7EA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94576" y="138074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62A22"/>
                </a:solidFill>
              </a:rPr>
              <a:t>FedMADE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94576" y="1691640"/>
            <a:ext cx="44348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83B31"/>
                </a:solidFill>
              </a:rPr>
              <a:t>Dynamic aggregation: models that help more attack classes receive stronger global influence.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685800" y="2880360"/>
            <a:ext cx="5257800" cy="1325880"/>
          </a:xfrm>
          <a:prstGeom prst="roundRect">
            <a:avLst>
              <a:gd name="adj" fmla="val 4138"/>
            </a:avLst>
          </a:prstGeom>
          <a:solidFill>
            <a:srgbClr val="FFF7EA"/>
          </a:solidFill>
          <a:ln w="17780">
            <a:solidFill>
              <a:srgbClr val="B84832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2960" y="3026664"/>
            <a:ext cx="438912" cy="438912"/>
          </a:xfrm>
          <a:prstGeom prst="ellipse">
            <a:avLst/>
          </a:prstGeom>
          <a:solidFill>
            <a:srgbClr val="B84832"/>
          </a:solidFill>
          <a:ln w="12700">
            <a:solidFill>
              <a:srgbClr val="B8483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30998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7EA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44168" y="302666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62A22"/>
                </a:solidFill>
              </a:rPr>
              <a:t>WEF-Defense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344168" y="3337560"/>
            <a:ext cx="44348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83B31"/>
                </a:solidFill>
              </a:rPr>
              <a:t>Free-rider detection by checking if model weights really evolve during local training.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6236208" y="2880360"/>
            <a:ext cx="5257800" cy="1325880"/>
          </a:xfrm>
          <a:prstGeom prst="roundRect">
            <a:avLst>
              <a:gd name="adj" fmla="val 4138"/>
            </a:avLst>
          </a:prstGeom>
          <a:solidFill>
            <a:srgbClr val="FFF7EA"/>
          </a:solidFill>
          <a:ln w="17780">
            <a:solidFill>
              <a:srgbClr val="D8A64B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373368" y="3026664"/>
            <a:ext cx="438912" cy="438912"/>
          </a:xfrm>
          <a:prstGeom prst="ellipse">
            <a:avLst/>
          </a:prstGeom>
          <a:solidFill>
            <a:srgbClr val="D8A64B"/>
          </a:solidFill>
          <a:ln w="12700">
            <a:solidFill>
              <a:srgbClr val="D8A64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73368" y="30998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7EA"/>
                </a:solidFill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94576" y="302666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62A22"/>
                </a:solidFill>
              </a:rPr>
              <a:t>FedMSE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894576" y="3337560"/>
            <a:ext cx="44348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83B31"/>
                </a:solidFill>
              </a:rPr>
              <a:t>Semi-supervised anomaly detection using normal-only training, autoencoder and MSE-based aggregation.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1097280" y="507492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62A22"/>
                </a:solidFill>
              </a:rPr>
              <a:t>We used the papers as implementation guides, not as final result claims.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1554480" y="5532120"/>
            <a:ext cx="9052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75B"/>
                </a:solidFill>
              </a:rPr>
              <a:t>Final performance must be measured using our own dataset split, client count and training settings.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11480" y="6437376"/>
            <a:ext cx="11384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sz="670" b="0">
                <a:solidFill>
                  <a:srgbClr val="6B675B"/>
                </a:solidFill>
                <a:latin typeface="Aptos"/>
              </a:rPr>
              <a:t>Group 06 | Md. Murad Ul Momin | Rima Saha | Sakia Tabassum Anonna | Ashraful Hossain Riyan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9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56A3C"/>
          </a:solidFill>
          <a:ln w="12700">
            <a:solidFill>
              <a:srgbClr val="B56A3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6D7A52"/>
          </a:solidFill>
          <a:ln w="12700">
            <a:solidFill>
              <a:srgbClr val="6D7A5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56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+ MODELS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760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62A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experiments are prepared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22960" y="1280160"/>
            <a:ext cx="2011680" cy="512064"/>
          </a:xfrm>
          <a:prstGeom prst="roundRect">
            <a:avLst>
              <a:gd name="adj" fmla="val 8929"/>
            </a:avLst>
          </a:prstGeom>
          <a:solidFill>
            <a:srgbClr val="B56A3C"/>
          </a:solidFill>
          <a:ln w="12700">
            <a:solidFill>
              <a:srgbClr val="F2E9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1417320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7EA"/>
                </a:solidFill>
              </a:rPr>
              <a:t>Data source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63240" y="13258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A22"/>
                </a:solidFill>
              </a:rPr>
              <a:t>N-BaIoT-compatible features and simulated IoT traffic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2304288"/>
            <a:ext cx="2011680" cy="512064"/>
          </a:xfrm>
          <a:prstGeom prst="roundRect">
            <a:avLst>
              <a:gd name="adj" fmla="val 8929"/>
            </a:avLst>
          </a:prstGeom>
          <a:solidFill>
            <a:srgbClr val="6D7A52"/>
          </a:solidFill>
          <a:ln w="12700">
            <a:solidFill>
              <a:srgbClr val="F2E9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60120" y="2441448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7EA"/>
                </a:solidFill>
              </a:rPr>
              <a:t>Client split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063240" y="235000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A22"/>
                </a:solidFill>
              </a:rPr>
              <a:t>IID and non-IID partitions to imitate different devices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3328416"/>
            <a:ext cx="2011680" cy="512064"/>
          </a:xfrm>
          <a:prstGeom prst="roundRect">
            <a:avLst>
              <a:gd name="adj" fmla="val 8929"/>
            </a:avLst>
          </a:prstGeom>
          <a:solidFill>
            <a:srgbClr val="B56A3C"/>
          </a:solidFill>
          <a:ln w="12700">
            <a:solidFill>
              <a:srgbClr val="F2E9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60120" y="3465576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7EA"/>
                </a:solidFill>
              </a:rPr>
              <a:t>Models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063240" y="337413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A22"/>
                </a:solidFill>
              </a:rPr>
              <a:t>1D-CNN, local classifiers, autoencoder and centroid detector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22960" y="4352544"/>
            <a:ext cx="2011680" cy="512064"/>
          </a:xfrm>
          <a:prstGeom prst="roundRect">
            <a:avLst>
              <a:gd name="adj" fmla="val 8929"/>
            </a:avLst>
          </a:prstGeom>
          <a:solidFill>
            <a:srgbClr val="6D7A52"/>
          </a:solidFill>
          <a:ln w="12700">
            <a:solidFill>
              <a:srgbClr val="F2E9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60120" y="4489704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7EA"/>
                </a:solidFill>
              </a:rPr>
              <a:t>Metrics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063240" y="4398264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A22"/>
                </a:solidFill>
              </a:rPr>
              <a:t>Accuracy, precision, recall, F1-score, AUC, time and communication cost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961120" y="5623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2A22"/>
                </a:solidFill>
              </a:rPr>
              <a:t>Fair test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778240" y="5916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75B"/>
                </a:solidFill>
              </a:rPr>
              <a:t>same setup for all methods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6437376"/>
            <a:ext cx="11384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sz="670" b="0">
                <a:solidFill>
                  <a:srgbClr val="6B675B"/>
                </a:solidFill>
                <a:latin typeface="Aptos"/>
              </a:rPr>
              <a:t>Group 06 | Md. Murad Ul Momin | Rima Saha | Sakia Tabassum Anonna | Ashraful Hossain Riyan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9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56A3C"/>
          </a:solidFill>
          <a:ln w="12700">
            <a:solidFill>
              <a:srgbClr val="B56A3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6D7A52"/>
          </a:solidFill>
          <a:ln w="12700">
            <a:solidFill>
              <a:srgbClr val="6D7A5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56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760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62A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SecureDyn-FL basic prototype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1353312"/>
            <a:ext cx="118872" cy="118872"/>
          </a:xfrm>
          <a:prstGeom prst="ellipse">
            <a:avLst/>
          </a:prstGeom>
          <a:solidFill>
            <a:srgbClr val="B56A3C"/>
          </a:solidFill>
          <a:ln w="12700">
            <a:solidFill>
              <a:srgbClr val="B56A3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33272" y="1280160"/>
            <a:ext cx="45902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83B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the basic end-to-end FL flow.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77240" y="1947672"/>
            <a:ext cx="118872" cy="118872"/>
          </a:xfrm>
          <a:prstGeom prst="ellipse">
            <a:avLst/>
          </a:prstGeom>
          <a:solidFill>
            <a:srgbClr val="B56A3C"/>
          </a:solidFill>
          <a:ln w="12700">
            <a:solidFill>
              <a:srgbClr val="B56A3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33272" y="1874520"/>
            <a:ext cx="45902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83B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N-BaIoT-compatible preprocessing.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2542032"/>
            <a:ext cx="118872" cy="118872"/>
          </a:xfrm>
          <a:prstGeom prst="ellipse">
            <a:avLst/>
          </a:prstGeom>
          <a:solidFill>
            <a:srgbClr val="B56A3C"/>
          </a:solidFill>
          <a:ln w="12700">
            <a:solidFill>
              <a:srgbClr val="B56A3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33272" y="2468880"/>
            <a:ext cx="45902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83B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data across simulated clients.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3136392"/>
            <a:ext cx="118872" cy="118872"/>
          </a:xfrm>
          <a:prstGeom prst="ellipse">
            <a:avLst/>
          </a:prstGeom>
          <a:solidFill>
            <a:srgbClr val="B56A3C"/>
          </a:solidFill>
          <a:ln w="12700">
            <a:solidFill>
              <a:srgbClr val="B56A3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33272" y="3063240"/>
            <a:ext cx="45902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83B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Trained local models and averaged updates at the server.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77240" y="3730752"/>
            <a:ext cx="118872" cy="118872"/>
          </a:xfrm>
          <a:prstGeom prst="ellipse">
            <a:avLst/>
          </a:prstGeom>
          <a:solidFill>
            <a:srgbClr val="B56A3C"/>
          </a:solidFill>
          <a:ln w="12700">
            <a:solidFill>
              <a:srgbClr val="B56A3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33272" y="3657600"/>
            <a:ext cx="45902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83B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Tested basic IID and non-IID settings.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126480" y="1143000"/>
            <a:ext cx="4892040" cy="4434840"/>
          </a:xfrm>
          <a:prstGeom prst="roundRect">
            <a:avLst>
              <a:gd name="adj" fmla="val 1031"/>
            </a:avLst>
          </a:prstGeom>
          <a:solidFill>
            <a:srgbClr val="262A22"/>
          </a:solidFill>
          <a:ln w="12700">
            <a:solidFill>
              <a:srgbClr val="262A2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92240" y="150876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7EA"/>
                </a:solidFill>
              </a:rPr>
              <a:t>Current state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6537960" y="214884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7A06A"/>
                </a:solidFill>
              </a:rPr>
              <a:t>01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537960" y="282549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3B31"/>
                </a:solidFill>
              </a:rPr>
              <a:t>basic prototype complete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321040" y="214884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A7AE8B"/>
                </a:solidFill>
              </a:rPr>
              <a:t>05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8321040" y="282549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3B31"/>
                </a:solidFill>
              </a:rPr>
              <a:t>main steps running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37960" y="379476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8DDC7"/>
                </a:solidFill>
              </a:rPr>
              <a:t>Advanced parts like encrypted aggregation, GMM/Mahalanobis auditing, pruning and full poisoning tests are planned next.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11480" y="6437376"/>
            <a:ext cx="11384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sz="670" b="0">
                <a:solidFill>
                  <a:srgbClr val="6B675B"/>
                </a:solidFill>
                <a:latin typeface="Aptos"/>
              </a:rPr>
              <a:t>Group 06 | Md. Murad Ul Momin | Rima Saha | Sakia Tabassum Anonna | Ashraful Hossain Riyan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9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56A3C"/>
          </a:solidFill>
          <a:ln w="12700">
            <a:solidFill>
              <a:srgbClr val="B56A3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6D7A52"/>
          </a:solidFill>
          <a:ln w="12700">
            <a:solidFill>
              <a:srgbClr val="6D7A5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56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760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62A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FedMADE dynamic aggregation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77240" y="117043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62A22"/>
                </a:solidFill>
              </a:rPr>
              <a:t>Main idea: not every client should get the same importance.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1901952"/>
            <a:ext cx="118872" cy="118872"/>
          </a:xfrm>
          <a:prstGeom prst="ellipse">
            <a:avLst/>
          </a:prstGeom>
          <a:solidFill>
            <a:srgbClr val="6D7A52"/>
          </a:solidFill>
          <a:ln w="12700">
            <a:solidFill>
              <a:srgbClr val="6D7A5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78992" y="1828800"/>
            <a:ext cx="509320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383B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local model predicts validation data.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822960" y="2432304"/>
            <a:ext cx="118872" cy="118872"/>
          </a:xfrm>
          <a:prstGeom prst="ellipse">
            <a:avLst/>
          </a:prstGeom>
          <a:solidFill>
            <a:srgbClr val="6D7A52"/>
          </a:solidFill>
          <a:ln w="12700">
            <a:solidFill>
              <a:srgbClr val="6D7A5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78992" y="2359152"/>
            <a:ext cx="509320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383B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Class Probability Matrix shows class-level strength.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22960" y="2962656"/>
            <a:ext cx="118872" cy="118872"/>
          </a:xfrm>
          <a:prstGeom prst="ellipse">
            <a:avLst/>
          </a:prstGeom>
          <a:solidFill>
            <a:srgbClr val="6D7A52"/>
          </a:solidFill>
          <a:ln w="12700">
            <a:solidFill>
              <a:srgbClr val="6D7A5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78992" y="2889504"/>
            <a:ext cx="509320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383B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DBSCAN groups similar client behavior.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22960" y="3493008"/>
            <a:ext cx="118872" cy="118872"/>
          </a:xfrm>
          <a:prstGeom prst="ellipse">
            <a:avLst/>
          </a:prstGeom>
          <a:solidFill>
            <a:srgbClr val="6D7A52"/>
          </a:solidFill>
          <a:ln w="12700">
            <a:solidFill>
              <a:srgbClr val="6D7A5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78992" y="3419856"/>
            <a:ext cx="509320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383B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class-level contributors get higher weights.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22960" y="4023360"/>
            <a:ext cx="118872" cy="118872"/>
          </a:xfrm>
          <a:prstGeom prst="ellipse">
            <a:avLst/>
          </a:prstGeom>
          <a:solidFill>
            <a:srgbClr val="6D7A52"/>
          </a:solidFill>
          <a:ln w="12700">
            <a:solidFill>
              <a:srgbClr val="6D7A5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78992" y="3950208"/>
            <a:ext cx="509320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383B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Suspicious or weak updates receive very small weight.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812280" y="4526280"/>
            <a:ext cx="3749040" cy="0"/>
          </a:xfrm>
          <a:prstGeom prst="line">
            <a:avLst/>
          </a:prstGeom>
          <a:noFill/>
          <a:ln w="38100">
            <a:solidFill>
              <a:srgbClr val="383B31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995160" y="4343400"/>
            <a:ext cx="420624" cy="420624"/>
          </a:xfrm>
          <a:prstGeom prst="ellipse">
            <a:avLst/>
          </a:prstGeom>
          <a:solidFill>
            <a:srgbClr val="B56A3C"/>
          </a:solidFill>
          <a:ln w="12700">
            <a:solidFill>
              <a:srgbClr val="B56A3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784080" y="4343400"/>
            <a:ext cx="420624" cy="420624"/>
          </a:xfrm>
          <a:prstGeom prst="ellipse">
            <a:avLst/>
          </a:prstGeom>
          <a:solidFill>
            <a:srgbClr val="6D7A52"/>
          </a:solidFill>
          <a:ln w="12700">
            <a:solidFill>
              <a:srgbClr val="6D7A5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537960" y="4892040"/>
            <a:ext cx="1280160" cy="621792"/>
          </a:xfrm>
          <a:prstGeom prst="roundRect">
            <a:avLst>
              <a:gd name="adj" fmla="val 7353"/>
            </a:avLst>
          </a:prstGeom>
          <a:solidFill>
            <a:srgbClr val="FFF7EA"/>
          </a:solidFill>
          <a:ln w="13970">
            <a:solidFill>
              <a:srgbClr val="B56A3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629400" y="4992624"/>
            <a:ext cx="10972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62A22"/>
                </a:solidFill>
              </a:rPr>
              <a:t>Low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262A22"/>
                </a:solidFill>
              </a:rPr>
              <a:t>weight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9418320" y="4892040"/>
            <a:ext cx="1280160" cy="621792"/>
          </a:xfrm>
          <a:prstGeom prst="roundRect">
            <a:avLst>
              <a:gd name="adj" fmla="val 7353"/>
            </a:avLst>
          </a:prstGeom>
          <a:solidFill>
            <a:srgbClr val="FFF7EA"/>
          </a:solidFill>
          <a:ln w="13970">
            <a:solidFill>
              <a:srgbClr val="6D7A5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509760" y="4992624"/>
            <a:ext cx="10972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62A22"/>
                </a:solidFill>
              </a:rPr>
              <a:t>High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262A22"/>
                </a:solidFill>
              </a:rPr>
              <a:t>weight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172200" y="187452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E8DDC7"/>
          </a:solidFill>
          <a:ln w="13970">
            <a:solidFill>
              <a:srgbClr val="B8483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263640" y="1975104"/>
            <a:ext cx="182880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62A22"/>
                </a:solidFill>
              </a:rPr>
              <a:t>Poisoned / weak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262A22"/>
                </a:solidFill>
              </a:rPr>
              <a:t>client update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8915400" y="187452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E8DDC7"/>
          </a:solidFill>
          <a:ln w="13970">
            <a:solidFill>
              <a:srgbClr val="6D7A52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006840" y="1975104"/>
            <a:ext cx="182880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62A22"/>
                </a:solidFill>
              </a:rPr>
              <a:t>Useful class-level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262A22"/>
                </a:solidFill>
              </a:rPr>
              <a:t>client update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411480" y="6437376"/>
            <a:ext cx="11384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sz="670" b="0">
                <a:solidFill>
                  <a:srgbClr val="6B675B"/>
                </a:solidFill>
                <a:latin typeface="Aptos"/>
              </a:rPr>
              <a:t>Group 06 | Md. Murad Ul Momin | Rima Saha | Sakia Tabassum Anonna | Ashraful Hossain Riyan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9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56A3C"/>
          </a:solidFill>
          <a:ln w="12700">
            <a:solidFill>
              <a:srgbClr val="B56A3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6D7A52"/>
          </a:solidFill>
          <a:ln w="12700">
            <a:solidFill>
              <a:srgbClr val="6D7A5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56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760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62A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WEF-Defense for free riders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49808" y="1490472"/>
            <a:ext cx="118872" cy="118872"/>
          </a:xfrm>
          <a:prstGeom prst="ellipse">
            <a:avLst/>
          </a:prstGeom>
          <a:solidFill>
            <a:srgbClr val="B84832"/>
          </a:solidFill>
          <a:ln w="12700">
            <a:solidFill>
              <a:srgbClr val="B8483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1417320"/>
            <a:ext cx="50474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383B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Free-rider clients try to take the global model without real training.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49808" y="2057400"/>
            <a:ext cx="118872" cy="118872"/>
          </a:xfrm>
          <a:prstGeom prst="ellipse">
            <a:avLst/>
          </a:prstGeom>
          <a:solidFill>
            <a:srgbClr val="B84832"/>
          </a:solidFill>
          <a:ln w="12700">
            <a:solidFill>
              <a:srgbClr val="B8483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05840" y="1984248"/>
            <a:ext cx="50474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383B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WEF checks how much important weights actually change.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49808" y="2624328"/>
            <a:ext cx="118872" cy="118872"/>
          </a:xfrm>
          <a:prstGeom prst="ellipse">
            <a:avLst/>
          </a:prstGeom>
          <a:solidFill>
            <a:srgbClr val="B84832"/>
          </a:solidFill>
          <a:ln w="12700">
            <a:solidFill>
              <a:srgbClr val="B8483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2551176"/>
            <a:ext cx="50474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383B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 client has too little useful weight movement, it looks suspicious.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49808" y="3191256"/>
            <a:ext cx="118872" cy="118872"/>
          </a:xfrm>
          <a:prstGeom prst="ellipse">
            <a:avLst/>
          </a:prstGeom>
          <a:solidFill>
            <a:srgbClr val="B84832"/>
          </a:solidFill>
          <a:ln w="12700">
            <a:solidFill>
              <a:srgbClr val="B8483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3118104"/>
            <a:ext cx="50474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383B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server separates normal contributors from suspected free riders.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400800" y="1143000"/>
            <a:ext cx="4389120" cy="1920240"/>
          </a:xfrm>
          <a:prstGeom prst="roundRect">
            <a:avLst>
              <a:gd name="adj" fmla="val 2381"/>
            </a:avLst>
          </a:prstGeom>
          <a:solidFill>
            <a:srgbClr val="FFF7EA"/>
          </a:solidFill>
          <a:ln w="16510">
            <a:solidFill>
              <a:srgbClr val="6D7A5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29400" y="14173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D7A52"/>
                </a:solidFill>
              </a:rPr>
              <a:t>Normal clients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20840" y="18745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262A22"/>
                </a:solidFill>
              </a:rPr>
              <a:t>weights evolve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62A22"/>
                </a:solidFill>
              </a:rPr>
              <a:t>local training is visible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00800" y="3703320"/>
            <a:ext cx="4389120" cy="1920240"/>
          </a:xfrm>
          <a:prstGeom prst="roundRect">
            <a:avLst>
              <a:gd name="adj" fmla="val 2381"/>
            </a:avLst>
          </a:prstGeom>
          <a:solidFill>
            <a:srgbClr val="FFF7EA"/>
          </a:solidFill>
          <a:ln w="16510">
            <a:solidFill>
              <a:srgbClr val="B8483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629400" y="39776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4832"/>
                </a:solidFill>
              </a:rPr>
              <a:t>Free riders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720840" y="44348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262A22"/>
                </a:solidFill>
              </a:rPr>
              <a:t>low change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62A22"/>
                </a:solidFill>
              </a:rPr>
              <a:t>or fake contribution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595360" y="3108960"/>
            <a:ext cx="0" cy="502920"/>
          </a:xfrm>
          <a:prstGeom prst="line">
            <a:avLst/>
          </a:prstGeom>
          <a:noFill/>
          <a:ln w="25400">
            <a:solidFill>
              <a:srgbClr val="B56A3C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11480" y="6437376"/>
            <a:ext cx="11384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sz="670" b="0">
                <a:solidFill>
                  <a:srgbClr val="6B675B"/>
                </a:solidFill>
                <a:latin typeface="Aptos"/>
              </a:rPr>
              <a:t>Group 06 | Md. Murad Ul Momin | Rima Saha | Sakia Tabassum Anonna | Ashraful Hossain Riyan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9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56A3C"/>
          </a:solidFill>
          <a:ln w="12700">
            <a:solidFill>
              <a:srgbClr val="B56A3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6D7A52"/>
          </a:solidFill>
          <a:ln w="12700">
            <a:solidFill>
              <a:srgbClr val="6D7A5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56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760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62A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FedMSE semi-supervised detection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49808" y="117043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62A22"/>
                </a:solidFill>
              </a:rPr>
              <a:t>Main idea: learn normal traffic first, then flag what looks unusual.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04672" y="1901952"/>
            <a:ext cx="118872" cy="118872"/>
          </a:xfrm>
          <a:prstGeom prst="ellipse">
            <a:avLst/>
          </a:prstGeom>
          <a:solidFill>
            <a:srgbClr val="D8A64B"/>
          </a:solidFill>
          <a:ln w="12700">
            <a:solidFill>
              <a:srgbClr val="D8A64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60704" y="1828800"/>
            <a:ext cx="518464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383B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normal-only training for anomaly detection.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804672" y="2432304"/>
            <a:ext cx="118872" cy="118872"/>
          </a:xfrm>
          <a:prstGeom prst="ellipse">
            <a:avLst/>
          </a:prstGeom>
          <a:solidFill>
            <a:srgbClr val="D8A64B"/>
          </a:solidFill>
          <a:ln w="12700">
            <a:solidFill>
              <a:srgbClr val="D8A64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60704" y="2359152"/>
            <a:ext cx="518464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383B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Shrink Autoencoder learns compact normal behavior.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04672" y="2962656"/>
            <a:ext cx="118872" cy="118872"/>
          </a:xfrm>
          <a:prstGeom prst="ellipse">
            <a:avLst/>
          </a:prstGeom>
          <a:solidFill>
            <a:srgbClr val="D8A64B"/>
          </a:solidFill>
          <a:ln w="12700">
            <a:solidFill>
              <a:srgbClr val="D8A64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60704" y="2889504"/>
            <a:ext cx="518464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383B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Centroid distance helps find abnormal traffic.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04672" y="3493008"/>
            <a:ext cx="118872" cy="118872"/>
          </a:xfrm>
          <a:prstGeom prst="ellipse">
            <a:avLst/>
          </a:prstGeom>
          <a:solidFill>
            <a:srgbClr val="D8A64B"/>
          </a:solidFill>
          <a:ln w="12700">
            <a:solidFill>
              <a:srgbClr val="D8A64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60704" y="3419856"/>
            <a:ext cx="518464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383B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MSEAvg gives more weight to models with lower reconstruction error.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04672" y="4023360"/>
            <a:ext cx="118872" cy="118872"/>
          </a:xfrm>
          <a:prstGeom prst="ellipse">
            <a:avLst/>
          </a:prstGeom>
          <a:solidFill>
            <a:srgbClr val="D8A64B"/>
          </a:solidFill>
          <a:ln w="12700">
            <a:solidFill>
              <a:srgbClr val="D8A64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60704" y="3950208"/>
            <a:ext cx="518464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383B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when new attacks are not fully labeled.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7452360" y="1508760"/>
            <a:ext cx="1828800" cy="658368"/>
          </a:xfrm>
          <a:prstGeom prst="roundRect">
            <a:avLst>
              <a:gd name="adj" fmla="val 6944"/>
            </a:avLst>
          </a:prstGeom>
          <a:solidFill>
            <a:srgbClr val="FFF7EA"/>
          </a:solidFill>
          <a:ln w="13970">
            <a:solidFill>
              <a:srgbClr val="D8A64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543800" y="1609344"/>
            <a:ext cx="164592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62A22"/>
                </a:solidFill>
              </a:rPr>
              <a:t>Normal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262A22"/>
                </a:solidFill>
              </a:rPr>
              <a:t>data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8366760" y="2304288"/>
            <a:ext cx="0" cy="292608"/>
          </a:xfrm>
          <a:prstGeom prst="line">
            <a:avLst/>
          </a:prstGeom>
          <a:noFill/>
          <a:ln w="22860">
            <a:solidFill>
              <a:srgbClr val="6D7A5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452360" y="2560320"/>
            <a:ext cx="1828800" cy="658368"/>
          </a:xfrm>
          <a:prstGeom prst="roundRect">
            <a:avLst>
              <a:gd name="adj" fmla="val 6944"/>
            </a:avLst>
          </a:prstGeom>
          <a:solidFill>
            <a:srgbClr val="FFF7EA"/>
          </a:solidFill>
          <a:ln w="13970">
            <a:solidFill>
              <a:srgbClr val="D8A64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543800" y="2660904"/>
            <a:ext cx="164592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62A22"/>
                </a:solidFill>
              </a:rPr>
              <a:t>Shrink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262A22"/>
                </a:solidFill>
              </a:rPr>
              <a:t>autoencoder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8366760" y="3355848"/>
            <a:ext cx="0" cy="292608"/>
          </a:xfrm>
          <a:prstGeom prst="line">
            <a:avLst/>
          </a:prstGeom>
          <a:noFill/>
          <a:ln w="22860">
            <a:solidFill>
              <a:srgbClr val="6D7A5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452360" y="3611880"/>
            <a:ext cx="1828800" cy="658368"/>
          </a:xfrm>
          <a:prstGeom prst="roundRect">
            <a:avLst>
              <a:gd name="adj" fmla="val 6944"/>
            </a:avLst>
          </a:prstGeom>
          <a:solidFill>
            <a:srgbClr val="FFF7EA"/>
          </a:solidFill>
          <a:ln w="13970">
            <a:solidFill>
              <a:srgbClr val="D8A64B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543800" y="3712464"/>
            <a:ext cx="164592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62A22"/>
                </a:solidFill>
              </a:rPr>
              <a:t>Centroid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262A22"/>
                </a:solidFill>
              </a:rPr>
              <a:t>check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8366760" y="4407408"/>
            <a:ext cx="0" cy="292608"/>
          </a:xfrm>
          <a:prstGeom prst="line">
            <a:avLst/>
          </a:prstGeom>
          <a:noFill/>
          <a:ln w="22860">
            <a:solidFill>
              <a:srgbClr val="6D7A5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452360" y="4663440"/>
            <a:ext cx="1828800" cy="658368"/>
          </a:xfrm>
          <a:prstGeom prst="roundRect">
            <a:avLst>
              <a:gd name="adj" fmla="val 6944"/>
            </a:avLst>
          </a:prstGeom>
          <a:solidFill>
            <a:srgbClr val="FFF7EA"/>
          </a:solidFill>
          <a:ln w="13970">
            <a:solidFill>
              <a:srgbClr val="B84832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543800" y="4764024"/>
            <a:ext cx="164592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62A22"/>
                </a:solidFill>
              </a:rPr>
              <a:t>Anomaly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262A22"/>
                </a:solidFill>
              </a:rPr>
              <a:t>alert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411480" y="6437376"/>
            <a:ext cx="11384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sz="670" b="0">
                <a:solidFill>
                  <a:srgbClr val="6B675B"/>
                </a:solidFill>
                <a:latin typeface="Aptos"/>
              </a:rPr>
              <a:t>Group 06 | Md. Murad Ul Momin | Rima Saha | Sakia Tabassum Anonna | Ashraful Hossain Riyan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7A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7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and security view</a:t>
            </a:r>
            <a:endParaRPr lang="en-US" sz="2500" dirty="0"/>
          </a:p>
        </p:txBody>
      </p:sp>
      <p:pic>
        <p:nvPicPr>
          <p:cNvPr id="4" name="Image 0" descr="/mnt/data/wide_dark_themed_cybersecurity_monitoring_dashboar_batch_3.png">    </p:cNvPr>
          <p:cNvPicPr>
            <a:picLocks noChangeAspect="1"/>
          </p:cNvPicPr>
          <p:nvPr/>
        </p:nvPicPr>
        <p:blipFill>
          <a:blip r:embed="rId1"/>
          <a:srcRect l="17572" r="17572" t="0" b="0"/>
          <a:stretch/>
        </p:blipFill>
        <p:spPr>
          <a:xfrm>
            <a:off x="5989320" y="1188720"/>
            <a:ext cx="5532120" cy="4800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1399032"/>
            <a:ext cx="118872" cy="118872"/>
          </a:xfrm>
          <a:prstGeom prst="ellipse">
            <a:avLst/>
          </a:prstGeom>
          <a:solidFill>
            <a:srgbClr val="E7A06A"/>
          </a:solidFill>
          <a:ln w="12700">
            <a:solidFill>
              <a:srgbClr val="E7A06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87552" y="1325880"/>
            <a:ext cx="431596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7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live device status and alerts.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31520" y="2002536"/>
            <a:ext cx="118872" cy="118872"/>
          </a:xfrm>
          <a:prstGeom prst="ellipse">
            <a:avLst/>
          </a:prstGeom>
          <a:solidFill>
            <a:srgbClr val="E7A06A"/>
          </a:solidFill>
          <a:ln w="12700">
            <a:solidFill>
              <a:srgbClr val="E7A06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87552" y="1929384"/>
            <a:ext cx="431596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7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Tracks attack type, model status and client reputation.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31520" y="2606040"/>
            <a:ext cx="118872" cy="118872"/>
          </a:xfrm>
          <a:prstGeom prst="ellipse">
            <a:avLst/>
          </a:prstGeom>
          <a:solidFill>
            <a:srgbClr val="E7A06A"/>
          </a:solidFill>
          <a:ln w="12700">
            <a:solidFill>
              <a:srgbClr val="E7A06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987552" y="2532888"/>
            <a:ext cx="431596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7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WebSockets update the page without refresh.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31520" y="3209544"/>
            <a:ext cx="118872" cy="118872"/>
          </a:xfrm>
          <a:prstGeom prst="ellipse">
            <a:avLst/>
          </a:prstGeom>
          <a:solidFill>
            <a:srgbClr val="E7A06A"/>
          </a:solidFill>
          <a:ln w="12700">
            <a:solidFill>
              <a:srgbClr val="E7A06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987552" y="3136392"/>
            <a:ext cx="431596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7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summaries can explain alerts in plain language.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31520" y="3813048"/>
            <a:ext cx="118872" cy="118872"/>
          </a:xfrm>
          <a:prstGeom prst="ellipse">
            <a:avLst/>
          </a:prstGeom>
          <a:solidFill>
            <a:srgbClr val="E7A06A"/>
          </a:solidFill>
          <a:ln w="12700">
            <a:solidFill>
              <a:srgbClr val="E7A06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87552" y="3739896"/>
            <a:ext cx="431596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7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private traffic is not sent to the language model.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77240" y="5349240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7A06A"/>
                </a:solidFill>
              </a:rPr>
              <a:t>Goal: help an admin understand what happened quickly.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11480" y="6437376"/>
            <a:ext cx="11384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sz="670" b="0">
                <a:solidFill>
                  <a:srgbClr val="D6D2BD"/>
                </a:solidFill>
                <a:latin typeface="Aptos"/>
              </a:rPr>
              <a:t>Group 06 | Md. Murad Ul Momin | Rima Saha | Sakia Tabassum Anonna | Ashraful Hossain Riyan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E9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56A3C"/>
          </a:solidFill>
          <a:ln w="12700">
            <a:solidFill>
              <a:srgbClr val="B56A3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6D7A52"/>
          </a:solidFill>
          <a:ln w="12700">
            <a:solidFill>
              <a:srgbClr val="6D7A5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56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760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62A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will measure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68680" y="1280160"/>
            <a:ext cx="2926080" cy="822960"/>
          </a:xfrm>
          <a:prstGeom prst="roundRect">
            <a:avLst>
              <a:gd name="adj" fmla="val 4444"/>
            </a:avLst>
          </a:prstGeom>
          <a:solidFill>
            <a:srgbClr val="FFF7EA"/>
          </a:solidFill>
          <a:ln w="17780">
            <a:solidFill>
              <a:srgbClr val="6D7A5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51560" y="15179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2A22"/>
                </a:solidFill>
              </a:rPr>
              <a:t>Accuracy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434840" y="1280160"/>
            <a:ext cx="2926080" cy="822960"/>
          </a:xfrm>
          <a:prstGeom prst="roundRect">
            <a:avLst>
              <a:gd name="adj" fmla="val 4444"/>
            </a:avLst>
          </a:prstGeom>
          <a:solidFill>
            <a:srgbClr val="FFF7EA"/>
          </a:solidFill>
          <a:ln w="17780">
            <a:solidFill>
              <a:srgbClr val="B56A3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17720" y="15179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2A22"/>
                </a:solidFill>
              </a:rPr>
              <a:t>F1-score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01000" y="1280160"/>
            <a:ext cx="2926080" cy="822960"/>
          </a:xfrm>
          <a:prstGeom prst="roundRect">
            <a:avLst>
              <a:gd name="adj" fmla="val 4444"/>
            </a:avLst>
          </a:prstGeom>
          <a:solidFill>
            <a:srgbClr val="FFF7EA"/>
          </a:solidFill>
          <a:ln w="17780">
            <a:solidFill>
              <a:srgbClr val="D8A64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183880" y="15179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2A22"/>
                </a:solidFill>
              </a:rPr>
              <a:t>AUC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68680" y="2651760"/>
            <a:ext cx="2926080" cy="822960"/>
          </a:xfrm>
          <a:prstGeom prst="roundRect">
            <a:avLst>
              <a:gd name="adj" fmla="val 4444"/>
            </a:avLst>
          </a:prstGeom>
          <a:solidFill>
            <a:srgbClr val="FFF7EA"/>
          </a:solidFill>
          <a:ln w="17780">
            <a:solidFill>
              <a:srgbClr val="B8483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51560" y="28895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2A22"/>
                </a:solidFill>
              </a:rPr>
              <a:t>Latency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434840" y="2651760"/>
            <a:ext cx="2926080" cy="822960"/>
          </a:xfrm>
          <a:prstGeom prst="roundRect">
            <a:avLst>
              <a:gd name="adj" fmla="val 4444"/>
            </a:avLst>
          </a:prstGeom>
          <a:solidFill>
            <a:srgbClr val="FFF7EA"/>
          </a:solidFill>
          <a:ln w="17780">
            <a:solidFill>
              <a:srgbClr val="6D7A5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617720" y="28895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2A22"/>
                </a:solidFill>
              </a:rPr>
              <a:t>Comm. cost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001000" y="2651760"/>
            <a:ext cx="2926080" cy="822960"/>
          </a:xfrm>
          <a:prstGeom prst="roundRect">
            <a:avLst>
              <a:gd name="adj" fmla="val 4444"/>
            </a:avLst>
          </a:prstGeom>
          <a:solidFill>
            <a:srgbClr val="FFF7EA"/>
          </a:solidFill>
          <a:ln w="17780">
            <a:solidFill>
              <a:srgbClr val="B56A3C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183880" y="28895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2A22"/>
                </a:solidFill>
              </a:rPr>
              <a:t>Robustness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60120" y="4325112"/>
            <a:ext cx="118872" cy="118872"/>
          </a:xfrm>
          <a:prstGeom prst="ellipse">
            <a:avLst/>
          </a:prstGeom>
          <a:solidFill>
            <a:srgbClr val="B56A3C"/>
          </a:solidFill>
          <a:ln w="12700">
            <a:solidFill>
              <a:srgbClr val="B56A3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216152" y="4251960"/>
            <a:ext cx="934516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83B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Centralized model vs federated model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60120" y="4782312"/>
            <a:ext cx="118872" cy="118872"/>
          </a:xfrm>
          <a:prstGeom prst="ellipse">
            <a:avLst/>
          </a:prstGeom>
          <a:solidFill>
            <a:srgbClr val="B56A3C"/>
          </a:solidFill>
          <a:ln w="12700">
            <a:solidFill>
              <a:srgbClr val="B56A3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216152" y="4709160"/>
            <a:ext cx="934516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83B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IID vs non-IID device data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60120" y="5239512"/>
            <a:ext cx="118872" cy="118872"/>
          </a:xfrm>
          <a:prstGeom prst="ellipse">
            <a:avLst/>
          </a:prstGeom>
          <a:solidFill>
            <a:srgbClr val="B56A3C"/>
          </a:solidFill>
          <a:ln w="12700">
            <a:solidFill>
              <a:srgbClr val="B56A3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216152" y="5166360"/>
            <a:ext cx="934516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83B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 clients vs poisoned / free-rider clients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60120" y="5696712"/>
            <a:ext cx="118872" cy="118872"/>
          </a:xfrm>
          <a:prstGeom prst="ellipse">
            <a:avLst/>
          </a:prstGeom>
          <a:solidFill>
            <a:srgbClr val="B56A3C"/>
          </a:solidFill>
          <a:ln w="12700">
            <a:solidFill>
              <a:srgbClr val="B56A3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216152" y="5623560"/>
            <a:ext cx="934516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83B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and without privacy and defense layers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11480" y="6437376"/>
            <a:ext cx="11384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sz="670" b="0">
                <a:solidFill>
                  <a:srgbClr val="6B675B"/>
                </a:solidFill>
                <a:latin typeface="Aptos"/>
              </a:rPr>
              <a:t>Group 06 | Md. Murad Ul Momin | Rima Saha | Sakia Tabassum Anonna | Ashraful Hossain Riyan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E9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56A3C"/>
          </a:solidFill>
          <a:ln w="12700">
            <a:solidFill>
              <a:srgbClr val="B56A3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6D7A52"/>
          </a:solidFill>
          <a:ln w="12700">
            <a:solidFill>
              <a:srgbClr val="6D7A5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56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760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62A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status and next steps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22960" y="1234440"/>
            <a:ext cx="5029200" cy="4251960"/>
          </a:xfrm>
          <a:prstGeom prst="roundRect">
            <a:avLst>
              <a:gd name="adj" fmla="val 1075"/>
            </a:avLst>
          </a:prstGeom>
          <a:solidFill>
            <a:srgbClr val="262A22"/>
          </a:solidFill>
          <a:ln w="12700">
            <a:solidFill>
              <a:srgbClr val="262A2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43000" y="16002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7EA"/>
                </a:solidFill>
              </a:rPr>
              <a:t>What is done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207008" y="2313432"/>
            <a:ext cx="118872" cy="118872"/>
          </a:xfrm>
          <a:prstGeom prst="ellipse">
            <a:avLst/>
          </a:prstGeom>
          <a:solidFill>
            <a:srgbClr val="E7A06A"/>
          </a:solidFill>
          <a:ln w="12700">
            <a:solidFill>
              <a:srgbClr val="E7A06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463040" y="2240280"/>
            <a:ext cx="41330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FF7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SecureDyn-FL basic prototype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1207008" y="2770632"/>
            <a:ext cx="118872" cy="118872"/>
          </a:xfrm>
          <a:prstGeom prst="ellipse">
            <a:avLst/>
          </a:prstGeom>
          <a:solidFill>
            <a:srgbClr val="E7A06A"/>
          </a:solidFill>
          <a:ln w="12700">
            <a:solidFill>
              <a:srgbClr val="E7A06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463040" y="2697480"/>
            <a:ext cx="41330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FF7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FedMADE module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1207008" y="3227832"/>
            <a:ext cx="118872" cy="118872"/>
          </a:xfrm>
          <a:prstGeom prst="ellipse">
            <a:avLst/>
          </a:prstGeom>
          <a:solidFill>
            <a:srgbClr val="E7A06A"/>
          </a:solidFill>
          <a:ln w="12700">
            <a:solidFill>
              <a:srgbClr val="E7A06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463040" y="3154680"/>
            <a:ext cx="41330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FF7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WEF-Defense module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1207008" y="3685032"/>
            <a:ext cx="118872" cy="118872"/>
          </a:xfrm>
          <a:prstGeom prst="ellipse">
            <a:avLst/>
          </a:prstGeom>
          <a:solidFill>
            <a:srgbClr val="E7A06A"/>
          </a:solidFill>
          <a:ln w="12700">
            <a:solidFill>
              <a:srgbClr val="E7A06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463040" y="3611880"/>
            <a:ext cx="41330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FF7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FedMSE module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1207008" y="4142232"/>
            <a:ext cx="118872" cy="118872"/>
          </a:xfrm>
          <a:prstGeom prst="ellipse">
            <a:avLst/>
          </a:prstGeom>
          <a:solidFill>
            <a:srgbClr val="E7A06A"/>
          </a:solidFill>
          <a:ln w="12700">
            <a:solidFill>
              <a:srgbClr val="E7A06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463040" y="4069080"/>
            <a:ext cx="41330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FF7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system report and design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446520" y="16002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A22"/>
                </a:solidFill>
              </a:rPr>
              <a:t>Next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400800" y="2221992"/>
            <a:ext cx="118872" cy="118872"/>
          </a:xfrm>
          <a:prstGeom prst="ellipse">
            <a:avLst/>
          </a:prstGeom>
          <a:solidFill>
            <a:srgbClr val="6D7A52"/>
          </a:solidFill>
          <a:ln w="12700">
            <a:solidFill>
              <a:srgbClr val="6D7A5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656832" y="2148840"/>
            <a:ext cx="449884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383B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all methods with the same data split.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6400800" y="2752344"/>
            <a:ext cx="118872" cy="118872"/>
          </a:xfrm>
          <a:prstGeom prst="ellipse">
            <a:avLst/>
          </a:prstGeom>
          <a:solidFill>
            <a:srgbClr val="6D7A52"/>
          </a:solidFill>
          <a:ln w="12700">
            <a:solidFill>
              <a:srgbClr val="6D7A5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656832" y="2679192"/>
            <a:ext cx="449884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383B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all metrics fairly.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6400800" y="3282696"/>
            <a:ext cx="118872" cy="118872"/>
          </a:xfrm>
          <a:prstGeom prst="ellipse">
            <a:avLst/>
          </a:prstGeom>
          <a:solidFill>
            <a:srgbClr val="6D7A52"/>
          </a:solidFill>
          <a:ln w="12700">
            <a:solidFill>
              <a:srgbClr val="6D7A5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56832" y="3209544"/>
            <a:ext cx="449884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383B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stronger poisoning and free-rider tests.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6400800" y="3813048"/>
            <a:ext cx="118872" cy="118872"/>
          </a:xfrm>
          <a:prstGeom prst="ellipse">
            <a:avLst/>
          </a:prstGeom>
          <a:solidFill>
            <a:srgbClr val="6D7A52"/>
          </a:solidFill>
          <a:ln w="12700">
            <a:solidFill>
              <a:srgbClr val="6D7A5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656832" y="3739896"/>
            <a:ext cx="449884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383B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the best parts into one PRIVATE SHIELD pipeline.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6400800" y="4343400"/>
            <a:ext cx="118872" cy="118872"/>
          </a:xfrm>
          <a:prstGeom prst="ellipse">
            <a:avLst/>
          </a:prstGeom>
          <a:solidFill>
            <a:srgbClr val="6D7A52"/>
          </a:solidFill>
          <a:ln w="12700">
            <a:solidFill>
              <a:srgbClr val="6D7A5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656832" y="4270248"/>
            <a:ext cx="449884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383B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final dashboard demo.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14400" y="5806440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56A3C"/>
                </a:solidFill>
              </a:rPr>
              <a:t>Final message: PRIVATE SHIELD keeps IoT data local, checks model updates, and explains threats clearly.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11480" y="6437376"/>
            <a:ext cx="11384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sz="670" b="0">
                <a:solidFill>
                  <a:srgbClr val="6B675B"/>
                </a:solidFill>
                <a:latin typeface="Aptos"/>
              </a:rPr>
              <a:t>Group 06 | Md. Murad Ul Momin | Rima Saha | Sakia Tabassum Anonna | Ashraful Hossain Riyan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7A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760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7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research papers used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FF7EA"/>
                </a:solidFill>
              </a:rPr>
              <a:t>[1] SecureDyn-FL: Robust privacy-preserving FL for IoT intrusion detection, arXiv:2601.06466, 2026.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1810512"/>
            <a:ext cx="10287000" cy="0"/>
          </a:xfrm>
          <a:prstGeom prst="line">
            <a:avLst/>
          </a:prstGeom>
          <a:noFill/>
          <a:ln w="10160">
            <a:solidFill>
              <a:srgbClr val="B56A3C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167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FF7EA"/>
                </a:solidFill>
              </a:rPr>
              <a:t>[2] FedMADE: Dynamic aggregation for robust IoT intrusion detection, arXiv:2408.07152, 2024.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2651760"/>
            <a:ext cx="10287000" cy="0"/>
          </a:xfrm>
          <a:prstGeom prst="line">
            <a:avLst/>
          </a:prstGeom>
          <a:noFill/>
          <a:ln w="10160">
            <a:solidFill>
              <a:srgbClr val="6D7A52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30083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FF7EA"/>
                </a:solidFill>
              </a:rPr>
              <a:t>[3] WEF-Defense: Defense against free-rider attack using weight evolving frequency, arXiv:2206.05406, 2022.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493008"/>
            <a:ext cx="10287000" cy="0"/>
          </a:xfrm>
          <a:prstGeom prst="line">
            <a:avLst/>
          </a:prstGeom>
          <a:noFill/>
          <a:ln w="10160">
            <a:solidFill>
              <a:srgbClr val="B56A3C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384962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FF7EA"/>
                </a:solidFill>
              </a:rPr>
              <a:t>[4] FedMSE: Semi-supervised federated learning for IoT network intrusion detection, Computers &amp; Security, 2025.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4334256"/>
            <a:ext cx="10287000" cy="0"/>
          </a:xfrm>
          <a:prstGeom prst="line">
            <a:avLst/>
          </a:prstGeom>
          <a:noFill/>
          <a:ln w="10160">
            <a:solidFill>
              <a:srgbClr val="6D7A52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52578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7A06A"/>
                </a:solidFill>
              </a:rPr>
              <a:t>Thank You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11480" y="6437376"/>
            <a:ext cx="11384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sz="670" b="0">
                <a:solidFill>
                  <a:srgbClr val="D6D2BD"/>
                </a:solidFill>
                <a:latin typeface="Aptos"/>
              </a:rPr>
              <a:t>Group 06 | Md. Murad Ul Momin | Rima Saha | Sakia Tabassum Anonna | Ashraful Hossain Riyan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CSE 499A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PRIVATE SHIELD Presentation</dc:title>
  <dc:subject>Privacy-Preserving Federated Intelligence System for IoT Threat Detection</dc:subject>
  <dc:creator>PRIVATE SHIELD Group 06</dc:creator>
  <cp:lastModifiedBy>PRIVATE SHIELD Group 06</cp:lastModifiedBy>
  <cp:revision>1</cp:revision>
  <dcterms:created xsi:type="dcterms:W3CDTF">2026-08-26T16:15:48Z</dcterms:created>
  <dcterms:modified xsi:type="dcterms:W3CDTF">2026-08-26T16:15:48Z</dcterms:modified>
</cp:coreProperties>
</file>