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2.xml" ContentType="application/vnd.openxmlformats-officedocument.presentationml.slide+xml"/>
  <Override PartName="/ppt/slides/slide6.xml" ContentType="application/vnd.openxmlformats-officedocument.presentationml.slide+xml"/>
  <Override PartName="/ppt/slides/slide11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AE5B46B7-BE74-4B5B-A72A-EEED25C9760A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Opening: introduce all group members by full name before discussing the project.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49D05AD-34D4-4B9E-9D96-CE4A89D7292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BCBA0BE-1E0E-427A-B08B-E62FD883E5A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756F037-5B81-49E8-8001-CA07F0E45B3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7D89941-A12E-4C8E-9CE2-9A205A6559D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C7ADA40-390E-4D72-B04F-657A2ACD010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4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AE0D785-5DCB-4F43-9A57-F74BDAF2777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7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BCF0754-BDFC-4FD0-8317-D700E32640F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0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4AFAF9A-AE30-4691-BB8E-7D03E00CA19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3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03A12DE-EC71-491F-BE96-C2FC0856649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6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9B121FE-CDE8-4D6A-8944-DE2256E1F74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9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5DBE690-5083-47DE-B2E5-52BB76B8663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2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8D9FE2F-A330-46E4-8236-4C0D9DFEF97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5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BAB7D1E-5896-4EF6-A64B-A9F388AE2AD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4F1EA"/>
          </a:solidFill>
          <a:ln w="12700">
            <a:solidFill>
              <a:srgbClr val="F4F1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502920" y="6492240"/>
            <a:ext cx="11201400" cy="360"/>
          </a:xfrm>
          <a:prstGeom prst="line">
            <a:avLst/>
          </a:prstGeom>
          <a:ln w="7620">
            <a:solidFill>
              <a:srgbClr val="C9C2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548640" y="6546960"/>
            <a:ext cx="111096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64676B"/>
                </a:solidFill>
                <a:effectLst/>
                <a:uFillTx/>
                <a:latin typeface="Aptos"/>
                <a:ea typeface="Aptos"/>
              </a:rPr>
              <a:t>Group 06 | Md. Murad Ul Momin • Rima Saha • Sakia Tabassum Anonna • Ashraful Hossain Riyan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567000" y="402480"/>
            <a:ext cx="109692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176B68"/>
                </a:solidFill>
                <a:effectLst/>
                <a:uFillTx/>
                <a:latin typeface="Aptos"/>
                <a:ea typeface="Aptos"/>
              </a:rPr>
              <a:t>CSE499B Research Review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4"/>
          <p:cNvSpPr/>
          <p:nvPr/>
        </p:nvSpPr>
        <p:spPr>
          <a:xfrm>
            <a:off x="566640" y="649080"/>
            <a:ext cx="567000" cy="360"/>
          </a:xfrm>
          <a:prstGeom prst="line">
            <a:avLst/>
          </a:prstGeom>
          <a:ln w="15240">
            <a:solidFill>
              <a:srgbClr val="176B6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567000" y="731520"/>
            <a:ext cx="5028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PRIVATE SHIELD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585360" y="1298520"/>
            <a:ext cx="51202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76B68"/>
                </a:solidFill>
                <a:effectLst/>
                <a:uFillTx/>
                <a:latin typeface="Aptos"/>
                <a:ea typeface="Aptos"/>
              </a:rPr>
              <a:t>Trust-Aware and Class-Aware Federated Intrusion Detection for Heterogeneous IoT Networks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7"/>
          <p:cNvSpPr/>
          <p:nvPr/>
        </p:nvSpPr>
        <p:spPr>
          <a:xfrm>
            <a:off x="585360" y="2057400"/>
            <a:ext cx="4663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4676B"/>
                </a:solidFill>
                <a:effectLst/>
                <a:uFillTx/>
                <a:latin typeface="Aptos"/>
                <a:ea typeface="Aptos"/>
              </a:rPr>
              <a:t>CSE499B Research Review &amp; Preliminary Thesis Direction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8"/>
          <p:cNvSpPr/>
          <p:nvPr/>
        </p:nvSpPr>
        <p:spPr>
          <a:xfrm>
            <a:off x="585360" y="2615040"/>
            <a:ext cx="30171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Md. Murad Ul Momin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Rima Saha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Sakia Tabassum Anonna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Ashraful Hossain Riyan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9"/>
          <p:cNvSpPr/>
          <p:nvPr/>
        </p:nvSpPr>
        <p:spPr>
          <a:xfrm>
            <a:off x="585360" y="3675960"/>
            <a:ext cx="36572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4676B"/>
                </a:solidFill>
                <a:effectLst/>
                <a:uFillTx/>
                <a:latin typeface="Aptos"/>
                <a:ea typeface="Aptos"/>
              </a:rPr>
              <a:t>Department of Electrical and Computer Engineering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4676B"/>
                </a:solidFill>
                <a:effectLst/>
                <a:uFillTx/>
                <a:latin typeface="Aptos"/>
                <a:ea typeface="Aptos"/>
              </a:rPr>
              <a:t>North South University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0"/>
          <p:cNvSpPr/>
          <p:nvPr/>
        </p:nvSpPr>
        <p:spPr>
          <a:xfrm>
            <a:off x="6400800" y="822960"/>
            <a:ext cx="24685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64676B"/>
                </a:solidFill>
                <a:effectLst/>
                <a:uFillTx/>
                <a:latin typeface="Aptos"/>
                <a:ea typeface="Aptos"/>
              </a:rPr>
              <a:t>heterogeneous clients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11"/>
          <p:cNvSpPr/>
          <p:nvPr/>
        </p:nvSpPr>
        <p:spPr>
          <a:xfrm>
            <a:off x="6720840" y="1325880"/>
            <a:ext cx="804240" cy="456840"/>
          </a:xfrm>
          <a:prstGeom prst="roundRect">
            <a:avLst>
              <a:gd name="adj" fmla="val 10000"/>
            </a:avLst>
          </a:prstGeom>
          <a:solidFill>
            <a:srgbClr val="DCE5EA"/>
          </a:solidFill>
          <a:ln w="10160">
            <a:solidFill>
              <a:srgbClr val="D8D3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2"/>
          <p:cNvSpPr/>
          <p:nvPr/>
        </p:nvSpPr>
        <p:spPr>
          <a:xfrm>
            <a:off x="6830640" y="1417320"/>
            <a:ext cx="585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camera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13"/>
          <p:cNvSpPr/>
          <p:nvPr/>
        </p:nvSpPr>
        <p:spPr>
          <a:xfrm>
            <a:off x="6835320" y="1879200"/>
            <a:ext cx="63720" cy="63720"/>
          </a:xfrm>
          <a:prstGeom prst="ellipse">
            <a:avLst/>
          </a:prstGeom>
          <a:solidFill>
            <a:srgbClr val="176B68"/>
          </a:solidFill>
          <a:ln w="12700">
            <a:solidFill>
              <a:srgbClr val="F4F1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0" rIns="9000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14"/>
          <p:cNvSpPr/>
          <p:nvPr/>
        </p:nvSpPr>
        <p:spPr>
          <a:xfrm>
            <a:off x="6981480" y="1879200"/>
            <a:ext cx="63720" cy="63720"/>
          </a:xfrm>
          <a:prstGeom prst="ellipse">
            <a:avLst/>
          </a:prstGeom>
          <a:solidFill>
            <a:srgbClr val="C18A3B"/>
          </a:solidFill>
          <a:ln w="12700">
            <a:solidFill>
              <a:srgbClr val="F4F1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0" rIns="9000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15"/>
          <p:cNvSpPr/>
          <p:nvPr/>
        </p:nvSpPr>
        <p:spPr>
          <a:xfrm>
            <a:off x="7127640" y="1879200"/>
            <a:ext cx="63720" cy="63720"/>
          </a:xfrm>
          <a:prstGeom prst="ellipse">
            <a:avLst/>
          </a:prstGeom>
          <a:solidFill>
            <a:srgbClr val="456A82"/>
          </a:solidFill>
          <a:ln w="12700">
            <a:solidFill>
              <a:srgbClr val="F4F1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0" rIns="9000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16"/>
          <p:cNvSpPr/>
          <p:nvPr/>
        </p:nvSpPr>
        <p:spPr>
          <a:xfrm>
            <a:off x="7274160" y="1879200"/>
            <a:ext cx="63720" cy="63720"/>
          </a:xfrm>
          <a:prstGeom prst="ellipse">
            <a:avLst/>
          </a:prstGeom>
          <a:solidFill>
            <a:srgbClr val="A84A44"/>
          </a:solidFill>
          <a:ln w="12700">
            <a:solidFill>
              <a:srgbClr val="F4F1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0" rIns="9000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17"/>
          <p:cNvSpPr/>
          <p:nvPr/>
        </p:nvSpPr>
        <p:spPr>
          <a:xfrm>
            <a:off x="7525440" y="1554480"/>
            <a:ext cx="1828800" cy="1115280"/>
          </a:xfrm>
          <a:prstGeom prst="line">
            <a:avLst/>
          </a:prstGeom>
          <a:ln w="10160">
            <a:solidFill>
              <a:srgbClr val="64676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18"/>
          <p:cNvSpPr/>
          <p:nvPr/>
        </p:nvSpPr>
        <p:spPr>
          <a:xfrm>
            <a:off x="7635240" y="2011680"/>
            <a:ext cx="804240" cy="456840"/>
          </a:xfrm>
          <a:prstGeom prst="roundRect">
            <a:avLst>
              <a:gd name="adj" fmla="val 10000"/>
            </a:avLst>
          </a:prstGeom>
          <a:solidFill>
            <a:srgbClr val="EFE3C9"/>
          </a:solidFill>
          <a:ln w="10160">
            <a:solidFill>
              <a:srgbClr val="D8D3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9"/>
          <p:cNvSpPr/>
          <p:nvPr/>
        </p:nvSpPr>
        <p:spPr>
          <a:xfrm>
            <a:off x="7745040" y="2103120"/>
            <a:ext cx="585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sensor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20"/>
          <p:cNvSpPr/>
          <p:nvPr/>
        </p:nvSpPr>
        <p:spPr>
          <a:xfrm>
            <a:off x="7749720" y="2565000"/>
            <a:ext cx="63720" cy="63720"/>
          </a:xfrm>
          <a:prstGeom prst="ellipse">
            <a:avLst/>
          </a:prstGeom>
          <a:solidFill>
            <a:srgbClr val="C18A3B"/>
          </a:solidFill>
          <a:ln w="12700">
            <a:solidFill>
              <a:srgbClr val="F4F1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0" rIns="9000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21"/>
          <p:cNvSpPr/>
          <p:nvPr/>
        </p:nvSpPr>
        <p:spPr>
          <a:xfrm>
            <a:off x="7895880" y="2565000"/>
            <a:ext cx="63720" cy="63720"/>
          </a:xfrm>
          <a:prstGeom prst="ellipse">
            <a:avLst/>
          </a:prstGeom>
          <a:solidFill>
            <a:srgbClr val="456A82"/>
          </a:solidFill>
          <a:ln w="12700">
            <a:solidFill>
              <a:srgbClr val="F4F1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0" rIns="9000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22"/>
          <p:cNvSpPr/>
          <p:nvPr/>
        </p:nvSpPr>
        <p:spPr>
          <a:xfrm>
            <a:off x="8042040" y="2565000"/>
            <a:ext cx="63720" cy="63720"/>
          </a:xfrm>
          <a:prstGeom prst="ellipse">
            <a:avLst/>
          </a:prstGeom>
          <a:solidFill>
            <a:srgbClr val="A84A44"/>
          </a:solidFill>
          <a:ln w="12700">
            <a:solidFill>
              <a:srgbClr val="F4F1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0" rIns="9000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23"/>
          <p:cNvSpPr/>
          <p:nvPr/>
        </p:nvSpPr>
        <p:spPr>
          <a:xfrm>
            <a:off x="8188560" y="2565000"/>
            <a:ext cx="63720" cy="63720"/>
          </a:xfrm>
          <a:prstGeom prst="ellipse">
            <a:avLst/>
          </a:prstGeom>
          <a:solidFill>
            <a:srgbClr val="176B68"/>
          </a:solidFill>
          <a:ln w="12700">
            <a:solidFill>
              <a:srgbClr val="F4F1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0" rIns="9000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24"/>
          <p:cNvSpPr/>
          <p:nvPr/>
        </p:nvSpPr>
        <p:spPr>
          <a:xfrm>
            <a:off x="8439840" y="2240280"/>
            <a:ext cx="914400" cy="429480"/>
          </a:xfrm>
          <a:prstGeom prst="line">
            <a:avLst/>
          </a:prstGeom>
          <a:ln w="10160">
            <a:solidFill>
              <a:srgbClr val="64676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25"/>
          <p:cNvSpPr/>
          <p:nvPr/>
        </p:nvSpPr>
        <p:spPr>
          <a:xfrm>
            <a:off x="6812280" y="2788920"/>
            <a:ext cx="804240" cy="456840"/>
          </a:xfrm>
          <a:prstGeom prst="roundRect">
            <a:avLst>
              <a:gd name="adj" fmla="val 10000"/>
            </a:avLst>
          </a:prstGeom>
          <a:solidFill>
            <a:srgbClr val="E1E8DF"/>
          </a:solidFill>
          <a:ln w="10160">
            <a:solidFill>
              <a:srgbClr val="D8D3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26"/>
          <p:cNvSpPr/>
          <p:nvPr/>
        </p:nvSpPr>
        <p:spPr>
          <a:xfrm>
            <a:off x="6922080" y="2880360"/>
            <a:ext cx="585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gateway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27"/>
          <p:cNvSpPr/>
          <p:nvPr/>
        </p:nvSpPr>
        <p:spPr>
          <a:xfrm>
            <a:off x="6926760" y="3342240"/>
            <a:ext cx="63720" cy="63720"/>
          </a:xfrm>
          <a:prstGeom prst="ellipse">
            <a:avLst/>
          </a:prstGeom>
          <a:solidFill>
            <a:srgbClr val="456A82"/>
          </a:solidFill>
          <a:ln w="12700">
            <a:solidFill>
              <a:srgbClr val="F4F1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0" rIns="9000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28"/>
          <p:cNvSpPr/>
          <p:nvPr/>
        </p:nvSpPr>
        <p:spPr>
          <a:xfrm>
            <a:off x="7072920" y="3342240"/>
            <a:ext cx="63720" cy="63720"/>
          </a:xfrm>
          <a:prstGeom prst="ellipse">
            <a:avLst/>
          </a:prstGeom>
          <a:solidFill>
            <a:srgbClr val="A84A44"/>
          </a:solidFill>
          <a:ln w="12700">
            <a:solidFill>
              <a:srgbClr val="F4F1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0" rIns="9000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29"/>
          <p:cNvSpPr/>
          <p:nvPr/>
        </p:nvSpPr>
        <p:spPr>
          <a:xfrm>
            <a:off x="7219080" y="3342240"/>
            <a:ext cx="63720" cy="63720"/>
          </a:xfrm>
          <a:prstGeom prst="ellipse">
            <a:avLst/>
          </a:prstGeom>
          <a:solidFill>
            <a:srgbClr val="176B68"/>
          </a:solidFill>
          <a:ln w="12700">
            <a:solidFill>
              <a:srgbClr val="F4F1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0" rIns="9000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30"/>
          <p:cNvSpPr/>
          <p:nvPr/>
        </p:nvSpPr>
        <p:spPr>
          <a:xfrm>
            <a:off x="7365600" y="3342240"/>
            <a:ext cx="63720" cy="63720"/>
          </a:xfrm>
          <a:prstGeom prst="ellipse">
            <a:avLst/>
          </a:prstGeom>
          <a:solidFill>
            <a:srgbClr val="C18A3B"/>
          </a:solidFill>
          <a:ln w="12700">
            <a:solidFill>
              <a:srgbClr val="F4F1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0" rIns="9000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31"/>
          <p:cNvSpPr/>
          <p:nvPr/>
        </p:nvSpPr>
        <p:spPr>
          <a:xfrm flipV="1">
            <a:off x="7616880" y="2669760"/>
            <a:ext cx="1737360" cy="347760"/>
          </a:xfrm>
          <a:prstGeom prst="line">
            <a:avLst/>
          </a:prstGeom>
          <a:ln w="10160">
            <a:solidFill>
              <a:srgbClr val="64676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32"/>
          <p:cNvSpPr/>
          <p:nvPr/>
        </p:nvSpPr>
        <p:spPr>
          <a:xfrm>
            <a:off x="7818120" y="3703320"/>
            <a:ext cx="804240" cy="456840"/>
          </a:xfrm>
          <a:prstGeom prst="roundRect">
            <a:avLst>
              <a:gd name="adj" fmla="val 10000"/>
            </a:avLst>
          </a:prstGeom>
          <a:solidFill>
            <a:srgbClr val="EBD5D2"/>
          </a:solidFill>
          <a:ln w="10160">
            <a:solidFill>
              <a:srgbClr val="A84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33"/>
          <p:cNvSpPr/>
          <p:nvPr/>
        </p:nvSpPr>
        <p:spPr>
          <a:xfrm>
            <a:off x="7927920" y="3794760"/>
            <a:ext cx="585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plug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34"/>
          <p:cNvSpPr/>
          <p:nvPr/>
        </p:nvSpPr>
        <p:spPr>
          <a:xfrm>
            <a:off x="7932600" y="4256640"/>
            <a:ext cx="63720" cy="63720"/>
          </a:xfrm>
          <a:prstGeom prst="ellipse">
            <a:avLst/>
          </a:prstGeom>
          <a:solidFill>
            <a:srgbClr val="A84A44"/>
          </a:solidFill>
          <a:ln w="12700">
            <a:solidFill>
              <a:srgbClr val="F4F1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0" rIns="9000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35"/>
          <p:cNvSpPr/>
          <p:nvPr/>
        </p:nvSpPr>
        <p:spPr>
          <a:xfrm>
            <a:off x="8078760" y="4256640"/>
            <a:ext cx="63720" cy="63720"/>
          </a:xfrm>
          <a:prstGeom prst="ellipse">
            <a:avLst/>
          </a:prstGeom>
          <a:solidFill>
            <a:srgbClr val="176B68"/>
          </a:solidFill>
          <a:ln w="12700">
            <a:solidFill>
              <a:srgbClr val="F4F1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0" rIns="9000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36"/>
          <p:cNvSpPr/>
          <p:nvPr/>
        </p:nvSpPr>
        <p:spPr>
          <a:xfrm>
            <a:off x="8224920" y="4256640"/>
            <a:ext cx="63720" cy="63720"/>
          </a:xfrm>
          <a:prstGeom prst="ellipse">
            <a:avLst/>
          </a:prstGeom>
          <a:solidFill>
            <a:srgbClr val="C18A3B"/>
          </a:solidFill>
          <a:ln w="12700">
            <a:solidFill>
              <a:srgbClr val="F4F1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0" rIns="9000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37"/>
          <p:cNvSpPr/>
          <p:nvPr/>
        </p:nvSpPr>
        <p:spPr>
          <a:xfrm>
            <a:off x="8371440" y="4256640"/>
            <a:ext cx="63720" cy="63720"/>
          </a:xfrm>
          <a:prstGeom prst="ellipse">
            <a:avLst/>
          </a:prstGeom>
          <a:solidFill>
            <a:srgbClr val="456A82"/>
          </a:solidFill>
          <a:ln w="12700">
            <a:solidFill>
              <a:srgbClr val="F4F1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0" rIns="9000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38"/>
          <p:cNvSpPr/>
          <p:nvPr/>
        </p:nvSpPr>
        <p:spPr>
          <a:xfrm flipV="1">
            <a:off x="8622720" y="2669760"/>
            <a:ext cx="731520" cy="1262160"/>
          </a:xfrm>
          <a:prstGeom prst="line">
            <a:avLst/>
          </a:prstGeom>
          <a:ln w="10160">
            <a:solidFill>
              <a:srgbClr val="64676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39"/>
          <p:cNvSpPr/>
          <p:nvPr/>
        </p:nvSpPr>
        <p:spPr>
          <a:xfrm>
            <a:off x="9372600" y="2212920"/>
            <a:ext cx="1023840" cy="895680"/>
          </a:xfrm>
          <a:prstGeom prst="roundRect">
            <a:avLst>
              <a:gd name="adj" fmla="val 5102"/>
            </a:avLst>
          </a:prstGeom>
          <a:solidFill>
            <a:srgbClr val="161A1D"/>
          </a:solidFill>
          <a:ln w="10160">
            <a:solidFill>
              <a:srgbClr val="161A1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40"/>
          <p:cNvSpPr/>
          <p:nvPr/>
        </p:nvSpPr>
        <p:spPr>
          <a:xfrm>
            <a:off x="9482400" y="2304360"/>
            <a:ext cx="804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federated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server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41"/>
          <p:cNvSpPr/>
          <p:nvPr/>
        </p:nvSpPr>
        <p:spPr>
          <a:xfrm>
            <a:off x="8577000" y="3401640"/>
            <a:ext cx="2422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64676B"/>
                </a:solidFill>
                <a:effectLst/>
                <a:uFillTx/>
                <a:latin typeface="Aptos"/>
                <a:ea typeface="Aptos"/>
              </a:rPr>
              <a:t>model updates, not raw traffic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42"/>
          <p:cNvSpPr/>
          <p:nvPr/>
        </p:nvSpPr>
        <p:spPr>
          <a:xfrm>
            <a:off x="10405800" y="2669760"/>
            <a:ext cx="612720" cy="360"/>
          </a:xfrm>
          <a:prstGeom prst="line">
            <a:avLst/>
          </a:prstGeom>
          <a:ln w="15240">
            <a:solidFill>
              <a:srgbClr val="176B6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43"/>
          <p:cNvSpPr/>
          <p:nvPr/>
        </p:nvSpPr>
        <p:spPr>
          <a:xfrm>
            <a:off x="10991160" y="2277000"/>
            <a:ext cx="749520" cy="785880"/>
          </a:xfrm>
          <a:prstGeom prst="roundRect">
            <a:avLst>
              <a:gd name="adj" fmla="val 6098"/>
            </a:avLst>
          </a:prstGeom>
          <a:solidFill>
            <a:srgbClr val="DCE8E5"/>
          </a:solidFill>
          <a:ln w="10160">
            <a:solidFill>
              <a:srgbClr val="176B6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44"/>
          <p:cNvSpPr/>
          <p:nvPr/>
        </p:nvSpPr>
        <p:spPr>
          <a:xfrm>
            <a:off x="11100960" y="2368440"/>
            <a:ext cx="5299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1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global IDS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1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model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4F1EA"/>
          </a:solidFill>
          <a:ln w="12700">
            <a:solidFill>
              <a:srgbClr val="F4F1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1"/>
          <p:cNvSpPr/>
          <p:nvPr/>
        </p:nvSpPr>
        <p:spPr>
          <a:xfrm>
            <a:off x="567000" y="311040"/>
            <a:ext cx="23770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176B68"/>
                </a:solidFill>
                <a:effectLst/>
                <a:uFillTx/>
                <a:latin typeface="Aptos"/>
                <a:ea typeface="Aptos"/>
              </a:rPr>
              <a:t>ACT 1 — THE PROBLEM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2"/>
          <p:cNvSpPr/>
          <p:nvPr/>
        </p:nvSpPr>
        <p:spPr>
          <a:xfrm>
            <a:off x="567000" y="539640"/>
            <a:ext cx="108810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61A1D"/>
                </a:solidFill>
                <a:effectLst/>
                <a:uFillTx/>
                <a:latin typeface="Aptos Display"/>
                <a:ea typeface="Aptos Display"/>
              </a:rPr>
              <a:t>Federated Learning Removes One Risk — Not All of Them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3"/>
          <p:cNvSpPr/>
          <p:nvPr/>
        </p:nvSpPr>
        <p:spPr>
          <a:xfrm>
            <a:off x="502920" y="6492240"/>
            <a:ext cx="11201400" cy="360"/>
          </a:xfrm>
          <a:prstGeom prst="line">
            <a:avLst/>
          </a:prstGeom>
          <a:ln w="7620">
            <a:solidFill>
              <a:srgbClr val="C9C2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4"/>
          <p:cNvSpPr/>
          <p:nvPr/>
        </p:nvSpPr>
        <p:spPr>
          <a:xfrm>
            <a:off x="548640" y="6546960"/>
            <a:ext cx="111096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64676B"/>
                </a:solidFill>
                <a:effectLst/>
                <a:uFillTx/>
                <a:latin typeface="Aptos"/>
                <a:ea typeface="Aptos"/>
              </a:rPr>
              <a:t>Group 06 | Md. Murad Ul Momin • Rima Saha • Sakia Tabassum Anonna • Ashraful Hossain Riyan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5"/>
          <p:cNvSpPr/>
          <p:nvPr/>
        </p:nvSpPr>
        <p:spPr>
          <a:xfrm>
            <a:off x="713160" y="1417320"/>
            <a:ext cx="1919880" cy="50256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0160">
            <a:solidFill>
              <a:srgbClr val="161A1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6"/>
          <p:cNvSpPr/>
          <p:nvPr/>
        </p:nvSpPr>
        <p:spPr>
          <a:xfrm>
            <a:off x="822960" y="1508760"/>
            <a:ext cx="170028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Centralized IDS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7"/>
          <p:cNvSpPr/>
          <p:nvPr/>
        </p:nvSpPr>
        <p:spPr>
          <a:xfrm>
            <a:off x="2669760" y="1663920"/>
            <a:ext cx="713520" cy="360"/>
          </a:xfrm>
          <a:prstGeom prst="line">
            <a:avLst/>
          </a:prstGeom>
          <a:ln w="13970">
            <a:solidFill>
              <a:srgbClr val="64676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8"/>
          <p:cNvSpPr/>
          <p:nvPr/>
        </p:nvSpPr>
        <p:spPr>
          <a:xfrm>
            <a:off x="3420000" y="1307520"/>
            <a:ext cx="1965600" cy="712800"/>
          </a:xfrm>
          <a:prstGeom prst="roundRect">
            <a:avLst>
              <a:gd name="adj" fmla="val 6410"/>
            </a:avLst>
          </a:prstGeom>
          <a:solidFill>
            <a:srgbClr val="EBD5D2"/>
          </a:solidFill>
          <a:ln w="10160">
            <a:solidFill>
              <a:srgbClr val="A84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9"/>
          <p:cNvSpPr/>
          <p:nvPr/>
        </p:nvSpPr>
        <p:spPr>
          <a:xfrm>
            <a:off x="3529440" y="1398960"/>
            <a:ext cx="1746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raw telemetry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transferred centrally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10"/>
          <p:cNvSpPr/>
          <p:nvPr/>
        </p:nvSpPr>
        <p:spPr>
          <a:xfrm>
            <a:off x="5431320" y="1663920"/>
            <a:ext cx="695160" cy="360"/>
          </a:xfrm>
          <a:prstGeom prst="line">
            <a:avLst/>
          </a:prstGeom>
          <a:ln w="13970">
            <a:solidFill>
              <a:srgbClr val="64676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11"/>
          <p:cNvSpPr/>
          <p:nvPr/>
        </p:nvSpPr>
        <p:spPr>
          <a:xfrm>
            <a:off x="6172200" y="1307520"/>
            <a:ext cx="1919880" cy="712800"/>
          </a:xfrm>
          <a:prstGeom prst="roundRect">
            <a:avLst>
              <a:gd name="adj" fmla="val 6410"/>
            </a:avLst>
          </a:prstGeom>
          <a:solidFill>
            <a:srgbClr val="EBD5D2"/>
          </a:solidFill>
          <a:ln w="10160">
            <a:solidFill>
              <a:srgbClr val="A84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2"/>
          <p:cNvSpPr/>
          <p:nvPr/>
        </p:nvSpPr>
        <p:spPr>
          <a:xfrm>
            <a:off x="6282000" y="1398960"/>
            <a:ext cx="1700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privacy +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communication risk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13"/>
          <p:cNvSpPr/>
          <p:nvPr/>
        </p:nvSpPr>
        <p:spPr>
          <a:xfrm>
            <a:off x="713160" y="2971800"/>
            <a:ext cx="1919880" cy="50256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0160">
            <a:solidFill>
              <a:srgbClr val="161A1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14"/>
          <p:cNvSpPr/>
          <p:nvPr/>
        </p:nvSpPr>
        <p:spPr>
          <a:xfrm>
            <a:off x="822960" y="3063240"/>
            <a:ext cx="170028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Federated IDS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15"/>
          <p:cNvSpPr/>
          <p:nvPr/>
        </p:nvSpPr>
        <p:spPr>
          <a:xfrm>
            <a:off x="2669760" y="3218400"/>
            <a:ext cx="713520" cy="360"/>
          </a:xfrm>
          <a:prstGeom prst="line">
            <a:avLst/>
          </a:prstGeom>
          <a:ln w="13970">
            <a:solidFill>
              <a:srgbClr val="64676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16"/>
          <p:cNvSpPr/>
          <p:nvPr/>
        </p:nvSpPr>
        <p:spPr>
          <a:xfrm>
            <a:off x="3420000" y="2971800"/>
            <a:ext cx="1965600" cy="502560"/>
          </a:xfrm>
          <a:prstGeom prst="roundRect">
            <a:avLst>
              <a:gd name="adj" fmla="val 9091"/>
            </a:avLst>
          </a:prstGeom>
          <a:solidFill>
            <a:srgbClr val="DCE8E5"/>
          </a:solidFill>
          <a:ln w="10160">
            <a:solidFill>
              <a:srgbClr val="176B6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17"/>
          <p:cNvSpPr/>
          <p:nvPr/>
        </p:nvSpPr>
        <p:spPr>
          <a:xfrm>
            <a:off x="3529440" y="3063240"/>
            <a:ext cx="174600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data remains local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18"/>
          <p:cNvSpPr/>
          <p:nvPr/>
        </p:nvSpPr>
        <p:spPr>
          <a:xfrm>
            <a:off x="5431320" y="3218400"/>
            <a:ext cx="695160" cy="360"/>
          </a:xfrm>
          <a:prstGeom prst="line">
            <a:avLst/>
          </a:prstGeom>
          <a:ln w="13970">
            <a:solidFill>
              <a:srgbClr val="64676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19"/>
          <p:cNvSpPr/>
          <p:nvPr/>
        </p:nvSpPr>
        <p:spPr>
          <a:xfrm>
            <a:off x="6172200" y="2853000"/>
            <a:ext cx="1919880" cy="712800"/>
          </a:xfrm>
          <a:prstGeom prst="roundRect">
            <a:avLst>
              <a:gd name="adj" fmla="val 6410"/>
            </a:avLst>
          </a:prstGeom>
          <a:solidFill>
            <a:srgbClr val="EFE3C9"/>
          </a:solidFill>
          <a:ln w="10160">
            <a:solidFill>
              <a:srgbClr val="C18A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20"/>
          <p:cNvSpPr/>
          <p:nvPr/>
        </p:nvSpPr>
        <p:spPr>
          <a:xfrm>
            <a:off x="6282000" y="2944440"/>
            <a:ext cx="1700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model updates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are still evidence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21"/>
          <p:cNvSpPr/>
          <p:nvPr/>
        </p:nvSpPr>
        <p:spPr>
          <a:xfrm>
            <a:off x="8549640" y="1408320"/>
            <a:ext cx="7311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A84A44"/>
                </a:solidFill>
                <a:effectLst/>
                <a:uFillTx/>
                <a:latin typeface="Aptos"/>
                <a:ea typeface="Aptos"/>
              </a:rPr>
              <a:t>BUT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22"/>
          <p:cNvSpPr/>
          <p:nvPr/>
        </p:nvSpPr>
        <p:spPr>
          <a:xfrm>
            <a:off x="8503920" y="1856160"/>
            <a:ext cx="2578320" cy="328680"/>
          </a:xfrm>
          <a:prstGeom prst="roundRect">
            <a:avLst>
              <a:gd name="adj" fmla="val 13889"/>
            </a:avLst>
          </a:prstGeom>
          <a:solidFill>
            <a:srgbClr val="F0ECE3"/>
          </a:solidFill>
          <a:ln w="10160">
            <a:solidFill>
              <a:srgbClr val="D8D3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23"/>
          <p:cNvSpPr/>
          <p:nvPr/>
        </p:nvSpPr>
        <p:spPr>
          <a:xfrm>
            <a:off x="8613720" y="1947600"/>
            <a:ext cx="23587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Non-IID clients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24"/>
          <p:cNvSpPr/>
          <p:nvPr/>
        </p:nvSpPr>
        <p:spPr>
          <a:xfrm>
            <a:off x="8503920" y="2377440"/>
            <a:ext cx="2578320" cy="328680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0160">
            <a:solidFill>
              <a:srgbClr val="D8D3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25"/>
          <p:cNvSpPr/>
          <p:nvPr/>
        </p:nvSpPr>
        <p:spPr>
          <a:xfrm>
            <a:off x="8613720" y="2468880"/>
            <a:ext cx="23587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A84A44"/>
                </a:solidFill>
                <a:effectLst/>
                <a:uFillTx/>
                <a:latin typeface="Aptos"/>
                <a:ea typeface="Aptos"/>
              </a:rPr>
              <a:t>Poisoning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26"/>
          <p:cNvSpPr/>
          <p:nvPr/>
        </p:nvSpPr>
        <p:spPr>
          <a:xfrm>
            <a:off x="8503920" y="2898720"/>
            <a:ext cx="2578320" cy="328680"/>
          </a:xfrm>
          <a:prstGeom prst="roundRect">
            <a:avLst>
              <a:gd name="adj" fmla="val 13889"/>
            </a:avLst>
          </a:prstGeom>
          <a:solidFill>
            <a:srgbClr val="F0ECE3"/>
          </a:solidFill>
          <a:ln w="10160">
            <a:solidFill>
              <a:srgbClr val="D8D3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27"/>
          <p:cNvSpPr/>
          <p:nvPr/>
        </p:nvSpPr>
        <p:spPr>
          <a:xfrm>
            <a:off x="8613720" y="2990160"/>
            <a:ext cx="23587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Free riding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28"/>
          <p:cNvSpPr/>
          <p:nvPr/>
        </p:nvSpPr>
        <p:spPr>
          <a:xfrm>
            <a:off x="8503920" y="3420000"/>
            <a:ext cx="2578320" cy="328680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0160">
            <a:solidFill>
              <a:srgbClr val="D8D3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29"/>
          <p:cNvSpPr/>
          <p:nvPr/>
        </p:nvSpPr>
        <p:spPr>
          <a:xfrm>
            <a:off x="8613720" y="3511440"/>
            <a:ext cx="23587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Rare attack classes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30"/>
          <p:cNvSpPr/>
          <p:nvPr/>
        </p:nvSpPr>
        <p:spPr>
          <a:xfrm>
            <a:off x="8503920" y="3940920"/>
            <a:ext cx="2578320" cy="328680"/>
          </a:xfrm>
          <a:prstGeom prst="roundRect">
            <a:avLst>
              <a:gd name="adj" fmla="val 13889"/>
            </a:avLst>
          </a:prstGeom>
          <a:solidFill>
            <a:srgbClr val="F0ECE3"/>
          </a:solidFill>
          <a:ln w="10160">
            <a:solidFill>
              <a:srgbClr val="D8D3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31"/>
          <p:cNvSpPr/>
          <p:nvPr/>
        </p:nvSpPr>
        <p:spPr>
          <a:xfrm>
            <a:off x="8613720" y="4032360"/>
            <a:ext cx="23587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Update leakage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32"/>
          <p:cNvSpPr/>
          <p:nvPr/>
        </p:nvSpPr>
        <p:spPr>
          <a:xfrm>
            <a:off x="951120" y="5193720"/>
            <a:ext cx="9966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176B68"/>
                </a:solidFill>
                <a:effectLst/>
                <a:uFillTx/>
                <a:latin typeface="Aptos"/>
                <a:ea typeface="Aptos"/>
              </a:rPr>
              <a:t>The server receives model updates — but still has to decide which knowledge deserves trust.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4F1EA"/>
          </a:solidFill>
          <a:ln w="12700">
            <a:solidFill>
              <a:srgbClr val="F4F1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"/>
          <p:cNvSpPr/>
          <p:nvPr/>
        </p:nvSpPr>
        <p:spPr>
          <a:xfrm>
            <a:off x="567000" y="311040"/>
            <a:ext cx="23770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176B68"/>
                </a:solidFill>
                <a:effectLst/>
                <a:uFillTx/>
                <a:latin typeface="Aptos"/>
                <a:ea typeface="Aptos"/>
              </a:rPr>
              <a:t>CENTRAL TENSION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2"/>
          <p:cNvSpPr/>
          <p:nvPr/>
        </p:nvSpPr>
        <p:spPr>
          <a:xfrm>
            <a:off x="567000" y="539640"/>
            <a:ext cx="108810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61A1D"/>
                </a:solidFill>
                <a:effectLst/>
                <a:uFillTx/>
                <a:latin typeface="Aptos Display"/>
                <a:ea typeface="Aptos Display"/>
              </a:rPr>
              <a:t>Unusual Does Not Necessarily Mean Malicious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3"/>
          <p:cNvSpPr/>
          <p:nvPr/>
        </p:nvSpPr>
        <p:spPr>
          <a:xfrm>
            <a:off x="502920" y="6492240"/>
            <a:ext cx="11201400" cy="360"/>
          </a:xfrm>
          <a:prstGeom prst="line">
            <a:avLst/>
          </a:prstGeom>
          <a:ln w="7620">
            <a:solidFill>
              <a:srgbClr val="C9C2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4"/>
          <p:cNvSpPr/>
          <p:nvPr/>
        </p:nvSpPr>
        <p:spPr>
          <a:xfrm>
            <a:off x="548640" y="6546960"/>
            <a:ext cx="111096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64676B"/>
                </a:solidFill>
                <a:effectLst/>
                <a:uFillTx/>
                <a:latin typeface="Aptos"/>
                <a:ea typeface="Aptos"/>
              </a:rPr>
              <a:t>Group 06 | Md. Murad Ul Momin • Rima Saha • Sakia Tabassum Anonna • Ashraful Hossain Riyan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5"/>
          <p:cNvSpPr/>
          <p:nvPr/>
        </p:nvSpPr>
        <p:spPr>
          <a:xfrm>
            <a:off x="1051560" y="1389600"/>
            <a:ext cx="7315200" cy="360"/>
          </a:xfrm>
          <a:prstGeom prst="line">
            <a:avLst/>
          </a:prstGeom>
          <a:ln w="11430">
            <a:solidFill>
              <a:srgbClr val="161A1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6"/>
          <p:cNvSpPr/>
          <p:nvPr/>
        </p:nvSpPr>
        <p:spPr>
          <a:xfrm>
            <a:off x="1051560" y="5367240"/>
            <a:ext cx="7315200" cy="360"/>
          </a:xfrm>
          <a:prstGeom prst="line">
            <a:avLst/>
          </a:prstGeom>
          <a:ln w="11430">
            <a:solidFill>
              <a:srgbClr val="161A1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7"/>
          <p:cNvSpPr/>
          <p:nvPr/>
        </p:nvSpPr>
        <p:spPr>
          <a:xfrm>
            <a:off x="1051560" y="1389600"/>
            <a:ext cx="360" cy="3977640"/>
          </a:xfrm>
          <a:prstGeom prst="line">
            <a:avLst/>
          </a:prstGeom>
          <a:ln w="11430">
            <a:solidFill>
              <a:srgbClr val="161A1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8"/>
          <p:cNvSpPr/>
          <p:nvPr/>
        </p:nvSpPr>
        <p:spPr>
          <a:xfrm>
            <a:off x="8366760" y="1389600"/>
            <a:ext cx="360" cy="3977640"/>
          </a:xfrm>
          <a:prstGeom prst="line">
            <a:avLst/>
          </a:prstGeom>
          <a:ln w="11430">
            <a:solidFill>
              <a:srgbClr val="161A1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9"/>
          <p:cNvSpPr/>
          <p:nvPr/>
        </p:nvSpPr>
        <p:spPr>
          <a:xfrm>
            <a:off x="4709160" y="1389600"/>
            <a:ext cx="360" cy="3977640"/>
          </a:xfrm>
          <a:prstGeom prst="line">
            <a:avLst/>
          </a:prstGeom>
          <a:ln w="12700">
            <a:solidFill>
              <a:srgbClr val="D8D3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10"/>
          <p:cNvSpPr/>
          <p:nvPr/>
        </p:nvSpPr>
        <p:spPr>
          <a:xfrm>
            <a:off x="1051560" y="3378600"/>
            <a:ext cx="7315200" cy="360"/>
          </a:xfrm>
          <a:prstGeom prst="line">
            <a:avLst/>
          </a:prstGeom>
          <a:ln w="12700">
            <a:solidFill>
              <a:srgbClr val="D8D3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11"/>
          <p:cNvSpPr/>
          <p:nvPr/>
        </p:nvSpPr>
        <p:spPr>
          <a:xfrm>
            <a:off x="1143000" y="5550480"/>
            <a:ext cx="2102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64676B"/>
                </a:solidFill>
                <a:effectLst/>
                <a:uFillTx/>
                <a:latin typeface="Aptos"/>
                <a:ea typeface="Aptos"/>
              </a:rPr>
              <a:t>Update appears ordinary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12"/>
          <p:cNvSpPr/>
          <p:nvPr/>
        </p:nvSpPr>
        <p:spPr>
          <a:xfrm>
            <a:off x="6080760" y="5550480"/>
            <a:ext cx="21942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64676B"/>
                </a:solidFill>
                <a:effectLst/>
                <a:uFillTx/>
                <a:latin typeface="Aptos"/>
                <a:ea typeface="Aptos"/>
              </a:rPr>
              <a:t>Update appears unusual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13"/>
          <p:cNvSpPr/>
          <p:nvPr/>
        </p:nvSpPr>
        <p:spPr>
          <a:xfrm>
            <a:off x="457200" y="1572840"/>
            <a:ext cx="4111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64676B"/>
                </a:solidFill>
                <a:effectLst/>
                <a:uFillTx/>
                <a:latin typeface="Aptos"/>
                <a:ea typeface="Aptos"/>
              </a:rPr>
              <a:t>High class utility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14"/>
          <p:cNvSpPr/>
          <p:nvPr/>
        </p:nvSpPr>
        <p:spPr>
          <a:xfrm>
            <a:off x="457200" y="4407480"/>
            <a:ext cx="4111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64676B"/>
                </a:solidFill>
                <a:effectLst/>
                <a:uFillTx/>
                <a:latin typeface="Aptos"/>
                <a:ea typeface="Aptos"/>
              </a:rPr>
              <a:t>Low class utility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15"/>
          <p:cNvSpPr/>
          <p:nvPr/>
        </p:nvSpPr>
        <p:spPr>
          <a:xfrm>
            <a:off x="2322720" y="4581000"/>
            <a:ext cx="200880" cy="200880"/>
          </a:xfrm>
          <a:prstGeom prst="ellipse">
            <a:avLst/>
          </a:prstGeom>
          <a:solidFill>
            <a:srgbClr val="647D68"/>
          </a:solidFill>
          <a:ln w="12700">
            <a:solidFill>
              <a:srgbClr val="F4F1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16"/>
          <p:cNvSpPr/>
          <p:nvPr/>
        </p:nvSpPr>
        <p:spPr>
          <a:xfrm>
            <a:off x="2679120" y="4425840"/>
            <a:ext cx="1279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benign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majority client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17"/>
          <p:cNvSpPr/>
          <p:nvPr/>
        </p:nvSpPr>
        <p:spPr>
          <a:xfrm>
            <a:off x="6830640" y="2048400"/>
            <a:ext cx="237240" cy="237240"/>
          </a:xfrm>
          <a:prstGeom prst="ellipse">
            <a:avLst/>
          </a:prstGeom>
          <a:solidFill>
            <a:srgbClr val="C18A3B"/>
          </a:solidFill>
          <a:ln w="12700">
            <a:solidFill>
              <a:srgbClr val="F4F1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18"/>
          <p:cNvSpPr/>
          <p:nvPr/>
        </p:nvSpPr>
        <p:spPr>
          <a:xfrm>
            <a:off x="7178040" y="1892880"/>
            <a:ext cx="1416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C18A3B"/>
                </a:solidFill>
                <a:effectLst/>
                <a:uFillTx/>
                <a:latin typeface="Aptos"/>
                <a:ea typeface="Aptos"/>
              </a:rPr>
              <a:t>rare-class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C18A3B"/>
                </a:solidFill>
                <a:effectLst/>
                <a:uFillTx/>
                <a:latin typeface="Aptos"/>
                <a:ea typeface="Aptos"/>
              </a:rPr>
              <a:t>benign client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19"/>
          <p:cNvSpPr/>
          <p:nvPr/>
        </p:nvSpPr>
        <p:spPr>
          <a:xfrm>
            <a:off x="2944440" y="2231280"/>
            <a:ext cx="237240" cy="237240"/>
          </a:xfrm>
          <a:prstGeom prst="ellipse">
            <a:avLst/>
          </a:prstGeom>
          <a:solidFill>
            <a:srgbClr val="A84A44"/>
          </a:solidFill>
          <a:ln w="12700">
            <a:solidFill>
              <a:srgbClr val="F4F1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20"/>
          <p:cNvSpPr/>
          <p:nvPr/>
        </p:nvSpPr>
        <p:spPr>
          <a:xfrm>
            <a:off x="3319200" y="2084760"/>
            <a:ext cx="1508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A84A44"/>
                </a:solidFill>
                <a:effectLst/>
                <a:uFillTx/>
                <a:latin typeface="Aptos"/>
                <a:ea typeface="Aptos"/>
              </a:rPr>
              <a:t>stealth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A84A44"/>
                </a:solidFill>
                <a:effectLst/>
                <a:uFillTx/>
                <a:latin typeface="Aptos"/>
                <a:ea typeface="Aptos"/>
              </a:rPr>
              <a:t>malicious client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21"/>
          <p:cNvSpPr/>
          <p:nvPr/>
        </p:nvSpPr>
        <p:spPr>
          <a:xfrm>
            <a:off x="6858000" y="4572000"/>
            <a:ext cx="219240" cy="219240"/>
          </a:xfrm>
          <a:prstGeom prst="ellipse">
            <a:avLst/>
          </a:prstGeom>
          <a:solidFill>
            <a:srgbClr val="A84A44"/>
          </a:solidFill>
          <a:ln w="12700">
            <a:solidFill>
              <a:srgbClr val="F4F1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22"/>
          <p:cNvSpPr/>
          <p:nvPr/>
        </p:nvSpPr>
        <p:spPr>
          <a:xfrm>
            <a:off x="7086600" y="4343400"/>
            <a:ext cx="1508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A84A44"/>
                </a:solidFill>
                <a:effectLst/>
                <a:uFillTx/>
                <a:latin typeface="Aptos"/>
                <a:ea typeface="Aptos"/>
              </a:rPr>
              <a:t>obvious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A84A44"/>
                </a:solidFill>
                <a:effectLst/>
                <a:uFillTx/>
                <a:latin typeface="Aptos"/>
                <a:ea typeface="Aptos"/>
              </a:rPr>
              <a:t>poisoning client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23"/>
          <p:cNvSpPr/>
          <p:nvPr/>
        </p:nvSpPr>
        <p:spPr>
          <a:xfrm>
            <a:off x="9052560" y="1554480"/>
            <a:ext cx="2148480" cy="319680"/>
          </a:xfrm>
          <a:prstGeom prst="roundRect">
            <a:avLst>
              <a:gd name="adj" fmla="val 14286"/>
            </a:avLst>
          </a:prstGeom>
          <a:solidFill>
            <a:srgbClr val="161A1D"/>
          </a:solidFill>
          <a:ln w="10160">
            <a:solidFill>
              <a:srgbClr val="161A1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24"/>
          <p:cNvSpPr/>
          <p:nvPr/>
        </p:nvSpPr>
        <p:spPr>
          <a:xfrm>
            <a:off x="9162360" y="1645920"/>
            <a:ext cx="192888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Difficult cases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25"/>
          <p:cNvSpPr/>
          <p:nvPr/>
        </p:nvSpPr>
        <p:spPr>
          <a:xfrm>
            <a:off x="9098280" y="2057400"/>
            <a:ext cx="20113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C18A3B"/>
                </a:solidFill>
                <a:effectLst/>
                <a:uFillTx/>
                <a:latin typeface="Aptos"/>
                <a:ea typeface="Aptos"/>
              </a:rPr>
              <a:t>rare-class benign client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26"/>
          <p:cNvSpPr/>
          <p:nvPr/>
        </p:nvSpPr>
        <p:spPr>
          <a:xfrm>
            <a:off x="9098280" y="2304360"/>
            <a:ext cx="20113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4676B"/>
                </a:solidFill>
                <a:effectLst/>
                <a:uFillTx/>
                <a:latin typeface="Aptos"/>
                <a:ea typeface="Aptos"/>
              </a:rPr>
              <a:t>unusual but valuable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27"/>
          <p:cNvSpPr/>
          <p:nvPr/>
        </p:nvSpPr>
        <p:spPr>
          <a:xfrm>
            <a:off x="9098280" y="2889360"/>
            <a:ext cx="20113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A84A44"/>
                </a:solidFill>
                <a:effectLst/>
                <a:uFillTx/>
                <a:latin typeface="Aptos"/>
                <a:ea typeface="Aptos"/>
              </a:rPr>
              <a:t>stealth malicious client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28"/>
          <p:cNvSpPr/>
          <p:nvPr/>
        </p:nvSpPr>
        <p:spPr>
          <a:xfrm>
            <a:off x="9098280" y="3136320"/>
            <a:ext cx="21027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4676B"/>
                </a:solidFill>
                <a:effectLst/>
                <a:uFillTx/>
                <a:latin typeface="Aptos"/>
                <a:ea typeface="Aptos"/>
              </a:rPr>
              <a:t>ordinary-looking but harmful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29"/>
          <p:cNvSpPr/>
          <p:nvPr/>
        </p:nvSpPr>
        <p:spPr>
          <a:xfrm>
            <a:off x="9098280" y="4206240"/>
            <a:ext cx="22856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76B68"/>
                </a:solidFill>
                <a:effectLst/>
                <a:uFillTx/>
                <a:latin typeface="Aptos"/>
                <a:ea typeface="Aptos"/>
              </a:rPr>
              <a:t>Distance alone cannot tell the whole story.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4F1EA"/>
          </a:solidFill>
          <a:ln w="12700">
            <a:solidFill>
              <a:srgbClr val="F4F1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1"/>
          <p:cNvSpPr/>
          <p:nvPr/>
        </p:nvSpPr>
        <p:spPr>
          <a:xfrm>
            <a:off x="567000" y="311040"/>
            <a:ext cx="23770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176B68"/>
                </a:solidFill>
                <a:effectLst/>
                <a:uFillTx/>
                <a:latin typeface="Aptos"/>
                <a:ea typeface="Aptos"/>
              </a:rPr>
              <a:t>CSE499A LESSON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2"/>
          <p:cNvSpPr/>
          <p:nvPr/>
        </p:nvSpPr>
        <p:spPr>
          <a:xfrm>
            <a:off x="567000" y="539640"/>
            <a:ext cx="108810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61A1D"/>
                </a:solidFill>
                <a:effectLst/>
                <a:uFillTx/>
                <a:latin typeface="Aptos Display"/>
                <a:ea typeface="Aptos Display"/>
              </a:rPr>
              <a:t>Four Baselines. Four Different Views of Client Trust.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3"/>
          <p:cNvSpPr/>
          <p:nvPr/>
        </p:nvSpPr>
        <p:spPr>
          <a:xfrm>
            <a:off x="502920" y="6492240"/>
            <a:ext cx="11201400" cy="360"/>
          </a:xfrm>
          <a:prstGeom prst="line">
            <a:avLst/>
          </a:prstGeom>
          <a:ln w="7620">
            <a:solidFill>
              <a:srgbClr val="C9C2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4"/>
          <p:cNvSpPr/>
          <p:nvPr/>
        </p:nvSpPr>
        <p:spPr>
          <a:xfrm>
            <a:off x="548640" y="6546960"/>
            <a:ext cx="111096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64676B"/>
                </a:solidFill>
                <a:effectLst/>
                <a:uFillTx/>
                <a:latin typeface="Aptos"/>
                <a:ea typeface="Aptos"/>
              </a:rPr>
              <a:t>Group 06 | Md. Murad Ul Momin • Rima Saha • Sakia Tabassum Anonna • Ashraful Hossain Riyan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5"/>
          <p:cNvSpPr/>
          <p:nvPr/>
        </p:nvSpPr>
        <p:spPr>
          <a:xfrm>
            <a:off x="777240" y="1600200"/>
            <a:ext cx="548280" cy="548280"/>
          </a:xfrm>
          <a:prstGeom prst="ellipse">
            <a:avLst/>
          </a:prstGeom>
          <a:solidFill>
            <a:srgbClr val="456A82"/>
          </a:solidFill>
          <a:ln w="11430">
            <a:solidFill>
              <a:srgbClr val="456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6"/>
          <p:cNvSpPr/>
          <p:nvPr/>
        </p:nvSpPr>
        <p:spPr>
          <a:xfrm>
            <a:off x="813960" y="1673280"/>
            <a:ext cx="47520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7"/>
          <p:cNvSpPr/>
          <p:nvPr/>
        </p:nvSpPr>
        <p:spPr>
          <a:xfrm>
            <a:off x="777240" y="2331720"/>
            <a:ext cx="1874160" cy="456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456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8"/>
          <p:cNvSpPr/>
          <p:nvPr/>
        </p:nvSpPr>
        <p:spPr>
          <a:xfrm>
            <a:off x="887040" y="2423160"/>
            <a:ext cx="1654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SecureDyn-FL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9"/>
          <p:cNvSpPr/>
          <p:nvPr/>
        </p:nvSpPr>
        <p:spPr>
          <a:xfrm>
            <a:off x="777240" y="2944440"/>
            <a:ext cx="10054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64676B"/>
                </a:solidFill>
                <a:effectLst/>
                <a:uFillTx/>
                <a:latin typeface="Aptos"/>
                <a:ea typeface="Aptos"/>
              </a:rPr>
              <a:t>Evidence: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0"/>
          <p:cNvSpPr/>
          <p:nvPr/>
        </p:nvSpPr>
        <p:spPr>
          <a:xfrm>
            <a:off x="777240" y="3200400"/>
            <a:ext cx="187416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456A82"/>
                </a:solidFill>
                <a:effectLst/>
                <a:uFillTx/>
                <a:latin typeface="Aptos"/>
                <a:ea typeface="Aptos"/>
              </a:rPr>
              <a:t>Temporal / geometric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456A82"/>
                </a:solidFill>
                <a:effectLst/>
                <a:uFillTx/>
                <a:latin typeface="Aptos"/>
                <a:ea typeface="Aptos"/>
              </a:rPr>
              <a:t>update behavior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11"/>
          <p:cNvSpPr/>
          <p:nvPr/>
        </p:nvSpPr>
        <p:spPr>
          <a:xfrm>
            <a:off x="2715480" y="2569320"/>
            <a:ext cx="548640" cy="360"/>
          </a:xfrm>
          <a:prstGeom prst="line">
            <a:avLst/>
          </a:prstGeom>
          <a:ln w="10160">
            <a:solidFill>
              <a:srgbClr val="64676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12"/>
          <p:cNvSpPr/>
          <p:nvPr/>
        </p:nvSpPr>
        <p:spPr>
          <a:xfrm>
            <a:off x="3429000" y="1600200"/>
            <a:ext cx="548280" cy="548280"/>
          </a:xfrm>
          <a:prstGeom prst="ellipse">
            <a:avLst/>
          </a:prstGeom>
          <a:solidFill>
            <a:srgbClr val="C18A3B"/>
          </a:solidFill>
          <a:ln w="11430">
            <a:solidFill>
              <a:srgbClr val="C18A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13"/>
          <p:cNvSpPr/>
          <p:nvPr/>
        </p:nvSpPr>
        <p:spPr>
          <a:xfrm>
            <a:off x="3465720" y="1673280"/>
            <a:ext cx="47520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14"/>
          <p:cNvSpPr/>
          <p:nvPr/>
        </p:nvSpPr>
        <p:spPr>
          <a:xfrm>
            <a:off x="3429000" y="2331720"/>
            <a:ext cx="1874160" cy="456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C18A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15"/>
          <p:cNvSpPr/>
          <p:nvPr/>
        </p:nvSpPr>
        <p:spPr>
          <a:xfrm>
            <a:off x="3538800" y="2423160"/>
            <a:ext cx="1654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FedMADE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16"/>
          <p:cNvSpPr/>
          <p:nvPr/>
        </p:nvSpPr>
        <p:spPr>
          <a:xfrm>
            <a:off x="3429000" y="2944440"/>
            <a:ext cx="10054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64676B"/>
                </a:solidFill>
                <a:effectLst/>
                <a:uFillTx/>
                <a:latin typeface="Aptos"/>
                <a:ea typeface="Aptos"/>
              </a:rPr>
              <a:t>Evidence: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17"/>
          <p:cNvSpPr/>
          <p:nvPr/>
        </p:nvSpPr>
        <p:spPr>
          <a:xfrm>
            <a:off x="3429000" y="3200400"/>
            <a:ext cx="187416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C18A3B"/>
                </a:solidFill>
                <a:effectLst/>
                <a:uFillTx/>
                <a:latin typeface="Aptos"/>
                <a:ea typeface="Aptos"/>
              </a:rPr>
              <a:t>Class-level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C18A3B"/>
                </a:solidFill>
                <a:effectLst/>
                <a:uFillTx/>
                <a:latin typeface="Aptos"/>
                <a:ea typeface="Aptos"/>
              </a:rPr>
              <a:t>contribution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18"/>
          <p:cNvSpPr/>
          <p:nvPr/>
        </p:nvSpPr>
        <p:spPr>
          <a:xfrm>
            <a:off x="5367240" y="2569320"/>
            <a:ext cx="548640" cy="360"/>
          </a:xfrm>
          <a:prstGeom prst="line">
            <a:avLst/>
          </a:prstGeom>
          <a:ln w="10160">
            <a:solidFill>
              <a:srgbClr val="64676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19"/>
          <p:cNvSpPr/>
          <p:nvPr/>
        </p:nvSpPr>
        <p:spPr>
          <a:xfrm>
            <a:off x="6080760" y="1600200"/>
            <a:ext cx="548280" cy="548280"/>
          </a:xfrm>
          <a:prstGeom prst="ellipse">
            <a:avLst/>
          </a:prstGeom>
          <a:solidFill>
            <a:srgbClr val="647D68"/>
          </a:solidFill>
          <a:ln w="11430">
            <a:solidFill>
              <a:srgbClr val="647D6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20"/>
          <p:cNvSpPr/>
          <p:nvPr/>
        </p:nvSpPr>
        <p:spPr>
          <a:xfrm>
            <a:off x="6117480" y="1673280"/>
            <a:ext cx="47520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21"/>
          <p:cNvSpPr/>
          <p:nvPr/>
        </p:nvSpPr>
        <p:spPr>
          <a:xfrm>
            <a:off x="6080760" y="2331720"/>
            <a:ext cx="1874160" cy="456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647D6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22"/>
          <p:cNvSpPr/>
          <p:nvPr/>
        </p:nvSpPr>
        <p:spPr>
          <a:xfrm>
            <a:off x="6190560" y="2423160"/>
            <a:ext cx="1654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WEF-Defense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23"/>
          <p:cNvSpPr/>
          <p:nvPr/>
        </p:nvSpPr>
        <p:spPr>
          <a:xfrm>
            <a:off x="6080760" y="2944440"/>
            <a:ext cx="10054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64676B"/>
                </a:solidFill>
                <a:effectLst/>
                <a:uFillTx/>
                <a:latin typeface="Aptos"/>
                <a:ea typeface="Aptos"/>
              </a:rPr>
              <a:t>Evidence: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24"/>
          <p:cNvSpPr/>
          <p:nvPr/>
        </p:nvSpPr>
        <p:spPr>
          <a:xfrm>
            <a:off x="6080760" y="3200400"/>
            <a:ext cx="187416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647D68"/>
                </a:solidFill>
                <a:effectLst/>
                <a:uFillTx/>
                <a:latin typeface="Aptos"/>
                <a:ea typeface="Aptos"/>
              </a:rPr>
              <a:t>Training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647D68"/>
                </a:solidFill>
                <a:effectLst/>
                <a:uFillTx/>
                <a:latin typeface="Aptos"/>
                <a:ea typeface="Aptos"/>
              </a:rPr>
              <a:t>behavior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25"/>
          <p:cNvSpPr/>
          <p:nvPr/>
        </p:nvSpPr>
        <p:spPr>
          <a:xfrm>
            <a:off x="8019000" y="2569320"/>
            <a:ext cx="548640" cy="360"/>
          </a:xfrm>
          <a:prstGeom prst="line">
            <a:avLst/>
          </a:prstGeom>
          <a:ln w="10160">
            <a:solidFill>
              <a:srgbClr val="64676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26"/>
          <p:cNvSpPr/>
          <p:nvPr/>
        </p:nvSpPr>
        <p:spPr>
          <a:xfrm>
            <a:off x="8732520" y="1600200"/>
            <a:ext cx="548280" cy="548280"/>
          </a:xfrm>
          <a:prstGeom prst="ellipse">
            <a:avLst/>
          </a:prstGeom>
          <a:solidFill>
            <a:srgbClr val="176B68"/>
          </a:solidFill>
          <a:ln w="11430">
            <a:solidFill>
              <a:srgbClr val="176B6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27"/>
          <p:cNvSpPr/>
          <p:nvPr/>
        </p:nvSpPr>
        <p:spPr>
          <a:xfrm>
            <a:off x="8769240" y="1673280"/>
            <a:ext cx="47520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28"/>
          <p:cNvSpPr/>
          <p:nvPr/>
        </p:nvSpPr>
        <p:spPr>
          <a:xfrm>
            <a:off x="8732520" y="2331720"/>
            <a:ext cx="1874160" cy="456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176B6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29"/>
          <p:cNvSpPr/>
          <p:nvPr/>
        </p:nvSpPr>
        <p:spPr>
          <a:xfrm>
            <a:off x="8842320" y="2423160"/>
            <a:ext cx="1654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FedMSE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30"/>
          <p:cNvSpPr/>
          <p:nvPr/>
        </p:nvSpPr>
        <p:spPr>
          <a:xfrm>
            <a:off x="8732520" y="2944440"/>
            <a:ext cx="10054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64676B"/>
                </a:solidFill>
                <a:effectLst/>
                <a:uFillTx/>
                <a:latin typeface="Aptos"/>
                <a:ea typeface="Aptos"/>
              </a:rPr>
              <a:t>Evidence: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31"/>
          <p:cNvSpPr/>
          <p:nvPr/>
        </p:nvSpPr>
        <p:spPr>
          <a:xfrm>
            <a:off x="8732520" y="3200400"/>
            <a:ext cx="187416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76B68"/>
                </a:solidFill>
                <a:effectLst/>
                <a:uFillTx/>
                <a:latin typeface="Aptos"/>
                <a:ea typeface="Aptos"/>
              </a:rPr>
              <a:t>Normal-traffic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76B68"/>
                </a:solidFill>
                <a:effectLst/>
                <a:uFillTx/>
                <a:latin typeface="Aptos"/>
                <a:ea typeface="Aptos"/>
              </a:rPr>
              <a:t>representation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32"/>
          <p:cNvSpPr/>
          <p:nvPr/>
        </p:nvSpPr>
        <p:spPr>
          <a:xfrm>
            <a:off x="914400" y="4937760"/>
            <a:ext cx="10286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CSE499A changed the project from “implementing defenses” to understanding what evidence the server should trust.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4F1EA"/>
          </a:solidFill>
          <a:ln w="12700">
            <a:solidFill>
              <a:srgbClr val="F4F1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1"/>
          <p:cNvSpPr/>
          <p:nvPr/>
        </p:nvSpPr>
        <p:spPr>
          <a:xfrm>
            <a:off x="567000" y="311040"/>
            <a:ext cx="23770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176B68"/>
                </a:solidFill>
                <a:effectLst/>
                <a:uFillTx/>
                <a:latin typeface="Aptos"/>
                <a:ea typeface="Aptos"/>
              </a:rPr>
              <a:t>BASELINE 1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2"/>
          <p:cNvSpPr/>
          <p:nvPr/>
        </p:nvSpPr>
        <p:spPr>
          <a:xfrm>
            <a:off x="567000" y="539640"/>
            <a:ext cx="108810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61A1D"/>
                </a:solidFill>
                <a:effectLst/>
                <a:uFillTx/>
                <a:latin typeface="Aptos Display"/>
                <a:ea typeface="Aptos Display"/>
              </a:rPr>
              <a:t>SecureDyn-FL — Is the Update Behavior Suspicious?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3"/>
          <p:cNvSpPr/>
          <p:nvPr/>
        </p:nvSpPr>
        <p:spPr>
          <a:xfrm>
            <a:off x="502920" y="6492240"/>
            <a:ext cx="11201400" cy="360"/>
          </a:xfrm>
          <a:prstGeom prst="line">
            <a:avLst/>
          </a:prstGeom>
          <a:ln w="7620">
            <a:solidFill>
              <a:srgbClr val="C9C2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4"/>
          <p:cNvSpPr/>
          <p:nvPr/>
        </p:nvSpPr>
        <p:spPr>
          <a:xfrm>
            <a:off x="548640" y="6546960"/>
            <a:ext cx="111096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64676B"/>
                </a:solidFill>
                <a:effectLst/>
                <a:uFillTx/>
                <a:latin typeface="Aptos"/>
                <a:ea typeface="Aptos"/>
              </a:rPr>
              <a:t>Group 06 | Md. Murad Ul Momin • Rima Saha • Sakia Tabassum Anonna • Ashraful Hossain Riyan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5"/>
          <p:cNvSpPr/>
          <p:nvPr/>
        </p:nvSpPr>
        <p:spPr>
          <a:xfrm>
            <a:off x="749880" y="1188720"/>
            <a:ext cx="22856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64676B"/>
                </a:solidFill>
                <a:effectLst/>
                <a:uFillTx/>
                <a:latin typeface="Aptos"/>
                <a:ea typeface="Aptos"/>
              </a:rPr>
              <a:t>client updates across rounds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6"/>
          <p:cNvSpPr/>
          <p:nvPr/>
        </p:nvSpPr>
        <p:spPr>
          <a:xfrm>
            <a:off x="749880" y="1508760"/>
            <a:ext cx="4571640" cy="2925720"/>
          </a:xfrm>
          <a:prstGeom prst="rect">
            <a:avLst/>
          </a:prstGeom>
          <a:noFill/>
          <a:ln w="10160">
            <a:solidFill>
              <a:srgbClr val="D8D3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7"/>
          <p:cNvSpPr/>
          <p:nvPr/>
        </p:nvSpPr>
        <p:spPr>
          <a:xfrm flipV="1">
            <a:off x="1005840" y="1764720"/>
            <a:ext cx="360" cy="2258640"/>
          </a:xfrm>
          <a:prstGeom prst="line">
            <a:avLst/>
          </a:prstGeom>
          <a:ln w="4445">
            <a:solidFill>
              <a:srgbClr val="D8D3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8"/>
          <p:cNvSpPr/>
          <p:nvPr/>
        </p:nvSpPr>
        <p:spPr>
          <a:xfrm flipV="1">
            <a:off x="1783080" y="1764720"/>
            <a:ext cx="360" cy="2258640"/>
          </a:xfrm>
          <a:prstGeom prst="line">
            <a:avLst/>
          </a:prstGeom>
          <a:ln w="4445">
            <a:solidFill>
              <a:srgbClr val="D8D3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9"/>
          <p:cNvSpPr/>
          <p:nvPr/>
        </p:nvSpPr>
        <p:spPr>
          <a:xfrm flipV="1">
            <a:off x="2560320" y="1764720"/>
            <a:ext cx="360" cy="2258640"/>
          </a:xfrm>
          <a:prstGeom prst="line">
            <a:avLst/>
          </a:prstGeom>
          <a:ln w="4445">
            <a:solidFill>
              <a:srgbClr val="D8D3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10"/>
          <p:cNvSpPr/>
          <p:nvPr/>
        </p:nvSpPr>
        <p:spPr>
          <a:xfrm flipV="1">
            <a:off x="3337560" y="1764720"/>
            <a:ext cx="360" cy="2258640"/>
          </a:xfrm>
          <a:prstGeom prst="line">
            <a:avLst/>
          </a:prstGeom>
          <a:ln w="4445">
            <a:solidFill>
              <a:srgbClr val="D8D3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11"/>
          <p:cNvSpPr/>
          <p:nvPr/>
        </p:nvSpPr>
        <p:spPr>
          <a:xfrm flipV="1">
            <a:off x="4114800" y="1764720"/>
            <a:ext cx="360" cy="2258640"/>
          </a:xfrm>
          <a:prstGeom prst="line">
            <a:avLst/>
          </a:prstGeom>
          <a:ln w="4445">
            <a:solidFill>
              <a:srgbClr val="D8D3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12"/>
          <p:cNvSpPr/>
          <p:nvPr/>
        </p:nvSpPr>
        <p:spPr>
          <a:xfrm flipV="1">
            <a:off x="1023840" y="3063240"/>
            <a:ext cx="759240" cy="411480"/>
          </a:xfrm>
          <a:prstGeom prst="line">
            <a:avLst/>
          </a:prstGeom>
          <a:ln w="15240">
            <a:solidFill>
              <a:srgbClr val="647D6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13"/>
          <p:cNvSpPr/>
          <p:nvPr/>
        </p:nvSpPr>
        <p:spPr>
          <a:xfrm flipV="1">
            <a:off x="1783080" y="2788920"/>
            <a:ext cx="758880" cy="274320"/>
          </a:xfrm>
          <a:prstGeom prst="line">
            <a:avLst/>
          </a:prstGeom>
          <a:ln w="15240">
            <a:solidFill>
              <a:srgbClr val="647D6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14"/>
          <p:cNvSpPr/>
          <p:nvPr/>
        </p:nvSpPr>
        <p:spPr>
          <a:xfrm flipV="1">
            <a:off x="2541960" y="2606040"/>
            <a:ext cx="749880" cy="182880"/>
          </a:xfrm>
          <a:prstGeom prst="line">
            <a:avLst/>
          </a:prstGeom>
          <a:ln w="15240">
            <a:solidFill>
              <a:srgbClr val="647D6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15"/>
          <p:cNvSpPr/>
          <p:nvPr/>
        </p:nvSpPr>
        <p:spPr>
          <a:xfrm flipV="1">
            <a:off x="3291840" y="2331720"/>
            <a:ext cx="758880" cy="274320"/>
          </a:xfrm>
          <a:prstGeom prst="line">
            <a:avLst/>
          </a:prstGeom>
          <a:ln w="15240">
            <a:solidFill>
              <a:srgbClr val="647D6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16"/>
          <p:cNvSpPr/>
          <p:nvPr/>
        </p:nvSpPr>
        <p:spPr>
          <a:xfrm flipV="1">
            <a:off x="4050720" y="2148840"/>
            <a:ext cx="704160" cy="182880"/>
          </a:xfrm>
          <a:prstGeom prst="line">
            <a:avLst/>
          </a:prstGeom>
          <a:ln w="15240">
            <a:solidFill>
              <a:srgbClr val="647D6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17"/>
          <p:cNvSpPr/>
          <p:nvPr/>
        </p:nvSpPr>
        <p:spPr>
          <a:xfrm flipV="1">
            <a:off x="1097280" y="3246120"/>
            <a:ext cx="758880" cy="137160"/>
          </a:xfrm>
          <a:prstGeom prst="line">
            <a:avLst/>
          </a:prstGeom>
          <a:ln w="15240">
            <a:solidFill>
              <a:srgbClr val="A84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18"/>
          <p:cNvSpPr/>
          <p:nvPr/>
        </p:nvSpPr>
        <p:spPr>
          <a:xfrm flipV="1">
            <a:off x="1856160" y="3126960"/>
            <a:ext cx="758880" cy="119160"/>
          </a:xfrm>
          <a:prstGeom prst="line">
            <a:avLst/>
          </a:prstGeom>
          <a:ln w="15240">
            <a:solidFill>
              <a:srgbClr val="A84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19"/>
          <p:cNvSpPr/>
          <p:nvPr/>
        </p:nvSpPr>
        <p:spPr>
          <a:xfrm flipV="1">
            <a:off x="2615040" y="2697480"/>
            <a:ext cx="731520" cy="429480"/>
          </a:xfrm>
          <a:prstGeom prst="line">
            <a:avLst/>
          </a:prstGeom>
          <a:ln w="15240">
            <a:solidFill>
              <a:srgbClr val="A84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20"/>
          <p:cNvSpPr/>
          <p:nvPr/>
        </p:nvSpPr>
        <p:spPr>
          <a:xfrm flipV="1">
            <a:off x="3346560" y="1700640"/>
            <a:ext cx="768240" cy="996840"/>
          </a:xfrm>
          <a:prstGeom prst="line">
            <a:avLst/>
          </a:prstGeom>
          <a:ln w="15240">
            <a:solidFill>
              <a:srgbClr val="A84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21"/>
          <p:cNvSpPr/>
          <p:nvPr/>
        </p:nvSpPr>
        <p:spPr>
          <a:xfrm flipV="1">
            <a:off x="4114800" y="1280160"/>
            <a:ext cx="612360" cy="420480"/>
          </a:xfrm>
          <a:prstGeom prst="line">
            <a:avLst/>
          </a:prstGeom>
          <a:ln w="15240">
            <a:solidFill>
              <a:srgbClr val="A84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22"/>
          <p:cNvSpPr/>
          <p:nvPr/>
        </p:nvSpPr>
        <p:spPr>
          <a:xfrm>
            <a:off x="983160" y="3433680"/>
            <a:ext cx="82080" cy="82080"/>
          </a:xfrm>
          <a:prstGeom prst="ellipse">
            <a:avLst/>
          </a:prstGeom>
          <a:solidFill>
            <a:srgbClr val="647D68"/>
          </a:solidFill>
          <a:ln w="12700">
            <a:solidFill>
              <a:srgbClr val="F4F1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23"/>
          <p:cNvSpPr/>
          <p:nvPr/>
        </p:nvSpPr>
        <p:spPr>
          <a:xfrm>
            <a:off x="1742040" y="3022200"/>
            <a:ext cx="82080" cy="82080"/>
          </a:xfrm>
          <a:prstGeom prst="ellipse">
            <a:avLst/>
          </a:prstGeom>
          <a:solidFill>
            <a:srgbClr val="647D68"/>
          </a:solidFill>
          <a:ln w="12700">
            <a:solidFill>
              <a:srgbClr val="F4F1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24"/>
          <p:cNvSpPr/>
          <p:nvPr/>
        </p:nvSpPr>
        <p:spPr>
          <a:xfrm>
            <a:off x="2500920" y="2747880"/>
            <a:ext cx="82080" cy="82080"/>
          </a:xfrm>
          <a:prstGeom prst="ellipse">
            <a:avLst/>
          </a:prstGeom>
          <a:solidFill>
            <a:srgbClr val="647D68"/>
          </a:solidFill>
          <a:ln w="12700">
            <a:solidFill>
              <a:srgbClr val="F4F1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25"/>
          <p:cNvSpPr/>
          <p:nvPr/>
        </p:nvSpPr>
        <p:spPr>
          <a:xfrm>
            <a:off x="3250800" y="2565000"/>
            <a:ext cx="82080" cy="82080"/>
          </a:xfrm>
          <a:prstGeom prst="ellipse">
            <a:avLst/>
          </a:prstGeom>
          <a:solidFill>
            <a:srgbClr val="647D68"/>
          </a:solidFill>
          <a:ln w="12700">
            <a:solidFill>
              <a:srgbClr val="F4F1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26"/>
          <p:cNvSpPr/>
          <p:nvPr/>
        </p:nvSpPr>
        <p:spPr>
          <a:xfrm>
            <a:off x="4009680" y="2290680"/>
            <a:ext cx="82080" cy="82080"/>
          </a:xfrm>
          <a:prstGeom prst="ellipse">
            <a:avLst/>
          </a:prstGeom>
          <a:solidFill>
            <a:srgbClr val="647D68"/>
          </a:solidFill>
          <a:ln w="12700">
            <a:solidFill>
              <a:srgbClr val="F4F1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27"/>
          <p:cNvSpPr/>
          <p:nvPr/>
        </p:nvSpPr>
        <p:spPr>
          <a:xfrm>
            <a:off x="4713840" y="2107800"/>
            <a:ext cx="82080" cy="82080"/>
          </a:xfrm>
          <a:prstGeom prst="ellipse">
            <a:avLst/>
          </a:prstGeom>
          <a:solidFill>
            <a:srgbClr val="647D68"/>
          </a:solidFill>
          <a:ln w="12700">
            <a:solidFill>
              <a:srgbClr val="F4F1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28"/>
          <p:cNvSpPr/>
          <p:nvPr/>
        </p:nvSpPr>
        <p:spPr>
          <a:xfrm>
            <a:off x="1056240" y="3342240"/>
            <a:ext cx="82080" cy="82080"/>
          </a:xfrm>
          <a:prstGeom prst="ellipse">
            <a:avLst/>
          </a:prstGeom>
          <a:solidFill>
            <a:srgbClr val="A84A44"/>
          </a:solidFill>
          <a:ln w="12700">
            <a:solidFill>
              <a:srgbClr val="F4F1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29"/>
          <p:cNvSpPr/>
          <p:nvPr/>
        </p:nvSpPr>
        <p:spPr>
          <a:xfrm>
            <a:off x="1815120" y="3205080"/>
            <a:ext cx="82080" cy="82080"/>
          </a:xfrm>
          <a:prstGeom prst="ellipse">
            <a:avLst/>
          </a:prstGeom>
          <a:solidFill>
            <a:srgbClr val="A84A44"/>
          </a:solidFill>
          <a:ln w="12700">
            <a:solidFill>
              <a:srgbClr val="F4F1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30"/>
          <p:cNvSpPr/>
          <p:nvPr/>
        </p:nvSpPr>
        <p:spPr>
          <a:xfrm>
            <a:off x="2574000" y="3086280"/>
            <a:ext cx="82080" cy="82080"/>
          </a:xfrm>
          <a:prstGeom prst="ellipse">
            <a:avLst/>
          </a:prstGeom>
          <a:solidFill>
            <a:srgbClr val="A84A44"/>
          </a:solidFill>
          <a:ln w="12700">
            <a:solidFill>
              <a:srgbClr val="F4F1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31"/>
          <p:cNvSpPr/>
          <p:nvPr/>
        </p:nvSpPr>
        <p:spPr>
          <a:xfrm>
            <a:off x="3305520" y="2656440"/>
            <a:ext cx="82080" cy="82080"/>
          </a:xfrm>
          <a:prstGeom prst="ellipse">
            <a:avLst/>
          </a:prstGeom>
          <a:solidFill>
            <a:srgbClr val="A84A44"/>
          </a:solidFill>
          <a:ln w="12700">
            <a:solidFill>
              <a:srgbClr val="F4F1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32"/>
          <p:cNvSpPr/>
          <p:nvPr/>
        </p:nvSpPr>
        <p:spPr>
          <a:xfrm>
            <a:off x="4073760" y="1659600"/>
            <a:ext cx="82080" cy="82080"/>
          </a:xfrm>
          <a:prstGeom prst="ellipse">
            <a:avLst/>
          </a:prstGeom>
          <a:solidFill>
            <a:srgbClr val="A84A44"/>
          </a:solidFill>
          <a:ln w="12700">
            <a:solidFill>
              <a:srgbClr val="F4F1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33"/>
          <p:cNvSpPr/>
          <p:nvPr/>
        </p:nvSpPr>
        <p:spPr>
          <a:xfrm>
            <a:off x="4686480" y="1239120"/>
            <a:ext cx="82080" cy="82080"/>
          </a:xfrm>
          <a:prstGeom prst="ellipse">
            <a:avLst/>
          </a:prstGeom>
          <a:solidFill>
            <a:srgbClr val="A84A44"/>
          </a:solidFill>
          <a:ln w="12700">
            <a:solidFill>
              <a:srgbClr val="F4F1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34"/>
          <p:cNvSpPr/>
          <p:nvPr/>
        </p:nvSpPr>
        <p:spPr>
          <a:xfrm>
            <a:off x="1417320" y="4553640"/>
            <a:ext cx="3245760" cy="392760"/>
          </a:xfrm>
          <a:prstGeom prst="roundRect">
            <a:avLst>
              <a:gd name="adj" fmla="val 11628"/>
            </a:avLst>
          </a:prstGeom>
          <a:solidFill>
            <a:srgbClr val="DCE5EA"/>
          </a:solidFill>
          <a:ln w="10160">
            <a:solidFill>
              <a:srgbClr val="456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35"/>
          <p:cNvSpPr/>
          <p:nvPr/>
        </p:nvSpPr>
        <p:spPr>
          <a:xfrm>
            <a:off x="1527120" y="4645080"/>
            <a:ext cx="3026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GMM / Mahalanobis-style audit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36"/>
          <p:cNvSpPr/>
          <p:nvPr/>
        </p:nvSpPr>
        <p:spPr>
          <a:xfrm>
            <a:off x="3063240" y="4443840"/>
            <a:ext cx="360" cy="109800"/>
          </a:xfrm>
          <a:prstGeom prst="line">
            <a:avLst/>
          </a:prstGeom>
          <a:ln w="12700">
            <a:solidFill>
              <a:srgbClr val="456A8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37"/>
          <p:cNvSpPr/>
          <p:nvPr/>
        </p:nvSpPr>
        <p:spPr>
          <a:xfrm>
            <a:off x="4160520" y="2423160"/>
            <a:ext cx="1005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647D68"/>
                </a:solidFill>
                <a:effectLst/>
                <a:uFillTx/>
                <a:latin typeface="Aptos"/>
                <a:ea typeface="Aptos"/>
              </a:rPr>
              <a:t>expected behavior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38"/>
          <p:cNvSpPr/>
          <p:nvPr/>
        </p:nvSpPr>
        <p:spPr>
          <a:xfrm>
            <a:off x="4187880" y="1417320"/>
            <a:ext cx="1005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A84A44"/>
                </a:solidFill>
                <a:effectLst/>
                <a:uFillTx/>
                <a:latin typeface="Aptos"/>
                <a:ea typeface="Aptos"/>
              </a:rPr>
              <a:t>suspicious turn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39"/>
          <p:cNvSpPr/>
          <p:nvPr/>
        </p:nvSpPr>
        <p:spPr>
          <a:xfrm>
            <a:off x="5852160" y="1280160"/>
            <a:ext cx="2514240" cy="347040"/>
          </a:xfrm>
          <a:prstGeom prst="roundRect">
            <a:avLst>
              <a:gd name="adj" fmla="val 13158"/>
            </a:avLst>
          </a:prstGeom>
          <a:solidFill>
            <a:srgbClr val="161A1D"/>
          </a:solidFill>
          <a:ln w="10160">
            <a:solidFill>
              <a:srgbClr val="161A1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40"/>
          <p:cNvSpPr/>
          <p:nvPr/>
        </p:nvSpPr>
        <p:spPr>
          <a:xfrm>
            <a:off x="5961960" y="1371600"/>
            <a:ext cx="22946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Implemented in CSE499A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41"/>
          <p:cNvSpPr/>
          <p:nvPr/>
        </p:nvSpPr>
        <p:spPr>
          <a:xfrm>
            <a:off x="5920920" y="1796760"/>
            <a:ext cx="63720" cy="63720"/>
          </a:xfrm>
          <a:prstGeom prst="ellipse">
            <a:avLst/>
          </a:prstGeom>
          <a:solidFill>
            <a:srgbClr val="647D68"/>
          </a:solidFill>
          <a:ln w="12700">
            <a:solidFill>
              <a:srgbClr val="F4F1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0" rIns="9000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42"/>
          <p:cNvSpPr/>
          <p:nvPr/>
        </p:nvSpPr>
        <p:spPr>
          <a:xfrm>
            <a:off x="6053400" y="1755720"/>
            <a:ext cx="21852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N-BaIoT-compatible preprocessing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43"/>
          <p:cNvSpPr/>
          <p:nvPr/>
        </p:nvSpPr>
        <p:spPr>
          <a:xfrm>
            <a:off x="5920920" y="2080440"/>
            <a:ext cx="63720" cy="63720"/>
          </a:xfrm>
          <a:prstGeom prst="ellipse">
            <a:avLst/>
          </a:prstGeom>
          <a:solidFill>
            <a:srgbClr val="647D68"/>
          </a:solidFill>
          <a:ln w="12700">
            <a:solidFill>
              <a:srgbClr val="F4F1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0" rIns="9000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44"/>
          <p:cNvSpPr/>
          <p:nvPr/>
        </p:nvSpPr>
        <p:spPr>
          <a:xfrm>
            <a:off x="6053400" y="2039040"/>
            <a:ext cx="21852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client partitions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45"/>
          <p:cNvSpPr/>
          <p:nvPr/>
        </p:nvSpPr>
        <p:spPr>
          <a:xfrm>
            <a:off x="5920920" y="2363760"/>
            <a:ext cx="63720" cy="63720"/>
          </a:xfrm>
          <a:prstGeom prst="ellipse">
            <a:avLst/>
          </a:prstGeom>
          <a:solidFill>
            <a:srgbClr val="647D68"/>
          </a:solidFill>
          <a:ln w="12700">
            <a:solidFill>
              <a:srgbClr val="F4F1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0" rIns="9000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46"/>
          <p:cNvSpPr/>
          <p:nvPr/>
        </p:nvSpPr>
        <p:spPr>
          <a:xfrm>
            <a:off x="6053400" y="2322720"/>
            <a:ext cx="21852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local 1D-CNN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47"/>
          <p:cNvSpPr/>
          <p:nvPr/>
        </p:nvSpPr>
        <p:spPr>
          <a:xfrm>
            <a:off x="5920920" y="2647080"/>
            <a:ext cx="63720" cy="63720"/>
          </a:xfrm>
          <a:prstGeom prst="ellipse">
            <a:avLst/>
          </a:prstGeom>
          <a:solidFill>
            <a:srgbClr val="647D68"/>
          </a:solidFill>
          <a:ln w="12700">
            <a:solidFill>
              <a:srgbClr val="F4F1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0" rIns="9000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48"/>
          <p:cNvSpPr/>
          <p:nvPr/>
        </p:nvSpPr>
        <p:spPr>
          <a:xfrm>
            <a:off x="6053400" y="2606040"/>
            <a:ext cx="21852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server aggregation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49"/>
          <p:cNvSpPr/>
          <p:nvPr/>
        </p:nvSpPr>
        <p:spPr>
          <a:xfrm>
            <a:off x="5920920" y="2930760"/>
            <a:ext cx="63720" cy="63720"/>
          </a:xfrm>
          <a:prstGeom prst="ellipse">
            <a:avLst/>
          </a:prstGeom>
          <a:solidFill>
            <a:srgbClr val="647D68"/>
          </a:solidFill>
          <a:ln w="12700">
            <a:solidFill>
              <a:srgbClr val="F4F1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0" rIns="9000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50"/>
          <p:cNvSpPr/>
          <p:nvPr/>
        </p:nvSpPr>
        <p:spPr>
          <a:xfrm>
            <a:off x="6053400" y="2889360"/>
            <a:ext cx="21852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IID / non-IID runs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51"/>
          <p:cNvSpPr/>
          <p:nvPr/>
        </p:nvSpPr>
        <p:spPr>
          <a:xfrm>
            <a:off x="9006840" y="1280160"/>
            <a:ext cx="2239920" cy="347040"/>
          </a:xfrm>
          <a:prstGeom prst="roundRect">
            <a:avLst>
              <a:gd name="adj" fmla="val 13158"/>
            </a:avLst>
          </a:prstGeom>
          <a:solidFill>
            <a:srgbClr val="161A1D"/>
          </a:solidFill>
          <a:ln w="10160">
            <a:solidFill>
              <a:srgbClr val="161A1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52"/>
          <p:cNvSpPr/>
          <p:nvPr/>
        </p:nvSpPr>
        <p:spPr>
          <a:xfrm>
            <a:off x="9116640" y="1371600"/>
            <a:ext cx="20203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Not yet reproduced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53"/>
          <p:cNvSpPr/>
          <p:nvPr/>
        </p:nvSpPr>
        <p:spPr>
          <a:xfrm>
            <a:off x="9075600" y="1796760"/>
            <a:ext cx="63720" cy="63720"/>
          </a:xfrm>
          <a:prstGeom prst="ellipse">
            <a:avLst/>
          </a:prstGeom>
          <a:solidFill>
            <a:srgbClr val="A84A44"/>
          </a:solidFill>
          <a:ln w="12700">
            <a:solidFill>
              <a:srgbClr val="F4F1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0" rIns="9000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54"/>
          <p:cNvSpPr/>
          <p:nvPr/>
        </p:nvSpPr>
        <p:spPr>
          <a:xfrm>
            <a:off x="9208080" y="1755720"/>
            <a:ext cx="1910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GMM / Mahalanobis auditing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55"/>
          <p:cNvSpPr/>
          <p:nvPr/>
        </p:nvSpPr>
        <p:spPr>
          <a:xfrm>
            <a:off x="9075600" y="2080440"/>
            <a:ext cx="63720" cy="63720"/>
          </a:xfrm>
          <a:prstGeom prst="ellipse">
            <a:avLst/>
          </a:prstGeom>
          <a:solidFill>
            <a:srgbClr val="A84A44"/>
          </a:solidFill>
          <a:ln w="12700">
            <a:solidFill>
              <a:srgbClr val="F4F1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0" rIns="9000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56"/>
          <p:cNvSpPr/>
          <p:nvPr/>
        </p:nvSpPr>
        <p:spPr>
          <a:xfrm>
            <a:off x="9208080" y="2039040"/>
            <a:ext cx="1910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encrypted aggregation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57"/>
          <p:cNvSpPr/>
          <p:nvPr/>
        </p:nvSpPr>
        <p:spPr>
          <a:xfrm>
            <a:off x="9075600" y="2363760"/>
            <a:ext cx="63720" cy="63720"/>
          </a:xfrm>
          <a:prstGeom prst="ellipse">
            <a:avLst/>
          </a:prstGeom>
          <a:solidFill>
            <a:srgbClr val="A84A44"/>
          </a:solidFill>
          <a:ln w="12700">
            <a:solidFill>
              <a:srgbClr val="F4F1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0" rIns="9000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58"/>
          <p:cNvSpPr/>
          <p:nvPr/>
        </p:nvSpPr>
        <p:spPr>
          <a:xfrm>
            <a:off x="9208080" y="2322720"/>
            <a:ext cx="1910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personalization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59"/>
          <p:cNvSpPr/>
          <p:nvPr/>
        </p:nvSpPr>
        <p:spPr>
          <a:xfrm>
            <a:off x="9075600" y="2647080"/>
            <a:ext cx="63720" cy="63720"/>
          </a:xfrm>
          <a:prstGeom prst="ellipse">
            <a:avLst/>
          </a:prstGeom>
          <a:solidFill>
            <a:srgbClr val="A84A44"/>
          </a:solidFill>
          <a:ln w="12700">
            <a:solidFill>
              <a:srgbClr val="F4F1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0" rIns="9000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60"/>
          <p:cNvSpPr/>
          <p:nvPr/>
        </p:nvSpPr>
        <p:spPr>
          <a:xfrm>
            <a:off x="9208080" y="2606040"/>
            <a:ext cx="1910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pruning + quantization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61"/>
          <p:cNvSpPr/>
          <p:nvPr/>
        </p:nvSpPr>
        <p:spPr>
          <a:xfrm>
            <a:off x="9075600" y="2930760"/>
            <a:ext cx="63720" cy="63720"/>
          </a:xfrm>
          <a:prstGeom prst="ellipse">
            <a:avLst/>
          </a:prstGeom>
          <a:solidFill>
            <a:srgbClr val="A84A44"/>
          </a:solidFill>
          <a:ln w="12700">
            <a:solidFill>
              <a:srgbClr val="F4F1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0" rIns="9000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62"/>
          <p:cNvSpPr/>
          <p:nvPr/>
        </p:nvSpPr>
        <p:spPr>
          <a:xfrm>
            <a:off x="9208080" y="2889360"/>
            <a:ext cx="1910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full poisoning evaluation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63"/>
          <p:cNvSpPr/>
          <p:nvPr/>
        </p:nvSpPr>
        <p:spPr>
          <a:xfrm>
            <a:off x="5870520" y="4800600"/>
            <a:ext cx="516600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76B68"/>
                </a:solidFill>
                <a:effectLst/>
                <a:uFillTx/>
                <a:latin typeface="Aptos"/>
                <a:ea typeface="Aptos"/>
              </a:rPr>
              <a:t>Boundary matters: the CSE499A version is a running reference pipeline, not a full reproduction of SecureDyn-FL.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4F1EA"/>
          </a:solidFill>
          <a:ln w="12700">
            <a:solidFill>
              <a:srgbClr val="F4F1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1"/>
          <p:cNvSpPr/>
          <p:nvPr/>
        </p:nvSpPr>
        <p:spPr>
          <a:xfrm>
            <a:off x="567000" y="311040"/>
            <a:ext cx="23770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176B68"/>
                </a:solidFill>
                <a:effectLst/>
                <a:uFillTx/>
                <a:latin typeface="Aptos"/>
                <a:ea typeface="Aptos"/>
              </a:rPr>
              <a:t>BASELINE 2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2"/>
          <p:cNvSpPr/>
          <p:nvPr/>
        </p:nvSpPr>
        <p:spPr>
          <a:xfrm>
            <a:off x="567000" y="539640"/>
            <a:ext cx="108810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61A1D"/>
                </a:solidFill>
                <a:effectLst/>
                <a:uFillTx/>
                <a:latin typeface="Aptos Display"/>
                <a:ea typeface="Aptos Display"/>
              </a:rPr>
              <a:t>FedMADE — Which Classes Does This Client Actually Help?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3"/>
          <p:cNvSpPr/>
          <p:nvPr/>
        </p:nvSpPr>
        <p:spPr>
          <a:xfrm>
            <a:off x="502920" y="6492240"/>
            <a:ext cx="11201400" cy="360"/>
          </a:xfrm>
          <a:prstGeom prst="line">
            <a:avLst/>
          </a:prstGeom>
          <a:ln w="7620">
            <a:solidFill>
              <a:srgbClr val="C9C2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4"/>
          <p:cNvSpPr/>
          <p:nvPr/>
        </p:nvSpPr>
        <p:spPr>
          <a:xfrm>
            <a:off x="548640" y="6546960"/>
            <a:ext cx="111096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64676B"/>
                </a:solidFill>
                <a:effectLst/>
                <a:uFillTx/>
                <a:latin typeface="Aptos"/>
                <a:ea typeface="Aptos"/>
              </a:rPr>
              <a:t>Group 06 | Md. Murad Ul Momin • Rima Saha • Sakia Tabassum Anonna • Ashraful Hossain Riyan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Shape 5"/>
          <p:cNvSpPr/>
          <p:nvPr/>
        </p:nvSpPr>
        <p:spPr>
          <a:xfrm>
            <a:off x="804600" y="1234440"/>
            <a:ext cx="2742840" cy="392760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0160">
            <a:solidFill>
              <a:srgbClr val="D8D3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6"/>
          <p:cNvSpPr/>
          <p:nvPr/>
        </p:nvSpPr>
        <p:spPr>
          <a:xfrm>
            <a:off x="914400" y="1325880"/>
            <a:ext cx="2523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Local Model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Shape 7"/>
          <p:cNvSpPr/>
          <p:nvPr/>
        </p:nvSpPr>
        <p:spPr>
          <a:xfrm>
            <a:off x="2176200" y="1645920"/>
            <a:ext cx="360" cy="210240"/>
          </a:xfrm>
          <a:prstGeom prst="line">
            <a:avLst/>
          </a:prstGeom>
          <a:ln w="10160">
            <a:solidFill>
              <a:srgbClr val="64676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8"/>
          <p:cNvSpPr/>
          <p:nvPr/>
        </p:nvSpPr>
        <p:spPr>
          <a:xfrm>
            <a:off x="804600" y="1874520"/>
            <a:ext cx="2742840" cy="392760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0160">
            <a:solidFill>
              <a:srgbClr val="D8D3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9"/>
          <p:cNvSpPr/>
          <p:nvPr/>
        </p:nvSpPr>
        <p:spPr>
          <a:xfrm>
            <a:off x="914400" y="1965960"/>
            <a:ext cx="2523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Auxiliary validation set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10"/>
          <p:cNvSpPr/>
          <p:nvPr/>
        </p:nvSpPr>
        <p:spPr>
          <a:xfrm>
            <a:off x="2176200" y="2286000"/>
            <a:ext cx="360" cy="210240"/>
          </a:xfrm>
          <a:prstGeom prst="line">
            <a:avLst/>
          </a:prstGeom>
          <a:ln w="10160">
            <a:solidFill>
              <a:srgbClr val="64676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11"/>
          <p:cNvSpPr/>
          <p:nvPr/>
        </p:nvSpPr>
        <p:spPr>
          <a:xfrm>
            <a:off x="804600" y="2514600"/>
            <a:ext cx="2742840" cy="392760"/>
          </a:xfrm>
          <a:prstGeom prst="roundRect">
            <a:avLst>
              <a:gd name="adj" fmla="val 11628"/>
            </a:avLst>
          </a:prstGeom>
          <a:solidFill>
            <a:srgbClr val="EFE3C9"/>
          </a:solidFill>
          <a:ln w="10160">
            <a:solidFill>
              <a:srgbClr val="C18A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12"/>
          <p:cNvSpPr/>
          <p:nvPr/>
        </p:nvSpPr>
        <p:spPr>
          <a:xfrm>
            <a:off x="914400" y="2606040"/>
            <a:ext cx="2523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Class Probability Matrix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13"/>
          <p:cNvSpPr/>
          <p:nvPr/>
        </p:nvSpPr>
        <p:spPr>
          <a:xfrm>
            <a:off x="2176200" y="2926080"/>
            <a:ext cx="360" cy="210240"/>
          </a:xfrm>
          <a:prstGeom prst="line">
            <a:avLst/>
          </a:prstGeom>
          <a:ln w="10160">
            <a:solidFill>
              <a:srgbClr val="64676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Shape 14"/>
          <p:cNvSpPr/>
          <p:nvPr/>
        </p:nvSpPr>
        <p:spPr>
          <a:xfrm>
            <a:off x="804600" y="3154680"/>
            <a:ext cx="2742840" cy="392760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0160">
            <a:solidFill>
              <a:srgbClr val="D8D3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15"/>
          <p:cNvSpPr/>
          <p:nvPr/>
        </p:nvSpPr>
        <p:spPr>
          <a:xfrm>
            <a:off x="914400" y="3246120"/>
            <a:ext cx="2523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DBSCAN grouping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16"/>
          <p:cNvSpPr/>
          <p:nvPr/>
        </p:nvSpPr>
        <p:spPr>
          <a:xfrm>
            <a:off x="2176200" y="3566160"/>
            <a:ext cx="360" cy="210240"/>
          </a:xfrm>
          <a:prstGeom prst="line">
            <a:avLst/>
          </a:prstGeom>
          <a:ln w="10160">
            <a:solidFill>
              <a:srgbClr val="64676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17"/>
          <p:cNvSpPr/>
          <p:nvPr/>
        </p:nvSpPr>
        <p:spPr>
          <a:xfrm>
            <a:off x="804600" y="3794760"/>
            <a:ext cx="2742840" cy="392760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0160">
            <a:solidFill>
              <a:srgbClr val="D8D3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18"/>
          <p:cNvSpPr/>
          <p:nvPr/>
        </p:nvSpPr>
        <p:spPr>
          <a:xfrm>
            <a:off x="914400" y="3886200"/>
            <a:ext cx="2523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Class-aware aggregation weight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Shape 19"/>
          <p:cNvSpPr/>
          <p:nvPr/>
        </p:nvSpPr>
        <p:spPr>
          <a:xfrm>
            <a:off x="3977640" y="2103120"/>
            <a:ext cx="2239920" cy="1517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3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Shape 20"/>
          <p:cNvSpPr/>
          <p:nvPr/>
        </p:nvSpPr>
        <p:spPr>
          <a:xfrm>
            <a:off x="4078080" y="2212920"/>
            <a:ext cx="429480" cy="219240"/>
          </a:xfrm>
          <a:prstGeom prst="rect">
            <a:avLst/>
          </a:prstGeom>
          <a:solidFill>
            <a:srgbClr val="DCE8E5"/>
          </a:solidFill>
          <a:ln w="63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Shape 21"/>
          <p:cNvSpPr/>
          <p:nvPr/>
        </p:nvSpPr>
        <p:spPr>
          <a:xfrm>
            <a:off x="4581000" y="2212920"/>
            <a:ext cx="429480" cy="219240"/>
          </a:xfrm>
          <a:prstGeom prst="rect">
            <a:avLst/>
          </a:prstGeom>
          <a:solidFill>
            <a:srgbClr val="F7F5F0"/>
          </a:solidFill>
          <a:ln w="63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22"/>
          <p:cNvSpPr/>
          <p:nvPr/>
        </p:nvSpPr>
        <p:spPr>
          <a:xfrm>
            <a:off x="5083920" y="2212920"/>
            <a:ext cx="429480" cy="219240"/>
          </a:xfrm>
          <a:prstGeom prst="rect">
            <a:avLst/>
          </a:prstGeom>
          <a:solidFill>
            <a:srgbClr val="F7F5F0"/>
          </a:solidFill>
          <a:ln w="63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23"/>
          <p:cNvSpPr/>
          <p:nvPr/>
        </p:nvSpPr>
        <p:spPr>
          <a:xfrm>
            <a:off x="5586840" y="2212920"/>
            <a:ext cx="429480" cy="219240"/>
          </a:xfrm>
          <a:prstGeom prst="rect">
            <a:avLst/>
          </a:prstGeom>
          <a:solidFill>
            <a:srgbClr val="F7F5F0"/>
          </a:solidFill>
          <a:ln w="63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24"/>
          <p:cNvSpPr/>
          <p:nvPr/>
        </p:nvSpPr>
        <p:spPr>
          <a:xfrm>
            <a:off x="4078080" y="2496240"/>
            <a:ext cx="429480" cy="219240"/>
          </a:xfrm>
          <a:prstGeom prst="rect">
            <a:avLst/>
          </a:prstGeom>
          <a:solidFill>
            <a:srgbClr val="F7F5F0"/>
          </a:solidFill>
          <a:ln w="63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25"/>
          <p:cNvSpPr/>
          <p:nvPr/>
        </p:nvSpPr>
        <p:spPr>
          <a:xfrm>
            <a:off x="4581000" y="2496240"/>
            <a:ext cx="429480" cy="219240"/>
          </a:xfrm>
          <a:prstGeom prst="rect">
            <a:avLst/>
          </a:prstGeom>
          <a:solidFill>
            <a:srgbClr val="DCE8E5"/>
          </a:solidFill>
          <a:ln w="63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Shape 26"/>
          <p:cNvSpPr/>
          <p:nvPr/>
        </p:nvSpPr>
        <p:spPr>
          <a:xfrm>
            <a:off x="5083920" y="2496240"/>
            <a:ext cx="429480" cy="219240"/>
          </a:xfrm>
          <a:prstGeom prst="rect">
            <a:avLst/>
          </a:prstGeom>
          <a:solidFill>
            <a:srgbClr val="F7F5F0"/>
          </a:solidFill>
          <a:ln w="63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27"/>
          <p:cNvSpPr/>
          <p:nvPr/>
        </p:nvSpPr>
        <p:spPr>
          <a:xfrm>
            <a:off x="5586840" y="2496240"/>
            <a:ext cx="429480" cy="219240"/>
          </a:xfrm>
          <a:prstGeom prst="rect">
            <a:avLst/>
          </a:prstGeom>
          <a:solidFill>
            <a:srgbClr val="F7F5F0"/>
          </a:solidFill>
          <a:ln w="63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28"/>
          <p:cNvSpPr/>
          <p:nvPr/>
        </p:nvSpPr>
        <p:spPr>
          <a:xfrm>
            <a:off x="4078080" y="2779920"/>
            <a:ext cx="429480" cy="219240"/>
          </a:xfrm>
          <a:prstGeom prst="rect">
            <a:avLst/>
          </a:prstGeom>
          <a:solidFill>
            <a:srgbClr val="F7F5F0"/>
          </a:solidFill>
          <a:ln w="63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29"/>
          <p:cNvSpPr/>
          <p:nvPr/>
        </p:nvSpPr>
        <p:spPr>
          <a:xfrm>
            <a:off x="4581000" y="2779920"/>
            <a:ext cx="429480" cy="219240"/>
          </a:xfrm>
          <a:prstGeom prst="rect">
            <a:avLst/>
          </a:prstGeom>
          <a:solidFill>
            <a:srgbClr val="EBD5D2"/>
          </a:solidFill>
          <a:ln w="63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30"/>
          <p:cNvSpPr/>
          <p:nvPr/>
        </p:nvSpPr>
        <p:spPr>
          <a:xfrm>
            <a:off x="5083920" y="2779920"/>
            <a:ext cx="429480" cy="219240"/>
          </a:xfrm>
          <a:prstGeom prst="rect">
            <a:avLst/>
          </a:prstGeom>
          <a:solidFill>
            <a:srgbClr val="DCE8E5"/>
          </a:solidFill>
          <a:ln w="63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Shape 31"/>
          <p:cNvSpPr/>
          <p:nvPr/>
        </p:nvSpPr>
        <p:spPr>
          <a:xfrm>
            <a:off x="5586840" y="2779920"/>
            <a:ext cx="429480" cy="219240"/>
          </a:xfrm>
          <a:prstGeom prst="rect">
            <a:avLst/>
          </a:prstGeom>
          <a:solidFill>
            <a:srgbClr val="F7F5F0"/>
          </a:solidFill>
          <a:ln w="63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Shape 32"/>
          <p:cNvSpPr/>
          <p:nvPr/>
        </p:nvSpPr>
        <p:spPr>
          <a:xfrm>
            <a:off x="4078080" y="3063240"/>
            <a:ext cx="429480" cy="219240"/>
          </a:xfrm>
          <a:prstGeom prst="rect">
            <a:avLst/>
          </a:prstGeom>
          <a:solidFill>
            <a:srgbClr val="F7F5F0"/>
          </a:solidFill>
          <a:ln w="63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Shape 33"/>
          <p:cNvSpPr/>
          <p:nvPr/>
        </p:nvSpPr>
        <p:spPr>
          <a:xfrm>
            <a:off x="4581000" y="3063240"/>
            <a:ext cx="429480" cy="219240"/>
          </a:xfrm>
          <a:prstGeom prst="rect">
            <a:avLst/>
          </a:prstGeom>
          <a:solidFill>
            <a:srgbClr val="F7F5F0"/>
          </a:solidFill>
          <a:ln w="63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Shape 34"/>
          <p:cNvSpPr/>
          <p:nvPr/>
        </p:nvSpPr>
        <p:spPr>
          <a:xfrm>
            <a:off x="5083920" y="3063240"/>
            <a:ext cx="429480" cy="219240"/>
          </a:xfrm>
          <a:prstGeom prst="rect">
            <a:avLst/>
          </a:prstGeom>
          <a:solidFill>
            <a:srgbClr val="F7F5F0"/>
          </a:solidFill>
          <a:ln w="63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Shape 35"/>
          <p:cNvSpPr/>
          <p:nvPr/>
        </p:nvSpPr>
        <p:spPr>
          <a:xfrm>
            <a:off x="5586840" y="3063240"/>
            <a:ext cx="429480" cy="219240"/>
          </a:xfrm>
          <a:prstGeom prst="rect">
            <a:avLst/>
          </a:prstGeom>
          <a:solidFill>
            <a:srgbClr val="DCE8E5"/>
          </a:solidFill>
          <a:ln w="63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36"/>
          <p:cNvSpPr/>
          <p:nvPr/>
        </p:nvSpPr>
        <p:spPr>
          <a:xfrm>
            <a:off x="3904560" y="3840480"/>
            <a:ext cx="2422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C18A3B"/>
                </a:solidFill>
                <a:effectLst/>
                <a:uFillTx/>
                <a:latin typeface="Aptos"/>
                <a:ea typeface="Aptos"/>
              </a:rPr>
              <a:t>CPM = class behavior, not sample count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Shape 37"/>
          <p:cNvSpPr/>
          <p:nvPr/>
        </p:nvSpPr>
        <p:spPr>
          <a:xfrm>
            <a:off x="6629400" y="1298520"/>
            <a:ext cx="1051200" cy="347040"/>
          </a:xfrm>
          <a:prstGeom prst="roundRect">
            <a:avLst>
              <a:gd name="adj" fmla="val 13158"/>
            </a:avLst>
          </a:prstGeom>
          <a:solidFill>
            <a:srgbClr val="DCE5EA"/>
          </a:solidFill>
          <a:ln w="10160">
            <a:solidFill>
              <a:srgbClr val="456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38"/>
          <p:cNvSpPr/>
          <p:nvPr/>
        </p:nvSpPr>
        <p:spPr>
          <a:xfrm>
            <a:off x="6739200" y="1389960"/>
            <a:ext cx="8316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Client 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39"/>
          <p:cNvSpPr/>
          <p:nvPr/>
        </p:nvSpPr>
        <p:spPr>
          <a:xfrm>
            <a:off x="6766560" y="1783080"/>
            <a:ext cx="21484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many samples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poor minority-class knowledge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Shape 40"/>
          <p:cNvSpPr/>
          <p:nvPr/>
        </p:nvSpPr>
        <p:spPr>
          <a:xfrm>
            <a:off x="6629400" y="2834640"/>
            <a:ext cx="1051200" cy="347040"/>
          </a:xfrm>
          <a:prstGeom prst="roundRect">
            <a:avLst>
              <a:gd name="adj" fmla="val 13158"/>
            </a:avLst>
          </a:prstGeom>
          <a:solidFill>
            <a:srgbClr val="EFE3C9"/>
          </a:solidFill>
          <a:ln w="10160">
            <a:solidFill>
              <a:srgbClr val="C18A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41"/>
          <p:cNvSpPr/>
          <p:nvPr/>
        </p:nvSpPr>
        <p:spPr>
          <a:xfrm>
            <a:off x="6739200" y="2926080"/>
            <a:ext cx="8316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Client B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42"/>
          <p:cNvSpPr/>
          <p:nvPr/>
        </p:nvSpPr>
        <p:spPr>
          <a:xfrm>
            <a:off x="6766560" y="3310200"/>
            <a:ext cx="21484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fewer samples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strong rare-attack knowledge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Shape 43"/>
          <p:cNvSpPr/>
          <p:nvPr/>
        </p:nvSpPr>
        <p:spPr>
          <a:xfrm>
            <a:off x="9281160" y="1417320"/>
            <a:ext cx="1279800" cy="347040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0160">
            <a:solidFill>
              <a:srgbClr val="646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44"/>
          <p:cNvSpPr/>
          <p:nvPr/>
        </p:nvSpPr>
        <p:spPr>
          <a:xfrm>
            <a:off x="9390960" y="1508760"/>
            <a:ext cx="10602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FedAvg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45"/>
          <p:cNvSpPr/>
          <p:nvPr/>
        </p:nvSpPr>
        <p:spPr>
          <a:xfrm>
            <a:off x="9363600" y="187452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A84A44"/>
                </a:solidFill>
                <a:effectLst/>
                <a:uFillTx/>
                <a:latin typeface="Aptos"/>
                <a:ea typeface="Aptos"/>
              </a:rPr>
              <a:t>A dominates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Shape 46"/>
          <p:cNvSpPr/>
          <p:nvPr/>
        </p:nvSpPr>
        <p:spPr>
          <a:xfrm>
            <a:off x="9281160" y="2907720"/>
            <a:ext cx="1462680" cy="347040"/>
          </a:xfrm>
          <a:prstGeom prst="roundRect">
            <a:avLst>
              <a:gd name="adj" fmla="val 13158"/>
            </a:avLst>
          </a:prstGeom>
          <a:solidFill>
            <a:srgbClr val="EFE3C9"/>
          </a:solidFill>
          <a:ln w="10160">
            <a:solidFill>
              <a:srgbClr val="C18A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47"/>
          <p:cNvSpPr/>
          <p:nvPr/>
        </p:nvSpPr>
        <p:spPr>
          <a:xfrm>
            <a:off x="9390960" y="2999160"/>
            <a:ext cx="12430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FedMADE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48"/>
          <p:cNvSpPr/>
          <p:nvPr/>
        </p:nvSpPr>
        <p:spPr>
          <a:xfrm>
            <a:off x="9363600" y="3401640"/>
            <a:ext cx="20570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76B68"/>
                </a:solidFill>
                <a:effectLst/>
                <a:uFillTx/>
                <a:latin typeface="Aptos"/>
                <a:ea typeface="Aptos"/>
              </a:rPr>
              <a:t>B can retain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76B68"/>
                </a:solidFill>
                <a:effectLst/>
                <a:uFillTx/>
                <a:latin typeface="Aptos"/>
                <a:ea typeface="Aptos"/>
              </a:rPr>
              <a:t>meaningful influence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49"/>
          <p:cNvSpPr/>
          <p:nvPr/>
        </p:nvSpPr>
        <p:spPr>
          <a:xfrm>
            <a:off x="6629400" y="4983480"/>
            <a:ext cx="43887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Dataset size ≠ client usefulness.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4F1EA"/>
          </a:solidFill>
          <a:ln w="12700">
            <a:solidFill>
              <a:srgbClr val="F4F1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1"/>
          <p:cNvSpPr/>
          <p:nvPr/>
        </p:nvSpPr>
        <p:spPr>
          <a:xfrm>
            <a:off x="567000" y="311040"/>
            <a:ext cx="23770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176B68"/>
                </a:solidFill>
                <a:effectLst/>
                <a:uFillTx/>
                <a:latin typeface="Aptos"/>
                <a:ea typeface="Aptos"/>
              </a:rPr>
              <a:t>COMPARATIVE VIEW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2"/>
          <p:cNvSpPr/>
          <p:nvPr/>
        </p:nvSpPr>
        <p:spPr>
          <a:xfrm>
            <a:off x="567000" y="539640"/>
            <a:ext cx="108810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61A1D"/>
                </a:solidFill>
                <a:effectLst/>
                <a:uFillTx/>
                <a:latin typeface="Aptos Display"/>
                <a:ea typeface="Aptos Display"/>
              </a:rPr>
              <a:t>Different Evidence Can Produce Different Decisions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3"/>
          <p:cNvSpPr/>
          <p:nvPr/>
        </p:nvSpPr>
        <p:spPr>
          <a:xfrm>
            <a:off x="502920" y="6492240"/>
            <a:ext cx="11201400" cy="360"/>
          </a:xfrm>
          <a:prstGeom prst="line">
            <a:avLst/>
          </a:prstGeom>
          <a:ln w="7620">
            <a:solidFill>
              <a:srgbClr val="C9C2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4"/>
          <p:cNvSpPr/>
          <p:nvPr/>
        </p:nvSpPr>
        <p:spPr>
          <a:xfrm>
            <a:off x="548640" y="6546960"/>
            <a:ext cx="111096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64676B"/>
                </a:solidFill>
                <a:effectLst/>
                <a:uFillTx/>
                <a:latin typeface="Aptos"/>
                <a:ea typeface="Aptos"/>
              </a:rPr>
              <a:t>Group 06 | Md. Murad Ul Momin • Rima Saha • Sakia Tabassum Anonna • Ashraful Hossain Riyan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Shape 5"/>
          <p:cNvSpPr/>
          <p:nvPr/>
        </p:nvSpPr>
        <p:spPr>
          <a:xfrm>
            <a:off x="502920" y="1143000"/>
            <a:ext cx="1325520" cy="383760"/>
          </a:xfrm>
          <a:prstGeom prst="roundRect">
            <a:avLst>
              <a:gd name="adj" fmla="val 11905"/>
            </a:avLst>
          </a:prstGeom>
          <a:solidFill>
            <a:srgbClr val="161A1D"/>
          </a:solidFill>
          <a:ln w="10160">
            <a:solidFill>
              <a:srgbClr val="161A1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6"/>
          <p:cNvSpPr/>
          <p:nvPr/>
        </p:nvSpPr>
        <p:spPr>
          <a:xfrm>
            <a:off x="612720" y="1234440"/>
            <a:ext cx="11059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Method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Shape 7"/>
          <p:cNvSpPr/>
          <p:nvPr/>
        </p:nvSpPr>
        <p:spPr>
          <a:xfrm>
            <a:off x="1874520" y="1143000"/>
            <a:ext cx="2148480" cy="383760"/>
          </a:xfrm>
          <a:prstGeom prst="roundRect">
            <a:avLst>
              <a:gd name="adj" fmla="val 11905"/>
            </a:avLst>
          </a:prstGeom>
          <a:solidFill>
            <a:srgbClr val="161A1D"/>
          </a:solidFill>
          <a:ln w="10160">
            <a:solidFill>
              <a:srgbClr val="161A1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8"/>
          <p:cNvSpPr/>
          <p:nvPr/>
        </p:nvSpPr>
        <p:spPr>
          <a:xfrm>
            <a:off x="1984320" y="1234440"/>
            <a:ext cx="1928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Observed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9"/>
          <p:cNvSpPr/>
          <p:nvPr/>
        </p:nvSpPr>
        <p:spPr>
          <a:xfrm>
            <a:off x="4069080" y="1143000"/>
            <a:ext cx="2102760" cy="383760"/>
          </a:xfrm>
          <a:prstGeom prst="roundRect">
            <a:avLst>
              <a:gd name="adj" fmla="val 11905"/>
            </a:avLst>
          </a:prstGeom>
          <a:solidFill>
            <a:srgbClr val="161A1D"/>
          </a:solidFill>
          <a:ln w="10160">
            <a:solidFill>
              <a:srgbClr val="161A1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10"/>
          <p:cNvSpPr/>
          <p:nvPr/>
        </p:nvSpPr>
        <p:spPr>
          <a:xfrm>
            <a:off x="4178880" y="1234440"/>
            <a:ext cx="18831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Failure mode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11"/>
          <p:cNvSpPr/>
          <p:nvPr/>
        </p:nvSpPr>
        <p:spPr>
          <a:xfrm>
            <a:off x="6217920" y="1143000"/>
            <a:ext cx="2011320" cy="383760"/>
          </a:xfrm>
          <a:prstGeom prst="roundRect">
            <a:avLst>
              <a:gd name="adj" fmla="val 11905"/>
            </a:avLst>
          </a:prstGeom>
          <a:solidFill>
            <a:srgbClr val="161A1D"/>
          </a:solidFill>
          <a:ln w="10160">
            <a:solidFill>
              <a:srgbClr val="161A1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12"/>
          <p:cNvSpPr/>
          <p:nvPr/>
        </p:nvSpPr>
        <p:spPr>
          <a:xfrm>
            <a:off x="6327720" y="1234440"/>
            <a:ext cx="1791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Strength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Shape 13"/>
          <p:cNvSpPr/>
          <p:nvPr/>
        </p:nvSpPr>
        <p:spPr>
          <a:xfrm>
            <a:off x="8275320" y="1143000"/>
            <a:ext cx="2788560" cy="383760"/>
          </a:xfrm>
          <a:prstGeom prst="roundRect">
            <a:avLst>
              <a:gd name="adj" fmla="val 11905"/>
            </a:avLst>
          </a:prstGeom>
          <a:solidFill>
            <a:srgbClr val="161A1D"/>
          </a:solidFill>
          <a:ln w="10160">
            <a:solidFill>
              <a:srgbClr val="161A1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14"/>
          <p:cNvSpPr/>
          <p:nvPr/>
        </p:nvSpPr>
        <p:spPr>
          <a:xfrm>
            <a:off x="8385120" y="1234440"/>
            <a:ext cx="25689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Possible false alarm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Shape 15"/>
          <p:cNvSpPr/>
          <p:nvPr/>
        </p:nvSpPr>
        <p:spPr>
          <a:xfrm>
            <a:off x="502920" y="1600200"/>
            <a:ext cx="1325520" cy="585000"/>
          </a:xfrm>
          <a:prstGeom prst="roundRect">
            <a:avLst>
              <a:gd name="adj" fmla="val 7813"/>
            </a:avLst>
          </a:prstGeom>
          <a:solidFill>
            <a:srgbClr val="F0ECE3"/>
          </a:solidFill>
          <a:ln w="10160">
            <a:solidFill>
              <a:srgbClr val="D8D3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16"/>
          <p:cNvSpPr/>
          <p:nvPr/>
        </p:nvSpPr>
        <p:spPr>
          <a:xfrm>
            <a:off x="612720" y="1691640"/>
            <a:ext cx="11059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176B68"/>
                </a:solidFill>
                <a:effectLst/>
                <a:uFillTx/>
                <a:latin typeface="Aptos"/>
                <a:ea typeface="Aptos"/>
              </a:rPr>
              <a:t>SecureDyn-FL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Shape 17"/>
          <p:cNvSpPr/>
          <p:nvPr/>
        </p:nvSpPr>
        <p:spPr>
          <a:xfrm>
            <a:off x="1874520" y="1600200"/>
            <a:ext cx="2148480" cy="585000"/>
          </a:xfrm>
          <a:prstGeom prst="roundRect">
            <a:avLst>
              <a:gd name="adj" fmla="val 7813"/>
            </a:avLst>
          </a:prstGeom>
          <a:solidFill>
            <a:srgbClr val="F0ECE3"/>
          </a:solidFill>
          <a:ln w="10160">
            <a:solidFill>
              <a:srgbClr val="D8D3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18"/>
          <p:cNvSpPr/>
          <p:nvPr/>
        </p:nvSpPr>
        <p:spPr>
          <a:xfrm>
            <a:off x="1984320" y="1691640"/>
            <a:ext cx="192888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10" b="0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update trajectory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Shape 19"/>
          <p:cNvSpPr/>
          <p:nvPr/>
        </p:nvSpPr>
        <p:spPr>
          <a:xfrm>
            <a:off x="4069080" y="1600200"/>
            <a:ext cx="2102760" cy="585000"/>
          </a:xfrm>
          <a:prstGeom prst="roundRect">
            <a:avLst>
              <a:gd name="adj" fmla="val 7813"/>
            </a:avLst>
          </a:prstGeom>
          <a:solidFill>
            <a:srgbClr val="F0ECE3"/>
          </a:solidFill>
          <a:ln w="10160">
            <a:solidFill>
              <a:srgbClr val="D8D3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20"/>
          <p:cNvSpPr/>
          <p:nvPr/>
        </p:nvSpPr>
        <p:spPr>
          <a:xfrm>
            <a:off x="4178880" y="1691640"/>
            <a:ext cx="18831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10" b="0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poisoning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Shape 21"/>
          <p:cNvSpPr/>
          <p:nvPr/>
        </p:nvSpPr>
        <p:spPr>
          <a:xfrm>
            <a:off x="6217920" y="1600200"/>
            <a:ext cx="2011320" cy="585000"/>
          </a:xfrm>
          <a:prstGeom prst="roundRect">
            <a:avLst>
              <a:gd name="adj" fmla="val 7813"/>
            </a:avLst>
          </a:prstGeom>
          <a:solidFill>
            <a:srgbClr val="F0ECE3"/>
          </a:solidFill>
          <a:ln w="10160">
            <a:solidFill>
              <a:srgbClr val="D8D3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22"/>
          <p:cNvSpPr/>
          <p:nvPr/>
        </p:nvSpPr>
        <p:spPr>
          <a:xfrm>
            <a:off x="6327720" y="1691640"/>
            <a:ext cx="17917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10" b="0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temporal security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Shape 23"/>
          <p:cNvSpPr/>
          <p:nvPr/>
        </p:nvSpPr>
        <p:spPr>
          <a:xfrm>
            <a:off x="8275320" y="1600200"/>
            <a:ext cx="2788560" cy="585000"/>
          </a:xfrm>
          <a:prstGeom prst="roundRect">
            <a:avLst>
              <a:gd name="adj" fmla="val 7813"/>
            </a:avLst>
          </a:prstGeom>
          <a:solidFill>
            <a:srgbClr val="F0ECE3"/>
          </a:solidFill>
          <a:ln w="10160">
            <a:solidFill>
              <a:srgbClr val="D8D3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24"/>
          <p:cNvSpPr/>
          <p:nvPr/>
        </p:nvSpPr>
        <p:spPr>
          <a:xfrm>
            <a:off x="8385120" y="1691640"/>
            <a:ext cx="25689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10" b="0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benign distribution shift may appear suspicious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Shape 25"/>
          <p:cNvSpPr/>
          <p:nvPr/>
        </p:nvSpPr>
        <p:spPr>
          <a:xfrm>
            <a:off x="502920" y="2313360"/>
            <a:ext cx="1325520" cy="585000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0160">
            <a:solidFill>
              <a:srgbClr val="D8D3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26"/>
          <p:cNvSpPr/>
          <p:nvPr/>
        </p:nvSpPr>
        <p:spPr>
          <a:xfrm>
            <a:off x="612720" y="2404800"/>
            <a:ext cx="11059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176B68"/>
                </a:solidFill>
                <a:effectLst/>
                <a:uFillTx/>
                <a:latin typeface="Aptos"/>
                <a:ea typeface="Aptos"/>
              </a:rPr>
              <a:t>FedMADE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Shape 27"/>
          <p:cNvSpPr/>
          <p:nvPr/>
        </p:nvSpPr>
        <p:spPr>
          <a:xfrm>
            <a:off x="1874520" y="2313360"/>
            <a:ext cx="2148480" cy="585000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0160">
            <a:solidFill>
              <a:srgbClr val="D8D3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28"/>
          <p:cNvSpPr/>
          <p:nvPr/>
        </p:nvSpPr>
        <p:spPr>
          <a:xfrm>
            <a:off x="1984320" y="2404800"/>
            <a:ext cx="192888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10" b="0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class performance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Shape 29"/>
          <p:cNvSpPr/>
          <p:nvPr/>
        </p:nvSpPr>
        <p:spPr>
          <a:xfrm>
            <a:off x="4069080" y="2313360"/>
            <a:ext cx="2102760" cy="585000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0160">
            <a:solidFill>
              <a:srgbClr val="D8D3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30"/>
          <p:cNvSpPr/>
          <p:nvPr/>
        </p:nvSpPr>
        <p:spPr>
          <a:xfrm>
            <a:off x="4178880" y="2404800"/>
            <a:ext cx="18831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10" b="0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class imbalance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Shape 31"/>
          <p:cNvSpPr/>
          <p:nvPr/>
        </p:nvSpPr>
        <p:spPr>
          <a:xfrm>
            <a:off x="6217920" y="2313360"/>
            <a:ext cx="2011320" cy="585000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0160">
            <a:solidFill>
              <a:srgbClr val="D8D3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32"/>
          <p:cNvSpPr/>
          <p:nvPr/>
        </p:nvSpPr>
        <p:spPr>
          <a:xfrm>
            <a:off x="6327720" y="2404800"/>
            <a:ext cx="17917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10" b="0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preserves rare-class knowledge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Shape 33"/>
          <p:cNvSpPr/>
          <p:nvPr/>
        </p:nvSpPr>
        <p:spPr>
          <a:xfrm>
            <a:off x="8275320" y="2313360"/>
            <a:ext cx="2788560" cy="585000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0160">
            <a:solidFill>
              <a:srgbClr val="D8D3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34"/>
          <p:cNvSpPr/>
          <p:nvPr/>
        </p:nvSpPr>
        <p:spPr>
          <a:xfrm>
            <a:off x="8385120" y="2404800"/>
            <a:ext cx="25689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10" b="0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depends on auxiliary reference data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Shape 35"/>
          <p:cNvSpPr/>
          <p:nvPr/>
        </p:nvSpPr>
        <p:spPr>
          <a:xfrm>
            <a:off x="502920" y="3026520"/>
            <a:ext cx="1325520" cy="585000"/>
          </a:xfrm>
          <a:prstGeom prst="roundRect">
            <a:avLst>
              <a:gd name="adj" fmla="val 7813"/>
            </a:avLst>
          </a:prstGeom>
          <a:solidFill>
            <a:srgbClr val="F0ECE3"/>
          </a:solidFill>
          <a:ln w="10160">
            <a:solidFill>
              <a:srgbClr val="D8D3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36"/>
          <p:cNvSpPr/>
          <p:nvPr/>
        </p:nvSpPr>
        <p:spPr>
          <a:xfrm>
            <a:off x="612720" y="3117960"/>
            <a:ext cx="11059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176B68"/>
                </a:solidFill>
                <a:effectLst/>
                <a:uFillTx/>
                <a:latin typeface="Aptos"/>
                <a:ea typeface="Aptos"/>
              </a:rPr>
              <a:t>WEF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Shape 37"/>
          <p:cNvSpPr/>
          <p:nvPr/>
        </p:nvSpPr>
        <p:spPr>
          <a:xfrm>
            <a:off x="1874520" y="3026520"/>
            <a:ext cx="2148480" cy="585000"/>
          </a:xfrm>
          <a:prstGeom prst="roundRect">
            <a:avLst>
              <a:gd name="adj" fmla="val 7813"/>
            </a:avLst>
          </a:prstGeom>
          <a:solidFill>
            <a:srgbClr val="F0ECE3"/>
          </a:solidFill>
          <a:ln w="10160">
            <a:solidFill>
              <a:srgbClr val="D8D3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38"/>
          <p:cNvSpPr/>
          <p:nvPr/>
        </p:nvSpPr>
        <p:spPr>
          <a:xfrm>
            <a:off x="1984320" y="3117960"/>
            <a:ext cx="192888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10" b="0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weight evolution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Shape 39"/>
          <p:cNvSpPr/>
          <p:nvPr/>
        </p:nvSpPr>
        <p:spPr>
          <a:xfrm>
            <a:off x="4069080" y="3026520"/>
            <a:ext cx="2102760" cy="585000"/>
          </a:xfrm>
          <a:prstGeom prst="roundRect">
            <a:avLst>
              <a:gd name="adj" fmla="val 7813"/>
            </a:avLst>
          </a:prstGeom>
          <a:solidFill>
            <a:srgbClr val="F0ECE3"/>
          </a:solidFill>
          <a:ln w="10160">
            <a:solidFill>
              <a:srgbClr val="D8D3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40"/>
          <p:cNvSpPr/>
          <p:nvPr/>
        </p:nvSpPr>
        <p:spPr>
          <a:xfrm>
            <a:off x="4178880" y="3117960"/>
            <a:ext cx="18831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10" b="0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free riding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Shape 41"/>
          <p:cNvSpPr/>
          <p:nvPr/>
        </p:nvSpPr>
        <p:spPr>
          <a:xfrm>
            <a:off x="6217920" y="3026520"/>
            <a:ext cx="2011320" cy="585000"/>
          </a:xfrm>
          <a:prstGeom prst="roundRect">
            <a:avLst>
              <a:gd name="adj" fmla="val 7813"/>
            </a:avLst>
          </a:prstGeom>
          <a:solidFill>
            <a:srgbClr val="F0ECE3"/>
          </a:solidFill>
          <a:ln w="10160">
            <a:solidFill>
              <a:srgbClr val="D8D3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42"/>
          <p:cNvSpPr/>
          <p:nvPr/>
        </p:nvSpPr>
        <p:spPr>
          <a:xfrm>
            <a:off x="6327720" y="3117960"/>
            <a:ext cx="17917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10" b="0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observes actual training behavior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Shape 43"/>
          <p:cNvSpPr/>
          <p:nvPr/>
        </p:nvSpPr>
        <p:spPr>
          <a:xfrm>
            <a:off x="8275320" y="3026520"/>
            <a:ext cx="2788560" cy="585000"/>
          </a:xfrm>
          <a:prstGeom prst="roundRect">
            <a:avLst>
              <a:gd name="adj" fmla="val 7813"/>
            </a:avLst>
          </a:prstGeom>
          <a:solidFill>
            <a:srgbClr val="F0ECE3"/>
          </a:solidFill>
          <a:ln w="10160">
            <a:solidFill>
              <a:srgbClr val="D8D3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44"/>
          <p:cNvSpPr/>
          <p:nvPr/>
        </p:nvSpPr>
        <p:spPr>
          <a:xfrm>
            <a:off x="8385120" y="3117960"/>
            <a:ext cx="25689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10" b="0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benign instability may look abnormal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Shape 45"/>
          <p:cNvSpPr/>
          <p:nvPr/>
        </p:nvSpPr>
        <p:spPr>
          <a:xfrm>
            <a:off x="502920" y="3740040"/>
            <a:ext cx="1325520" cy="585000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0160">
            <a:solidFill>
              <a:srgbClr val="D8D3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46"/>
          <p:cNvSpPr/>
          <p:nvPr/>
        </p:nvSpPr>
        <p:spPr>
          <a:xfrm>
            <a:off x="612720" y="3831480"/>
            <a:ext cx="11059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176B68"/>
                </a:solidFill>
                <a:effectLst/>
                <a:uFillTx/>
                <a:latin typeface="Aptos"/>
                <a:ea typeface="Aptos"/>
              </a:rPr>
              <a:t>FedMSE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Shape 47"/>
          <p:cNvSpPr/>
          <p:nvPr/>
        </p:nvSpPr>
        <p:spPr>
          <a:xfrm>
            <a:off x="1874520" y="3740040"/>
            <a:ext cx="2148480" cy="585000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0160">
            <a:solidFill>
              <a:srgbClr val="D8D3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48"/>
          <p:cNvSpPr/>
          <p:nvPr/>
        </p:nvSpPr>
        <p:spPr>
          <a:xfrm>
            <a:off x="1984320" y="3831480"/>
            <a:ext cx="192888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10" b="0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normal representation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Shape 49"/>
          <p:cNvSpPr/>
          <p:nvPr/>
        </p:nvSpPr>
        <p:spPr>
          <a:xfrm>
            <a:off x="4069080" y="3740040"/>
            <a:ext cx="2102760" cy="585000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0160">
            <a:solidFill>
              <a:srgbClr val="D8D3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50"/>
          <p:cNvSpPr/>
          <p:nvPr/>
        </p:nvSpPr>
        <p:spPr>
          <a:xfrm>
            <a:off x="4178880" y="3831480"/>
            <a:ext cx="18831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10" b="0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unknown anomalies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Shape 51"/>
          <p:cNvSpPr/>
          <p:nvPr/>
        </p:nvSpPr>
        <p:spPr>
          <a:xfrm>
            <a:off x="6217920" y="3740040"/>
            <a:ext cx="2011320" cy="585000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0160">
            <a:solidFill>
              <a:srgbClr val="D8D3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52"/>
          <p:cNvSpPr/>
          <p:nvPr/>
        </p:nvSpPr>
        <p:spPr>
          <a:xfrm>
            <a:off x="6327720" y="3831480"/>
            <a:ext cx="17917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10" b="0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does not require every attack label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Shape 53"/>
          <p:cNvSpPr/>
          <p:nvPr/>
        </p:nvSpPr>
        <p:spPr>
          <a:xfrm>
            <a:off x="8275320" y="3740040"/>
            <a:ext cx="2788560" cy="585000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0160">
            <a:solidFill>
              <a:srgbClr val="D8D3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54"/>
          <p:cNvSpPr/>
          <p:nvPr/>
        </p:nvSpPr>
        <p:spPr>
          <a:xfrm>
            <a:off x="8385120" y="3831480"/>
            <a:ext cx="25689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10" b="0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legitimate unusual behavior may trigger anomaly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55"/>
          <p:cNvSpPr/>
          <p:nvPr/>
        </p:nvSpPr>
        <p:spPr>
          <a:xfrm>
            <a:off x="713160" y="5669280"/>
            <a:ext cx="9692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76B68"/>
                </a:solidFill>
                <a:effectLst/>
                <a:uFillTx/>
                <a:latin typeface="Aptos"/>
                <a:ea typeface="Aptos"/>
              </a:rPr>
              <a:t>No single signal is a universal trust score.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4F1EA"/>
          </a:solidFill>
          <a:ln w="12700">
            <a:solidFill>
              <a:srgbClr val="F4F1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1"/>
          <p:cNvSpPr/>
          <p:nvPr/>
        </p:nvSpPr>
        <p:spPr>
          <a:xfrm>
            <a:off x="567000" y="311040"/>
            <a:ext cx="23770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176B68"/>
                </a:solidFill>
                <a:effectLst/>
                <a:uFillTx/>
                <a:latin typeface="Aptos"/>
                <a:ea typeface="Aptos"/>
              </a:rPr>
              <a:t>RESEARCH GAP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2"/>
          <p:cNvSpPr/>
          <p:nvPr/>
        </p:nvSpPr>
        <p:spPr>
          <a:xfrm>
            <a:off x="567000" y="539640"/>
            <a:ext cx="108810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61A1D"/>
                </a:solidFill>
                <a:effectLst/>
                <a:uFillTx/>
                <a:latin typeface="Aptos Display"/>
                <a:ea typeface="Aptos Display"/>
              </a:rPr>
              <a:t>The Gap Appears Where Security and Class Utility Intersect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Shape 3"/>
          <p:cNvSpPr/>
          <p:nvPr/>
        </p:nvSpPr>
        <p:spPr>
          <a:xfrm>
            <a:off x="502920" y="6492240"/>
            <a:ext cx="11201400" cy="360"/>
          </a:xfrm>
          <a:prstGeom prst="line">
            <a:avLst/>
          </a:prstGeom>
          <a:ln w="7620">
            <a:solidFill>
              <a:srgbClr val="C9C2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4"/>
          <p:cNvSpPr/>
          <p:nvPr/>
        </p:nvSpPr>
        <p:spPr>
          <a:xfrm>
            <a:off x="548640" y="6546960"/>
            <a:ext cx="111096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64676B"/>
                </a:solidFill>
                <a:effectLst/>
                <a:uFillTx/>
                <a:latin typeface="Aptos"/>
                <a:ea typeface="Aptos"/>
              </a:rPr>
              <a:t>Group 06 | Md. Murad Ul Momin • Rima Saha • Sakia Tabassum Anonna • Ashraful Hossain Riyan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Shape 5"/>
          <p:cNvSpPr/>
          <p:nvPr/>
        </p:nvSpPr>
        <p:spPr>
          <a:xfrm>
            <a:off x="868680" y="1755720"/>
            <a:ext cx="328680" cy="328680"/>
          </a:xfrm>
          <a:prstGeom prst="ellipse">
            <a:avLst/>
          </a:prstGeom>
          <a:solidFill>
            <a:srgbClr val="456A82"/>
          </a:solidFill>
          <a:ln w="11430">
            <a:solidFill>
              <a:srgbClr val="456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 6"/>
          <p:cNvSpPr/>
          <p:nvPr/>
        </p:nvSpPr>
        <p:spPr>
          <a:xfrm>
            <a:off x="905400" y="1828800"/>
            <a:ext cx="2556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Shape 7"/>
          <p:cNvSpPr/>
          <p:nvPr/>
        </p:nvSpPr>
        <p:spPr>
          <a:xfrm>
            <a:off x="868680" y="2212920"/>
            <a:ext cx="2559960" cy="1005480"/>
          </a:xfrm>
          <a:prstGeom prst="roundRect">
            <a:avLst>
              <a:gd name="adj" fmla="val 4545"/>
            </a:avLst>
          </a:prstGeom>
          <a:solidFill>
            <a:srgbClr val="DCE5EA"/>
          </a:solidFill>
          <a:ln w="10160">
            <a:solidFill>
              <a:srgbClr val="456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8"/>
          <p:cNvSpPr/>
          <p:nvPr/>
        </p:nvSpPr>
        <p:spPr>
          <a:xfrm>
            <a:off x="978480" y="2304360"/>
            <a:ext cx="234036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Benign heterogeneity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vs.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malicious behavior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Shape 9"/>
          <p:cNvSpPr/>
          <p:nvPr/>
        </p:nvSpPr>
        <p:spPr>
          <a:xfrm>
            <a:off x="2148840" y="3246120"/>
            <a:ext cx="3749040" cy="941760"/>
          </a:xfrm>
          <a:prstGeom prst="line">
            <a:avLst/>
          </a:prstGeom>
          <a:ln w="10160">
            <a:solidFill>
              <a:srgbClr val="456A8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Shape 10"/>
          <p:cNvSpPr/>
          <p:nvPr/>
        </p:nvSpPr>
        <p:spPr>
          <a:xfrm>
            <a:off x="4389120" y="1755720"/>
            <a:ext cx="328680" cy="328680"/>
          </a:xfrm>
          <a:prstGeom prst="ellipse">
            <a:avLst/>
          </a:prstGeom>
          <a:solidFill>
            <a:srgbClr val="C18A3B"/>
          </a:solidFill>
          <a:ln w="11430">
            <a:solidFill>
              <a:srgbClr val="C18A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11"/>
          <p:cNvSpPr/>
          <p:nvPr/>
        </p:nvSpPr>
        <p:spPr>
          <a:xfrm>
            <a:off x="4425840" y="1828800"/>
            <a:ext cx="2556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Shape 12"/>
          <p:cNvSpPr/>
          <p:nvPr/>
        </p:nvSpPr>
        <p:spPr>
          <a:xfrm>
            <a:off x="4389120" y="2212920"/>
            <a:ext cx="2559960" cy="1005480"/>
          </a:xfrm>
          <a:prstGeom prst="roundRect">
            <a:avLst>
              <a:gd name="adj" fmla="val 4545"/>
            </a:avLst>
          </a:prstGeom>
          <a:solidFill>
            <a:srgbClr val="EFE3C9"/>
          </a:solidFill>
          <a:ln w="10160">
            <a:solidFill>
              <a:srgbClr val="C18A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13"/>
          <p:cNvSpPr/>
          <p:nvPr/>
        </p:nvSpPr>
        <p:spPr>
          <a:xfrm>
            <a:off x="4498920" y="2304360"/>
            <a:ext cx="234036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Global accuracy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vs.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minority-class failure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Shape 14"/>
          <p:cNvSpPr/>
          <p:nvPr/>
        </p:nvSpPr>
        <p:spPr>
          <a:xfrm>
            <a:off x="5669280" y="3246120"/>
            <a:ext cx="228600" cy="941760"/>
          </a:xfrm>
          <a:prstGeom prst="line">
            <a:avLst/>
          </a:prstGeom>
          <a:ln w="10160">
            <a:solidFill>
              <a:srgbClr val="C18A3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Shape 15"/>
          <p:cNvSpPr/>
          <p:nvPr/>
        </p:nvSpPr>
        <p:spPr>
          <a:xfrm>
            <a:off x="7909560" y="1755720"/>
            <a:ext cx="328680" cy="328680"/>
          </a:xfrm>
          <a:prstGeom prst="ellipse">
            <a:avLst/>
          </a:prstGeom>
          <a:solidFill>
            <a:srgbClr val="A84A44"/>
          </a:solidFill>
          <a:ln w="11430">
            <a:solidFill>
              <a:srgbClr val="A84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16"/>
          <p:cNvSpPr/>
          <p:nvPr/>
        </p:nvSpPr>
        <p:spPr>
          <a:xfrm>
            <a:off x="7946280" y="1828800"/>
            <a:ext cx="2556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Shape 17"/>
          <p:cNvSpPr/>
          <p:nvPr/>
        </p:nvSpPr>
        <p:spPr>
          <a:xfrm>
            <a:off x="7909560" y="2212920"/>
            <a:ext cx="2559960" cy="1005480"/>
          </a:xfrm>
          <a:prstGeom prst="roundRect">
            <a:avLst>
              <a:gd name="adj" fmla="val 4545"/>
            </a:avLst>
          </a:prstGeom>
          <a:solidFill>
            <a:srgbClr val="EBD5D2"/>
          </a:solidFill>
          <a:ln w="10160">
            <a:solidFill>
              <a:srgbClr val="A84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 18"/>
          <p:cNvSpPr/>
          <p:nvPr/>
        </p:nvSpPr>
        <p:spPr>
          <a:xfrm>
            <a:off x="8019360" y="2304360"/>
            <a:ext cx="234036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Single trust score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vs.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noisy multi-view evidence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Shape 19"/>
          <p:cNvSpPr/>
          <p:nvPr/>
        </p:nvSpPr>
        <p:spPr>
          <a:xfrm flipH="1">
            <a:off x="5897880" y="3246120"/>
            <a:ext cx="3291840" cy="941760"/>
          </a:xfrm>
          <a:prstGeom prst="line">
            <a:avLst/>
          </a:prstGeom>
          <a:ln w="10160">
            <a:solidFill>
              <a:srgbClr val="A84A4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Shape 20"/>
          <p:cNvSpPr/>
          <p:nvPr/>
        </p:nvSpPr>
        <p:spPr>
          <a:xfrm>
            <a:off x="2788920" y="4251960"/>
            <a:ext cx="6720480" cy="785880"/>
          </a:xfrm>
          <a:prstGeom prst="roundRect">
            <a:avLst>
              <a:gd name="adj" fmla="val 5814"/>
            </a:avLst>
          </a:prstGeom>
          <a:solidFill>
            <a:srgbClr val="161A1D"/>
          </a:solidFill>
          <a:ln w="10160">
            <a:solidFill>
              <a:srgbClr val="161A1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21"/>
          <p:cNvSpPr/>
          <p:nvPr/>
        </p:nvSpPr>
        <p:spPr>
          <a:xfrm>
            <a:off x="2898720" y="4343400"/>
            <a:ext cx="650088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How should the server decide whether an unusual client is harmful or simply valuable?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4F1EA"/>
          </a:solidFill>
          <a:ln w="12700">
            <a:solidFill>
              <a:srgbClr val="F4F1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 1"/>
          <p:cNvSpPr/>
          <p:nvPr/>
        </p:nvSpPr>
        <p:spPr>
          <a:xfrm>
            <a:off x="567000" y="311040"/>
            <a:ext cx="23770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176B68"/>
                </a:solidFill>
                <a:effectLst/>
                <a:uFillTx/>
                <a:latin typeface="Aptos"/>
                <a:ea typeface="Aptos"/>
              </a:rPr>
              <a:t>PROPOSED CSE499B DIRECTION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 2"/>
          <p:cNvSpPr/>
          <p:nvPr/>
        </p:nvSpPr>
        <p:spPr>
          <a:xfrm>
            <a:off x="567000" y="539640"/>
            <a:ext cx="108810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61A1D"/>
                </a:solidFill>
                <a:effectLst/>
                <a:uFillTx/>
                <a:latin typeface="Aptos Display"/>
                <a:ea typeface="Aptos Display"/>
              </a:rPr>
              <a:t>From Single-View Detection to Multi-View Client Evidence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Shape 3"/>
          <p:cNvSpPr/>
          <p:nvPr/>
        </p:nvSpPr>
        <p:spPr>
          <a:xfrm>
            <a:off x="502920" y="6492240"/>
            <a:ext cx="11201400" cy="360"/>
          </a:xfrm>
          <a:prstGeom prst="line">
            <a:avLst/>
          </a:prstGeom>
          <a:ln w="7620">
            <a:solidFill>
              <a:srgbClr val="C9C2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 4"/>
          <p:cNvSpPr/>
          <p:nvPr/>
        </p:nvSpPr>
        <p:spPr>
          <a:xfrm>
            <a:off x="548640" y="6546960"/>
            <a:ext cx="111096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64676B"/>
                </a:solidFill>
                <a:effectLst/>
                <a:uFillTx/>
                <a:latin typeface="Aptos"/>
                <a:ea typeface="Aptos"/>
              </a:rPr>
              <a:t>Group 06 | Md. Murad Ul Momin • Rima Saha • Sakia Tabassum Anonna • Ashraful Hossain Riyan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Shape 5"/>
          <p:cNvSpPr/>
          <p:nvPr/>
        </p:nvSpPr>
        <p:spPr>
          <a:xfrm>
            <a:off x="749880" y="1280160"/>
            <a:ext cx="1828440" cy="456840"/>
          </a:xfrm>
          <a:prstGeom prst="roundRect">
            <a:avLst>
              <a:gd name="adj" fmla="val 10000"/>
            </a:avLst>
          </a:prstGeom>
          <a:solidFill>
            <a:srgbClr val="DCE5EA"/>
          </a:solidFill>
          <a:ln w="10160">
            <a:solidFill>
              <a:srgbClr val="456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 6"/>
          <p:cNvSpPr/>
          <p:nvPr/>
        </p:nvSpPr>
        <p:spPr>
          <a:xfrm>
            <a:off x="859680" y="1371600"/>
            <a:ext cx="1608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IoT Client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Shape 7"/>
          <p:cNvSpPr/>
          <p:nvPr/>
        </p:nvSpPr>
        <p:spPr>
          <a:xfrm>
            <a:off x="1663920" y="1737360"/>
            <a:ext cx="360" cy="365760"/>
          </a:xfrm>
          <a:prstGeom prst="line">
            <a:avLst/>
          </a:prstGeom>
          <a:ln w="10160">
            <a:solidFill>
              <a:srgbClr val="64676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Shape 8"/>
          <p:cNvSpPr/>
          <p:nvPr/>
        </p:nvSpPr>
        <p:spPr>
          <a:xfrm>
            <a:off x="749880" y="2148840"/>
            <a:ext cx="1828440" cy="456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D3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9"/>
          <p:cNvSpPr/>
          <p:nvPr/>
        </p:nvSpPr>
        <p:spPr>
          <a:xfrm>
            <a:off x="859680" y="2240280"/>
            <a:ext cx="1608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Local Training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Shape 10"/>
          <p:cNvSpPr/>
          <p:nvPr/>
        </p:nvSpPr>
        <p:spPr>
          <a:xfrm>
            <a:off x="1663920" y="2606040"/>
            <a:ext cx="360" cy="365760"/>
          </a:xfrm>
          <a:prstGeom prst="line">
            <a:avLst/>
          </a:prstGeom>
          <a:ln w="10160">
            <a:solidFill>
              <a:srgbClr val="64676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Shape 11"/>
          <p:cNvSpPr/>
          <p:nvPr/>
        </p:nvSpPr>
        <p:spPr>
          <a:xfrm>
            <a:off x="749880" y="3017520"/>
            <a:ext cx="1828440" cy="456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D3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12"/>
          <p:cNvSpPr/>
          <p:nvPr/>
        </p:nvSpPr>
        <p:spPr>
          <a:xfrm>
            <a:off x="859680" y="3108960"/>
            <a:ext cx="1608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Local Model / Update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Shape 13"/>
          <p:cNvSpPr/>
          <p:nvPr/>
        </p:nvSpPr>
        <p:spPr>
          <a:xfrm>
            <a:off x="3703320" y="2148840"/>
            <a:ext cx="1096920" cy="411120"/>
          </a:xfrm>
          <a:prstGeom prst="roundRect">
            <a:avLst>
              <a:gd name="adj" fmla="val 11111"/>
            </a:avLst>
          </a:prstGeom>
          <a:solidFill>
            <a:srgbClr val="161A1D"/>
          </a:solidFill>
          <a:ln w="10160">
            <a:solidFill>
              <a:srgbClr val="161A1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14"/>
          <p:cNvSpPr/>
          <p:nvPr/>
        </p:nvSpPr>
        <p:spPr>
          <a:xfrm>
            <a:off x="3813120" y="2240280"/>
            <a:ext cx="87732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SERVER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Shape 15"/>
          <p:cNvSpPr/>
          <p:nvPr/>
        </p:nvSpPr>
        <p:spPr>
          <a:xfrm flipV="1">
            <a:off x="2606040" y="2359080"/>
            <a:ext cx="1097280" cy="658440"/>
          </a:xfrm>
          <a:prstGeom prst="line">
            <a:avLst/>
          </a:prstGeom>
          <a:ln w="11430">
            <a:solidFill>
              <a:srgbClr val="64676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Shape 16"/>
          <p:cNvSpPr/>
          <p:nvPr/>
        </p:nvSpPr>
        <p:spPr>
          <a:xfrm>
            <a:off x="5257800" y="1188720"/>
            <a:ext cx="2605680" cy="1142640"/>
          </a:xfrm>
          <a:prstGeom prst="roundRect">
            <a:avLst>
              <a:gd name="adj" fmla="val 4000"/>
            </a:avLst>
          </a:prstGeom>
          <a:solidFill>
            <a:srgbClr val="DCE5EA"/>
          </a:solidFill>
          <a:ln w="10160">
            <a:solidFill>
              <a:srgbClr val="456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 17"/>
          <p:cNvSpPr/>
          <p:nvPr/>
        </p:nvSpPr>
        <p:spPr>
          <a:xfrm>
            <a:off x="5367600" y="1280160"/>
            <a:ext cx="2386080" cy="97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Temporal Trust Evidence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SecureDyn-inspired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• update trajectory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• anomalous update behavior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Shape 18"/>
          <p:cNvSpPr/>
          <p:nvPr/>
        </p:nvSpPr>
        <p:spPr>
          <a:xfrm>
            <a:off x="5257800" y="3383280"/>
            <a:ext cx="2605680" cy="1334520"/>
          </a:xfrm>
          <a:prstGeom prst="roundRect">
            <a:avLst>
              <a:gd name="adj" fmla="val 3425"/>
            </a:avLst>
          </a:prstGeom>
          <a:solidFill>
            <a:srgbClr val="EFE3C9"/>
          </a:solidFill>
          <a:ln w="10160">
            <a:solidFill>
              <a:srgbClr val="C18A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 19"/>
          <p:cNvSpPr/>
          <p:nvPr/>
        </p:nvSpPr>
        <p:spPr>
          <a:xfrm>
            <a:off x="5367600" y="3474720"/>
            <a:ext cx="2386080" cy="117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Class Contribution Evidence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FedMADE-inspired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• CPM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• minority-class utility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• per-class behavior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Shape 20"/>
          <p:cNvSpPr/>
          <p:nvPr/>
        </p:nvSpPr>
        <p:spPr>
          <a:xfrm flipV="1">
            <a:off x="4800600" y="1783080"/>
            <a:ext cx="457200" cy="576000"/>
          </a:xfrm>
          <a:prstGeom prst="line">
            <a:avLst/>
          </a:prstGeom>
          <a:ln w="11430">
            <a:solidFill>
              <a:srgbClr val="456A8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Shape 21"/>
          <p:cNvSpPr/>
          <p:nvPr/>
        </p:nvSpPr>
        <p:spPr>
          <a:xfrm>
            <a:off x="4800600" y="2359080"/>
            <a:ext cx="457200" cy="1572840"/>
          </a:xfrm>
          <a:prstGeom prst="line">
            <a:avLst/>
          </a:prstGeom>
          <a:ln w="11430">
            <a:solidFill>
              <a:srgbClr val="C18A3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Shape 22"/>
          <p:cNvSpPr/>
          <p:nvPr/>
        </p:nvSpPr>
        <p:spPr>
          <a:xfrm>
            <a:off x="8686800" y="2359080"/>
            <a:ext cx="1462680" cy="776880"/>
          </a:xfrm>
          <a:prstGeom prst="roundRect">
            <a:avLst>
              <a:gd name="adj" fmla="val 5882"/>
            </a:avLst>
          </a:prstGeom>
          <a:solidFill>
            <a:srgbClr val="161A1D"/>
          </a:solidFill>
          <a:ln w="10160">
            <a:solidFill>
              <a:srgbClr val="161A1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 23"/>
          <p:cNvSpPr/>
          <p:nvPr/>
        </p:nvSpPr>
        <p:spPr>
          <a:xfrm>
            <a:off x="8796600" y="2450520"/>
            <a:ext cx="1243080" cy="61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Multi-View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Client Score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Shape 24"/>
          <p:cNvSpPr/>
          <p:nvPr/>
        </p:nvSpPr>
        <p:spPr>
          <a:xfrm>
            <a:off x="7881840" y="1755360"/>
            <a:ext cx="804960" cy="878040"/>
          </a:xfrm>
          <a:prstGeom prst="line">
            <a:avLst/>
          </a:prstGeom>
          <a:ln w="11430">
            <a:solidFill>
              <a:srgbClr val="456A8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Shape 25"/>
          <p:cNvSpPr/>
          <p:nvPr/>
        </p:nvSpPr>
        <p:spPr>
          <a:xfrm flipV="1">
            <a:off x="7881840" y="2862000"/>
            <a:ext cx="804960" cy="1179360"/>
          </a:xfrm>
          <a:prstGeom prst="line">
            <a:avLst/>
          </a:prstGeom>
          <a:ln w="11430">
            <a:solidFill>
              <a:srgbClr val="C18A3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Shape 26"/>
          <p:cNvSpPr/>
          <p:nvPr/>
        </p:nvSpPr>
        <p:spPr>
          <a:xfrm>
            <a:off x="8458200" y="3886200"/>
            <a:ext cx="1919880" cy="685440"/>
          </a:xfrm>
          <a:prstGeom prst="roundRect">
            <a:avLst>
              <a:gd name="adj" fmla="val 6667"/>
            </a:avLst>
          </a:prstGeom>
          <a:solidFill>
            <a:srgbClr val="DCE8E5"/>
          </a:solidFill>
          <a:ln w="10160">
            <a:solidFill>
              <a:srgbClr val="176B6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 27"/>
          <p:cNvSpPr/>
          <p:nvPr/>
        </p:nvSpPr>
        <p:spPr>
          <a:xfrm>
            <a:off x="8568000" y="3977640"/>
            <a:ext cx="170028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Trust-aware +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class-aware aggregation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Shape 28"/>
          <p:cNvSpPr/>
          <p:nvPr/>
        </p:nvSpPr>
        <p:spPr>
          <a:xfrm>
            <a:off x="9418320" y="3154680"/>
            <a:ext cx="360" cy="731520"/>
          </a:xfrm>
          <a:prstGeom prst="line">
            <a:avLst/>
          </a:prstGeom>
          <a:ln w="11430">
            <a:solidFill>
              <a:srgbClr val="176B6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Shape 29"/>
          <p:cNvSpPr/>
          <p:nvPr/>
        </p:nvSpPr>
        <p:spPr>
          <a:xfrm>
            <a:off x="10835640" y="3840480"/>
            <a:ext cx="868320" cy="73116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0160">
            <a:solidFill>
              <a:srgbClr val="176B6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 30"/>
          <p:cNvSpPr/>
          <p:nvPr/>
        </p:nvSpPr>
        <p:spPr>
          <a:xfrm>
            <a:off x="10945440" y="3931920"/>
            <a:ext cx="6487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Global IDS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Model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Shape 31"/>
          <p:cNvSpPr/>
          <p:nvPr/>
        </p:nvSpPr>
        <p:spPr>
          <a:xfrm>
            <a:off x="10387440" y="4224240"/>
            <a:ext cx="448200" cy="360"/>
          </a:xfrm>
          <a:prstGeom prst="line">
            <a:avLst/>
          </a:prstGeom>
          <a:ln w="11430">
            <a:solidFill>
              <a:srgbClr val="176B6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 32"/>
          <p:cNvSpPr/>
          <p:nvPr/>
        </p:nvSpPr>
        <p:spPr>
          <a:xfrm>
            <a:off x="932760" y="5513760"/>
            <a:ext cx="98751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76B68"/>
                </a:solidFill>
                <a:effectLst/>
                <a:uFillTx/>
                <a:latin typeface="Aptos"/>
                <a:ea typeface="Aptos"/>
              </a:rPr>
              <a:t>Goal: Protect minority-class performance without falsely rejecting legitimate non-IID clients.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4F1EA"/>
          </a:solidFill>
          <a:ln w="12700">
            <a:solidFill>
              <a:srgbClr val="F4F1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 1"/>
          <p:cNvSpPr/>
          <p:nvPr/>
        </p:nvSpPr>
        <p:spPr>
          <a:xfrm>
            <a:off x="567000" y="311040"/>
            <a:ext cx="23770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176B68"/>
                </a:solidFill>
                <a:effectLst/>
                <a:uFillTx/>
                <a:latin typeface="Aptos"/>
                <a:ea typeface="Aptos"/>
              </a:rPr>
              <a:t>THREAT MODEL / STRESS TEST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 2"/>
          <p:cNvSpPr/>
          <p:nvPr/>
        </p:nvSpPr>
        <p:spPr>
          <a:xfrm>
            <a:off x="567000" y="539640"/>
            <a:ext cx="108810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61A1D"/>
                </a:solidFill>
                <a:effectLst/>
                <a:uFillTx/>
                <a:latin typeface="Aptos Display"/>
                <a:ea typeface="Aptos Display"/>
              </a:rPr>
              <a:t>The Attack We Actually Want to Expose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Shape 3"/>
          <p:cNvSpPr/>
          <p:nvPr/>
        </p:nvSpPr>
        <p:spPr>
          <a:xfrm>
            <a:off x="502920" y="6492240"/>
            <a:ext cx="11201400" cy="360"/>
          </a:xfrm>
          <a:prstGeom prst="line">
            <a:avLst/>
          </a:prstGeom>
          <a:ln w="7620">
            <a:solidFill>
              <a:srgbClr val="C9C2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 4"/>
          <p:cNvSpPr/>
          <p:nvPr/>
        </p:nvSpPr>
        <p:spPr>
          <a:xfrm>
            <a:off x="548640" y="6546960"/>
            <a:ext cx="111096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64676B"/>
                </a:solidFill>
                <a:effectLst/>
                <a:uFillTx/>
                <a:latin typeface="Aptos"/>
                <a:ea typeface="Aptos"/>
              </a:rPr>
              <a:t>Group 06 | Md. Murad Ul Momin • Rima Saha • Sakia Tabassum Anonna • Ashraful Hossain Riyan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Shape 5"/>
          <p:cNvSpPr/>
          <p:nvPr/>
        </p:nvSpPr>
        <p:spPr>
          <a:xfrm>
            <a:off x="777240" y="1371600"/>
            <a:ext cx="895680" cy="420120"/>
          </a:xfrm>
          <a:prstGeom prst="roundRect">
            <a:avLst>
              <a:gd name="adj" fmla="val 10870"/>
            </a:avLst>
          </a:prstGeom>
          <a:solidFill>
            <a:srgbClr val="E1E8DF"/>
          </a:solidFill>
          <a:ln w="10160">
            <a:solidFill>
              <a:srgbClr val="647D6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 6"/>
          <p:cNvSpPr/>
          <p:nvPr/>
        </p:nvSpPr>
        <p:spPr>
          <a:xfrm>
            <a:off x="887040" y="1463040"/>
            <a:ext cx="676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benign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Shape 7"/>
          <p:cNvSpPr/>
          <p:nvPr/>
        </p:nvSpPr>
        <p:spPr>
          <a:xfrm>
            <a:off x="1920240" y="1371600"/>
            <a:ext cx="895680" cy="420120"/>
          </a:xfrm>
          <a:prstGeom prst="roundRect">
            <a:avLst>
              <a:gd name="adj" fmla="val 10870"/>
            </a:avLst>
          </a:prstGeom>
          <a:solidFill>
            <a:srgbClr val="E1E8DF"/>
          </a:solidFill>
          <a:ln w="10160">
            <a:solidFill>
              <a:srgbClr val="647D6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 8"/>
          <p:cNvSpPr/>
          <p:nvPr/>
        </p:nvSpPr>
        <p:spPr>
          <a:xfrm>
            <a:off x="2030040" y="1463040"/>
            <a:ext cx="676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benign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Shape 9"/>
          <p:cNvSpPr/>
          <p:nvPr/>
        </p:nvSpPr>
        <p:spPr>
          <a:xfrm>
            <a:off x="3063240" y="1371600"/>
            <a:ext cx="895680" cy="420120"/>
          </a:xfrm>
          <a:prstGeom prst="roundRect">
            <a:avLst>
              <a:gd name="adj" fmla="val 10870"/>
            </a:avLst>
          </a:prstGeom>
          <a:solidFill>
            <a:srgbClr val="E1E8DF"/>
          </a:solidFill>
          <a:ln w="10160">
            <a:solidFill>
              <a:srgbClr val="647D6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 10"/>
          <p:cNvSpPr/>
          <p:nvPr/>
        </p:nvSpPr>
        <p:spPr>
          <a:xfrm>
            <a:off x="3173040" y="1463040"/>
            <a:ext cx="676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benign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Shape 11"/>
          <p:cNvSpPr/>
          <p:nvPr/>
        </p:nvSpPr>
        <p:spPr>
          <a:xfrm>
            <a:off x="4206240" y="1371600"/>
            <a:ext cx="895680" cy="420120"/>
          </a:xfrm>
          <a:prstGeom prst="roundRect">
            <a:avLst>
              <a:gd name="adj" fmla="val 10870"/>
            </a:avLst>
          </a:prstGeom>
          <a:solidFill>
            <a:srgbClr val="EBD5D2"/>
          </a:solidFill>
          <a:ln w="10160">
            <a:solidFill>
              <a:srgbClr val="A84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 12"/>
          <p:cNvSpPr/>
          <p:nvPr/>
        </p:nvSpPr>
        <p:spPr>
          <a:xfrm>
            <a:off x="4316040" y="1463040"/>
            <a:ext cx="676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compromised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Shape 13"/>
          <p:cNvSpPr/>
          <p:nvPr/>
        </p:nvSpPr>
        <p:spPr>
          <a:xfrm>
            <a:off x="5349240" y="1371600"/>
            <a:ext cx="895680" cy="420120"/>
          </a:xfrm>
          <a:prstGeom prst="roundRect">
            <a:avLst>
              <a:gd name="adj" fmla="val 10870"/>
            </a:avLst>
          </a:prstGeom>
          <a:solidFill>
            <a:srgbClr val="EBD5D2"/>
          </a:solidFill>
          <a:ln w="10160">
            <a:solidFill>
              <a:srgbClr val="A84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 14"/>
          <p:cNvSpPr/>
          <p:nvPr/>
        </p:nvSpPr>
        <p:spPr>
          <a:xfrm>
            <a:off x="5459040" y="1463040"/>
            <a:ext cx="676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compromised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Shape 15"/>
          <p:cNvSpPr/>
          <p:nvPr/>
        </p:nvSpPr>
        <p:spPr>
          <a:xfrm>
            <a:off x="868680" y="2697480"/>
            <a:ext cx="1874160" cy="365400"/>
          </a:xfrm>
          <a:prstGeom prst="roundRect">
            <a:avLst>
              <a:gd name="adj" fmla="val 12500"/>
            </a:avLst>
          </a:prstGeom>
          <a:solidFill>
            <a:srgbClr val="161A1D"/>
          </a:solidFill>
          <a:ln w="10160">
            <a:solidFill>
              <a:srgbClr val="161A1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 16"/>
          <p:cNvSpPr/>
          <p:nvPr/>
        </p:nvSpPr>
        <p:spPr>
          <a:xfrm>
            <a:off x="978480" y="2788920"/>
            <a:ext cx="1654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malicious strategy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 17"/>
          <p:cNvSpPr/>
          <p:nvPr/>
        </p:nvSpPr>
        <p:spPr>
          <a:xfrm>
            <a:off x="960120" y="3273480"/>
            <a:ext cx="31086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Stay close to benign update behavior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while selectively degrading one rare attack class.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Shape 18"/>
          <p:cNvSpPr/>
          <p:nvPr/>
        </p:nvSpPr>
        <p:spPr>
          <a:xfrm>
            <a:off x="6537960" y="1664280"/>
            <a:ext cx="2194200" cy="347040"/>
          </a:xfrm>
          <a:prstGeom prst="roundRect">
            <a:avLst>
              <a:gd name="adj" fmla="val 13158"/>
            </a:avLst>
          </a:prstGeom>
          <a:solidFill>
            <a:srgbClr val="DCE5EA"/>
          </a:solidFill>
          <a:ln w="10160">
            <a:solidFill>
              <a:srgbClr val="456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 19"/>
          <p:cNvSpPr/>
          <p:nvPr/>
        </p:nvSpPr>
        <p:spPr>
          <a:xfrm>
            <a:off x="6647760" y="1755720"/>
            <a:ext cx="19746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Parameter-space appearance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Text 20"/>
          <p:cNvSpPr/>
          <p:nvPr/>
        </p:nvSpPr>
        <p:spPr>
          <a:xfrm>
            <a:off x="6903720" y="2304360"/>
            <a:ext cx="11883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647D68"/>
                </a:solidFill>
                <a:effectLst/>
                <a:uFillTx/>
                <a:latin typeface="Aptos"/>
                <a:ea typeface="Aptos"/>
              </a:rPr>
              <a:t>normal-ish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Shape 21"/>
          <p:cNvSpPr/>
          <p:nvPr/>
        </p:nvSpPr>
        <p:spPr>
          <a:xfrm>
            <a:off x="6720840" y="2715840"/>
            <a:ext cx="1782720" cy="100548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3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Shape 22"/>
          <p:cNvSpPr/>
          <p:nvPr/>
        </p:nvSpPr>
        <p:spPr>
          <a:xfrm>
            <a:off x="6963120" y="2958120"/>
            <a:ext cx="63720" cy="63720"/>
          </a:xfrm>
          <a:prstGeom prst="ellipse">
            <a:avLst/>
          </a:prstGeom>
          <a:solidFill>
            <a:srgbClr val="647D68"/>
          </a:solidFill>
          <a:ln w="12700">
            <a:solidFill>
              <a:srgbClr val="F4F1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0" rIns="9000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9" name="Shape 23"/>
          <p:cNvSpPr/>
          <p:nvPr/>
        </p:nvSpPr>
        <p:spPr>
          <a:xfrm>
            <a:off x="7283160" y="2958120"/>
            <a:ext cx="63720" cy="63720"/>
          </a:xfrm>
          <a:prstGeom prst="ellipse">
            <a:avLst/>
          </a:prstGeom>
          <a:solidFill>
            <a:srgbClr val="647D68"/>
          </a:solidFill>
          <a:ln w="12700">
            <a:solidFill>
              <a:srgbClr val="F4F1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0" rIns="9000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0" name="Shape 24"/>
          <p:cNvSpPr/>
          <p:nvPr/>
        </p:nvSpPr>
        <p:spPr>
          <a:xfrm>
            <a:off x="7603200" y="2958120"/>
            <a:ext cx="63720" cy="63720"/>
          </a:xfrm>
          <a:prstGeom prst="ellipse">
            <a:avLst/>
          </a:prstGeom>
          <a:solidFill>
            <a:srgbClr val="647D68"/>
          </a:solidFill>
          <a:ln w="12700">
            <a:solidFill>
              <a:srgbClr val="F4F1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0" rIns="9000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1" name="Shape 25"/>
          <p:cNvSpPr/>
          <p:nvPr/>
        </p:nvSpPr>
        <p:spPr>
          <a:xfrm>
            <a:off x="7923240" y="2958120"/>
            <a:ext cx="63720" cy="63720"/>
          </a:xfrm>
          <a:prstGeom prst="ellipse">
            <a:avLst/>
          </a:prstGeom>
          <a:solidFill>
            <a:srgbClr val="647D68"/>
          </a:solidFill>
          <a:ln w="12700">
            <a:solidFill>
              <a:srgbClr val="F4F1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0" rIns="9000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2" name="Shape 26"/>
          <p:cNvSpPr/>
          <p:nvPr/>
        </p:nvSpPr>
        <p:spPr>
          <a:xfrm>
            <a:off x="6963120" y="3132000"/>
            <a:ext cx="63720" cy="63720"/>
          </a:xfrm>
          <a:prstGeom prst="ellipse">
            <a:avLst/>
          </a:prstGeom>
          <a:solidFill>
            <a:srgbClr val="647D68"/>
          </a:solidFill>
          <a:ln w="12700">
            <a:solidFill>
              <a:srgbClr val="F4F1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0" rIns="9000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3" name="Shape 27"/>
          <p:cNvSpPr/>
          <p:nvPr/>
        </p:nvSpPr>
        <p:spPr>
          <a:xfrm>
            <a:off x="7283160" y="3132000"/>
            <a:ext cx="63720" cy="63720"/>
          </a:xfrm>
          <a:prstGeom prst="ellipse">
            <a:avLst/>
          </a:prstGeom>
          <a:solidFill>
            <a:srgbClr val="647D68"/>
          </a:solidFill>
          <a:ln w="12700">
            <a:solidFill>
              <a:srgbClr val="F4F1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0" rIns="9000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4" name="Shape 28"/>
          <p:cNvSpPr/>
          <p:nvPr/>
        </p:nvSpPr>
        <p:spPr>
          <a:xfrm>
            <a:off x="7603200" y="3132000"/>
            <a:ext cx="63720" cy="63720"/>
          </a:xfrm>
          <a:prstGeom prst="ellipse">
            <a:avLst/>
          </a:prstGeom>
          <a:solidFill>
            <a:srgbClr val="647D68"/>
          </a:solidFill>
          <a:ln w="12700">
            <a:solidFill>
              <a:srgbClr val="F4F1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0" rIns="9000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5" name="Shape 29"/>
          <p:cNvSpPr/>
          <p:nvPr/>
        </p:nvSpPr>
        <p:spPr>
          <a:xfrm>
            <a:off x="7923240" y="3132000"/>
            <a:ext cx="63720" cy="63720"/>
          </a:xfrm>
          <a:prstGeom prst="ellipse">
            <a:avLst/>
          </a:prstGeom>
          <a:solidFill>
            <a:srgbClr val="647D68"/>
          </a:solidFill>
          <a:ln w="12700">
            <a:solidFill>
              <a:srgbClr val="F4F1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0" rIns="9000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6" name="Shape 30"/>
          <p:cNvSpPr/>
          <p:nvPr/>
        </p:nvSpPr>
        <p:spPr>
          <a:xfrm>
            <a:off x="6963120" y="3305520"/>
            <a:ext cx="63720" cy="63720"/>
          </a:xfrm>
          <a:prstGeom prst="ellipse">
            <a:avLst/>
          </a:prstGeom>
          <a:solidFill>
            <a:srgbClr val="647D68"/>
          </a:solidFill>
          <a:ln w="12700">
            <a:solidFill>
              <a:srgbClr val="F4F1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0" rIns="9000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7" name="Shape 31"/>
          <p:cNvSpPr/>
          <p:nvPr/>
        </p:nvSpPr>
        <p:spPr>
          <a:xfrm>
            <a:off x="7283160" y="3305520"/>
            <a:ext cx="63720" cy="63720"/>
          </a:xfrm>
          <a:prstGeom prst="ellipse">
            <a:avLst/>
          </a:prstGeom>
          <a:solidFill>
            <a:srgbClr val="647D68"/>
          </a:solidFill>
          <a:ln w="12700">
            <a:solidFill>
              <a:srgbClr val="F4F1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0" rIns="9000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8" name="Shape 32"/>
          <p:cNvSpPr/>
          <p:nvPr/>
        </p:nvSpPr>
        <p:spPr>
          <a:xfrm>
            <a:off x="7603200" y="3305520"/>
            <a:ext cx="63720" cy="63720"/>
          </a:xfrm>
          <a:prstGeom prst="ellipse">
            <a:avLst/>
          </a:prstGeom>
          <a:solidFill>
            <a:srgbClr val="647D68"/>
          </a:solidFill>
          <a:ln w="12700">
            <a:solidFill>
              <a:srgbClr val="F4F1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0" rIns="9000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9" name="Shape 33"/>
          <p:cNvSpPr/>
          <p:nvPr/>
        </p:nvSpPr>
        <p:spPr>
          <a:xfrm>
            <a:off x="7923240" y="3305520"/>
            <a:ext cx="63720" cy="63720"/>
          </a:xfrm>
          <a:prstGeom prst="ellipse">
            <a:avLst/>
          </a:prstGeom>
          <a:solidFill>
            <a:srgbClr val="647D68"/>
          </a:solidFill>
          <a:ln w="12700">
            <a:solidFill>
              <a:srgbClr val="F4F1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0" rIns="9000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0" name="Shape 34"/>
          <p:cNvSpPr/>
          <p:nvPr/>
        </p:nvSpPr>
        <p:spPr>
          <a:xfrm>
            <a:off x="6963120" y="3479400"/>
            <a:ext cx="63720" cy="63720"/>
          </a:xfrm>
          <a:prstGeom prst="ellipse">
            <a:avLst/>
          </a:prstGeom>
          <a:solidFill>
            <a:srgbClr val="647D68"/>
          </a:solidFill>
          <a:ln w="12700">
            <a:solidFill>
              <a:srgbClr val="F4F1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0" rIns="9000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1" name="Shape 35"/>
          <p:cNvSpPr/>
          <p:nvPr/>
        </p:nvSpPr>
        <p:spPr>
          <a:xfrm>
            <a:off x="7264800" y="3461040"/>
            <a:ext cx="100080" cy="100080"/>
          </a:xfrm>
          <a:prstGeom prst="ellipse">
            <a:avLst/>
          </a:prstGeom>
          <a:solidFill>
            <a:srgbClr val="A84A44"/>
          </a:solidFill>
          <a:ln w="12700">
            <a:solidFill>
              <a:srgbClr val="F4F1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2" name="Shape 36"/>
          <p:cNvSpPr/>
          <p:nvPr/>
        </p:nvSpPr>
        <p:spPr>
          <a:xfrm>
            <a:off x="7603200" y="3479400"/>
            <a:ext cx="63720" cy="63720"/>
          </a:xfrm>
          <a:prstGeom prst="ellipse">
            <a:avLst/>
          </a:prstGeom>
          <a:solidFill>
            <a:srgbClr val="647D68"/>
          </a:solidFill>
          <a:ln w="12700">
            <a:solidFill>
              <a:srgbClr val="F4F1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0" rIns="9000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3" name="Shape 37"/>
          <p:cNvSpPr/>
          <p:nvPr/>
        </p:nvSpPr>
        <p:spPr>
          <a:xfrm>
            <a:off x="7923240" y="3479400"/>
            <a:ext cx="63720" cy="63720"/>
          </a:xfrm>
          <a:prstGeom prst="ellipse">
            <a:avLst/>
          </a:prstGeom>
          <a:solidFill>
            <a:srgbClr val="647D68"/>
          </a:solidFill>
          <a:ln w="12700">
            <a:solidFill>
              <a:srgbClr val="F4F1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0" rIns="9000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4" name="Shape 38"/>
          <p:cNvSpPr/>
          <p:nvPr/>
        </p:nvSpPr>
        <p:spPr>
          <a:xfrm>
            <a:off x="9189720" y="1664280"/>
            <a:ext cx="1919880" cy="347040"/>
          </a:xfrm>
          <a:prstGeom prst="roundRect">
            <a:avLst>
              <a:gd name="adj" fmla="val 13158"/>
            </a:avLst>
          </a:prstGeom>
          <a:solidFill>
            <a:srgbClr val="EFE3C9"/>
          </a:solidFill>
          <a:ln w="10160">
            <a:solidFill>
              <a:srgbClr val="C18A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Text 39"/>
          <p:cNvSpPr/>
          <p:nvPr/>
        </p:nvSpPr>
        <p:spPr>
          <a:xfrm>
            <a:off x="9299520" y="1755720"/>
            <a:ext cx="17002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Class-level impact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Text 40"/>
          <p:cNvSpPr/>
          <p:nvPr/>
        </p:nvSpPr>
        <p:spPr>
          <a:xfrm>
            <a:off x="9738360" y="2304360"/>
            <a:ext cx="10969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A84A44"/>
                </a:solidFill>
                <a:effectLst/>
                <a:uFillTx/>
                <a:latin typeface="Aptos"/>
                <a:ea typeface="Aptos"/>
              </a:rPr>
              <a:t>harmful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Shape 41"/>
          <p:cNvSpPr/>
          <p:nvPr/>
        </p:nvSpPr>
        <p:spPr>
          <a:xfrm>
            <a:off x="9281160" y="2807280"/>
            <a:ext cx="1599840" cy="200880"/>
          </a:xfrm>
          <a:prstGeom prst="rect">
            <a:avLst/>
          </a:prstGeom>
          <a:solidFill>
            <a:srgbClr val="647D68"/>
          </a:solidFill>
          <a:ln w="12700">
            <a:solidFill>
              <a:srgbClr val="647D6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8" name="Shape 42"/>
          <p:cNvSpPr/>
          <p:nvPr/>
        </p:nvSpPr>
        <p:spPr>
          <a:xfrm>
            <a:off x="9281160" y="3237120"/>
            <a:ext cx="566640" cy="200880"/>
          </a:xfrm>
          <a:prstGeom prst="rect">
            <a:avLst/>
          </a:prstGeom>
          <a:solidFill>
            <a:srgbClr val="A84A44"/>
          </a:solidFill>
          <a:ln w="12700">
            <a:solidFill>
              <a:srgbClr val="A84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9" name="Text 43"/>
          <p:cNvSpPr/>
          <p:nvPr/>
        </p:nvSpPr>
        <p:spPr>
          <a:xfrm>
            <a:off x="10927080" y="2752200"/>
            <a:ext cx="8683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64676B"/>
                </a:solidFill>
                <a:effectLst/>
                <a:uFillTx/>
                <a:latin typeface="Aptos"/>
                <a:ea typeface="Aptos"/>
              </a:rPr>
              <a:t>global accuracy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Text 44"/>
          <p:cNvSpPr/>
          <p:nvPr/>
        </p:nvSpPr>
        <p:spPr>
          <a:xfrm>
            <a:off x="10927080" y="3182040"/>
            <a:ext cx="959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64676B"/>
                </a:solidFill>
                <a:effectLst/>
                <a:uFillTx/>
                <a:latin typeface="Aptos"/>
                <a:ea typeface="Aptos"/>
              </a:rPr>
              <a:t>rare-class recall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Text 45"/>
          <p:cNvSpPr/>
          <p:nvPr/>
        </p:nvSpPr>
        <p:spPr>
          <a:xfrm>
            <a:off x="3017520" y="5303520"/>
            <a:ext cx="6309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76B68"/>
                </a:solidFill>
                <a:effectLst/>
                <a:uFillTx/>
                <a:latin typeface="Aptos"/>
                <a:ea typeface="Aptos"/>
              </a:rPr>
              <a:t>Stealth in parameter space. Damage in class space.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4F1EA"/>
          </a:solidFill>
          <a:ln w="12700">
            <a:solidFill>
              <a:srgbClr val="F4F1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 1"/>
          <p:cNvSpPr/>
          <p:nvPr/>
        </p:nvSpPr>
        <p:spPr>
          <a:xfrm>
            <a:off x="567000" y="311040"/>
            <a:ext cx="23770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176B68"/>
                </a:solidFill>
                <a:effectLst/>
                <a:uFillTx/>
                <a:latin typeface="Aptos"/>
                <a:ea typeface="Aptos"/>
              </a:rPr>
              <a:t>EXPERIMENTAL PLAN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 2"/>
          <p:cNvSpPr/>
          <p:nvPr/>
        </p:nvSpPr>
        <p:spPr>
          <a:xfrm>
            <a:off x="567000" y="539640"/>
            <a:ext cx="108810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61A1D"/>
                </a:solidFill>
                <a:effectLst/>
                <a:uFillTx/>
                <a:latin typeface="Aptos Display"/>
                <a:ea typeface="Aptos Display"/>
              </a:rPr>
              <a:t>Controlled Comparison Before Combination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Shape 3"/>
          <p:cNvSpPr/>
          <p:nvPr/>
        </p:nvSpPr>
        <p:spPr>
          <a:xfrm>
            <a:off x="502920" y="6492240"/>
            <a:ext cx="11201400" cy="360"/>
          </a:xfrm>
          <a:prstGeom prst="line">
            <a:avLst/>
          </a:prstGeom>
          <a:ln w="7620">
            <a:solidFill>
              <a:srgbClr val="C9C2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Text 4"/>
          <p:cNvSpPr/>
          <p:nvPr/>
        </p:nvSpPr>
        <p:spPr>
          <a:xfrm>
            <a:off x="548640" y="6546960"/>
            <a:ext cx="111096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64676B"/>
                </a:solidFill>
                <a:effectLst/>
                <a:uFillTx/>
                <a:latin typeface="Aptos"/>
                <a:ea typeface="Aptos"/>
              </a:rPr>
              <a:t>Group 06 | Md. Murad Ul Momin • Rima Saha • Sakia Tabassum Anonna • Ashraful Hossain Riyan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Shape 5"/>
          <p:cNvSpPr/>
          <p:nvPr/>
        </p:nvSpPr>
        <p:spPr>
          <a:xfrm>
            <a:off x="429840" y="1344240"/>
            <a:ext cx="328680" cy="328680"/>
          </a:xfrm>
          <a:prstGeom prst="ellipse">
            <a:avLst/>
          </a:prstGeom>
          <a:solidFill>
            <a:srgbClr val="456A82"/>
          </a:solidFill>
          <a:ln w="11430">
            <a:solidFill>
              <a:srgbClr val="456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8" name="Text 6"/>
          <p:cNvSpPr/>
          <p:nvPr/>
        </p:nvSpPr>
        <p:spPr>
          <a:xfrm>
            <a:off x="466200" y="1417320"/>
            <a:ext cx="2556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Shape 7"/>
          <p:cNvSpPr/>
          <p:nvPr/>
        </p:nvSpPr>
        <p:spPr>
          <a:xfrm>
            <a:off x="502920" y="1874520"/>
            <a:ext cx="1901520" cy="502560"/>
          </a:xfrm>
          <a:prstGeom prst="roundRect">
            <a:avLst>
              <a:gd name="adj" fmla="val 9091"/>
            </a:avLst>
          </a:prstGeom>
          <a:solidFill>
            <a:srgbClr val="F0ECE3"/>
          </a:solidFill>
          <a:ln w="10160">
            <a:solidFill>
              <a:srgbClr val="456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Text 8"/>
          <p:cNvSpPr/>
          <p:nvPr/>
        </p:nvSpPr>
        <p:spPr>
          <a:xfrm>
            <a:off x="612720" y="1965960"/>
            <a:ext cx="168228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Phase 1 — Clean baselines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Text 9"/>
          <p:cNvSpPr/>
          <p:nvPr/>
        </p:nvSpPr>
        <p:spPr>
          <a:xfrm>
            <a:off x="548640" y="2597040"/>
            <a:ext cx="178272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0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FedAvg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0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SecureDyn-oriented baseline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0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FedMADE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Shape 10"/>
          <p:cNvSpPr/>
          <p:nvPr/>
        </p:nvSpPr>
        <p:spPr>
          <a:xfrm>
            <a:off x="2423160" y="2121120"/>
            <a:ext cx="292320" cy="360"/>
          </a:xfrm>
          <a:prstGeom prst="line">
            <a:avLst/>
          </a:prstGeom>
          <a:ln w="9525">
            <a:solidFill>
              <a:srgbClr val="64676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Shape 11"/>
          <p:cNvSpPr/>
          <p:nvPr/>
        </p:nvSpPr>
        <p:spPr>
          <a:xfrm>
            <a:off x="2715840" y="1344240"/>
            <a:ext cx="328680" cy="328680"/>
          </a:xfrm>
          <a:prstGeom prst="ellipse">
            <a:avLst/>
          </a:prstGeom>
          <a:solidFill>
            <a:srgbClr val="176B68"/>
          </a:solidFill>
          <a:ln w="11430">
            <a:solidFill>
              <a:srgbClr val="176B6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4" name="Text 12"/>
          <p:cNvSpPr/>
          <p:nvPr/>
        </p:nvSpPr>
        <p:spPr>
          <a:xfrm>
            <a:off x="2752200" y="1417320"/>
            <a:ext cx="2556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Shape 13"/>
          <p:cNvSpPr/>
          <p:nvPr/>
        </p:nvSpPr>
        <p:spPr>
          <a:xfrm>
            <a:off x="2788920" y="1874520"/>
            <a:ext cx="1901520" cy="50256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0160">
            <a:solidFill>
              <a:srgbClr val="176B6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Text 14"/>
          <p:cNvSpPr/>
          <p:nvPr/>
        </p:nvSpPr>
        <p:spPr>
          <a:xfrm>
            <a:off x="2898720" y="1965960"/>
            <a:ext cx="168228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Phase 2 — Heterogeneity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Text 15"/>
          <p:cNvSpPr/>
          <p:nvPr/>
        </p:nvSpPr>
        <p:spPr>
          <a:xfrm>
            <a:off x="2834640" y="2597040"/>
            <a:ext cx="178272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0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IID vs non-IID clients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Shape 16"/>
          <p:cNvSpPr/>
          <p:nvPr/>
        </p:nvSpPr>
        <p:spPr>
          <a:xfrm>
            <a:off x="4709160" y="2121120"/>
            <a:ext cx="292320" cy="360"/>
          </a:xfrm>
          <a:prstGeom prst="line">
            <a:avLst/>
          </a:prstGeom>
          <a:ln w="9525">
            <a:solidFill>
              <a:srgbClr val="64676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Shape 17"/>
          <p:cNvSpPr/>
          <p:nvPr/>
        </p:nvSpPr>
        <p:spPr>
          <a:xfrm>
            <a:off x="5001840" y="1344240"/>
            <a:ext cx="328680" cy="328680"/>
          </a:xfrm>
          <a:prstGeom prst="ellipse">
            <a:avLst/>
          </a:prstGeom>
          <a:solidFill>
            <a:srgbClr val="A84A44"/>
          </a:solidFill>
          <a:ln w="11430">
            <a:solidFill>
              <a:srgbClr val="A84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0" name="Text 18"/>
          <p:cNvSpPr/>
          <p:nvPr/>
        </p:nvSpPr>
        <p:spPr>
          <a:xfrm>
            <a:off x="5038200" y="1417320"/>
            <a:ext cx="2556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Shape 19"/>
          <p:cNvSpPr/>
          <p:nvPr/>
        </p:nvSpPr>
        <p:spPr>
          <a:xfrm>
            <a:off x="5074920" y="1874520"/>
            <a:ext cx="1901520" cy="502560"/>
          </a:xfrm>
          <a:prstGeom prst="roundRect">
            <a:avLst>
              <a:gd name="adj" fmla="val 9091"/>
            </a:avLst>
          </a:prstGeom>
          <a:solidFill>
            <a:srgbClr val="F0ECE3"/>
          </a:solidFill>
          <a:ln w="10160">
            <a:solidFill>
              <a:srgbClr val="A84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Text 20"/>
          <p:cNvSpPr/>
          <p:nvPr/>
        </p:nvSpPr>
        <p:spPr>
          <a:xfrm>
            <a:off x="5184720" y="1965960"/>
            <a:ext cx="168228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Phase 3 — Adversarial evaluation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Text 21"/>
          <p:cNvSpPr/>
          <p:nvPr/>
        </p:nvSpPr>
        <p:spPr>
          <a:xfrm>
            <a:off x="5120640" y="2597040"/>
            <a:ext cx="178272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0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label flipping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0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scaled/randomized updates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0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model replacement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0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fixed malicious-client ratios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Shape 22"/>
          <p:cNvSpPr/>
          <p:nvPr/>
        </p:nvSpPr>
        <p:spPr>
          <a:xfrm>
            <a:off x="6995160" y="2121120"/>
            <a:ext cx="292320" cy="360"/>
          </a:xfrm>
          <a:prstGeom prst="line">
            <a:avLst/>
          </a:prstGeom>
          <a:ln w="9525">
            <a:solidFill>
              <a:srgbClr val="64676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Shape 23"/>
          <p:cNvSpPr/>
          <p:nvPr/>
        </p:nvSpPr>
        <p:spPr>
          <a:xfrm>
            <a:off x="7287840" y="1344240"/>
            <a:ext cx="328680" cy="328680"/>
          </a:xfrm>
          <a:prstGeom prst="ellipse">
            <a:avLst/>
          </a:prstGeom>
          <a:solidFill>
            <a:srgbClr val="C18A3B"/>
          </a:solidFill>
          <a:ln w="11430">
            <a:solidFill>
              <a:srgbClr val="C18A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6" name="Text 24"/>
          <p:cNvSpPr/>
          <p:nvPr/>
        </p:nvSpPr>
        <p:spPr>
          <a:xfrm>
            <a:off x="7324200" y="1417320"/>
            <a:ext cx="2556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Shape 25"/>
          <p:cNvSpPr/>
          <p:nvPr/>
        </p:nvSpPr>
        <p:spPr>
          <a:xfrm>
            <a:off x="7360920" y="1874520"/>
            <a:ext cx="1901520" cy="50256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0160">
            <a:solidFill>
              <a:srgbClr val="C18A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Text 26"/>
          <p:cNvSpPr/>
          <p:nvPr/>
        </p:nvSpPr>
        <p:spPr>
          <a:xfrm>
            <a:off x="7470720" y="1965960"/>
            <a:ext cx="168228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Phase 4 — Minority-class stealth attack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Text 27"/>
          <p:cNvSpPr/>
          <p:nvPr/>
        </p:nvSpPr>
        <p:spPr>
          <a:xfrm>
            <a:off x="7406640" y="2597040"/>
            <a:ext cx="178272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0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test combined trust +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0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class evidence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Shape 28"/>
          <p:cNvSpPr/>
          <p:nvPr/>
        </p:nvSpPr>
        <p:spPr>
          <a:xfrm>
            <a:off x="9281160" y="2121120"/>
            <a:ext cx="292320" cy="360"/>
          </a:xfrm>
          <a:prstGeom prst="line">
            <a:avLst/>
          </a:prstGeom>
          <a:ln w="9525">
            <a:solidFill>
              <a:srgbClr val="64676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Shape 29"/>
          <p:cNvSpPr/>
          <p:nvPr/>
        </p:nvSpPr>
        <p:spPr>
          <a:xfrm>
            <a:off x="9573840" y="1344240"/>
            <a:ext cx="328680" cy="328680"/>
          </a:xfrm>
          <a:prstGeom prst="ellipse">
            <a:avLst/>
          </a:prstGeom>
          <a:solidFill>
            <a:srgbClr val="647D68"/>
          </a:solidFill>
          <a:ln w="11430">
            <a:solidFill>
              <a:srgbClr val="647D6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2" name="Text 30"/>
          <p:cNvSpPr/>
          <p:nvPr/>
        </p:nvSpPr>
        <p:spPr>
          <a:xfrm>
            <a:off x="9610200" y="1417320"/>
            <a:ext cx="2556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Shape 31"/>
          <p:cNvSpPr/>
          <p:nvPr/>
        </p:nvSpPr>
        <p:spPr>
          <a:xfrm>
            <a:off x="9646920" y="1874520"/>
            <a:ext cx="1901520" cy="502560"/>
          </a:xfrm>
          <a:prstGeom prst="roundRect">
            <a:avLst>
              <a:gd name="adj" fmla="val 9091"/>
            </a:avLst>
          </a:prstGeom>
          <a:solidFill>
            <a:srgbClr val="F0ECE3"/>
          </a:solidFill>
          <a:ln w="10160">
            <a:solidFill>
              <a:srgbClr val="647D6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Text 32"/>
          <p:cNvSpPr/>
          <p:nvPr/>
        </p:nvSpPr>
        <p:spPr>
          <a:xfrm>
            <a:off x="9756720" y="1965960"/>
            <a:ext cx="168228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Phase 5 — Ablation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Text 33"/>
          <p:cNvSpPr/>
          <p:nvPr/>
        </p:nvSpPr>
        <p:spPr>
          <a:xfrm>
            <a:off x="9692640" y="2597040"/>
            <a:ext cx="178272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0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FedAvg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0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class-aware only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0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trust-aware only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0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combined mechanism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Shape 34"/>
          <p:cNvSpPr/>
          <p:nvPr/>
        </p:nvSpPr>
        <p:spPr>
          <a:xfrm>
            <a:off x="2057400" y="4645080"/>
            <a:ext cx="7863480" cy="392760"/>
          </a:xfrm>
          <a:prstGeom prst="roundRect">
            <a:avLst>
              <a:gd name="adj" fmla="val 11628"/>
            </a:avLst>
          </a:prstGeom>
          <a:solidFill>
            <a:srgbClr val="161A1D"/>
          </a:solidFill>
          <a:ln w="10160">
            <a:solidFill>
              <a:srgbClr val="161A1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7" name="Text 35"/>
          <p:cNvSpPr/>
          <p:nvPr/>
        </p:nvSpPr>
        <p:spPr>
          <a:xfrm>
            <a:off x="2167200" y="4736520"/>
            <a:ext cx="7643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common setup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Text 36"/>
          <p:cNvSpPr/>
          <p:nvPr/>
        </p:nvSpPr>
        <p:spPr>
          <a:xfrm>
            <a:off x="2240280" y="5166360"/>
            <a:ext cx="7589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64676B"/>
                </a:solidFill>
                <a:effectLst/>
                <a:uFillTx/>
                <a:latin typeface="Aptos"/>
                <a:ea typeface="Aptos"/>
              </a:rPr>
              <a:t>splits  •  seeds  •  client participation  •  local epochs  •  communication rounds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4F1EA"/>
          </a:solidFill>
          <a:ln w="12700">
            <a:solidFill>
              <a:srgbClr val="F4F1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Text 1"/>
          <p:cNvSpPr/>
          <p:nvPr/>
        </p:nvSpPr>
        <p:spPr>
          <a:xfrm>
            <a:off x="567000" y="311040"/>
            <a:ext cx="23770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176B68"/>
                </a:solidFill>
                <a:effectLst/>
                <a:uFillTx/>
                <a:latin typeface="Aptos"/>
                <a:ea typeface="Aptos"/>
              </a:rPr>
              <a:t>DATASETS + METRICS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Text 2"/>
          <p:cNvSpPr/>
          <p:nvPr/>
        </p:nvSpPr>
        <p:spPr>
          <a:xfrm>
            <a:off x="567000" y="539640"/>
            <a:ext cx="108810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61A1D"/>
                </a:solidFill>
                <a:effectLst/>
                <a:uFillTx/>
                <a:latin typeface="Aptos Display"/>
                <a:ea typeface="Aptos Display"/>
              </a:rPr>
              <a:t>Evaluation Must Measure Security, Utility and Cost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Shape 3"/>
          <p:cNvSpPr/>
          <p:nvPr/>
        </p:nvSpPr>
        <p:spPr>
          <a:xfrm>
            <a:off x="502920" y="6492240"/>
            <a:ext cx="11201400" cy="360"/>
          </a:xfrm>
          <a:prstGeom prst="line">
            <a:avLst/>
          </a:prstGeom>
          <a:ln w="7620">
            <a:solidFill>
              <a:srgbClr val="C9C2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Text 4"/>
          <p:cNvSpPr/>
          <p:nvPr/>
        </p:nvSpPr>
        <p:spPr>
          <a:xfrm>
            <a:off x="548640" y="6546960"/>
            <a:ext cx="111096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64676B"/>
                </a:solidFill>
                <a:effectLst/>
                <a:uFillTx/>
                <a:latin typeface="Aptos"/>
                <a:ea typeface="Aptos"/>
              </a:rPr>
              <a:t>Group 06 | Md. Murad Ul Momin • Rima Saha • Sakia Tabassum Anonna • Ashraful Hossain Riyan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Shape 5"/>
          <p:cNvSpPr/>
          <p:nvPr/>
        </p:nvSpPr>
        <p:spPr>
          <a:xfrm>
            <a:off x="640080" y="1234440"/>
            <a:ext cx="3428640" cy="328680"/>
          </a:xfrm>
          <a:prstGeom prst="roundRect">
            <a:avLst>
              <a:gd name="adj" fmla="val 13889"/>
            </a:avLst>
          </a:prstGeom>
          <a:solidFill>
            <a:srgbClr val="161A1D"/>
          </a:solidFill>
          <a:ln w="10160">
            <a:solidFill>
              <a:srgbClr val="161A1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5" name="Text 6"/>
          <p:cNvSpPr/>
          <p:nvPr/>
        </p:nvSpPr>
        <p:spPr>
          <a:xfrm>
            <a:off x="749880" y="1325880"/>
            <a:ext cx="32090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DATASETS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Text 7"/>
          <p:cNvSpPr/>
          <p:nvPr/>
        </p:nvSpPr>
        <p:spPr>
          <a:xfrm>
            <a:off x="749880" y="1828800"/>
            <a:ext cx="3062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76B68"/>
                </a:solidFill>
                <a:effectLst/>
                <a:uFillTx/>
                <a:latin typeface="Aptos"/>
                <a:ea typeface="Aptos"/>
              </a:rPr>
              <a:t>Primary: CICIoT2023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Text 8"/>
          <p:cNvSpPr/>
          <p:nvPr/>
        </p:nvSpPr>
        <p:spPr>
          <a:xfrm>
            <a:off x="749880" y="2176200"/>
            <a:ext cx="3017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large heterogeneous IoT setting; uneven attack-class distributions suitable for class-aware experiments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Text 9"/>
          <p:cNvSpPr/>
          <p:nvPr/>
        </p:nvSpPr>
        <p:spPr>
          <a:xfrm>
            <a:off x="749880" y="3044880"/>
            <a:ext cx="3062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76B68"/>
                </a:solidFill>
                <a:effectLst/>
                <a:uFillTx/>
                <a:latin typeface="Aptos"/>
                <a:ea typeface="Aptos"/>
              </a:rPr>
              <a:t>Secondary: N-BaIoT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Text 10"/>
          <p:cNvSpPr/>
          <p:nvPr/>
        </p:nvSpPr>
        <p:spPr>
          <a:xfrm>
            <a:off x="749880" y="3383280"/>
            <a:ext cx="30171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device-level benign/botnet traffic; compatible with earlier CSE499A preprocessing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Shape 11"/>
          <p:cNvSpPr/>
          <p:nvPr/>
        </p:nvSpPr>
        <p:spPr>
          <a:xfrm>
            <a:off x="4434840" y="1234440"/>
            <a:ext cx="3062880" cy="328680"/>
          </a:xfrm>
          <a:prstGeom prst="roundRect">
            <a:avLst>
              <a:gd name="adj" fmla="val 13889"/>
            </a:avLst>
          </a:prstGeom>
          <a:solidFill>
            <a:srgbClr val="161A1D"/>
          </a:solidFill>
          <a:ln w="10160">
            <a:solidFill>
              <a:srgbClr val="161A1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1" name="Text 12"/>
          <p:cNvSpPr/>
          <p:nvPr/>
        </p:nvSpPr>
        <p:spPr>
          <a:xfrm>
            <a:off x="4544640" y="1325880"/>
            <a:ext cx="28432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MODEL / DETECTION QUALITY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Shape 13"/>
          <p:cNvSpPr/>
          <p:nvPr/>
        </p:nvSpPr>
        <p:spPr>
          <a:xfrm>
            <a:off x="4539960" y="1824120"/>
            <a:ext cx="63720" cy="63720"/>
          </a:xfrm>
          <a:prstGeom prst="ellipse">
            <a:avLst/>
          </a:prstGeom>
          <a:solidFill>
            <a:srgbClr val="176B68"/>
          </a:solidFill>
          <a:ln w="12700">
            <a:solidFill>
              <a:srgbClr val="F4F1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0" rIns="9000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3" name="Text 14"/>
          <p:cNvSpPr/>
          <p:nvPr/>
        </p:nvSpPr>
        <p:spPr>
          <a:xfrm>
            <a:off x="4672440" y="1783080"/>
            <a:ext cx="22309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Accuracy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Shape 15"/>
          <p:cNvSpPr/>
          <p:nvPr/>
        </p:nvSpPr>
        <p:spPr>
          <a:xfrm>
            <a:off x="4539960" y="2098440"/>
            <a:ext cx="63720" cy="63720"/>
          </a:xfrm>
          <a:prstGeom prst="ellipse">
            <a:avLst/>
          </a:prstGeom>
          <a:solidFill>
            <a:srgbClr val="176B68"/>
          </a:solidFill>
          <a:ln w="12700">
            <a:solidFill>
              <a:srgbClr val="F4F1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0" rIns="9000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5" name="Text 16"/>
          <p:cNvSpPr/>
          <p:nvPr/>
        </p:nvSpPr>
        <p:spPr>
          <a:xfrm>
            <a:off x="4672440" y="2057400"/>
            <a:ext cx="22309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Precision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Shape 17"/>
          <p:cNvSpPr/>
          <p:nvPr/>
        </p:nvSpPr>
        <p:spPr>
          <a:xfrm>
            <a:off x="4539960" y="2372760"/>
            <a:ext cx="63720" cy="63720"/>
          </a:xfrm>
          <a:prstGeom prst="ellipse">
            <a:avLst/>
          </a:prstGeom>
          <a:solidFill>
            <a:srgbClr val="176B68"/>
          </a:solidFill>
          <a:ln w="12700">
            <a:solidFill>
              <a:srgbClr val="F4F1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0" rIns="9000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7" name="Text 18"/>
          <p:cNvSpPr/>
          <p:nvPr/>
        </p:nvSpPr>
        <p:spPr>
          <a:xfrm>
            <a:off x="4672440" y="2331720"/>
            <a:ext cx="22309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Recall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Shape 19"/>
          <p:cNvSpPr/>
          <p:nvPr/>
        </p:nvSpPr>
        <p:spPr>
          <a:xfrm>
            <a:off x="4539960" y="2647080"/>
            <a:ext cx="63720" cy="63720"/>
          </a:xfrm>
          <a:prstGeom prst="ellipse">
            <a:avLst/>
          </a:prstGeom>
          <a:solidFill>
            <a:srgbClr val="176B68"/>
          </a:solidFill>
          <a:ln w="12700">
            <a:solidFill>
              <a:srgbClr val="F4F1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0" rIns="9000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9" name="Text 20"/>
          <p:cNvSpPr/>
          <p:nvPr/>
        </p:nvSpPr>
        <p:spPr>
          <a:xfrm>
            <a:off x="4672440" y="2606040"/>
            <a:ext cx="22309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Macro-F1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Shape 21"/>
          <p:cNvSpPr/>
          <p:nvPr/>
        </p:nvSpPr>
        <p:spPr>
          <a:xfrm>
            <a:off x="4539960" y="2921400"/>
            <a:ext cx="63720" cy="63720"/>
          </a:xfrm>
          <a:prstGeom prst="ellipse">
            <a:avLst/>
          </a:prstGeom>
          <a:solidFill>
            <a:srgbClr val="176B68"/>
          </a:solidFill>
          <a:ln w="12700">
            <a:solidFill>
              <a:srgbClr val="F4F1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0" rIns="9000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1" name="Text 22"/>
          <p:cNvSpPr/>
          <p:nvPr/>
        </p:nvSpPr>
        <p:spPr>
          <a:xfrm>
            <a:off x="4672440" y="2880360"/>
            <a:ext cx="22309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per-class F1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Shape 23"/>
          <p:cNvSpPr/>
          <p:nvPr/>
        </p:nvSpPr>
        <p:spPr>
          <a:xfrm>
            <a:off x="4539960" y="3195720"/>
            <a:ext cx="63720" cy="63720"/>
          </a:xfrm>
          <a:prstGeom prst="ellipse">
            <a:avLst/>
          </a:prstGeom>
          <a:solidFill>
            <a:srgbClr val="176B68"/>
          </a:solidFill>
          <a:ln w="12700">
            <a:solidFill>
              <a:srgbClr val="F4F1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0" rIns="9000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3" name="Text 24"/>
          <p:cNvSpPr/>
          <p:nvPr/>
        </p:nvSpPr>
        <p:spPr>
          <a:xfrm>
            <a:off x="4672440" y="3154680"/>
            <a:ext cx="22309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AUC where applicable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Shape 25"/>
          <p:cNvSpPr/>
          <p:nvPr/>
        </p:nvSpPr>
        <p:spPr>
          <a:xfrm>
            <a:off x="7909560" y="1234440"/>
            <a:ext cx="3474360" cy="328680"/>
          </a:xfrm>
          <a:prstGeom prst="roundRect">
            <a:avLst>
              <a:gd name="adj" fmla="val 13889"/>
            </a:avLst>
          </a:prstGeom>
          <a:solidFill>
            <a:srgbClr val="161A1D"/>
          </a:solidFill>
          <a:ln w="10160">
            <a:solidFill>
              <a:srgbClr val="161A1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5" name="Text 26"/>
          <p:cNvSpPr/>
          <p:nvPr/>
        </p:nvSpPr>
        <p:spPr>
          <a:xfrm>
            <a:off x="8019360" y="1325880"/>
            <a:ext cx="3254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SECURITY + SYSTEM METRICS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Shape 27"/>
          <p:cNvSpPr/>
          <p:nvPr/>
        </p:nvSpPr>
        <p:spPr>
          <a:xfrm>
            <a:off x="8014680" y="1824120"/>
            <a:ext cx="63720" cy="63720"/>
          </a:xfrm>
          <a:prstGeom prst="ellipse">
            <a:avLst/>
          </a:prstGeom>
          <a:solidFill>
            <a:srgbClr val="A84A44"/>
          </a:solidFill>
          <a:ln w="12700">
            <a:solidFill>
              <a:srgbClr val="F4F1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0" rIns="9000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7" name="Text 28"/>
          <p:cNvSpPr/>
          <p:nvPr/>
        </p:nvSpPr>
        <p:spPr>
          <a:xfrm>
            <a:off x="8147160" y="1783080"/>
            <a:ext cx="29624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malicious-client detection / rejection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Shape 29"/>
          <p:cNvSpPr/>
          <p:nvPr/>
        </p:nvSpPr>
        <p:spPr>
          <a:xfrm>
            <a:off x="8014680" y="2080440"/>
            <a:ext cx="63720" cy="63720"/>
          </a:xfrm>
          <a:prstGeom prst="ellipse">
            <a:avLst/>
          </a:prstGeom>
          <a:solidFill>
            <a:srgbClr val="A84A44"/>
          </a:solidFill>
          <a:ln w="12700">
            <a:solidFill>
              <a:srgbClr val="F4F1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0" rIns="9000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9" name="Text 30"/>
          <p:cNvSpPr/>
          <p:nvPr/>
        </p:nvSpPr>
        <p:spPr>
          <a:xfrm>
            <a:off x="8147160" y="2039040"/>
            <a:ext cx="29624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benign false rejection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Shape 31"/>
          <p:cNvSpPr/>
          <p:nvPr/>
        </p:nvSpPr>
        <p:spPr>
          <a:xfrm>
            <a:off x="8014680" y="2336400"/>
            <a:ext cx="63720" cy="63720"/>
          </a:xfrm>
          <a:prstGeom prst="ellipse">
            <a:avLst/>
          </a:prstGeom>
          <a:solidFill>
            <a:srgbClr val="A84A44"/>
          </a:solidFill>
          <a:ln w="12700">
            <a:solidFill>
              <a:srgbClr val="F4F1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0" rIns="9000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1" name="Text 32"/>
          <p:cNvSpPr/>
          <p:nvPr/>
        </p:nvSpPr>
        <p:spPr>
          <a:xfrm>
            <a:off x="8147160" y="2295000"/>
            <a:ext cx="29624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attack-induced degradation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Shape 33"/>
          <p:cNvSpPr/>
          <p:nvPr/>
        </p:nvSpPr>
        <p:spPr>
          <a:xfrm>
            <a:off x="8014680" y="2592360"/>
            <a:ext cx="63720" cy="63720"/>
          </a:xfrm>
          <a:prstGeom prst="ellipse">
            <a:avLst/>
          </a:prstGeom>
          <a:solidFill>
            <a:srgbClr val="A84A44"/>
          </a:solidFill>
          <a:ln w="12700">
            <a:solidFill>
              <a:srgbClr val="F4F1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0" rIns="9000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3" name="Text 34"/>
          <p:cNvSpPr/>
          <p:nvPr/>
        </p:nvSpPr>
        <p:spPr>
          <a:xfrm>
            <a:off x="8147160" y="2551320"/>
            <a:ext cx="29624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recovery across rounds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Shape 35"/>
          <p:cNvSpPr/>
          <p:nvPr/>
        </p:nvSpPr>
        <p:spPr>
          <a:xfrm>
            <a:off x="8014680" y="2848320"/>
            <a:ext cx="63720" cy="63720"/>
          </a:xfrm>
          <a:prstGeom prst="ellipse">
            <a:avLst/>
          </a:prstGeom>
          <a:solidFill>
            <a:srgbClr val="A84A44"/>
          </a:solidFill>
          <a:ln w="12700">
            <a:solidFill>
              <a:srgbClr val="F4F1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0" rIns="9000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5" name="Text 36"/>
          <p:cNvSpPr/>
          <p:nvPr/>
        </p:nvSpPr>
        <p:spPr>
          <a:xfrm>
            <a:off x="8147160" y="2807280"/>
            <a:ext cx="29624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convergence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Shape 37"/>
          <p:cNvSpPr/>
          <p:nvPr/>
        </p:nvSpPr>
        <p:spPr>
          <a:xfrm>
            <a:off x="8014680" y="3104280"/>
            <a:ext cx="63720" cy="63720"/>
          </a:xfrm>
          <a:prstGeom prst="ellipse">
            <a:avLst/>
          </a:prstGeom>
          <a:solidFill>
            <a:srgbClr val="A84A44"/>
          </a:solidFill>
          <a:ln w="12700">
            <a:solidFill>
              <a:srgbClr val="F4F1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0" rIns="9000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7" name="Text 38"/>
          <p:cNvSpPr/>
          <p:nvPr/>
        </p:nvSpPr>
        <p:spPr>
          <a:xfrm>
            <a:off x="8147160" y="3063240"/>
            <a:ext cx="29624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round duration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Shape 39"/>
          <p:cNvSpPr/>
          <p:nvPr/>
        </p:nvSpPr>
        <p:spPr>
          <a:xfrm>
            <a:off x="8014680" y="3360600"/>
            <a:ext cx="63720" cy="63720"/>
          </a:xfrm>
          <a:prstGeom prst="ellipse">
            <a:avLst/>
          </a:prstGeom>
          <a:solidFill>
            <a:srgbClr val="A84A44"/>
          </a:solidFill>
          <a:ln w="12700">
            <a:solidFill>
              <a:srgbClr val="F4F1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0" rIns="9000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9" name="Text 40"/>
          <p:cNvSpPr/>
          <p:nvPr/>
        </p:nvSpPr>
        <p:spPr>
          <a:xfrm>
            <a:off x="8147160" y="3319200"/>
            <a:ext cx="29624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communication cost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Shape 41"/>
          <p:cNvSpPr/>
          <p:nvPr/>
        </p:nvSpPr>
        <p:spPr>
          <a:xfrm>
            <a:off x="8014680" y="3616560"/>
            <a:ext cx="63720" cy="63720"/>
          </a:xfrm>
          <a:prstGeom prst="ellipse">
            <a:avLst/>
          </a:prstGeom>
          <a:solidFill>
            <a:srgbClr val="A84A44"/>
          </a:solidFill>
          <a:ln w="12700">
            <a:solidFill>
              <a:srgbClr val="F4F1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0" rIns="9000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1" name="Text 42"/>
          <p:cNvSpPr/>
          <p:nvPr/>
        </p:nvSpPr>
        <p:spPr>
          <a:xfrm>
            <a:off x="8147160" y="3575160"/>
            <a:ext cx="29624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execution / memory observations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Shape 43"/>
          <p:cNvSpPr/>
          <p:nvPr/>
        </p:nvSpPr>
        <p:spPr>
          <a:xfrm>
            <a:off x="8014680" y="3872520"/>
            <a:ext cx="63720" cy="63720"/>
          </a:xfrm>
          <a:prstGeom prst="ellipse">
            <a:avLst/>
          </a:prstGeom>
          <a:solidFill>
            <a:srgbClr val="A84A44"/>
          </a:solidFill>
          <a:ln w="12700">
            <a:solidFill>
              <a:srgbClr val="F4F1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0" rIns="9000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3" name="Text 44"/>
          <p:cNvSpPr/>
          <p:nvPr/>
        </p:nvSpPr>
        <p:spPr>
          <a:xfrm>
            <a:off x="8147160" y="3831480"/>
            <a:ext cx="29624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161A1D"/>
                </a:solidFill>
                <a:effectLst/>
                <a:uFillTx/>
                <a:latin typeface="Aptos"/>
                <a:ea typeface="Aptos"/>
              </a:rPr>
              <a:t>epsilon / delta if DP is used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Text 45"/>
          <p:cNvSpPr/>
          <p:nvPr/>
        </p:nvSpPr>
        <p:spPr>
          <a:xfrm>
            <a:off x="1874520" y="5230440"/>
            <a:ext cx="795492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C18A3B"/>
                </a:solidFill>
                <a:effectLst/>
                <a:uFillTx/>
                <a:latin typeface="Aptos"/>
                <a:ea typeface="Aptos"/>
              </a:rPr>
              <a:t>Prioritize: Macro-F1 + per-class behavior + false rejection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61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61A1D"/>
          </a:solidFill>
          <a:ln w="12700">
            <a:solidFill>
              <a:srgbClr val="161A1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6" name="Shape 1"/>
          <p:cNvSpPr/>
          <p:nvPr/>
        </p:nvSpPr>
        <p:spPr>
          <a:xfrm>
            <a:off x="502920" y="6492240"/>
            <a:ext cx="11201400" cy="360"/>
          </a:xfrm>
          <a:prstGeom prst="line">
            <a:avLst/>
          </a:prstGeom>
          <a:ln w="7620">
            <a:solidFill>
              <a:srgbClr val="565A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7" name="Text 2"/>
          <p:cNvSpPr/>
          <p:nvPr/>
        </p:nvSpPr>
        <p:spPr>
          <a:xfrm>
            <a:off x="548640" y="6546960"/>
            <a:ext cx="111096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D8D3C7"/>
                </a:solidFill>
                <a:effectLst/>
                <a:uFillTx/>
                <a:latin typeface="Aptos"/>
                <a:ea typeface="Aptos"/>
              </a:rPr>
              <a:t>Group 06 | Md. Murad Ul Momin • Rima Saha • Sakia Tabassum Anonna • Ashraful Hossain Riyan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8" name="Text 3"/>
          <p:cNvSpPr/>
          <p:nvPr/>
        </p:nvSpPr>
        <p:spPr>
          <a:xfrm>
            <a:off x="713160" y="658440"/>
            <a:ext cx="2742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DCE8E5"/>
                </a:solidFill>
                <a:effectLst/>
                <a:uFillTx/>
                <a:latin typeface="Aptos"/>
                <a:ea typeface="Aptos"/>
              </a:rPr>
              <a:t>PRIVATE SHIELD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9" name="Text 4"/>
          <p:cNvSpPr/>
          <p:nvPr/>
        </p:nvSpPr>
        <p:spPr>
          <a:xfrm>
            <a:off x="1261800" y="1737360"/>
            <a:ext cx="9417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Can a federated IDS judge a client by both</a:t>
            </a:r>
            <a:endParaRPr lang="en-US" sz="2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0" name="Text 5"/>
          <p:cNvSpPr/>
          <p:nvPr/>
        </p:nvSpPr>
        <p:spPr>
          <a:xfrm>
            <a:off x="2468880" y="2487240"/>
            <a:ext cx="72234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C18A3B"/>
                </a:solidFill>
                <a:effectLst/>
                <a:uFillTx/>
                <a:latin typeface="Aptos"/>
                <a:ea typeface="Aptos"/>
              </a:rPr>
              <a:t>how its update behaves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1" name="Text 6"/>
          <p:cNvSpPr/>
          <p:nvPr/>
        </p:nvSpPr>
        <p:spPr>
          <a:xfrm>
            <a:off x="5532120" y="3017520"/>
            <a:ext cx="10054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64676B"/>
                </a:solidFill>
                <a:effectLst/>
                <a:uFillTx/>
                <a:latin typeface="Aptos"/>
                <a:ea typeface="Aptos"/>
              </a:rPr>
              <a:t>and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2" name="Text 7"/>
          <p:cNvSpPr/>
          <p:nvPr/>
        </p:nvSpPr>
        <p:spPr>
          <a:xfrm>
            <a:off x="1691640" y="3438000"/>
            <a:ext cx="89607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DCE8E5"/>
                </a:solidFill>
                <a:effectLst/>
                <a:uFillTx/>
                <a:latin typeface="Aptos"/>
                <a:ea typeface="Aptos"/>
              </a:rPr>
              <a:t>which attack knowledge it contributes?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3" name="Text 8"/>
          <p:cNvSpPr/>
          <p:nvPr/>
        </p:nvSpPr>
        <p:spPr>
          <a:xfrm>
            <a:off x="2148840" y="4617720"/>
            <a:ext cx="5940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64676B"/>
                </a:solidFill>
                <a:effectLst/>
                <a:uFillTx/>
                <a:latin typeface="Aptos"/>
                <a:ea typeface="Aptos"/>
              </a:rPr>
              <a:t>Goal: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4" name="Text 9"/>
          <p:cNvSpPr/>
          <p:nvPr/>
        </p:nvSpPr>
        <p:spPr>
          <a:xfrm>
            <a:off x="2788920" y="4608720"/>
            <a:ext cx="74977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Preserve minority-class knowledge   •   Reject malicious influence   •   Avoid punishing legitimate non-IID clients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5" name="Text 10"/>
          <p:cNvSpPr/>
          <p:nvPr/>
        </p:nvSpPr>
        <p:spPr>
          <a:xfrm>
            <a:off x="2880360" y="5532120"/>
            <a:ext cx="6491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1" u="none" strike="noStrike">
                <a:solidFill>
                  <a:srgbClr val="BFC5C7"/>
                </a:solidFill>
                <a:effectLst/>
                <a:uFillTx/>
                <a:latin typeface="Aptos"/>
                <a:ea typeface="Aptos"/>
              </a:rPr>
              <a:t>CSE499B → controlled experiments, multi-view evidence, defensible aggregation</a:t>
            </a:r>
            <a:endParaRPr lang="en-US" sz="1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6" name="Text 11"/>
          <p:cNvSpPr/>
          <p:nvPr/>
        </p:nvSpPr>
        <p:spPr>
          <a:xfrm>
            <a:off x="5440680" y="5943600"/>
            <a:ext cx="1096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64676B"/>
                </a:solidFill>
                <a:effectLst/>
                <a:uFillTx/>
                <a:latin typeface="Aptos"/>
                <a:ea typeface="Aptos"/>
              </a:rPr>
              <a:t>Questions?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LibreOffice/26.2.6.3$Linux_X86_64 LibreOffice_project/620$Build-3</Application>
  <AppVersion>15.0000</AppVersion>
  <Words>0</Words>
  <Paragraphs>0</Paragraphs>
  <Company>North South University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2026-10-05T17:18:38Z</dcterms:created>
  <dc:creator>PRIVATE SHIELD Group 06</dc:creator>
  <dc:description/>
  <dc:language>en-US</dc:language>
  <cp:lastModifiedBy/>
  <dcterms:modified xsi:type="dcterms:W3CDTF">2026-10-07T04:17:08Z</dcterms:modified>
  <cp:revision>2</cp:revision>
  <dc:subject>CSE499B Research Review</dc:subject>
  <dc:title>PRIVATE SHIELD CSE499B Research Review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20</vt:i4>
  </property>
  <property fmtid="{D5CDD505-2E9C-101B-9397-08002B2CF9AE}" pid="3" name="PresentationFormat">
    <vt:lpwstr>On-screen Show (16:9)</vt:lpwstr>
  </property>
  <property fmtid="{D5CDD505-2E9C-101B-9397-08002B2CF9AE}" pid="4" name="Slides">
    <vt:i4>20</vt:i4>
  </property>
</Properties>
</file>